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image" Target="../media/image8.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13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731520" y="731520"/>
            <a:ext cx="10728655" cy="5394960"/>
          </a:xfrm>
          <a:prstGeom prst="roundRect">
            <a:avLst/>
          </a:prstGeom>
          <a:solidFill>
            <a:srgbClr val="1C2541"/>
          </a:solidFill>
          <a:ln w="2540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97280" y="960120"/>
            <a:ext cx="9966960" cy="4937760"/>
          </a:xfrm>
          <a:prstGeom prst="rect">
            <a:avLst/>
          </a:prstGeom>
          <a:noFill/>
        </p:spPr>
        <p:txBody>
          <a:bodyPr wrap="square">
            <a:spAutoFit/>
          </a:bodyPr>
          <a:lstStyle/>
          <a:p>
            <a:pPr>
              <a:spcAft>
                <a:spcPts val="1200"/>
              </a:spcAft>
              <a:defRPr sz="1200" b="1">
                <a:solidFill>
                  <a:srgbClr val="0EA5E9"/>
                </a:solidFill>
                <a:latin typeface="Segoe UI"/>
              </a:defRPr>
            </a:pPr>
            <a:r>
              <a:t>TRƯỜNG ĐẠI HỌC BÁCH KHOA HÀ NỘI — KHOA ĐIỆN TỬ VIỄN THÔNG</a:t>
            </a:r>
          </a:p>
          <a:p>
            <a:pPr>
              <a:lnSpc>
                <a:spcPct val="115000"/>
              </a:lnSpc>
              <a:spcAft>
                <a:spcPts val="1400"/>
              </a:spcAft>
              <a:defRPr sz="2000" b="1">
                <a:solidFill>
                  <a:srgbClr val="FFFFFF"/>
                </a:solidFill>
                <a:latin typeface="Segoe UI"/>
              </a:defRPr>
            </a:pPr>
            <a:r>
              <a:t>THIẾT KẾ VI HỆ THỐNG TRÊN CHIP (SoC) CHO THIẾT BỊ</a:t>
            </a:r>
            <a:br/>
            <a:r>
              <a:t>KIỂM SOÁT RA VÀO OFFLINE SỬ DỤNG RFID RDM6300 VÀ SPI FLASH</a:t>
            </a:r>
          </a:p>
          <a:p>
            <a:pPr>
              <a:spcAft>
                <a:spcPts val="2200"/>
              </a:spcAft>
              <a:defRPr sz="1150">
                <a:solidFill>
                  <a:srgbClr val="CBD5E1"/>
                </a:solidFill>
                <a:latin typeface="Segoe UI"/>
              </a:defRPr>
            </a:pPr>
            <a:r>
              <a:t>Tích hợp CPU RISC-V PicoRV32 | Kiến trúc Boot Flash XIP | Tạo mẫu Basys 3 FPGA | Ký duyệt ASIC OpenLane 2 (SkyWater 130nm)</a:t>
            </a:r>
          </a:p>
          <a:p>
            <a:pPr>
              <a:spcAft>
                <a:spcPts val="500"/>
              </a:spcAft>
              <a:defRPr sz="1200" b="1">
                <a:solidFill>
                  <a:srgbClr val="FFFFFF"/>
                </a:solidFill>
                <a:latin typeface="Segoe UI"/>
              </a:defRPr>
            </a:pPr>
            <a:r>
              <a:t>Sinh viên thực hiện :  Thái Tuấn Hiệp  -  MSSV: 20210328  (Chuyên ngành Kỹ thuật Vi điện tử)</a:t>
            </a:r>
          </a:p>
          <a:p>
            <a:pPr>
              <a:spcAft>
                <a:spcPts val="500"/>
              </a:spcAft>
              <a:defRPr sz="1150">
                <a:solidFill>
                  <a:srgbClr val="E2E8F0"/>
                </a:solidFill>
                <a:latin typeface="Segoe UI"/>
              </a:defRPr>
            </a:pPr>
            <a:r>
              <a:t>Giảng viên hướng dẫn :  ThS. Nguyễn Văn Đông  -  Bộ môn Kỹ thuật Máy tính &amp; Vi điện tử</a:t>
            </a:r>
          </a:p>
          <a:p>
            <a:pPr>
              <a:defRPr sz="1050" i="1">
                <a:solidFill>
                  <a:srgbClr val="94A3B8"/>
                </a:solidFill>
                <a:latin typeface="Segoe UI"/>
              </a:defRPr>
            </a:pPr>
            <a:r>
              <a:t>Thời gian thực hiện :  Học kỳ 2025.2 - 2026.1  |  Địa điểm: Phòng thí nghiệm Thiết kế Vi mạch VLSI</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1440"/>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201168"/>
            <a:ext cx="10728655" cy="868680"/>
          </a:xfrm>
          <a:prstGeom prst="rect">
            <a:avLst/>
          </a:prstGeom>
          <a:noFill/>
        </p:spPr>
        <p:txBody>
          <a:bodyPr wrap="square" lIns="0" tIns="0" rIns="0" bIns="0">
            <a:spAutoFit/>
          </a:bodyPr>
          <a:lstStyle/>
          <a:p>
            <a:pPr>
              <a:spcAft>
                <a:spcPts val="200"/>
              </a:spcAft>
              <a:defRPr sz="1050" b="1">
                <a:solidFill>
                  <a:srgbClr val="2563EB"/>
                </a:solidFill>
                <a:latin typeface="Segoe UI"/>
              </a:defRPr>
            </a:pPr>
            <a:r>
              <a:t>TỔNG QUAN BÁO CÁO</a:t>
            </a:r>
          </a:p>
          <a:p>
            <a:pPr>
              <a:defRPr sz="1700" b="1">
                <a:solidFill>
                  <a:srgbClr val="0F172A"/>
                </a:solidFill>
                <a:latin typeface="Segoe UI"/>
              </a:defRPr>
            </a:pPr>
            <a:r>
              <a:t>Nội Dung Báo Cáo Đồ Án (6 Phần Chuẩn Mực)</a:t>
            </a:r>
          </a:p>
        </p:txBody>
      </p:sp>
      <p:sp>
        <p:nvSpPr>
          <p:cNvPr id="5" name="Rectangle 4"/>
          <p:cNvSpPr/>
          <p:nvPr/>
        </p:nvSpPr>
        <p:spPr>
          <a:xfrm>
            <a:off x="731520" y="6446520"/>
            <a:ext cx="10728655" cy="18288"/>
          </a:xfrm>
          <a:prstGeom prst="rect">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31520" y="6492240"/>
            <a:ext cx="7315200" cy="274320"/>
          </a:xfrm>
          <a:prstGeom prst="rect">
            <a:avLst/>
          </a:prstGeom>
          <a:noFill/>
        </p:spPr>
        <p:txBody>
          <a:bodyPr wrap="none" lIns="0" tIns="0" rIns="0" bIns="0">
            <a:spAutoFit/>
          </a:bodyPr>
          <a:lstStyle/>
          <a:p>
            <a:pPr>
              <a:defRPr sz="950">
                <a:solidFill>
                  <a:srgbClr val="475569"/>
                </a:solidFill>
                <a:latin typeface="Segoe UI"/>
              </a:defRPr>
            </a:pPr>
            <a:r>
              <a:t>Đồ Án Tốt Nghiệp: SoC PicoRV32 RFID RDM6300 &amp; SPI Flash | SV: Thái Tuấn Hiệp | GVHD: ThS. Nguyễn Văn Đông</a:t>
            </a:r>
          </a:p>
        </p:txBody>
      </p:sp>
      <p:sp>
        <p:nvSpPr>
          <p:cNvPr id="7" name="TextBox 6"/>
          <p:cNvSpPr txBox="1"/>
          <p:nvPr/>
        </p:nvSpPr>
        <p:spPr>
          <a:xfrm>
            <a:off x="10058400" y="6492240"/>
            <a:ext cx="1401775" cy="274320"/>
          </a:xfrm>
          <a:prstGeom prst="rect">
            <a:avLst/>
          </a:prstGeom>
          <a:noFill/>
        </p:spPr>
        <p:txBody>
          <a:bodyPr wrap="none" lIns="0" tIns="0" rIns="0" bIns="0">
            <a:spAutoFit/>
          </a:bodyPr>
          <a:lstStyle/>
          <a:p>
            <a:pPr algn="r">
              <a:defRPr sz="950" b="1">
                <a:solidFill>
                  <a:srgbClr val="2563EB"/>
                </a:solidFill>
                <a:latin typeface="Segoe UI"/>
              </a:defRPr>
            </a:pPr>
            <a:r>
              <a:t>02 / 24</a:t>
            </a:r>
          </a:p>
        </p:txBody>
      </p:sp>
      <p:sp>
        <p:nvSpPr>
          <p:cNvPr id="8" name="Rounded Rectangle 7"/>
          <p:cNvSpPr/>
          <p:nvPr/>
        </p:nvSpPr>
        <p:spPr>
          <a:xfrm>
            <a:off x="731520" y="1371600"/>
            <a:ext cx="3429000" cy="2148840"/>
          </a:xfrm>
          <a:prstGeom prst="roundRect">
            <a:avLst/>
          </a:prstGeom>
          <a:solidFill>
            <a:srgbClr val="FFFFFF"/>
          </a:solidFill>
          <a:ln w="1905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4400" y="1554480"/>
            <a:ext cx="3063240" cy="1783080"/>
          </a:xfrm>
          <a:prstGeom prst="rect">
            <a:avLst/>
          </a:prstGeom>
          <a:noFill/>
        </p:spPr>
        <p:txBody>
          <a:bodyPr wrap="square">
            <a:spAutoFit/>
          </a:bodyPr>
          <a:lstStyle/>
          <a:p>
            <a:pPr>
              <a:spcAft>
                <a:spcPts val="800"/>
              </a:spcAft>
              <a:defRPr sz="1250" b="1">
                <a:solidFill>
                  <a:srgbClr val="2563EB"/>
                </a:solidFill>
                <a:latin typeface="Segoe UI"/>
              </a:defRPr>
            </a:pPr>
            <a:r>
              <a:t>Phần 1: Giới Thiệu Dự Án</a:t>
            </a:r>
          </a:p>
          <a:p>
            <a:pPr>
              <a:lnSpc>
                <a:spcPct val="125000"/>
              </a:lnSpc>
              <a:defRPr sz="1000">
                <a:solidFill>
                  <a:srgbClr val="475569"/>
                </a:solidFill>
                <a:latin typeface="Segoe UI"/>
              </a:defRPr>
            </a:pPr>
            <a:r>
              <a:t>Hệ thống kiểm soát ra vào Offline bảo mật cao, lý do chọn bộ nhớ SPI Flash NVM lưu trữ dữ liệu.</a:t>
            </a:r>
          </a:p>
        </p:txBody>
      </p:sp>
      <p:sp>
        <p:nvSpPr>
          <p:cNvPr id="10" name="Rounded Rectangle 9"/>
          <p:cNvSpPr/>
          <p:nvPr/>
        </p:nvSpPr>
        <p:spPr>
          <a:xfrm>
            <a:off x="4343400" y="1371600"/>
            <a:ext cx="3429000" cy="2148840"/>
          </a:xfrm>
          <a:prstGeom prst="roundRect">
            <a:avLst/>
          </a:prstGeom>
          <a:solidFill>
            <a:srgbClr val="FFFFFF"/>
          </a:solidFill>
          <a:ln w="1905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526280" y="1554480"/>
            <a:ext cx="3063240" cy="1783080"/>
          </a:xfrm>
          <a:prstGeom prst="rect">
            <a:avLst/>
          </a:prstGeom>
          <a:noFill/>
        </p:spPr>
        <p:txBody>
          <a:bodyPr wrap="square">
            <a:spAutoFit/>
          </a:bodyPr>
          <a:lstStyle/>
          <a:p>
            <a:pPr>
              <a:spcAft>
                <a:spcPts val="800"/>
              </a:spcAft>
              <a:defRPr sz="1250" b="1">
                <a:solidFill>
                  <a:srgbClr val="2563EB"/>
                </a:solidFill>
                <a:latin typeface="Segoe UI"/>
              </a:defRPr>
            </a:pPr>
            <a:r>
              <a:t>Phần 2: Nền Tảng Phần Cứng &amp; Phần Mềm</a:t>
            </a:r>
          </a:p>
          <a:p>
            <a:pPr>
              <a:lnSpc>
                <a:spcPct val="125000"/>
              </a:lnSpc>
              <a:defRPr sz="1000">
                <a:solidFill>
                  <a:srgbClr val="475569"/>
                </a:solidFill>
                <a:latin typeface="Segoe UI"/>
              </a:defRPr>
            </a:pPr>
            <a:r>
              <a:t>Kit FPGA Basys 3, đầu đọc RDM6300, chuỗi công cụ Vivado, OpenLane 2 &amp; RISC-V GCC.</a:t>
            </a:r>
          </a:p>
        </p:txBody>
      </p:sp>
      <p:sp>
        <p:nvSpPr>
          <p:cNvPr id="12" name="Rounded Rectangle 11"/>
          <p:cNvSpPr/>
          <p:nvPr/>
        </p:nvSpPr>
        <p:spPr>
          <a:xfrm>
            <a:off x="7955280" y="1371600"/>
            <a:ext cx="3429000" cy="2148840"/>
          </a:xfrm>
          <a:prstGeom prst="roundRect">
            <a:avLst/>
          </a:prstGeom>
          <a:solidFill>
            <a:srgbClr val="FFFFFF"/>
          </a:solidFill>
          <a:ln w="1905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138160" y="1554480"/>
            <a:ext cx="3063240" cy="1783080"/>
          </a:xfrm>
          <a:prstGeom prst="rect">
            <a:avLst/>
          </a:prstGeom>
          <a:noFill/>
        </p:spPr>
        <p:txBody>
          <a:bodyPr wrap="square">
            <a:spAutoFit/>
          </a:bodyPr>
          <a:lstStyle/>
          <a:p>
            <a:pPr>
              <a:spcAft>
                <a:spcPts val="800"/>
              </a:spcAft>
              <a:defRPr sz="1250" b="1">
                <a:solidFill>
                  <a:srgbClr val="2563EB"/>
                </a:solidFill>
                <a:latin typeface="Segoe UI"/>
              </a:defRPr>
            </a:pPr>
            <a:r>
              <a:t>Phần 3: Quy Trình Thiết Kế SoC (5 Giai Đoạn)</a:t>
            </a:r>
          </a:p>
          <a:p>
            <a:pPr>
              <a:lnSpc>
                <a:spcPct val="125000"/>
              </a:lnSpc>
              <a:defRPr sz="1000">
                <a:solidFill>
                  <a:srgbClr val="475569"/>
                </a:solidFill>
                <a:latin typeface="Segoe UI"/>
              </a:defRPr>
            </a:pPr>
            <a:r>
              <a:t>Khối cơ sở -&gt; Cầu bus Interconnect -&gt; Đồng thiết kế Bootstrap -&gt; Mở rộng FIFO -&gt; MMIO C.</a:t>
            </a:r>
          </a:p>
        </p:txBody>
      </p:sp>
      <p:sp>
        <p:nvSpPr>
          <p:cNvPr id="14" name="Rounded Rectangle 13"/>
          <p:cNvSpPr/>
          <p:nvPr/>
        </p:nvSpPr>
        <p:spPr>
          <a:xfrm>
            <a:off x="731520" y="3794760"/>
            <a:ext cx="3429000" cy="2148840"/>
          </a:xfrm>
          <a:prstGeom prst="roundRect">
            <a:avLst/>
          </a:prstGeom>
          <a:solidFill>
            <a:srgbClr val="FFFFFF"/>
          </a:solidFill>
          <a:ln w="1905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14400" y="3977640"/>
            <a:ext cx="3063240" cy="1783080"/>
          </a:xfrm>
          <a:prstGeom prst="rect">
            <a:avLst/>
          </a:prstGeom>
          <a:noFill/>
        </p:spPr>
        <p:txBody>
          <a:bodyPr wrap="square">
            <a:spAutoFit/>
          </a:bodyPr>
          <a:lstStyle/>
          <a:p>
            <a:pPr>
              <a:spcAft>
                <a:spcPts val="800"/>
              </a:spcAft>
              <a:defRPr sz="1250" b="1">
                <a:solidFill>
                  <a:srgbClr val="2563EB"/>
                </a:solidFill>
                <a:latin typeface="Segoe UI"/>
              </a:defRPr>
            </a:pPr>
            <a:r>
              <a:t>Phần 4: Testbench &amp; Chi Tiết Biến Địa Chỉ MMIO</a:t>
            </a:r>
          </a:p>
          <a:p>
            <a:pPr>
              <a:lnSpc>
                <a:spcPct val="125000"/>
              </a:lnSpc>
              <a:defRPr sz="1000">
                <a:solidFill>
                  <a:srgbClr val="475569"/>
                </a:solidFill>
                <a:latin typeface="Segoe UI"/>
              </a:defRPr>
            </a:pPr>
            <a:r>
              <a:t>Kiểm thử RTL thuần, Top SoC Ping và phân tích 6 biến địa chỉ phần cứng trong mã nguồn C.</a:t>
            </a:r>
          </a:p>
        </p:txBody>
      </p:sp>
      <p:sp>
        <p:nvSpPr>
          <p:cNvPr id="16" name="Rounded Rectangle 15"/>
          <p:cNvSpPr/>
          <p:nvPr/>
        </p:nvSpPr>
        <p:spPr>
          <a:xfrm>
            <a:off x="4343400" y="3794760"/>
            <a:ext cx="3429000" cy="2148840"/>
          </a:xfrm>
          <a:prstGeom prst="roundRect">
            <a:avLst/>
          </a:prstGeom>
          <a:solidFill>
            <a:srgbClr val="FFFFFF"/>
          </a:solidFill>
          <a:ln w="1905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526280" y="3977640"/>
            <a:ext cx="3063240" cy="1783080"/>
          </a:xfrm>
          <a:prstGeom prst="rect">
            <a:avLst/>
          </a:prstGeom>
          <a:noFill/>
        </p:spPr>
        <p:txBody>
          <a:bodyPr wrap="square">
            <a:spAutoFit/>
          </a:bodyPr>
          <a:lstStyle/>
          <a:p>
            <a:pPr>
              <a:spcAft>
                <a:spcPts val="800"/>
              </a:spcAft>
              <a:defRPr sz="1250" b="1">
                <a:solidFill>
                  <a:srgbClr val="2563EB"/>
                </a:solidFill>
                <a:latin typeface="Segoe UI"/>
              </a:defRPr>
            </a:pPr>
            <a:r>
              <a:t>Phần 5: Demo Thực Nghiệm Trên FPGA</a:t>
            </a:r>
          </a:p>
          <a:p>
            <a:pPr>
              <a:lnSpc>
                <a:spcPct val="125000"/>
              </a:lnSpc>
              <a:defRPr sz="1000">
                <a:solidFill>
                  <a:srgbClr val="475569"/>
                </a:solidFill>
                <a:latin typeface="Segoe UI"/>
              </a:defRPr>
            </a:pPr>
            <a:r>
              <a:t>Tạo mẫu thực tế trên kit Basys 3, giao tiếp UART PC và 4 kịch bản quẹt thẻ RFID thật.</a:t>
            </a:r>
          </a:p>
        </p:txBody>
      </p:sp>
      <p:sp>
        <p:nvSpPr>
          <p:cNvPr id="18" name="Rounded Rectangle 17"/>
          <p:cNvSpPr/>
          <p:nvPr/>
        </p:nvSpPr>
        <p:spPr>
          <a:xfrm>
            <a:off x="7955280" y="3794760"/>
            <a:ext cx="3429000" cy="2148840"/>
          </a:xfrm>
          <a:prstGeom prst="roundRect">
            <a:avLst/>
          </a:prstGeom>
          <a:solidFill>
            <a:srgbClr val="FFFFFF"/>
          </a:solidFill>
          <a:ln w="1905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138160" y="3977640"/>
            <a:ext cx="3063240" cy="1783080"/>
          </a:xfrm>
          <a:prstGeom prst="rect">
            <a:avLst/>
          </a:prstGeom>
          <a:noFill/>
        </p:spPr>
        <p:txBody>
          <a:bodyPr wrap="square">
            <a:spAutoFit/>
          </a:bodyPr>
          <a:lstStyle/>
          <a:p>
            <a:pPr>
              <a:spcAft>
                <a:spcPts val="800"/>
              </a:spcAft>
              <a:defRPr sz="1250" b="1">
                <a:solidFill>
                  <a:srgbClr val="2563EB"/>
                </a:solidFill>
                <a:latin typeface="Segoe UI"/>
              </a:defRPr>
            </a:pPr>
            <a:r>
              <a:t>Phần 6: Thiết Kế Vật Lý ASIC &amp; Ký Duyệt</a:t>
            </a:r>
          </a:p>
          <a:p>
            <a:pPr>
              <a:lnSpc>
                <a:spcPct val="125000"/>
              </a:lnSpc>
              <a:defRPr sz="1000">
                <a:solidFill>
                  <a:srgbClr val="475569"/>
                </a:solidFill>
                <a:latin typeface="Segoe UI"/>
              </a:defRPr>
            </a:pPr>
            <a:r>
              <a:t>Quy trình RTL-to-GDSII trên OpenLane 2 (Sky130): Layout GDSII, chỉ số PPA và ký duyệt Sign-off.</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1440"/>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201168"/>
            <a:ext cx="10728655" cy="868680"/>
          </a:xfrm>
          <a:prstGeom prst="rect">
            <a:avLst/>
          </a:prstGeom>
          <a:noFill/>
        </p:spPr>
        <p:txBody>
          <a:bodyPr wrap="square" lIns="0" tIns="0" rIns="0" bIns="0">
            <a:spAutoFit/>
          </a:bodyPr>
          <a:lstStyle/>
          <a:p>
            <a:pPr>
              <a:spcAft>
                <a:spcPts val="200"/>
              </a:spcAft>
              <a:defRPr sz="1050" b="1">
                <a:solidFill>
                  <a:srgbClr val="2563EB"/>
                </a:solidFill>
                <a:latin typeface="Segoe UI"/>
              </a:defRPr>
            </a:pPr>
            <a:r>
              <a:t>PHẦN 1: GIỚI THIỆU DỰ ÁN</a:t>
            </a:r>
          </a:p>
          <a:p>
            <a:pPr>
              <a:defRPr sz="1700" b="1">
                <a:solidFill>
                  <a:srgbClr val="0F172A"/>
                </a:solidFill>
                <a:latin typeface="Segoe UI"/>
              </a:defRPr>
            </a:pPr>
            <a:r>
              <a:t>Thiết Bị Kiểm Soát Ra Vào Offline &amp; Lý Do Lựa Chọn SPI Flash</a:t>
            </a:r>
          </a:p>
        </p:txBody>
      </p:sp>
      <p:sp>
        <p:nvSpPr>
          <p:cNvPr id="5" name="Rectangle 4"/>
          <p:cNvSpPr/>
          <p:nvPr/>
        </p:nvSpPr>
        <p:spPr>
          <a:xfrm>
            <a:off x="731520" y="6446520"/>
            <a:ext cx="10728655" cy="18288"/>
          </a:xfrm>
          <a:prstGeom prst="rect">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31520" y="6492240"/>
            <a:ext cx="7315200" cy="274320"/>
          </a:xfrm>
          <a:prstGeom prst="rect">
            <a:avLst/>
          </a:prstGeom>
          <a:noFill/>
        </p:spPr>
        <p:txBody>
          <a:bodyPr wrap="none" lIns="0" tIns="0" rIns="0" bIns="0">
            <a:spAutoFit/>
          </a:bodyPr>
          <a:lstStyle/>
          <a:p>
            <a:pPr>
              <a:defRPr sz="950">
                <a:solidFill>
                  <a:srgbClr val="475569"/>
                </a:solidFill>
                <a:latin typeface="Segoe UI"/>
              </a:defRPr>
            </a:pPr>
            <a:r>
              <a:t>Đồ Án Tốt Nghiệp: SoC PicoRV32 RFID RDM6300 &amp; SPI Flash | SV: Thái Tuấn Hiệp | GVHD: ThS. Nguyễn Văn Đông</a:t>
            </a:r>
          </a:p>
        </p:txBody>
      </p:sp>
      <p:sp>
        <p:nvSpPr>
          <p:cNvPr id="7" name="TextBox 6"/>
          <p:cNvSpPr txBox="1"/>
          <p:nvPr/>
        </p:nvSpPr>
        <p:spPr>
          <a:xfrm>
            <a:off x="10058400" y="6492240"/>
            <a:ext cx="1401775" cy="274320"/>
          </a:xfrm>
          <a:prstGeom prst="rect">
            <a:avLst/>
          </a:prstGeom>
          <a:noFill/>
        </p:spPr>
        <p:txBody>
          <a:bodyPr wrap="none" lIns="0" tIns="0" rIns="0" bIns="0">
            <a:spAutoFit/>
          </a:bodyPr>
          <a:lstStyle/>
          <a:p>
            <a:pPr algn="r">
              <a:defRPr sz="950" b="1">
                <a:solidFill>
                  <a:srgbClr val="2563EB"/>
                </a:solidFill>
                <a:latin typeface="Segoe UI"/>
              </a:defRPr>
            </a:pPr>
            <a:r>
              <a:t>03 / 24</a:t>
            </a:r>
          </a:p>
        </p:txBody>
      </p:sp>
      <p:sp>
        <p:nvSpPr>
          <p:cNvPr id="8" name="Rounded Rectangle 7"/>
          <p:cNvSpPr/>
          <p:nvPr/>
        </p:nvSpPr>
        <p:spPr>
          <a:xfrm>
            <a:off x="731520" y="1234440"/>
            <a:ext cx="5212080" cy="4937760"/>
          </a:xfrm>
          <a:prstGeom prst="roundRect">
            <a:avLst/>
          </a:prstGeom>
          <a:solidFill>
            <a:srgbClr val="FFFFFF"/>
          </a:solidFill>
          <a:ln w="2540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4400" y="1371600"/>
            <a:ext cx="4846320" cy="4663440"/>
          </a:xfrm>
          <a:prstGeom prst="rect">
            <a:avLst/>
          </a:prstGeom>
          <a:noFill/>
        </p:spPr>
        <p:txBody>
          <a:bodyPr wrap="square">
            <a:spAutoFit/>
          </a:bodyPr>
          <a:lstStyle/>
          <a:p>
            <a:pPr>
              <a:spcAft>
                <a:spcPts val="1200"/>
              </a:spcAft>
              <a:defRPr sz="1300" b="1">
                <a:solidFill>
                  <a:srgbClr val="2563EB"/>
                </a:solidFill>
                <a:latin typeface="Segoe UI"/>
              </a:defRPr>
            </a:pPr>
            <a:r>
              <a:t>TÍNH CẤP THIẾT CỦA HỆ THỐNG OFFLINE</a:t>
            </a:r>
          </a:p>
          <a:p>
            <a:pPr>
              <a:lnSpc>
                <a:spcPct val="120000"/>
              </a:lnSpc>
              <a:spcAft>
                <a:spcPts val="1000"/>
              </a:spcAft>
              <a:defRPr sz="1050">
                <a:solidFill>
                  <a:srgbClr val="0F172A"/>
                </a:solidFill>
                <a:latin typeface="Segoe UI"/>
              </a:defRPr>
            </a:pPr>
            <a:r>
              <a:t>• Hạn chế của Access Control dựa trên Cloud: Phụ thuộc kết nối Internet, độ trễ mạng lớn (vài trăm ms đến vài giây), nguy cơ gián đoạn khi đứt cáp và lộ lọt dữ liệu định danh nhân sự.</a:t>
            </a:r>
          </a:p>
          <a:p>
            <a:pPr>
              <a:lnSpc>
                <a:spcPct val="120000"/>
              </a:lnSpc>
              <a:spcAft>
                <a:spcPts val="1000"/>
              </a:spcAft>
              <a:defRPr sz="1050">
                <a:solidFill>
                  <a:srgbClr val="0F172A"/>
                </a:solidFill>
                <a:latin typeface="Segoe UI"/>
              </a:defRPr>
            </a:pPr>
            <a:r>
              <a:t>• Định hướng hệ thống Offline Standalone: SoC tự giải mã thẻ và tự đối chiếu phân quyền tại chỗ với độ trễ siêu nhỏ (&lt; 10 µs), vận hành ổn định 24/7 tại các địa bàn biệt lập, bảo mật cao.</a:t>
            </a:r>
          </a:p>
          <a:p>
            <a:pPr>
              <a:lnSpc>
                <a:spcPct val="120000"/>
              </a:lnSpc>
              <a:spcAft>
                <a:spcPts val="1000"/>
              </a:spcAft>
              <a:defRPr sz="1050">
                <a:solidFill>
                  <a:srgbClr val="0F172A"/>
                </a:solidFill>
                <a:latin typeface="Segoe UI"/>
              </a:defRPr>
            </a:pPr>
            <a:r>
              <a:t>• Nhu cầu tự chủ thiết kế vi mạch ASIC: Loại bỏ hoàn toàn nguy cơ backdoor phần cứng, làm chủ từ kiến trúc RTL đến quy trình chế tạo vi mạch bán dẫn.</a:t>
            </a:r>
          </a:p>
        </p:txBody>
      </p:sp>
      <p:sp>
        <p:nvSpPr>
          <p:cNvPr id="10" name="Rounded Rectangle 9"/>
          <p:cNvSpPr/>
          <p:nvPr/>
        </p:nvSpPr>
        <p:spPr>
          <a:xfrm>
            <a:off x="6126480" y="1234440"/>
            <a:ext cx="5212080" cy="4937760"/>
          </a:xfrm>
          <a:prstGeom prst="roundRect">
            <a:avLst/>
          </a:prstGeom>
          <a:solidFill>
            <a:srgbClr val="FFFFFF"/>
          </a:solidFill>
          <a:ln w="25400">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309360" y="1371600"/>
            <a:ext cx="4846320" cy="4663440"/>
          </a:xfrm>
          <a:prstGeom prst="rect">
            <a:avLst/>
          </a:prstGeom>
          <a:noFill/>
        </p:spPr>
        <p:txBody>
          <a:bodyPr wrap="square">
            <a:spAutoFit/>
          </a:bodyPr>
          <a:lstStyle/>
          <a:p>
            <a:pPr>
              <a:spcAft>
                <a:spcPts val="1200"/>
              </a:spcAft>
              <a:defRPr sz="1300" b="1">
                <a:solidFill>
                  <a:srgbClr val="10B981"/>
                </a:solidFill>
                <a:latin typeface="Segoe UI"/>
              </a:defRPr>
            </a:pPr>
            <a:r>
              <a:t>VAI TRÒ CỐT TỬ CỦA BỘ NHỚ SPI FLASH NVM</a:t>
            </a:r>
          </a:p>
          <a:p>
            <a:pPr>
              <a:lnSpc>
                <a:spcPct val="120000"/>
              </a:lnSpc>
              <a:spcAft>
                <a:spcPts val="1000"/>
              </a:spcAft>
              <a:defRPr sz="1050">
                <a:solidFill>
                  <a:srgbClr val="0F172A"/>
                </a:solidFill>
                <a:latin typeface="Segoe UI"/>
              </a:defRPr>
            </a:pPr>
            <a:r>
              <a:t>• Lưu trữ bất biến không cần pin nuôi: Khác với RAM mất sạch dữ liệu khi ngắt điện, SPI Flash lưu trữ danh sách thẻ (Whitelist) và nhật ký quẹt thẻ (Access Logs) an toàn trên 20 năm.</a:t>
            </a:r>
          </a:p>
          <a:p>
            <a:pPr>
              <a:lnSpc>
                <a:spcPct val="120000"/>
              </a:lnSpc>
              <a:spcAft>
                <a:spcPts val="1000"/>
              </a:spcAft>
              <a:defRPr sz="1050">
                <a:solidFill>
                  <a:srgbClr val="0F172A"/>
                </a:solidFill>
                <a:latin typeface="Segoe UI"/>
              </a:defRPr>
            </a:pPr>
            <a:r>
              <a:t>• Dung lượng lớn với chi phí tối thiểu: Dung lượng 32 Mbit (4MB) cho phép lưu tới 4,096 thẻ người dùng và 512 bản ghi nhật ký kiểm toán với chi phí linh kiện cực rẻ.</a:t>
            </a:r>
          </a:p>
          <a:p>
            <a:pPr>
              <a:lnSpc>
                <a:spcPct val="120000"/>
              </a:lnSpc>
              <a:spcAft>
                <a:spcPts val="1000"/>
              </a:spcAft>
              <a:defRPr sz="1050">
                <a:solidFill>
                  <a:srgbClr val="0F172A"/>
                </a:solidFill>
                <a:latin typeface="Segoe UI"/>
              </a:defRPr>
            </a:pPr>
            <a:r>
              <a:t>• Tiết kiệm chân kết nối ngoại vi ASIC: Chuẩn SPI chỉ dùng 4 chân tín hiệu (CS, SCK, MOSI, MISO), tối ưu hóa số chân pad (chỉ 31 chân toàn vi mạch) và diện tích die silicon.</a:t>
            </a:r>
          </a:p>
          <a:p>
            <a:pPr>
              <a:lnSpc>
                <a:spcPct val="120000"/>
              </a:lnSpc>
              <a:spcAft>
                <a:spcPts val="1000"/>
              </a:spcAft>
              <a:defRPr sz="1050">
                <a:solidFill>
                  <a:srgbClr val="0F172A"/>
                </a:solidFill>
                <a:latin typeface="Segoe UI"/>
              </a:defRPr>
            </a:pPr>
            <a:r>
              <a:t>• Hỗ trợ chế độ thực thi lệnh tại chỗ (XIP): Cho phép CPU PicoRV32 kéo trực tiếp mã lệnh từ Flash chạy mà không cần nạp vào SRAM lớn.</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1440"/>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201168"/>
            <a:ext cx="10728655" cy="868680"/>
          </a:xfrm>
          <a:prstGeom prst="rect">
            <a:avLst/>
          </a:prstGeom>
          <a:noFill/>
        </p:spPr>
        <p:txBody>
          <a:bodyPr wrap="square" lIns="0" tIns="0" rIns="0" bIns="0">
            <a:spAutoFit/>
          </a:bodyPr>
          <a:lstStyle/>
          <a:p>
            <a:pPr>
              <a:spcAft>
                <a:spcPts val="200"/>
              </a:spcAft>
              <a:defRPr sz="1050" b="1">
                <a:solidFill>
                  <a:srgbClr val="2563EB"/>
                </a:solidFill>
                <a:latin typeface="Segoe UI"/>
              </a:defRPr>
            </a:pPr>
            <a:r>
              <a:t>PHẦN 2: NỀN TẢNG PHẦN CỨNG</a:t>
            </a:r>
          </a:p>
          <a:p>
            <a:pPr>
              <a:defRPr sz="1700" b="1">
                <a:solidFill>
                  <a:srgbClr val="0F172A"/>
                </a:solidFill>
                <a:latin typeface="Segoe UI"/>
              </a:defRPr>
            </a:pPr>
            <a:r>
              <a:t>Lựa Chọn Nền Tảng Phần Cứng: FPGA Basys 3 &amp; Đầu Đọc RFID RDM6300</a:t>
            </a:r>
          </a:p>
        </p:txBody>
      </p:sp>
      <p:sp>
        <p:nvSpPr>
          <p:cNvPr id="5" name="Rectangle 4"/>
          <p:cNvSpPr/>
          <p:nvPr/>
        </p:nvSpPr>
        <p:spPr>
          <a:xfrm>
            <a:off x="731520" y="6446520"/>
            <a:ext cx="10728655" cy="18288"/>
          </a:xfrm>
          <a:prstGeom prst="rect">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31520" y="6492240"/>
            <a:ext cx="7315200" cy="274320"/>
          </a:xfrm>
          <a:prstGeom prst="rect">
            <a:avLst/>
          </a:prstGeom>
          <a:noFill/>
        </p:spPr>
        <p:txBody>
          <a:bodyPr wrap="none" lIns="0" tIns="0" rIns="0" bIns="0">
            <a:spAutoFit/>
          </a:bodyPr>
          <a:lstStyle/>
          <a:p>
            <a:pPr>
              <a:defRPr sz="950">
                <a:solidFill>
                  <a:srgbClr val="475569"/>
                </a:solidFill>
                <a:latin typeface="Segoe UI"/>
              </a:defRPr>
            </a:pPr>
            <a:r>
              <a:t>Đồ Án Tốt Nghiệp: SoC PicoRV32 RFID RDM6300 &amp; SPI Flash | SV: Thái Tuấn Hiệp | GVHD: ThS. Nguyễn Văn Đông</a:t>
            </a:r>
          </a:p>
        </p:txBody>
      </p:sp>
      <p:sp>
        <p:nvSpPr>
          <p:cNvPr id="7" name="TextBox 6"/>
          <p:cNvSpPr txBox="1"/>
          <p:nvPr/>
        </p:nvSpPr>
        <p:spPr>
          <a:xfrm>
            <a:off x="10058400" y="6492240"/>
            <a:ext cx="1401775" cy="274320"/>
          </a:xfrm>
          <a:prstGeom prst="rect">
            <a:avLst/>
          </a:prstGeom>
          <a:noFill/>
        </p:spPr>
        <p:txBody>
          <a:bodyPr wrap="none" lIns="0" tIns="0" rIns="0" bIns="0">
            <a:spAutoFit/>
          </a:bodyPr>
          <a:lstStyle/>
          <a:p>
            <a:pPr algn="r">
              <a:defRPr sz="950" b="1">
                <a:solidFill>
                  <a:srgbClr val="2563EB"/>
                </a:solidFill>
                <a:latin typeface="Segoe UI"/>
              </a:defRPr>
            </a:pPr>
            <a:r>
              <a:t>04 / 24</a:t>
            </a:r>
          </a:p>
        </p:txBody>
      </p:sp>
      <p:sp>
        <p:nvSpPr>
          <p:cNvPr id="8" name="Rounded Rectangle 7"/>
          <p:cNvSpPr/>
          <p:nvPr/>
        </p:nvSpPr>
        <p:spPr>
          <a:xfrm>
            <a:off x="731520" y="1234440"/>
            <a:ext cx="5212080" cy="4937760"/>
          </a:xfrm>
          <a:prstGeom prst="roundRect">
            <a:avLst/>
          </a:prstGeom>
          <a:solidFill>
            <a:srgbClr val="FFFFFF"/>
          </a:solidFill>
          <a:ln w="2540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4400" y="1371600"/>
            <a:ext cx="4846320" cy="4663440"/>
          </a:xfrm>
          <a:prstGeom prst="rect">
            <a:avLst/>
          </a:prstGeom>
          <a:noFill/>
        </p:spPr>
        <p:txBody>
          <a:bodyPr wrap="square">
            <a:spAutoFit/>
          </a:bodyPr>
          <a:lstStyle/>
          <a:p>
            <a:pPr>
              <a:spcAft>
                <a:spcPts val="1200"/>
              </a:spcAft>
              <a:defRPr sz="1300" b="1">
                <a:solidFill>
                  <a:srgbClr val="2563EB"/>
                </a:solidFill>
                <a:latin typeface="Segoe UI"/>
              </a:defRPr>
            </a:pPr>
            <a:r>
              <a:t>NỀN TẢNG FPGA DIGILENT BASYS 3</a:t>
            </a:r>
          </a:p>
          <a:p>
            <a:pPr>
              <a:lnSpc>
                <a:spcPct val="120000"/>
              </a:lnSpc>
              <a:spcAft>
                <a:spcPts val="1000"/>
              </a:spcAft>
              <a:defRPr sz="1050">
                <a:solidFill>
                  <a:srgbClr val="0F172A"/>
                </a:solidFill>
                <a:latin typeface="Segoe UI"/>
              </a:defRPr>
            </a:pPr>
            <a:r>
              <a:t>• Chip FPGA Xilinx Artix-7 (XC7A35T): 33,280 Logic Cells, 50 Block RAM 36Kb, 90 DSP Slices - nền tảng lý tưởng tạo mẫu SoC.</a:t>
            </a:r>
          </a:p>
          <a:p>
            <a:pPr>
              <a:lnSpc>
                <a:spcPct val="120000"/>
              </a:lnSpc>
              <a:spcAft>
                <a:spcPts val="1000"/>
              </a:spcAft>
              <a:defRPr sz="1050">
                <a:solidFill>
                  <a:srgbClr val="0F172A"/>
                </a:solidFill>
                <a:latin typeface="Segoe UI"/>
              </a:defRPr>
            </a:pPr>
            <a:r>
              <a:t>• Tích hợp sẵn chip Flash SPI 32Mbit: Chip Spansion S25FL032P giao tiếp qua nguyên thủy STARTUPE2 của Xilinx.</a:t>
            </a:r>
          </a:p>
          <a:p>
            <a:pPr>
              <a:lnSpc>
                <a:spcPct val="120000"/>
              </a:lnSpc>
              <a:spcAft>
                <a:spcPts val="1000"/>
              </a:spcAft>
              <a:defRPr sz="1050">
                <a:solidFill>
                  <a:srgbClr val="0F172A"/>
                </a:solidFill>
                <a:latin typeface="Segoe UI"/>
              </a:defRPr>
            </a:pPr>
            <a:r>
              <a:t>• Tích hợp mạch nạp &amp; UART FTDI: Cổng micro-USB cung cấp nguồn và kênh UART nối tiếp kết nối trực tiếp với máy tính.</a:t>
            </a:r>
          </a:p>
          <a:p>
            <a:pPr>
              <a:lnSpc>
                <a:spcPct val="120000"/>
              </a:lnSpc>
              <a:spcAft>
                <a:spcPts val="1000"/>
              </a:spcAft>
              <a:defRPr sz="1050">
                <a:solidFill>
                  <a:srgbClr val="0F172A"/>
                </a:solidFill>
                <a:latin typeface="Segoe UI"/>
              </a:defRPr>
            </a:pPr>
            <a:r>
              <a:t>• Hệ thống hiển thị &amp; chẩn đoán tại chỗ: 16 LED đơn, 16 công tắc gạt (Switch) và 4 nút nhấn phục vụ chẩn đoán trạng thái.</a:t>
            </a:r>
          </a:p>
        </p:txBody>
      </p:sp>
      <p:sp>
        <p:nvSpPr>
          <p:cNvPr id="10" name="Rounded Rectangle 9"/>
          <p:cNvSpPr/>
          <p:nvPr/>
        </p:nvSpPr>
        <p:spPr>
          <a:xfrm>
            <a:off x="6126480" y="1234440"/>
            <a:ext cx="5212080" cy="4937760"/>
          </a:xfrm>
          <a:prstGeom prst="roundRect">
            <a:avLst/>
          </a:prstGeom>
          <a:solidFill>
            <a:srgbClr val="FFFFFF"/>
          </a:solidFill>
          <a:ln w="25400">
            <a:solidFill>
              <a:srgbClr val="D9770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309360" y="1371600"/>
            <a:ext cx="4846320" cy="4663440"/>
          </a:xfrm>
          <a:prstGeom prst="rect">
            <a:avLst/>
          </a:prstGeom>
          <a:noFill/>
        </p:spPr>
        <p:txBody>
          <a:bodyPr wrap="square">
            <a:spAutoFit/>
          </a:bodyPr>
          <a:lstStyle/>
          <a:p>
            <a:pPr>
              <a:spcAft>
                <a:spcPts val="1200"/>
              </a:spcAft>
              <a:defRPr sz="1300" b="1">
                <a:solidFill>
                  <a:srgbClr val="D97706"/>
                </a:solidFill>
                <a:latin typeface="Segoe UI"/>
              </a:defRPr>
            </a:pPr>
            <a:r>
              <a:t>MODULE ĐẦU ĐỌC RFID RDM6300 125KHZ</a:t>
            </a:r>
          </a:p>
          <a:p>
            <a:pPr>
              <a:lnSpc>
                <a:spcPct val="120000"/>
              </a:lnSpc>
              <a:spcAft>
                <a:spcPts val="1000"/>
              </a:spcAft>
              <a:defRPr sz="1050">
                <a:solidFill>
                  <a:srgbClr val="0F172A"/>
                </a:solidFill>
                <a:latin typeface="Segoe UI"/>
              </a:defRPr>
            </a:pPr>
            <a:r>
              <a:t>• Tần số sóng mang 125 kHz EM4100: Tần số tiêu chuẩn công nghiệp cho thẻ cảm ứng tầm gần (khoảng cách đọc 20 - 50 mm).</a:t>
            </a:r>
          </a:p>
          <a:p>
            <a:pPr>
              <a:lnSpc>
                <a:spcPct val="120000"/>
              </a:lnSpc>
              <a:spcAft>
                <a:spcPts val="1000"/>
              </a:spcAft>
              <a:defRPr sz="1050">
                <a:solidFill>
                  <a:srgbClr val="0F172A"/>
                </a:solidFill>
                <a:latin typeface="Segoe UI"/>
              </a:defRPr>
            </a:pPr>
            <a:r>
              <a:t>• Giao tiếp UART 9600-8-N-1 tự động: Module tự động điều chế và phát ra khung dữ liệu ASCII 14 byte ngay khi phát hiện thẻ.</a:t>
            </a:r>
          </a:p>
          <a:p>
            <a:pPr>
              <a:lnSpc>
                <a:spcPct val="120000"/>
              </a:lnSpc>
              <a:spcAft>
                <a:spcPts val="1000"/>
              </a:spcAft>
              <a:defRPr sz="1050">
                <a:solidFill>
                  <a:srgbClr val="0F172A"/>
                </a:solidFill>
                <a:latin typeface="Segoe UI"/>
              </a:defRPr>
            </a:pPr>
            <a:r>
              <a:t>• Cấu trúc khung dữ liệu an toàn: Gồm 1 byte Start (0x02), 10 byte mã thẻ Hex, 2 byte Checksum XOR và 1 byte Stop (0x03).</a:t>
            </a:r>
          </a:p>
          <a:p>
            <a:pPr>
              <a:lnSpc>
                <a:spcPct val="120000"/>
              </a:lnSpc>
              <a:spcAft>
                <a:spcPts val="1000"/>
              </a:spcAft>
              <a:defRPr sz="1050">
                <a:solidFill>
                  <a:srgbClr val="0F172A"/>
                </a:solidFill>
                <a:latin typeface="Segoe UI"/>
              </a:defRPr>
            </a:pPr>
            <a:r>
              <a:t>• Ăng-ten cuộn cảm rời linh hoạt: Dễ dàng lắp đặt tại cửa kiểm soát mà không gây can nhiễu từ trường đến mạch số.</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1440"/>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201168"/>
            <a:ext cx="10728655" cy="868680"/>
          </a:xfrm>
          <a:prstGeom prst="rect">
            <a:avLst/>
          </a:prstGeom>
          <a:noFill/>
        </p:spPr>
        <p:txBody>
          <a:bodyPr wrap="square" lIns="0" tIns="0" rIns="0" bIns="0">
            <a:spAutoFit/>
          </a:bodyPr>
          <a:lstStyle/>
          <a:p>
            <a:pPr>
              <a:spcAft>
                <a:spcPts val="200"/>
              </a:spcAft>
              <a:defRPr sz="1050" b="1">
                <a:solidFill>
                  <a:srgbClr val="2563EB"/>
                </a:solidFill>
                <a:latin typeface="Segoe UI"/>
              </a:defRPr>
            </a:pPr>
            <a:r>
              <a:t>PHẦN 2: CHUỖI CÔNG CỤ PHÁT TRIỂN</a:t>
            </a:r>
          </a:p>
          <a:p>
            <a:pPr>
              <a:defRPr sz="1700" b="1">
                <a:solidFill>
                  <a:srgbClr val="0F172A"/>
                </a:solidFill>
                <a:latin typeface="Segoe UI"/>
              </a:defRPr>
            </a:pPr>
            <a:r>
              <a:t>Chuỗi Công Cụ Phát Triển: FPGA Vivado, ASIC OpenLane 2 &amp; RISC-V GCC</a:t>
            </a:r>
          </a:p>
        </p:txBody>
      </p:sp>
      <p:sp>
        <p:nvSpPr>
          <p:cNvPr id="5" name="Rectangle 4"/>
          <p:cNvSpPr/>
          <p:nvPr/>
        </p:nvSpPr>
        <p:spPr>
          <a:xfrm>
            <a:off x="731520" y="6446520"/>
            <a:ext cx="10728655" cy="18288"/>
          </a:xfrm>
          <a:prstGeom prst="rect">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31520" y="6492240"/>
            <a:ext cx="7315200" cy="274320"/>
          </a:xfrm>
          <a:prstGeom prst="rect">
            <a:avLst/>
          </a:prstGeom>
          <a:noFill/>
        </p:spPr>
        <p:txBody>
          <a:bodyPr wrap="none" lIns="0" tIns="0" rIns="0" bIns="0">
            <a:spAutoFit/>
          </a:bodyPr>
          <a:lstStyle/>
          <a:p>
            <a:pPr>
              <a:defRPr sz="950">
                <a:solidFill>
                  <a:srgbClr val="475569"/>
                </a:solidFill>
                <a:latin typeface="Segoe UI"/>
              </a:defRPr>
            </a:pPr>
            <a:r>
              <a:t>Đồ Án Tốt Nghiệp: SoC PicoRV32 RFID RDM6300 &amp; SPI Flash | SV: Thái Tuấn Hiệp | GVHD: ThS. Nguyễn Văn Đông</a:t>
            </a:r>
          </a:p>
        </p:txBody>
      </p:sp>
      <p:sp>
        <p:nvSpPr>
          <p:cNvPr id="7" name="TextBox 6"/>
          <p:cNvSpPr txBox="1"/>
          <p:nvPr/>
        </p:nvSpPr>
        <p:spPr>
          <a:xfrm>
            <a:off x="10058400" y="6492240"/>
            <a:ext cx="1401775" cy="274320"/>
          </a:xfrm>
          <a:prstGeom prst="rect">
            <a:avLst/>
          </a:prstGeom>
          <a:noFill/>
        </p:spPr>
        <p:txBody>
          <a:bodyPr wrap="none" lIns="0" tIns="0" rIns="0" bIns="0">
            <a:spAutoFit/>
          </a:bodyPr>
          <a:lstStyle/>
          <a:p>
            <a:pPr algn="r">
              <a:defRPr sz="950" b="1">
                <a:solidFill>
                  <a:srgbClr val="2563EB"/>
                </a:solidFill>
                <a:latin typeface="Segoe UI"/>
              </a:defRPr>
            </a:pPr>
            <a:r>
              <a:t>05 / 24</a:t>
            </a:r>
          </a:p>
        </p:txBody>
      </p:sp>
      <p:sp>
        <p:nvSpPr>
          <p:cNvPr id="8" name="Rounded Rectangle 7"/>
          <p:cNvSpPr/>
          <p:nvPr/>
        </p:nvSpPr>
        <p:spPr>
          <a:xfrm>
            <a:off x="731520" y="1280160"/>
            <a:ext cx="3429000" cy="4846320"/>
          </a:xfrm>
          <a:prstGeom prst="roundRect">
            <a:avLst/>
          </a:prstGeom>
          <a:solidFill>
            <a:srgbClr val="FFFFFF"/>
          </a:solidFill>
          <a:ln w="2540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96112" y="1463040"/>
            <a:ext cx="3099816" cy="4480560"/>
          </a:xfrm>
          <a:prstGeom prst="rect">
            <a:avLst/>
          </a:prstGeom>
          <a:noFill/>
        </p:spPr>
        <p:txBody>
          <a:bodyPr wrap="square">
            <a:spAutoFit/>
          </a:bodyPr>
          <a:lstStyle/>
          <a:p>
            <a:pPr>
              <a:spcAft>
                <a:spcPts val="1200"/>
              </a:spcAft>
              <a:defRPr sz="1200" b="1">
                <a:solidFill>
                  <a:srgbClr val="2563EB"/>
                </a:solidFill>
                <a:latin typeface="Segoe UI"/>
              </a:defRPr>
            </a:pPr>
            <a:r>
              <a:t>MÔ PHỎNG &amp; FPGA: XILINX VIVADO</a:t>
            </a:r>
          </a:p>
          <a:p>
            <a:pPr>
              <a:lnSpc>
                <a:spcPct val="115000"/>
              </a:lnSpc>
              <a:spcAft>
                <a:spcPts val="800"/>
              </a:spcAft>
              <a:defRPr sz="1050">
                <a:solidFill>
                  <a:srgbClr val="0F172A"/>
                </a:solidFill>
                <a:latin typeface="Segoe UI"/>
              </a:defRPr>
            </a:pPr>
            <a:r>
              <a:t>• Môi trường Vivado 2025.1: Công cụ số 1 thế giới cho tổng hợp logic và nạp FPGA Artix-7.</a:t>
            </a:r>
          </a:p>
          <a:p>
            <a:pPr>
              <a:lnSpc>
                <a:spcPct val="115000"/>
              </a:lnSpc>
              <a:spcAft>
                <a:spcPts val="800"/>
              </a:spcAft>
              <a:defRPr sz="1050">
                <a:solidFill>
                  <a:srgbClr val="0F172A"/>
                </a:solidFill>
                <a:latin typeface="Segoe UI"/>
              </a:defRPr>
            </a:pPr>
            <a:r>
              <a:t>• Vivado Simulator (xsim): Mô phỏng chính xác mức chu kỳ clock cho cả testbench RTL thuần và Top SoC.</a:t>
            </a:r>
          </a:p>
          <a:p>
            <a:pPr>
              <a:lnSpc>
                <a:spcPct val="115000"/>
              </a:lnSpc>
              <a:spcAft>
                <a:spcPts val="800"/>
              </a:spcAft>
              <a:defRPr sz="1050">
                <a:solidFill>
                  <a:srgbClr val="0F172A"/>
                </a:solidFill>
                <a:latin typeface="Segoe UI"/>
              </a:defRPr>
            </a:pPr>
            <a:r>
              <a:t>• Tự động hóa bằng Batch Script: Tích hợp sẵn run_sim_uart.bat và run_sim_ping.bat chạy 1-click.</a:t>
            </a:r>
          </a:p>
        </p:txBody>
      </p:sp>
      <p:sp>
        <p:nvSpPr>
          <p:cNvPr id="10" name="Rounded Rectangle 9"/>
          <p:cNvSpPr/>
          <p:nvPr/>
        </p:nvSpPr>
        <p:spPr>
          <a:xfrm>
            <a:off x="4343400" y="1280160"/>
            <a:ext cx="3429000" cy="4846320"/>
          </a:xfrm>
          <a:prstGeom prst="roundRect">
            <a:avLst/>
          </a:prstGeom>
          <a:solidFill>
            <a:srgbClr val="FFFFFF"/>
          </a:solidFill>
          <a:ln w="25400">
            <a:solidFill>
              <a:srgbClr val="7C3AE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507992" y="1463040"/>
            <a:ext cx="3099816" cy="4480560"/>
          </a:xfrm>
          <a:prstGeom prst="rect">
            <a:avLst/>
          </a:prstGeom>
          <a:noFill/>
        </p:spPr>
        <p:txBody>
          <a:bodyPr wrap="square">
            <a:spAutoFit/>
          </a:bodyPr>
          <a:lstStyle/>
          <a:p>
            <a:pPr>
              <a:spcAft>
                <a:spcPts val="1200"/>
              </a:spcAft>
              <a:defRPr sz="1200" b="1">
                <a:solidFill>
                  <a:srgbClr val="7C3AED"/>
                </a:solidFill>
                <a:latin typeface="Segoe UI"/>
              </a:defRPr>
            </a:pPr>
            <a:r>
              <a:t>THIẾT KẾ VẬT LÝ ASIC: OPENLANE 2</a:t>
            </a:r>
          </a:p>
          <a:p>
            <a:pPr>
              <a:lnSpc>
                <a:spcPct val="115000"/>
              </a:lnSpc>
              <a:spcAft>
                <a:spcPts val="800"/>
              </a:spcAft>
              <a:defRPr sz="1050">
                <a:solidFill>
                  <a:srgbClr val="0F172A"/>
                </a:solidFill>
                <a:latin typeface="Segoe UI"/>
              </a:defRPr>
            </a:pPr>
            <a:r>
              <a:t>• Chuỗi công cụ nguồn mở OpenLane 2: Hiện thực hóa luồng RTL-to-GDSII tự động trên tiến trình SkyWater 130nm.</a:t>
            </a:r>
          </a:p>
          <a:p>
            <a:pPr>
              <a:lnSpc>
                <a:spcPct val="115000"/>
              </a:lnSpc>
              <a:spcAft>
                <a:spcPts val="800"/>
              </a:spcAft>
              <a:defRPr sz="1050">
                <a:solidFill>
                  <a:srgbClr val="0F172A"/>
                </a:solidFill>
                <a:latin typeface="Segoe UI"/>
              </a:defRPr>
            </a:pPr>
            <a:r>
              <a:t>• Công cụ chuẩn công nghiệp tích hợp: Yosys (Synthesis), OpenROAD (P&amp;R), Magic &amp; KLayout (DRC), Netgen (LVS).</a:t>
            </a:r>
          </a:p>
          <a:p>
            <a:pPr>
              <a:lnSpc>
                <a:spcPct val="115000"/>
              </a:lnSpc>
              <a:spcAft>
                <a:spcPts val="800"/>
              </a:spcAft>
              <a:defRPr sz="1050">
                <a:solidFill>
                  <a:srgbClr val="0F172A"/>
                </a:solidFill>
                <a:latin typeface="Segoe UI"/>
              </a:defRPr>
            </a:pPr>
            <a:r>
              <a:t>• Sign-off Tape-out Ready: Tự động chèn diode triệt tiêu Antenna, tối ưu hóa timing MET TIMING 50 MHz.</a:t>
            </a:r>
          </a:p>
        </p:txBody>
      </p:sp>
      <p:sp>
        <p:nvSpPr>
          <p:cNvPr id="12" name="Rounded Rectangle 11"/>
          <p:cNvSpPr/>
          <p:nvPr/>
        </p:nvSpPr>
        <p:spPr>
          <a:xfrm>
            <a:off x="7955280" y="1280160"/>
            <a:ext cx="3429000" cy="4846320"/>
          </a:xfrm>
          <a:prstGeom prst="roundRect">
            <a:avLst/>
          </a:prstGeom>
          <a:solidFill>
            <a:srgbClr val="FFFFFF"/>
          </a:solidFill>
          <a:ln w="25400">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119872" y="1463040"/>
            <a:ext cx="3099816" cy="4480560"/>
          </a:xfrm>
          <a:prstGeom prst="rect">
            <a:avLst/>
          </a:prstGeom>
          <a:noFill/>
        </p:spPr>
        <p:txBody>
          <a:bodyPr wrap="square">
            <a:spAutoFit/>
          </a:bodyPr>
          <a:lstStyle/>
          <a:p>
            <a:pPr>
              <a:spcAft>
                <a:spcPts val="1200"/>
              </a:spcAft>
              <a:defRPr sz="1200" b="1">
                <a:solidFill>
                  <a:srgbClr val="10B981"/>
                </a:solidFill>
                <a:latin typeface="Segoe UI"/>
              </a:defRPr>
            </a:pPr>
            <a:r>
              <a:t>TOOLCHAIN FIRMWARE: RISC-V GCC &amp; C</a:t>
            </a:r>
          </a:p>
          <a:p>
            <a:pPr>
              <a:lnSpc>
                <a:spcPct val="115000"/>
              </a:lnSpc>
              <a:spcAft>
                <a:spcPts val="800"/>
              </a:spcAft>
              <a:defRPr sz="1050">
                <a:solidFill>
                  <a:srgbClr val="0F172A"/>
                </a:solidFill>
                <a:latin typeface="Segoe UI"/>
              </a:defRPr>
            </a:pPr>
            <a:r>
              <a:t>• Bộ biên dịch riscv32-unknown-elf-gcc: Biên dịch mã C thành tập lệnh RV32I freestanding tối ưu kích thước.</a:t>
            </a:r>
          </a:p>
          <a:p>
            <a:pPr>
              <a:lnSpc>
                <a:spcPct val="115000"/>
              </a:lnSpc>
              <a:spcAft>
                <a:spcPts val="800"/>
              </a:spcAft>
              <a:defRPr sz="1050">
                <a:solidFill>
                  <a:srgbClr val="0F172A"/>
                </a:solidFill>
                <a:latin typeface="Segoe UI"/>
              </a:defRPr>
            </a:pPr>
            <a:r>
              <a:t>• Linker Script sections.lds: Định vị mã nguồn vào Flash XIP (0x0025_0000) và biến vào 1KB SRAM.</a:t>
            </a:r>
          </a:p>
          <a:p>
            <a:pPr>
              <a:lnSpc>
                <a:spcPct val="115000"/>
              </a:lnSpc>
              <a:spcAft>
                <a:spcPts val="800"/>
              </a:spcAft>
              <a:defRPr sz="1050">
                <a:solidFill>
                  <a:srgbClr val="0F172A"/>
                </a:solidFill>
                <a:latin typeface="Segoe UI"/>
              </a:defRPr>
            </a:pPr>
            <a:r>
              <a:t>• Host Console C tương tác: Phần mềm quản trị trên máy tính hỗ trợ 11 lệnh điều khiển qua UART.</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1440"/>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201168"/>
            <a:ext cx="10728655" cy="868680"/>
          </a:xfrm>
          <a:prstGeom prst="rect">
            <a:avLst/>
          </a:prstGeom>
          <a:noFill/>
        </p:spPr>
        <p:txBody>
          <a:bodyPr wrap="square" lIns="0" tIns="0" rIns="0" bIns="0">
            <a:spAutoFit/>
          </a:bodyPr>
          <a:lstStyle/>
          <a:p>
            <a:pPr>
              <a:spcAft>
                <a:spcPts val="200"/>
              </a:spcAft>
              <a:defRPr sz="1050" b="1">
                <a:solidFill>
                  <a:srgbClr val="2563EB"/>
                </a:solidFill>
                <a:latin typeface="Segoe UI"/>
              </a:defRPr>
            </a:pPr>
            <a:r>
              <a:t>PHẦN 3: KIẾN TRÚC VI HỆ THỐNG SOC</a:t>
            </a:r>
          </a:p>
          <a:p>
            <a:pPr>
              <a:defRPr sz="1700" b="1">
                <a:solidFill>
                  <a:srgbClr val="0F172A"/>
                </a:solidFill>
                <a:latin typeface="Segoe UI"/>
              </a:defRPr>
            </a:pPr>
            <a:r>
              <a:t>Sơ Đồ Khối Kiến Trúc Vi Hệ Thống SoC PicoRV32 (1 Master - 5 Slaves)</a:t>
            </a:r>
          </a:p>
        </p:txBody>
      </p:sp>
      <p:sp>
        <p:nvSpPr>
          <p:cNvPr id="5" name="Rectangle 4"/>
          <p:cNvSpPr/>
          <p:nvPr/>
        </p:nvSpPr>
        <p:spPr>
          <a:xfrm>
            <a:off x="731520" y="6446520"/>
            <a:ext cx="10728655" cy="18288"/>
          </a:xfrm>
          <a:prstGeom prst="rect">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31520" y="6492240"/>
            <a:ext cx="7315200" cy="274320"/>
          </a:xfrm>
          <a:prstGeom prst="rect">
            <a:avLst/>
          </a:prstGeom>
          <a:noFill/>
        </p:spPr>
        <p:txBody>
          <a:bodyPr wrap="none" lIns="0" tIns="0" rIns="0" bIns="0">
            <a:spAutoFit/>
          </a:bodyPr>
          <a:lstStyle/>
          <a:p>
            <a:pPr>
              <a:defRPr sz="950">
                <a:solidFill>
                  <a:srgbClr val="475569"/>
                </a:solidFill>
                <a:latin typeface="Segoe UI"/>
              </a:defRPr>
            </a:pPr>
            <a:r>
              <a:t>Đồ Án Tốt Nghiệp: SoC PicoRV32 RFID RDM6300 &amp; SPI Flash | SV: Thái Tuấn Hiệp | GVHD: ThS. Nguyễn Văn Đông</a:t>
            </a:r>
          </a:p>
        </p:txBody>
      </p:sp>
      <p:sp>
        <p:nvSpPr>
          <p:cNvPr id="7" name="TextBox 6"/>
          <p:cNvSpPr txBox="1"/>
          <p:nvPr/>
        </p:nvSpPr>
        <p:spPr>
          <a:xfrm>
            <a:off x="10058400" y="6492240"/>
            <a:ext cx="1401775" cy="274320"/>
          </a:xfrm>
          <a:prstGeom prst="rect">
            <a:avLst/>
          </a:prstGeom>
          <a:noFill/>
        </p:spPr>
        <p:txBody>
          <a:bodyPr wrap="none" lIns="0" tIns="0" rIns="0" bIns="0">
            <a:spAutoFit/>
          </a:bodyPr>
          <a:lstStyle/>
          <a:p>
            <a:pPr algn="r">
              <a:defRPr sz="950" b="1">
                <a:solidFill>
                  <a:srgbClr val="2563EB"/>
                </a:solidFill>
                <a:latin typeface="Segoe UI"/>
              </a:defRPr>
            </a:pPr>
            <a:r>
              <a:t>06 / 24</a:t>
            </a:r>
          </a:p>
        </p:txBody>
      </p:sp>
      <p:sp>
        <p:nvSpPr>
          <p:cNvPr id="8" name="Rounded Rectangle 7"/>
          <p:cNvSpPr/>
          <p:nvPr/>
        </p:nvSpPr>
        <p:spPr>
          <a:xfrm>
            <a:off x="731520" y="1234440"/>
            <a:ext cx="6766560" cy="4937760"/>
          </a:xfrm>
          <a:prstGeom prst="roundRect">
            <a:avLst/>
          </a:prstGeom>
          <a:solidFill>
            <a:srgbClr val="FFFFFF"/>
          </a:solidFill>
          <a:ln w="1905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fig1_block_diagram.png"/>
          <p:cNvPicPr>
            <a:picLocks noChangeAspect="1"/>
          </p:cNvPicPr>
          <p:nvPr/>
        </p:nvPicPr>
        <p:blipFill>
          <a:blip r:embed="rId2"/>
          <a:stretch>
            <a:fillRect/>
          </a:stretch>
        </p:blipFill>
        <p:spPr>
          <a:xfrm>
            <a:off x="822960" y="1325880"/>
            <a:ext cx="6583680" cy="4754880"/>
          </a:xfrm>
          <a:prstGeom prst="rect">
            <a:avLst/>
          </a:prstGeom>
        </p:spPr>
      </p:pic>
      <p:sp>
        <p:nvSpPr>
          <p:cNvPr id="10" name="Rounded Rectangle 9"/>
          <p:cNvSpPr/>
          <p:nvPr/>
        </p:nvSpPr>
        <p:spPr>
          <a:xfrm>
            <a:off x="7680960" y="1234440"/>
            <a:ext cx="3776472" cy="493776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863840" y="1371600"/>
            <a:ext cx="3410712" cy="4663440"/>
          </a:xfrm>
          <a:prstGeom prst="rect">
            <a:avLst/>
          </a:prstGeom>
          <a:noFill/>
        </p:spPr>
        <p:txBody>
          <a:bodyPr wrap="square">
            <a:spAutoFit/>
          </a:bodyPr>
          <a:lstStyle/>
          <a:p>
            <a:pPr>
              <a:spcAft>
                <a:spcPts val="800"/>
              </a:spcAft>
              <a:defRPr sz="1200" b="1">
                <a:solidFill>
                  <a:srgbClr val="2563EB"/>
                </a:solidFill>
                <a:latin typeface="Segoe UI"/>
              </a:defRPr>
            </a:pPr>
            <a:r>
              <a:t>QUY TRÌNH THIẾT KẾ SOC QUA 5 GIAI ĐOẠN</a:t>
            </a:r>
          </a:p>
          <a:p>
            <a:pPr>
              <a:lnSpc>
                <a:spcPct val="115000"/>
              </a:lnSpc>
              <a:spcAft>
                <a:spcPts val="600"/>
              </a:spcAft>
              <a:defRPr sz="950">
                <a:solidFill>
                  <a:srgbClr val="0F172A"/>
                </a:solidFill>
                <a:latin typeface="Segoe UI"/>
              </a:defRPr>
            </a:pPr>
            <a:r>
              <a:t>• Giai đoạn 1 (Khối cốt lõi): Phân tích 2 IP có sẵn (picorv32.v, spimemio.v) và bổ sung 1KB SRAM (data_sram) chứa Stack C.</a:t>
            </a:r>
          </a:p>
          <a:p>
            <a:pPr>
              <a:lnSpc>
                <a:spcPct val="115000"/>
              </a:lnSpc>
              <a:spcAft>
                <a:spcPts val="600"/>
              </a:spcAft>
              <a:defRPr sz="950">
                <a:solidFill>
                  <a:srgbClr val="0F172A"/>
                </a:solidFill>
                <a:latin typeface="Segoe UI"/>
              </a:defRPr>
            </a:pPr>
            <a:r>
              <a:t>• Giai đoạn 2 (Cầu bus Interconnect): Thiết kế soc_interconnect.v giải mã 0-delay định tuyến 1 CPU Master tới 5 Slaves.</a:t>
            </a:r>
          </a:p>
          <a:p>
            <a:pPr>
              <a:lnSpc>
                <a:spcPct val="115000"/>
              </a:lnSpc>
              <a:spcAft>
                <a:spcPts val="600"/>
              </a:spcAft>
              <a:defRPr sz="950">
                <a:solidFill>
                  <a:srgbClr val="0F172A"/>
                </a:solidFill>
                <a:latin typeface="Segoe UI"/>
              </a:defRPr>
            </a:pPr>
            <a:r>
              <a:t>• Giai đoạn 3 (Đồng thiết kế Bootstrap): Khớp tuyệt đối tham số RTL (PROGADDR_RESET, STACKADDR) với Linker (sections.lds, start.s).</a:t>
            </a:r>
          </a:p>
          <a:p>
            <a:pPr>
              <a:lnSpc>
                <a:spcPct val="115000"/>
              </a:lnSpc>
              <a:spcAft>
                <a:spcPts val="600"/>
              </a:spcAft>
              <a:defRPr sz="950">
                <a:solidFill>
                  <a:srgbClr val="0F172A"/>
                </a:solidFill>
                <a:latin typeface="Segoe UI"/>
              </a:defRPr>
            </a:pPr>
            <a:r>
              <a:t>• Giai đoạn 4 (Mở rộng MMIO &amp; FIFO): Tích hợp UART RFID &amp; PC có bộ đệm FIFO 32B chống tràn, chống rớt mã thẻ.</a:t>
            </a:r>
          </a:p>
          <a:p>
            <a:pPr>
              <a:lnSpc>
                <a:spcPct val="115000"/>
              </a:lnSpc>
              <a:spcAft>
                <a:spcPts val="600"/>
              </a:spcAft>
              <a:defRPr sz="950">
                <a:solidFill>
                  <a:srgbClr val="0F172A"/>
                </a:solidFill>
                <a:latin typeface="Segoe UI"/>
              </a:defRPr>
            </a:pPr>
            <a:r>
              <a:t>• Giai đoạn 5 (Tầng C Volatile MMIO): Trừu tượng hóa thanh ghi phần cứng qua con trỏ volatile (soc_regs.h) để C điều khiển trong suốt.</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1440"/>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201168"/>
            <a:ext cx="10728655" cy="868680"/>
          </a:xfrm>
          <a:prstGeom prst="rect">
            <a:avLst/>
          </a:prstGeom>
          <a:noFill/>
        </p:spPr>
        <p:txBody>
          <a:bodyPr wrap="square" lIns="0" tIns="0" rIns="0" bIns="0">
            <a:spAutoFit/>
          </a:bodyPr>
          <a:lstStyle/>
          <a:p>
            <a:pPr>
              <a:spcAft>
                <a:spcPts val="200"/>
              </a:spcAft>
              <a:defRPr sz="1050" b="1">
                <a:solidFill>
                  <a:srgbClr val="2563EB"/>
                </a:solidFill>
                <a:latin typeface="Segoe UI"/>
              </a:defRPr>
            </a:pPr>
            <a:r>
              <a:t>PHẦN 3: QUY TRÌNH THIẾT KẾ SOC (GIAI ĐOẠN 1/5)</a:t>
            </a:r>
          </a:p>
          <a:p>
            <a:pPr>
              <a:defRPr sz="1700" b="1">
                <a:solidFill>
                  <a:srgbClr val="0F172A"/>
                </a:solidFill>
                <a:latin typeface="Segoe UI"/>
              </a:defRPr>
            </a:pPr>
            <a:r>
              <a:t>Giai Đoạn 1: Khối Cốt Lõi Có Sẵn &amp; Bổ Sung 1KB SRAM (picorv32.v, spimemio.v, data_sram)</a:t>
            </a:r>
          </a:p>
        </p:txBody>
      </p:sp>
      <p:sp>
        <p:nvSpPr>
          <p:cNvPr id="5" name="Rectangle 4"/>
          <p:cNvSpPr/>
          <p:nvPr/>
        </p:nvSpPr>
        <p:spPr>
          <a:xfrm>
            <a:off x="731520" y="6446520"/>
            <a:ext cx="10728655" cy="18288"/>
          </a:xfrm>
          <a:prstGeom prst="rect">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31520" y="6492240"/>
            <a:ext cx="7315200" cy="274320"/>
          </a:xfrm>
          <a:prstGeom prst="rect">
            <a:avLst/>
          </a:prstGeom>
          <a:noFill/>
        </p:spPr>
        <p:txBody>
          <a:bodyPr wrap="none" lIns="0" tIns="0" rIns="0" bIns="0">
            <a:spAutoFit/>
          </a:bodyPr>
          <a:lstStyle/>
          <a:p>
            <a:pPr>
              <a:defRPr sz="950">
                <a:solidFill>
                  <a:srgbClr val="475569"/>
                </a:solidFill>
                <a:latin typeface="Segoe UI"/>
              </a:defRPr>
            </a:pPr>
            <a:r>
              <a:t>Đồ Án Tốt Nghiệp: SoC PicoRV32 RFID RDM6300 &amp; SPI Flash | SV: Thái Tuấn Hiệp | GVHD: ThS. Nguyễn Văn Đông</a:t>
            </a:r>
          </a:p>
        </p:txBody>
      </p:sp>
      <p:sp>
        <p:nvSpPr>
          <p:cNvPr id="7" name="TextBox 6"/>
          <p:cNvSpPr txBox="1"/>
          <p:nvPr/>
        </p:nvSpPr>
        <p:spPr>
          <a:xfrm>
            <a:off x="10058400" y="6492240"/>
            <a:ext cx="1401775" cy="274320"/>
          </a:xfrm>
          <a:prstGeom prst="rect">
            <a:avLst/>
          </a:prstGeom>
          <a:noFill/>
        </p:spPr>
        <p:txBody>
          <a:bodyPr wrap="none" lIns="0" tIns="0" rIns="0" bIns="0">
            <a:spAutoFit/>
          </a:bodyPr>
          <a:lstStyle/>
          <a:p>
            <a:pPr algn="r">
              <a:defRPr sz="950" b="1">
                <a:solidFill>
                  <a:srgbClr val="2563EB"/>
                </a:solidFill>
                <a:latin typeface="Segoe UI"/>
              </a:defRPr>
            </a:pPr>
            <a:r>
              <a:t>07 / 24</a:t>
            </a:r>
          </a:p>
        </p:txBody>
      </p:sp>
      <p:sp>
        <p:nvSpPr>
          <p:cNvPr id="8" name="Rounded Rectangle 7"/>
          <p:cNvSpPr/>
          <p:nvPr/>
        </p:nvSpPr>
        <p:spPr>
          <a:xfrm>
            <a:off x="731520" y="1188720"/>
            <a:ext cx="5257800" cy="5029200"/>
          </a:xfrm>
          <a:prstGeom prst="roundRect">
            <a:avLst/>
          </a:prstGeom>
          <a:solidFill>
            <a:srgbClr val="FFFFFF"/>
          </a:solidFill>
          <a:ln w="1905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stage1_bw_diagram.png"/>
          <p:cNvPicPr>
            <a:picLocks noChangeAspect="1"/>
          </p:cNvPicPr>
          <p:nvPr/>
        </p:nvPicPr>
        <p:blipFill>
          <a:blip r:embed="rId2"/>
          <a:stretch>
            <a:fillRect/>
          </a:stretch>
        </p:blipFill>
        <p:spPr>
          <a:xfrm>
            <a:off x="868680" y="1325880"/>
            <a:ext cx="4983480" cy="4754880"/>
          </a:xfrm>
          <a:prstGeom prst="rect">
            <a:avLst/>
          </a:prstGeom>
        </p:spPr>
      </p:pic>
      <p:sp>
        <p:nvSpPr>
          <p:cNvPr id="10" name="Rounded Rectangle 9"/>
          <p:cNvSpPr/>
          <p:nvPr/>
        </p:nvSpPr>
        <p:spPr>
          <a:xfrm>
            <a:off x="6172200" y="1188720"/>
            <a:ext cx="5285232" cy="5029200"/>
          </a:xfrm>
          <a:prstGeom prst="roundRect">
            <a:avLst/>
          </a:prstGeom>
          <a:solidFill>
            <a:srgbClr val="FFFFFF"/>
          </a:solidFill>
          <a:ln w="1905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355080" y="1325880"/>
            <a:ext cx="4919472" cy="4754880"/>
          </a:xfrm>
          <a:prstGeom prst="rect">
            <a:avLst/>
          </a:prstGeom>
          <a:noFill/>
        </p:spPr>
        <p:txBody>
          <a:bodyPr wrap="square">
            <a:spAutoFit/>
          </a:bodyPr>
          <a:lstStyle/>
          <a:p>
            <a:pPr>
              <a:spcAft>
                <a:spcPts val="800"/>
              </a:spcAft>
              <a:defRPr b="1" sz="1200">
                <a:solidFill>
                  <a:srgbClr val="2563EB"/>
                </a:solidFill>
                <a:latin typeface="Segoe UI"/>
              </a:defRPr>
            </a:pPr>
            <a:r>
              <a:t>PHÂN TÍCH THIẾT KẾ &amp; TẬN DỤNG IP CỐT LÕI</a:t>
            </a:r>
          </a:p>
          <a:p>
            <a:pPr>
              <a:lnSpc>
                <a:spcPct val="115000"/>
              </a:lnSpc>
              <a:spcAft>
                <a:spcPts val="600"/>
              </a:spcAft>
              <a:defRPr sz="950">
                <a:solidFill>
                  <a:srgbClr val="0F172A"/>
                </a:solidFill>
                <a:latin typeface="Segoe UI"/>
              </a:defRPr>
            </a:pPr>
            <a:r>
              <a:t>• Nhân CPU Master (picorv32.v): Thực thi tập lệnh RV32I, 32 thanh ghi 32-bit. Giao tiếp toàn bộ qua Native Memory Bus: phát mem_valid cùng địa chỉ mem_addr, chờ mem_ready phản hồi.</a:t>
            </a:r>
          </a:p>
          <a:p>
            <a:pPr>
              <a:lnSpc>
                <a:spcPct val="115000"/>
              </a:lnSpc>
              <a:spcAft>
                <a:spcPts val="600"/>
              </a:spcAft>
              <a:defRPr sz="950">
                <a:solidFill>
                  <a:srgbClr val="0F172A"/>
                </a:solidFill>
                <a:latin typeface="Segoe UI"/>
              </a:defRPr>
            </a:pPr>
            <a:r>
              <a:t>• Bộ điều khiển Flash (spimemio.v): Tự sinh chuỗi xung SPI đọc chip Flash ngoài, chuyển đổi địa chỉ thành lệnh SPI và trả opcode về mem_rdata theo cơ chế XIP (eXecute-In-Place) tại dải 0x0010_0000 - 0x00FF_FFFF.</a:t>
            </a:r>
          </a:p>
          <a:p>
            <a:pPr>
              <a:lnSpc>
                <a:spcPct val="115000"/>
              </a:lnSpc>
              <a:spcAft>
                <a:spcPts val="600"/>
              </a:spcAft>
              <a:defRPr sz="950">
                <a:solidFill>
                  <a:srgbClr val="0F172A"/>
                </a:solidFill>
                <a:latin typeface="Segoe UI"/>
              </a:defRPr>
            </a:pPr>
            <a:r>
              <a:t>• Bổ sung 1KB SRAM nội (data_sram): Do spimemio chỉ hỗ trợ đọc XIP nên KHÔNG THỂ LƯU STACK C! Ta bổ sung 256 words SRAM tĩnh (0x0000_0000 - 0x0000_03FF), phản hồi sram_ready = 1 tức thì trong 1 chu kỳ clock để lưu trữ con trỏ ngăn xếp (sp) và biến cục bộ.</a:t>
            </a:r>
          </a:p>
          <a:p>
            <a:pPr>
              <a:lnSpc>
                <a:spcPct val="115000"/>
              </a:lnSpc>
              <a:spcAft>
                <a:spcPts val="600"/>
              </a:spcAft>
              <a:defRPr sz="950">
                <a:solidFill>
                  <a:srgbClr val="0F172A"/>
                </a:solidFill>
                <a:latin typeface="Segoe UI"/>
              </a:defRPr>
            </a:pPr>
            <a:r>
              <a:t>• Ý nghĩa kỹ thuật tối thượng: Kết hợp 'Flash ngoài 4MB lưu mã lệnh' + '1KB SRAM nội lưu Stack' giúp tiết kiệm tối đa diện tích silicon ASIC nhưng vẫn chạy được toàn bộ ứng dụng C.</a:t>
            </a:r>
          </a:p>
          <a:p>
            <a:pPr>
              <a:spcBef>
                <a:spcPts val="400"/>
              </a:spcBef>
              <a:defRPr sz="919" b="1">
                <a:solidFill>
                  <a:srgbClr val="2563EB"/>
                </a:solidFill>
                <a:latin typeface="Segoe UI"/>
              </a:defRPr>
            </a:pPr>
            <a:r>
              <a:t>=&gt; KẾT QUẢ: Hoàn thành nền tảng xử lý 1 Master - 2 Vùng nhớ cốt lõi (Flash XIP &amp; Data SRAM).</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1440"/>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201168"/>
            <a:ext cx="10728655" cy="868680"/>
          </a:xfrm>
          <a:prstGeom prst="rect">
            <a:avLst/>
          </a:prstGeom>
          <a:noFill/>
        </p:spPr>
        <p:txBody>
          <a:bodyPr wrap="square" lIns="0" tIns="0" rIns="0" bIns="0">
            <a:spAutoFit/>
          </a:bodyPr>
          <a:lstStyle/>
          <a:p>
            <a:pPr>
              <a:spcAft>
                <a:spcPts val="200"/>
              </a:spcAft>
              <a:defRPr sz="1050" b="1">
                <a:solidFill>
                  <a:srgbClr val="2563EB"/>
                </a:solidFill>
                <a:latin typeface="Segoe UI"/>
              </a:defRPr>
            </a:pPr>
            <a:r>
              <a:t>PHẦN 3: QUY TRÌNH THIẾT KẾ SOC (GIAI ĐOẠN 2/5)</a:t>
            </a:r>
          </a:p>
          <a:p>
            <a:pPr>
              <a:defRPr sz="1700" b="1">
                <a:solidFill>
                  <a:srgbClr val="0F172A"/>
                </a:solidFill>
                <a:latin typeface="Segoe UI"/>
              </a:defRPr>
            </a:pPr>
            <a:r>
              <a:t>Giai Đoạn 2: Thiết Kế Cầu Nối Bus Interconnect Tối Ưu (soc_interconnect.v)</a:t>
            </a:r>
          </a:p>
        </p:txBody>
      </p:sp>
      <p:sp>
        <p:nvSpPr>
          <p:cNvPr id="5" name="Rectangle 4"/>
          <p:cNvSpPr/>
          <p:nvPr/>
        </p:nvSpPr>
        <p:spPr>
          <a:xfrm>
            <a:off x="731520" y="6446520"/>
            <a:ext cx="10728655" cy="18288"/>
          </a:xfrm>
          <a:prstGeom prst="rect">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31520" y="6492240"/>
            <a:ext cx="7315200" cy="274320"/>
          </a:xfrm>
          <a:prstGeom prst="rect">
            <a:avLst/>
          </a:prstGeom>
          <a:noFill/>
        </p:spPr>
        <p:txBody>
          <a:bodyPr wrap="none" lIns="0" tIns="0" rIns="0" bIns="0">
            <a:spAutoFit/>
          </a:bodyPr>
          <a:lstStyle/>
          <a:p>
            <a:pPr>
              <a:defRPr sz="950">
                <a:solidFill>
                  <a:srgbClr val="475569"/>
                </a:solidFill>
                <a:latin typeface="Segoe UI"/>
              </a:defRPr>
            </a:pPr>
            <a:r>
              <a:t>Đồ Án Tốt Nghiệp: SoC PicoRV32 RFID RDM6300 &amp; SPI Flash | SV: Thái Tuấn Hiệp | GVHD: ThS. Nguyễn Văn Đông</a:t>
            </a:r>
          </a:p>
        </p:txBody>
      </p:sp>
      <p:sp>
        <p:nvSpPr>
          <p:cNvPr id="7" name="TextBox 6"/>
          <p:cNvSpPr txBox="1"/>
          <p:nvPr/>
        </p:nvSpPr>
        <p:spPr>
          <a:xfrm>
            <a:off x="10058400" y="6492240"/>
            <a:ext cx="1401775" cy="274320"/>
          </a:xfrm>
          <a:prstGeom prst="rect">
            <a:avLst/>
          </a:prstGeom>
          <a:noFill/>
        </p:spPr>
        <p:txBody>
          <a:bodyPr wrap="none" lIns="0" tIns="0" rIns="0" bIns="0">
            <a:spAutoFit/>
          </a:bodyPr>
          <a:lstStyle/>
          <a:p>
            <a:pPr algn="r">
              <a:defRPr sz="950" b="1">
                <a:solidFill>
                  <a:srgbClr val="2563EB"/>
                </a:solidFill>
                <a:latin typeface="Segoe UI"/>
              </a:defRPr>
            </a:pPr>
            <a:r>
              <a:t>08 / 24</a:t>
            </a:r>
          </a:p>
        </p:txBody>
      </p:sp>
      <p:sp>
        <p:nvSpPr>
          <p:cNvPr id="8" name="Rounded Rectangle 7"/>
          <p:cNvSpPr/>
          <p:nvPr/>
        </p:nvSpPr>
        <p:spPr>
          <a:xfrm>
            <a:off x="731520" y="1188720"/>
            <a:ext cx="5257800" cy="5029200"/>
          </a:xfrm>
          <a:prstGeom prst="roundRect">
            <a:avLst/>
          </a:prstGeom>
          <a:solidFill>
            <a:srgbClr val="FFFFFF"/>
          </a:solidFill>
          <a:ln w="19050">
            <a:solidFill>
              <a:srgbClr val="D9770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stage2_bw_diagram.png"/>
          <p:cNvPicPr>
            <a:picLocks noChangeAspect="1"/>
          </p:cNvPicPr>
          <p:nvPr/>
        </p:nvPicPr>
        <p:blipFill>
          <a:blip r:embed="rId2"/>
          <a:stretch>
            <a:fillRect/>
          </a:stretch>
        </p:blipFill>
        <p:spPr>
          <a:xfrm>
            <a:off x="868680" y="1325880"/>
            <a:ext cx="4983480" cy="4754880"/>
          </a:xfrm>
          <a:prstGeom prst="rect">
            <a:avLst/>
          </a:prstGeom>
        </p:spPr>
      </p:pic>
      <p:sp>
        <p:nvSpPr>
          <p:cNvPr id="10" name="Rounded Rectangle 9"/>
          <p:cNvSpPr/>
          <p:nvPr/>
        </p:nvSpPr>
        <p:spPr>
          <a:xfrm>
            <a:off x="6172200" y="1188720"/>
            <a:ext cx="5285232" cy="5029200"/>
          </a:xfrm>
          <a:prstGeom prst="roundRect">
            <a:avLst/>
          </a:prstGeom>
          <a:solidFill>
            <a:srgbClr val="FFFFFF"/>
          </a:solidFill>
          <a:ln w="19050">
            <a:solidFill>
              <a:srgbClr val="D9770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355080" y="1325880"/>
            <a:ext cx="4919472" cy="4754880"/>
          </a:xfrm>
          <a:prstGeom prst="rect">
            <a:avLst/>
          </a:prstGeom>
          <a:noFill/>
        </p:spPr>
        <p:txBody>
          <a:bodyPr wrap="square">
            <a:spAutoFit/>
          </a:bodyPr>
          <a:lstStyle/>
          <a:p>
            <a:pPr>
              <a:spcAft>
                <a:spcPts val="800"/>
              </a:spcAft>
              <a:defRPr b="1" sz="1200">
                <a:solidFill>
                  <a:srgbClr val="D97706"/>
                </a:solidFill>
                <a:latin typeface="Segoe UI"/>
              </a:defRPr>
            </a:pPr>
            <a:r>
              <a:t>NGUYÊN LÝ PHÂN LUỒNG BUS TỔ HỢP 0-DELAY</a:t>
            </a:r>
          </a:p>
          <a:p>
            <a:pPr>
              <a:lnSpc>
                <a:spcPct val="115000"/>
              </a:lnSpc>
              <a:spcAft>
                <a:spcPts val="600"/>
              </a:spcAft>
              <a:defRPr sz="950">
                <a:solidFill>
                  <a:srgbClr val="0F172A"/>
                </a:solidFill>
                <a:latin typeface="Segoe UI"/>
              </a:defRPr>
            </a:pPr>
            <a:r>
              <a:t>• Vấn đề kỹ thuật: CPU chỉ có 1 cổng Native Bus duy nhất, trong khi hệ thống có tới 5 module bộ nhớ và ngoại vi khác nhau cần truy xuất đồng thời.</a:t>
            </a:r>
          </a:p>
          <a:p>
            <a:pPr>
              <a:lnSpc>
                <a:spcPct val="115000"/>
              </a:lnSpc>
              <a:spcAft>
                <a:spcPts val="600"/>
              </a:spcAft>
              <a:defRPr sz="950">
                <a:solidFill>
                  <a:srgbClr val="0F172A"/>
                </a:solidFill>
                <a:latin typeface="Segoe UI"/>
              </a:defRPr>
            </a:pPr>
            <a:r>
              <a:t>• 1. Giải mã địa chỉ tổ hợp (Address Decoder): soc_interconnect.v giải mã tức thì trong 0 chu kỳ clock:</a:t>
            </a:r>
            <a:br/>
            <a:r>
              <a:t>  - sel_sram: cpu_mem_addr &lt; 0x0000_0400 (1KB SRAM)</a:t>
            </a:r>
            <a:br/>
            <a:r>
              <a:t>  - sel_spimem: 0x0010_0000 đến 0x00FF_FFFF (Flash XIP)</a:t>
            </a:r>
            <a:br/>
            <a:r>
              <a:t>  - sel_spicfg: 0x0200_0000 (Flash Bit-bang Controller)</a:t>
            </a:r>
          </a:p>
          <a:p>
            <a:pPr>
              <a:lnSpc>
                <a:spcPct val="115000"/>
              </a:lnSpc>
              <a:spcAft>
                <a:spcPts val="600"/>
              </a:spcAft>
              <a:defRPr sz="950">
                <a:solidFill>
                  <a:srgbClr val="0F172A"/>
                </a:solidFill>
                <a:latin typeface="Segoe UI"/>
              </a:defRPr>
            </a:pPr>
            <a:r>
              <a:t>• 2. Dồn kênh phản hồi (Multiplexer MUX): cpu_mem_ready = sram_ready || spimem_ready || sel_spicfg;</a:t>
            </a:r>
            <a:br/>
            <a:r>
              <a:t>  cpu_mem_rdata = sel_sram ? sram_rdata : spimem_rdata;</a:t>
            </a:r>
            <a:br/>
            <a:r>
              <a:t>Giúp CPU nhận phản hồi chính xác từ Slave đang được chọn.</a:t>
            </a:r>
          </a:p>
          <a:p>
            <a:pPr>
              <a:lnSpc>
                <a:spcPct val="115000"/>
              </a:lnSpc>
              <a:spcAft>
                <a:spcPts val="600"/>
              </a:spcAft>
              <a:defRPr sz="950">
                <a:solidFill>
                  <a:srgbClr val="0F172A"/>
                </a:solidFill>
                <a:latin typeface="Segoe UI"/>
              </a:defRPr>
            </a:pPr>
            <a:r>
              <a:t>• Ý nghĩa kỹ thuật: Bộ ghép bus thuần tổ hợp (0 FF trễ) đảm bảo tốc độ phản hồi tối đa, không phát sinh chu kỳ chờ (zero wait-state) khi truy xuất SRAM.</a:t>
            </a:r>
          </a:p>
          <a:p>
            <a:pPr>
              <a:spcBef>
                <a:spcPts val="400"/>
              </a:spcBef>
              <a:defRPr sz="919" b="1">
                <a:solidFill>
                  <a:srgbClr val="D97706"/>
                </a:solidFill>
                <a:latin typeface="Segoe UI"/>
              </a:defRPr>
            </a:pPr>
            <a:r>
              <a:t>=&gt; KẾT QUẢ: Đóng vai trò 'cảnh sát giao thông' phân luồng hoàn hảo giữa CPU, Flash và RAM.</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1440"/>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201168"/>
            <a:ext cx="10728655" cy="868680"/>
          </a:xfrm>
          <a:prstGeom prst="rect">
            <a:avLst/>
          </a:prstGeom>
          <a:noFill/>
        </p:spPr>
        <p:txBody>
          <a:bodyPr wrap="square" lIns="0" tIns="0" rIns="0" bIns="0">
            <a:spAutoFit/>
          </a:bodyPr>
          <a:lstStyle/>
          <a:p>
            <a:pPr>
              <a:spcAft>
                <a:spcPts val="200"/>
              </a:spcAft>
              <a:defRPr sz="1050" b="1">
                <a:solidFill>
                  <a:srgbClr val="2563EB"/>
                </a:solidFill>
                <a:latin typeface="Segoe UI"/>
              </a:defRPr>
            </a:pPr>
            <a:r>
              <a:t>PHẦN 3: QUY TRÌNH THIẾT KẾ SOC (GIAI ĐOẠN 3/5)</a:t>
            </a:r>
          </a:p>
          <a:p>
            <a:pPr>
              <a:defRPr sz="1700" b="1">
                <a:solidFill>
                  <a:srgbClr val="0F172A"/>
                </a:solidFill>
                <a:latin typeface="Segoe UI"/>
              </a:defRPr>
            </a:pPr>
            <a:r>
              <a:t>Giai Đoạn 3: Đồng Thiết Kế Phần Cứng - Phần Mềm &amp; Bootstrap (sections.lds, start.s, picorv32_soc.v)</a:t>
            </a:r>
          </a:p>
        </p:txBody>
      </p:sp>
      <p:sp>
        <p:nvSpPr>
          <p:cNvPr id="5" name="Rectangle 4"/>
          <p:cNvSpPr/>
          <p:nvPr/>
        </p:nvSpPr>
        <p:spPr>
          <a:xfrm>
            <a:off x="731520" y="6446520"/>
            <a:ext cx="10728655" cy="18288"/>
          </a:xfrm>
          <a:prstGeom prst="rect">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31520" y="6492240"/>
            <a:ext cx="7315200" cy="274320"/>
          </a:xfrm>
          <a:prstGeom prst="rect">
            <a:avLst/>
          </a:prstGeom>
          <a:noFill/>
        </p:spPr>
        <p:txBody>
          <a:bodyPr wrap="none" lIns="0" tIns="0" rIns="0" bIns="0">
            <a:spAutoFit/>
          </a:bodyPr>
          <a:lstStyle/>
          <a:p>
            <a:pPr>
              <a:defRPr sz="950">
                <a:solidFill>
                  <a:srgbClr val="475569"/>
                </a:solidFill>
                <a:latin typeface="Segoe UI"/>
              </a:defRPr>
            </a:pPr>
            <a:r>
              <a:t>Đồ Án Tốt Nghiệp: SoC PicoRV32 RFID RDM6300 &amp; SPI Flash | SV: Thái Tuấn Hiệp | GVHD: ThS. Nguyễn Văn Đông</a:t>
            </a:r>
          </a:p>
        </p:txBody>
      </p:sp>
      <p:sp>
        <p:nvSpPr>
          <p:cNvPr id="7" name="TextBox 6"/>
          <p:cNvSpPr txBox="1"/>
          <p:nvPr/>
        </p:nvSpPr>
        <p:spPr>
          <a:xfrm>
            <a:off x="10058400" y="6492240"/>
            <a:ext cx="1401775" cy="274320"/>
          </a:xfrm>
          <a:prstGeom prst="rect">
            <a:avLst/>
          </a:prstGeom>
          <a:noFill/>
        </p:spPr>
        <p:txBody>
          <a:bodyPr wrap="none" lIns="0" tIns="0" rIns="0" bIns="0">
            <a:spAutoFit/>
          </a:bodyPr>
          <a:lstStyle/>
          <a:p>
            <a:pPr algn="r">
              <a:defRPr sz="950" b="1">
                <a:solidFill>
                  <a:srgbClr val="2563EB"/>
                </a:solidFill>
                <a:latin typeface="Segoe UI"/>
              </a:defRPr>
            </a:pPr>
            <a:r>
              <a:t>09 / 24</a:t>
            </a:r>
          </a:p>
        </p:txBody>
      </p:sp>
      <p:sp>
        <p:nvSpPr>
          <p:cNvPr id="8" name="Rounded Rectangle 7"/>
          <p:cNvSpPr/>
          <p:nvPr/>
        </p:nvSpPr>
        <p:spPr>
          <a:xfrm>
            <a:off x="731520" y="1188720"/>
            <a:ext cx="5257800" cy="5029200"/>
          </a:xfrm>
          <a:prstGeom prst="roundRect">
            <a:avLst/>
          </a:prstGeom>
          <a:solidFill>
            <a:srgbClr val="FFFFFF"/>
          </a:solidFill>
          <a:ln w="19050">
            <a:solidFill>
              <a:srgbClr val="7C3AE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stage3_bw_diagram.png"/>
          <p:cNvPicPr>
            <a:picLocks noChangeAspect="1"/>
          </p:cNvPicPr>
          <p:nvPr/>
        </p:nvPicPr>
        <p:blipFill>
          <a:blip r:embed="rId2"/>
          <a:stretch>
            <a:fillRect/>
          </a:stretch>
        </p:blipFill>
        <p:spPr>
          <a:xfrm>
            <a:off x="868680" y="1325880"/>
            <a:ext cx="4983480" cy="4754880"/>
          </a:xfrm>
          <a:prstGeom prst="rect">
            <a:avLst/>
          </a:prstGeom>
        </p:spPr>
      </p:pic>
      <p:sp>
        <p:nvSpPr>
          <p:cNvPr id="10" name="Rounded Rectangle 9"/>
          <p:cNvSpPr/>
          <p:nvPr/>
        </p:nvSpPr>
        <p:spPr>
          <a:xfrm>
            <a:off x="6172200" y="1188720"/>
            <a:ext cx="5285232" cy="5029200"/>
          </a:xfrm>
          <a:prstGeom prst="roundRect">
            <a:avLst/>
          </a:prstGeom>
          <a:solidFill>
            <a:srgbClr val="FFFFFF"/>
          </a:solidFill>
          <a:ln w="19050">
            <a:solidFill>
              <a:srgbClr val="7C3AE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355080" y="1325880"/>
            <a:ext cx="4919472" cy="4754880"/>
          </a:xfrm>
          <a:prstGeom prst="rect">
            <a:avLst/>
          </a:prstGeom>
          <a:noFill/>
        </p:spPr>
        <p:txBody>
          <a:bodyPr wrap="square">
            <a:spAutoFit/>
          </a:bodyPr>
          <a:lstStyle/>
          <a:p>
            <a:pPr>
              <a:spcAft>
                <a:spcPts val="800"/>
              </a:spcAft>
              <a:defRPr b="1" sz="1200">
                <a:solidFill>
                  <a:srgbClr val="7C3AED"/>
                </a:solidFill>
                <a:latin typeface="Segoe UI"/>
              </a:defRPr>
            </a:pPr>
            <a:r>
              <a:t>CƠ CHẾ CO-DESIGN BOOTSTRAP TỰ ĐỘNG KHỞI ĐỘNG</a:t>
            </a:r>
          </a:p>
          <a:p>
            <a:pPr>
              <a:lnSpc>
                <a:spcPct val="115000"/>
              </a:lnSpc>
              <a:spcAft>
                <a:spcPts val="500"/>
              </a:spcAft>
              <a:defRPr sz="950">
                <a:solidFill>
                  <a:srgbClr val="0F172A"/>
                </a:solidFill>
                <a:latin typeface="Segoe UI"/>
              </a:defRPr>
            </a:pPr>
            <a:r>
              <a:t>• Vấn đề kỹ thuật: Sau khi có phần cứng, làm sao để CPU biết bắt đầu thực thi từ đâu và thiết lập môi trường chạy hàm main() của ngôn ngữ C mà không cần Bootloader?</a:t>
            </a:r>
          </a:p>
          <a:p>
            <a:pPr>
              <a:lnSpc>
                <a:spcPct val="115000"/>
              </a:lnSpc>
              <a:spcAft>
                <a:spcPts val="500"/>
              </a:spcAft>
              <a:defRPr sz="950">
                <a:solidFill>
                  <a:srgbClr val="0F172A"/>
                </a:solidFill>
                <a:latin typeface="Segoe UI"/>
              </a:defRPr>
            </a:pPr>
            <a:r>
              <a:t>• 1. Khớp Vector Reset (0x0025_0000): RTL định nghĩa PROGADDR_RESET = 32'h0025_0000, khớp 100% với mốc ORIGIN FLASH trong Linker Script sections.lds. Ngay khi nhả resetn=1, CPU phát lệnh đọc opcode đầu tiên từ Flash Sector 37.</a:t>
            </a:r>
          </a:p>
          <a:p>
            <a:pPr>
              <a:lnSpc>
                <a:spcPct val="115000"/>
              </a:lnSpc>
              <a:spcAft>
                <a:spcPts val="500"/>
              </a:spcAft>
              <a:defRPr sz="950">
                <a:solidFill>
                  <a:srgbClr val="0F172A"/>
                </a:solidFill>
                <a:latin typeface="Segoe UI"/>
              </a:defRPr>
            </a:pPr>
            <a:r>
              <a:t>• 2. Khớp Đỉnh Ngăn Xếp (0x0000_0400): RTL định nghĩa STACKADDR = 32'h0000_0400, khớp với nhãn _stack_top trong sections.lds. Đoạn mã Assembly start.s nạp mốc này vào thanh ghi sp.</a:t>
            </a:r>
          </a:p>
          <a:p>
            <a:pPr>
              <a:lnSpc>
                <a:spcPct val="115000"/>
              </a:lnSpc>
              <a:spcAft>
                <a:spcPts val="500"/>
              </a:spcAft>
              <a:defRPr sz="950">
                <a:solidFill>
                  <a:srgbClr val="0F172A"/>
                </a:solidFill>
                <a:latin typeface="Segoe UI"/>
              </a:defRPr>
            </a:pPr>
            <a:r>
              <a:t>• 3. Chuyển tiếp sang C (call main): Sau 3 lệnh Assembly thiết lập ngăn xếp trên 1KB SRAM, start.s phát lệnh call main, chính thức chuyển giao quyền điều khiển cho Firmware C.</a:t>
            </a:r>
          </a:p>
          <a:p>
            <a:pPr>
              <a:lnSpc>
                <a:spcPct val="115000"/>
              </a:lnSpc>
              <a:spcAft>
                <a:spcPts val="500"/>
              </a:spcAft>
              <a:defRPr sz="950">
                <a:solidFill>
                  <a:srgbClr val="0F172A"/>
                </a:solidFill>
                <a:latin typeface="Segoe UI"/>
              </a:defRPr>
            </a:pPr>
            <a:r>
              <a:t>• Ý nghĩa kỹ thuật: Hệ thống tự khởi động hoàn toàn tự động ngay khi cấp nguồn vi mạch ASIC mà không cần can thiệp từ bên ngoài.</a:t>
            </a:r>
          </a:p>
          <a:p>
            <a:pPr>
              <a:spcBef>
                <a:spcPts val="400"/>
              </a:spcBef>
              <a:defRPr sz="919" b="1">
                <a:solidFill>
                  <a:srgbClr val="7C3AED"/>
                </a:solidFill>
                <a:latin typeface="Segoe UI"/>
              </a:defRPr>
            </a:pPr>
            <a:r>
              <a:t>=&gt; KẾT QUẢ: Đồng bộ 100% giữa Phần Cứng (Verilog) và Phần Mềm (C/ASM/Linker).</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1440"/>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201168"/>
            <a:ext cx="10728655" cy="868680"/>
          </a:xfrm>
          <a:prstGeom prst="rect">
            <a:avLst/>
          </a:prstGeom>
          <a:noFill/>
        </p:spPr>
        <p:txBody>
          <a:bodyPr wrap="square" lIns="0" tIns="0" rIns="0" bIns="0">
            <a:spAutoFit/>
          </a:bodyPr>
          <a:lstStyle/>
          <a:p>
            <a:pPr>
              <a:spcAft>
                <a:spcPts val="200"/>
              </a:spcAft>
              <a:defRPr sz="1050" b="1">
                <a:solidFill>
                  <a:srgbClr val="2563EB"/>
                </a:solidFill>
                <a:latin typeface="Segoe UI"/>
              </a:defRPr>
            </a:pPr>
            <a:r>
              <a:t>PHẦN 3: QUY TRÌNH THIẾT KẾ SOC (GIAI ĐOẠN 4/5)</a:t>
            </a:r>
          </a:p>
          <a:p>
            <a:pPr>
              <a:defRPr sz="1700" b="1">
                <a:solidFill>
                  <a:srgbClr val="0F172A"/>
                </a:solidFill>
                <a:latin typeface="Segoe UI"/>
              </a:defRPr>
            </a:pPr>
            <a:r>
              <a:t>Giai Đoạn 4: Mở Rộng Ngoại Vi MMIO Với Hàng Đợi FIFO Chống Tràn (uart_mmio.v, sync_fifo.v, gpio)</a:t>
            </a:r>
          </a:p>
        </p:txBody>
      </p:sp>
      <p:sp>
        <p:nvSpPr>
          <p:cNvPr id="5" name="Rectangle 4"/>
          <p:cNvSpPr/>
          <p:nvPr/>
        </p:nvSpPr>
        <p:spPr>
          <a:xfrm>
            <a:off x="731520" y="6446520"/>
            <a:ext cx="10728655" cy="18288"/>
          </a:xfrm>
          <a:prstGeom prst="rect">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31520" y="6492240"/>
            <a:ext cx="7315200" cy="274320"/>
          </a:xfrm>
          <a:prstGeom prst="rect">
            <a:avLst/>
          </a:prstGeom>
          <a:noFill/>
        </p:spPr>
        <p:txBody>
          <a:bodyPr wrap="none" lIns="0" tIns="0" rIns="0" bIns="0">
            <a:spAutoFit/>
          </a:bodyPr>
          <a:lstStyle/>
          <a:p>
            <a:pPr>
              <a:defRPr sz="950">
                <a:solidFill>
                  <a:srgbClr val="475569"/>
                </a:solidFill>
                <a:latin typeface="Segoe UI"/>
              </a:defRPr>
            </a:pPr>
            <a:r>
              <a:t>Đồ Án Tốt Nghiệp: SoC PicoRV32 RFID RDM6300 &amp; SPI Flash | SV: Thái Tuấn Hiệp | GVHD: ThS. Nguyễn Văn Đông</a:t>
            </a:r>
          </a:p>
        </p:txBody>
      </p:sp>
      <p:sp>
        <p:nvSpPr>
          <p:cNvPr id="7" name="TextBox 6"/>
          <p:cNvSpPr txBox="1"/>
          <p:nvPr/>
        </p:nvSpPr>
        <p:spPr>
          <a:xfrm>
            <a:off x="10058400" y="6492240"/>
            <a:ext cx="1401775" cy="274320"/>
          </a:xfrm>
          <a:prstGeom prst="rect">
            <a:avLst/>
          </a:prstGeom>
          <a:noFill/>
        </p:spPr>
        <p:txBody>
          <a:bodyPr wrap="none" lIns="0" tIns="0" rIns="0" bIns="0">
            <a:spAutoFit/>
          </a:bodyPr>
          <a:lstStyle/>
          <a:p>
            <a:pPr algn="r">
              <a:defRPr sz="950" b="1">
                <a:solidFill>
                  <a:srgbClr val="2563EB"/>
                </a:solidFill>
                <a:latin typeface="Segoe UI"/>
              </a:defRPr>
            </a:pPr>
            <a:r>
              <a:t>10 / 24</a:t>
            </a:r>
          </a:p>
        </p:txBody>
      </p:sp>
      <p:sp>
        <p:nvSpPr>
          <p:cNvPr id="8" name="Rounded Rectangle 7"/>
          <p:cNvSpPr/>
          <p:nvPr/>
        </p:nvSpPr>
        <p:spPr>
          <a:xfrm>
            <a:off x="731520" y="1188720"/>
            <a:ext cx="5257800" cy="5029200"/>
          </a:xfrm>
          <a:prstGeom prst="roundRect">
            <a:avLst/>
          </a:prstGeom>
          <a:solidFill>
            <a:srgbClr val="FFFFFF"/>
          </a:solidFill>
          <a:ln w="19050">
            <a:solidFill>
              <a:srgbClr val="E11D4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stage4_bw_diagram.png"/>
          <p:cNvPicPr>
            <a:picLocks noChangeAspect="1"/>
          </p:cNvPicPr>
          <p:nvPr/>
        </p:nvPicPr>
        <p:blipFill>
          <a:blip r:embed="rId2"/>
          <a:stretch>
            <a:fillRect/>
          </a:stretch>
        </p:blipFill>
        <p:spPr>
          <a:xfrm>
            <a:off x="868680" y="1325880"/>
            <a:ext cx="4983480" cy="4754880"/>
          </a:xfrm>
          <a:prstGeom prst="rect">
            <a:avLst/>
          </a:prstGeom>
        </p:spPr>
      </p:pic>
      <p:sp>
        <p:nvSpPr>
          <p:cNvPr id="10" name="Rounded Rectangle 9"/>
          <p:cNvSpPr/>
          <p:nvPr/>
        </p:nvSpPr>
        <p:spPr>
          <a:xfrm>
            <a:off x="6172200" y="1188720"/>
            <a:ext cx="5285232" cy="5029200"/>
          </a:xfrm>
          <a:prstGeom prst="roundRect">
            <a:avLst/>
          </a:prstGeom>
          <a:solidFill>
            <a:srgbClr val="FFFFFF"/>
          </a:solidFill>
          <a:ln w="19050">
            <a:solidFill>
              <a:srgbClr val="E11D4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355080" y="1325880"/>
            <a:ext cx="4919472" cy="4754880"/>
          </a:xfrm>
          <a:prstGeom prst="rect">
            <a:avLst/>
          </a:prstGeom>
          <a:noFill/>
        </p:spPr>
        <p:txBody>
          <a:bodyPr wrap="square">
            <a:spAutoFit/>
          </a:bodyPr>
          <a:lstStyle/>
          <a:p>
            <a:pPr>
              <a:spcAft>
                <a:spcPts val="800"/>
              </a:spcAft>
              <a:defRPr b="1" sz="1200">
                <a:solidFill>
                  <a:srgbClr val="E11D48"/>
                </a:solidFill>
                <a:latin typeface="Segoe UI"/>
              </a:defRPr>
            </a:pPr>
            <a:r>
              <a:t>TÍCH HỢP NGOẠI VI &amp; HÀNG ĐỢI PHẦN CỨNG FIFO</a:t>
            </a:r>
          </a:p>
          <a:p>
            <a:pPr>
              <a:lnSpc>
                <a:spcPct val="115000"/>
              </a:lnSpc>
              <a:spcAft>
                <a:spcPts val="500"/>
              </a:spcAft>
              <a:defRPr sz="950">
                <a:solidFill>
                  <a:srgbClr val="0F172A"/>
                </a:solidFill>
                <a:latin typeface="Segoe UI"/>
              </a:defRPr>
            </a:pPr>
            <a:r>
              <a:t>• Ngoại vi RFID RDM6300 (Slave 2 @ 0x1000_0000): Tích hợp sync_2ff.v chống hiện tượng siêu ổn định (Metastability) từ ăng-ten ngoài và sync_fifo.v 32 byte để đệm trọn vẹn chuỗi 14 byte của thẻ.</a:t>
            </a:r>
          </a:p>
          <a:p>
            <a:pPr>
              <a:lnSpc>
                <a:spcPct val="115000"/>
              </a:lnSpc>
              <a:spcAft>
                <a:spcPts val="500"/>
              </a:spcAft>
              <a:defRPr sz="950">
                <a:solidFill>
                  <a:srgbClr val="0F172A"/>
                </a:solidFill>
                <a:latin typeface="Segoe UI"/>
              </a:defRPr>
            </a:pPr>
            <a:r>
              <a:t>• Ngoại vi Host PC UART (Slave 3 @ 0x3000_0000): Tích hợp cả 32B RX FIFO và 32B TX FIFO hỗ trợ giao tiếp Full-Duplex tốc độ cao với máy tính quản trị.</a:t>
            </a:r>
          </a:p>
          <a:p>
            <a:pPr>
              <a:lnSpc>
                <a:spcPct val="115000"/>
              </a:lnSpc>
              <a:spcAft>
                <a:spcPts val="500"/>
              </a:spcAft>
              <a:defRPr sz="950">
                <a:solidFill>
                  <a:srgbClr val="0F172A"/>
                </a:solidFill>
                <a:latin typeface="Segoe UI"/>
              </a:defRPr>
            </a:pPr>
            <a:r>
              <a:t>• Ngoại vi GPIO LED &amp; Relay (Slave 4 @ 0x4000_0000): Điều khiển 16 LED trạng thái (LED 0 nhịp tim, LED 1 Flash, LED 2 mở cửa) và relay khóa điện.</a:t>
            </a:r>
          </a:p>
          <a:p>
            <a:pPr>
              <a:lnSpc>
                <a:spcPct val="115000"/>
              </a:lnSpc>
              <a:spcAft>
                <a:spcPts val="500"/>
              </a:spcAft>
              <a:defRPr sz="950">
                <a:solidFill>
                  <a:srgbClr val="0F172A"/>
                </a:solidFill>
                <a:latin typeface="Segoe UI"/>
              </a:defRPr>
            </a:pPr>
            <a:r>
              <a:t>• Vai trò sống còn của FIFO 32 Bytes: Khi CPU bận ghi dữ liệu vào Flash NVM (mất 1-3 ms), nếu người dùng quẹt thẻ liên tục, hàng đợi FIFO 32B tự động lưu giữ toàn bộ dữ liệu, chống rớt gói tin tuyệt đối!</a:t>
            </a:r>
          </a:p>
          <a:p>
            <a:pPr>
              <a:lnSpc>
                <a:spcPct val="115000"/>
              </a:lnSpc>
              <a:spcAft>
                <a:spcPts val="500"/>
              </a:spcAft>
              <a:defRPr sz="950">
                <a:solidFill>
                  <a:srgbClr val="0F172A"/>
                </a:solidFill>
                <a:latin typeface="Segoe UI"/>
              </a:defRPr>
            </a:pPr>
            <a:r>
              <a:t>• Cơ chế Non-blocking Bus: Nếu FIFO rỗng, mạch trả về ngay 0xFFFFFFFF trong 1 chu kỳ clock, ngăn chặn hoàn toàn hiện tượng CPU bị treo bus.</a:t>
            </a:r>
          </a:p>
          <a:p>
            <a:pPr>
              <a:spcBef>
                <a:spcPts val="400"/>
              </a:spcBef>
              <a:defRPr sz="919" b="1">
                <a:solidFill>
                  <a:srgbClr val="E11D48"/>
                </a:solidFill>
                <a:latin typeface="Segoe UI"/>
              </a:defRPr>
            </a:pPr>
            <a:r>
              <a:t>=&gt; KẾT QUẢ: Hệ thống ngoại vi hoàn chỉnh, bảo đảm tính thời gian thực và an toàn dữ liệu.</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1440"/>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201168"/>
            <a:ext cx="10728655" cy="868680"/>
          </a:xfrm>
          <a:prstGeom prst="rect">
            <a:avLst/>
          </a:prstGeom>
          <a:noFill/>
        </p:spPr>
        <p:txBody>
          <a:bodyPr wrap="square" lIns="0" tIns="0" rIns="0" bIns="0">
            <a:spAutoFit/>
          </a:bodyPr>
          <a:lstStyle/>
          <a:p>
            <a:pPr>
              <a:spcAft>
                <a:spcPts val="200"/>
              </a:spcAft>
              <a:defRPr sz="1050" b="1">
                <a:solidFill>
                  <a:srgbClr val="2563EB"/>
                </a:solidFill>
                <a:latin typeface="Segoe UI"/>
              </a:defRPr>
            </a:pPr>
            <a:r>
              <a:t>PHẦN 3: QUY TRÌNH THIẾT KẾ SOC (GIAI ĐOẠN 5/5)</a:t>
            </a:r>
          </a:p>
          <a:p>
            <a:pPr>
              <a:defRPr sz="1700" b="1">
                <a:solidFill>
                  <a:srgbClr val="0F172A"/>
                </a:solidFill>
                <a:latin typeface="Segoe UI"/>
              </a:defRPr>
            </a:pPr>
            <a:r>
              <a:t>Giai Đoạn 5: Tầng Firmware C Tương Tác Qua Con Trỏ Volatile MMIO (soc_regs.h, access_control.c, uart.c)</a:t>
            </a:r>
          </a:p>
        </p:txBody>
      </p:sp>
      <p:sp>
        <p:nvSpPr>
          <p:cNvPr id="5" name="Rectangle 4"/>
          <p:cNvSpPr/>
          <p:nvPr/>
        </p:nvSpPr>
        <p:spPr>
          <a:xfrm>
            <a:off x="731520" y="6446520"/>
            <a:ext cx="10728655" cy="18288"/>
          </a:xfrm>
          <a:prstGeom prst="rect">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31520" y="6492240"/>
            <a:ext cx="7315200" cy="274320"/>
          </a:xfrm>
          <a:prstGeom prst="rect">
            <a:avLst/>
          </a:prstGeom>
          <a:noFill/>
        </p:spPr>
        <p:txBody>
          <a:bodyPr wrap="none" lIns="0" tIns="0" rIns="0" bIns="0">
            <a:spAutoFit/>
          </a:bodyPr>
          <a:lstStyle/>
          <a:p>
            <a:pPr>
              <a:defRPr sz="950">
                <a:solidFill>
                  <a:srgbClr val="475569"/>
                </a:solidFill>
                <a:latin typeface="Segoe UI"/>
              </a:defRPr>
            </a:pPr>
            <a:r>
              <a:t>Đồ Án Tốt Nghiệp: SoC PicoRV32 RFID RDM6300 &amp; SPI Flash | SV: Thái Tuấn Hiệp | GVHD: ThS. Nguyễn Văn Đông</a:t>
            </a:r>
          </a:p>
        </p:txBody>
      </p:sp>
      <p:sp>
        <p:nvSpPr>
          <p:cNvPr id="7" name="TextBox 6"/>
          <p:cNvSpPr txBox="1"/>
          <p:nvPr/>
        </p:nvSpPr>
        <p:spPr>
          <a:xfrm>
            <a:off x="10058400" y="6492240"/>
            <a:ext cx="1401775" cy="274320"/>
          </a:xfrm>
          <a:prstGeom prst="rect">
            <a:avLst/>
          </a:prstGeom>
          <a:noFill/>
        </p:spPr>
        <p:txBody>
          <a:bodyPr wrap="none" lIns="0" tIns="0" rIns="0" bIns="0">
            <a:spAutoFit/>
          </a:bodyPr>
          <a:lstStyle/>
          <a:p>
            <a:pPr algn="r">
              <a:defRPr sz="950" b="1">
                <a:solidFill>
                  <a:srgbClr val="2563EB"/>
                </a:solidFill>
                <a:latin typeface="Segoe UI"/>
              </a:defRPr>
            </a:pPr>
            <a:r>
              <a:t>11 / 24</a:t>
            </a:r>
          </a:p>
        </p:txBody>
      </p:sp>
      <p:sp>
        <p:nvSpPr>
          <p:cNvPr id="8" name="Rounded Rectangle 7"/>
          <p:cNvSpPr/>
          <p:nvPr/>
        </p:nvSpPr>
        <p:spPr>
          <a:xfrm>
            <a:off x="731520" y="1188720"/>
            <a:ext cx="5257800" cy="5029200"/>
          </a:xfrm>
          <a:prstGeom prst="roundRect">
            <a:avLst/>
          </a:prstGeom>
          <a:solidFill>
            <a:srgbClr val="FFFFFF"/>
          </a:solidFill>
          <a:ln w="19050">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stage5_bw_diagram.png"/>
          <p:cNvPicPr>
            <a:picLocks noChangeAspect="1"/>
          </p:cNvPicPr>
          <p:nvPr/>
        </p:nvPicPr>
        <p:blipFill>
          <a:blip r:embed="rId2"/>
          <a:stretch>
            <a:fillRect/>
          </a:stretch>
        </p:blipFill>
        <p:spPr>
          <a:xfrm>
            <a:off x="868680" y="1325880"/>
            <a:ext cx="4983480" cy="4754880"/>
          </a:xfrm>
          <a:prstGeom prst="rect">
            <a:avLst/>
          </a:prstGeom>
        </p:spPr>
      </p:pic>
      <p:sp>
        <p:nvSpPr>
          <p:cNvPr id="10" name="Rounded Rectangle 9"/>
          <p:cNvSpPr/>
          <p:nvPr/>
        </p:nvSpPr>
        <p:spPr>
          <a:xfrm>
            <a:off x="6172200" y="1188720"/>
            <a:ext cx="5285232" cy="5029200"/>
          </a:xfrm>
          <a:prstGeom prst="roundRect">
            <a:avLst/>
          </a:prstGeom>
          <a:solidFill>
            <a:srgbClr val="FFFFFF"/>
          </a:solidFill>
          <a:ln w="19050">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355080" y="1325880"/>
            <a:ext cx="4919472" cy="4754880"/>
          </a:xfrm>
          <a:prstGeom prst="rect">
            <a:avLst/>
          </a:prstGeom>
          <a:noFill/>
        </p:spPr>
        <p:txBody>
          <a:bodyPr wrap="square">
            <a:spAutoFit/>
          </a:bodyPr>
          <a:lstStyle/>
          <a:p>
            <a:pPr>
              <a:spcAft>
                <a:spcPts val="800"/>
              </a:spcAft>
              <a:defRPr b="1" sz="1200">
                <a:solidFill>
                  <a:srgbClr val="10B981"/>
                </a:solidFill>
                <a:latin typeface="Segoe UI"/>
              </a:defRPr>
            </a:pPr>
            <a:r>
              <a:t>TRỪU TƯỢNG HÓA PHẦN CỨNG BẰNG NGÔN NGỮ C</a:t>
            </a:r>
          </a:p>
          <a:p>
            <a:pPr>
              <a:lnSpc>
                <a:spcPct val="115000"/>
              </a:lnSpc>
              <a:spcAft>
                <a:spcPts val="500"/>
              </a:spcAft>
              <a:defRPr sz="950">
                <a:solidFill>
                  <a:srgbClr val="0F172A"/>
                </a:solidFill>
                <a:latin typeface="Segoe UI"/>
              </a:defRPr>
            </a:pPr>
            <a:r>
              <a:t>• Tầng Macro MMIO (soc_regs.h): Định nghĩa các con trỏ phần cứng:</a:t>
            </a:r>
            <a:br/>
            <a:r>
              <a:t>  #define REG_RFID_UART_DAT (*(volatile uint32_t*)0x10000004)</a:t>
            </a:r>
            <a:br/>
            <a:r>
              <a:t>  #define REG_PC_UART_DAT   (*(volatile uint32_t*)0x30000004)</a:t>
            </a:r>
            <a:br/>
            <a:r>
              <a:t>  #define REG_GPIO_LEDS     (*(volatile uint32_t*)0x40000000)</a:t>
            </a:r>
          </a:p>
          <a:p>
            <a:pPr>
              <a:lnSpc>
                <a:spcPct val="115000"/>
              </a:lnSpc>
              <a:spcAft>
                <a:spcPts val="500"/>
              </a:spcAft>
              <a:defRPr sz="950">
                <a:solidFill>
                  <a:srgbClr val="0F172A"/>
                </a:solidFill>
                <a:latin typeface="Segoe UI"/>
              </a:defRPr>
            </a:pPr>
            <a:r>
              <a:t>• Bản chất từ khóa volatile: Ép trình biên dịch GCC luôn sinh ra lệnh đọc/ghi bus thật (lw, sw), loại bỏ triệt để lỗi tối ưu hóa lưu biến vào thanh ghi.</a:t>
            </a:r>
          </a:p>
          <a:p>
            <a:pPr>
              <a:lnSpc>
                <a:spcPct val="115000"/>
              </a:lnSpc>
              <a:spcAft>
                <a:spcPts val="500"/>
              </a:spcAft>
              <a:defRPr sz="950">
                <a:solidFill>
                  <a:srgbClr val="0F172A"/>
                </a:solidFill>
                <a:latin typeface="Segoe UI"/>
              </a:defRPr>
            </a:pPr>
            <a:r>
              <a:t>• Tầng Ứng Dụng C (access_control.c): Xử lý nghiệp vụ hoàn toàn trong suốt:</a:t>
            </a:r>
            <a:br/>
            <a:r>
              <a:t>  uint32_t d = REG_RFID_UART_DAT;</a:t>
            </a:r>
            <a:br/>
            <a:r>
              <a:t>  if (d != 0xFFFFFFFF) rdm6300_push_byte((uint8_t)d);</a:t>
            </a:r>
            <a:br/>
            <a:r>
              <a:t>  if (card_valid) REG_GPIO_LEDS |= 0x04; // Mở cửa</a:t>
            </a:r>
          </a:p>
          <a:p>
            <a:pPr>
              <a:lnSpc>
                <a:spcPct val="115000"/>
              </a:lnSpc>
              <a:spcAft>
                <a:spcPts val="500"/>
              </a:spcAft>
              <a:defRPr sz="950">
                <a:solidFill>
                  <a:srgbClr val="0F172A"/>
                </a:solidFill>
                <a:latin typeface="Segoe UI"/>
              </a:defRPr>
            </a:pPr>
            <a:r>
              <a:t>• Ý nghĩa kỹ thuật: Lập trình viên C có thể điều khiển toàn bộ vi mạch số phức tạp chỉ bằng các biến con trỏ quen thuộc, mã nguồn trong sáng, độc lập với phần cứng.</a:t>
            </a:r>
          </a:p>
          <a:p>
            <a:pPr>
              <a:spcBef>
                <a:spcPts val="400"/>
              </a:spcBef>
              <a:defRPr sz="919" b="1">
                <a:solidFill>
                  <a:srgbClr val="10B981"/>
                </a:solidFill>
                <a:latin typeface="Segoe UI"/>
              </a:defRPr>
            </a:pPr>
            <a:r>
              <a:t>=&gt; KẾT LUẬN: 5 giai đoạn thiết kế đã tạo nên một SoC hoàn chỉnh, tối ưu và sẵn sàng sản xuất.</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1440"/>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201168"/>
            <a:ext cx="10728655" cy="868680"/>
          </a:xfrm>
          <a:prstGeom prst="rect">
            <a:avLst/>
          </a:prstGeom>
          <a:noFill/>
        </p:spPr>
        <p:txBody>
          <a:bodyPr wrap="square" lIns="0" tIns="0" rIns="0" bIns="0">
            <a:spAutoFit/>
          </a:bodyPr>
          <a:lstStyle/>
          <a:p>
            <a:pPr>
              <a:spcAft>
                <a:spcPts val="200"/>
              </a:spcAft>
              <a:defRPr sz="1050" b="1">
                <a:solidFill>
                  <a:srgbClr val="2563EB"/>
                </a:solidFill>
                <a:latin typeface="Segoe UI"/>
              </a:defRPr>
            </a:pPr>
            <a:r>
              <a:t>PHẦN 4: HỆ THỐNG TESTBENCH &amp; MÔ PHỎNG</a:t>
            </a:r>
          </a:p>
          <a:p>
            <a:pPr>
              <a:defRPr sz="1700" b="1">
                <a:solidFill>
                  <a:srgbClr val="0F172A"/>
                </a:solidFill>
                <a:latin typeface="Segoe UI"/>
              </a:defRPr>
            </a:pPr>
            <a:r>
              <a:t>Testbench 1: Kiểm Thử Phần Cứng RTL Thuần Cho UART MMIO &amp; FIFO (tb_uart_rtl.v)</a:t>
            </a:r>
          </a:p>
        </p:txBody>
      </p:sp>
      <p:sp>
        <p:nvSpPr>
          <p:cNvPr id="5" name="Rectangle 4"/>
          <p:cNvSpPr/>
          <p:nvPr/>
        </p:nvSpPr>
        <p:spPr>
          <a:xfrm>
            <a:off x="731520" y="6446520"/>
            <a:ext cx="10728655" cy="18288"/>
          </a:xfrm>
          <a:prstGeom prst="rect">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31520" y="6492240"/>
            <a:ext cx="7315200" cy="274320"/>
          </a:xfrm>
          <a:prstGeom prst="rect">
            <a:avLst/>
          </a:prstGeom>
          <a:noFill/>
        </p:spPr>
        <p:txBody>
          <a:bodyPr wrap="none" lIns="0" tIns="0" rIns="0" bIns="0">
            <a:spAutoFit/>
          </a:bodyPr>
          <a:lstStyle/>
          <a:p>
            <a:pPr>
              <a:defRPr sz="950">
                <a:solidFill>
                  <a:srgbClr val="475569"/>
                </a:solidFill>
                <a:latin typeface="Segoe UI"/>
              </a:defRPr>
            </a:pPr>
            <a:r>
              <a:t>Đồ Án Tốt Nghiệp: SoC PicoRV32 RFID RDM6300 &amp; SPI Flash | SV: Thái Tuấn Hiệp | GVHD: ThS. Nguyễn Văn Đông</a:t>
            </a:r>
          </a:p>
        </p:txBody>
      </p:sp>
      <p:sp>
        <p:nvSpPr>
          <p:cNvPr id="7" name="TextBox 6"/>
          <p:cNvSpPr txBox="1"/>
          <p:nvPr/>
        </p:nvSpPr>
        <p:spPr>
          <a:xfrm>
            <a:off x="10058400" y="6492240"/>
            <a:ext cx="1401775" cy="274320"/>
          </a:xfrm>
          <a:prstGeom prst="rect">
            <a:avLst/>
          </a:prstGeom>
          <a:noFill/>
        </p:spPr>
        <p:txBody>
          <a:bodyPr wrap="none" lIns="0" tIns="0" rIns="0" bIns="0">
            <a:spAutoFit/>
          </a:bodyPr>
          <a:lstStyle/>
          <a:p>
            <a:pPr algn="r">
              <a:defRPr sz="950" b="1">
                <a:solidFill>
                  <a:srgbClr val="2563EB"/>
                </a:solidFill>
                <a:latin typeface="Segoe UI"/>
              </a:defRPr>
            </a:pPr>
            <a:r>
              <a:t>12 / 24</a:t>
            </a:r>
          </a:p>
        </p:txBody>
      </p:sp>
      <p:sp>
        <p:nvSpPr>
          <p:cNvPr id="8" name="Rounded Rectangle 7"/>
          <p:cNvSpPr/>
          <p:nvPr/>
        </p:nvSpPr>
        <p:spPr>
          <a:xfrm>
            <a:off x="731520" y="1234440"/>
            <a:ext cx="5212080" cy="4937760"/>
          </a:xfrm>
          <a:prstGeom prst="roundRect">
            <a:avLst/>
          </a:prstGeom>
          <a:solidFill>
            <a:srgbClr val="FFFFFF"/>
          </a:solidFill>
          <a:ln w="1905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4400" y="1371600"/>
            <a:ext cx="4846320" cy="4663440"/>
          </a:xfrm>
          <a:prstGeom prst="rect">
            <a:avLst/>
          </a:prstGeom>
          <a:noFill/>
        </p:spPr>
        <p:txBody>
          <a:bodyPr wrap="square">
            <a:spAutoFit/>
          </a:bodyPr>
          <a:lstStyle/>
          <a:p>
            <a:pPr>
              <a:spcAft>
                <a:spcPts val="1000"/>
              </a:spcAft>
              <a:defRPr sz="1300" b="1">
                <a:solidFill>
                  <a:srgbClr val="2563EB"/>
                </a:solidFill>
                <a:latin typeface="Segoe UI"/>
              </a:defRPr>
            </a:pPr>
            <a:r>
              <a:t>5 KỊCH BẢN KIỂM THỬ UART RTL THUẦN</a:t>
            </a:r>
          </a:p>
          <a:p>
            <a:pPr>
              <a:lnSpc>
                <a:spcPct val="115000"/>
              </a:lnSpc>
              <a:spcAft>
                <a:spcPts val="800"/>
              </a:spcAft>
              <a:defRPr sz="1050">
                <a:solidFill>
                  <a:srgbClr val="0F172A"/>
                </a:solidFill>
                <a:latin typeface="Segoe UI"/>
              </a:defRPr>
            </a:pPr>
            <a:r>
              <a:t>• Mục tiêu: Xác minh tính đúng đắn phần cứng của uart_mmio.v, sync_fifo.v và simpleuart.v mà không cần CPU.</a:t>
            </a:r>
          </a:p>
          <a:p>
            <a:pPr>
              <a:lnSpc>
                <a:spcPct val="115000"/>
              </a:lnSpc>
              <a:spcAft>
                <a:spcPts val="800"/>
              </a:spcAft>
              <a:defRPr sz="1050">
                <a:solidFill>
                  <a:srgbClr val="0F172A"/>
                </a:solidFill>
                <a:latin typeface="Segoe UI"/>
              </a:defRPr>
            </a:pPr>
            <a:r>
              <a:t>• 1. Default Divider: Kiểm tra thanh ghi Prescaler tại offset 0x00 nạp đúng giá trị mặc định 5208 (9600 baud @ 50MHz).</a:t>
            </a:r>
          </a:p>
          <a:p>
            <a:pPr>
              <a:lnSpc>
                <a:spcPct val="115000"/>
              </a:lnSpc>
              <a:spcAft>
                <a:spcPts val="800"/>
              </a:spcAft>
              <a:defRPr sz="1050">
                <a:solidFill>
                  <a:srgbClr val="0F172A"/>
                </a:solidFill>
                <a:latin typeface="Segoe UI"/>
              </a:defRPr>
            </a:pPr>
            <a:r>
              <a:t>• 2. Divider Reconfig: Ghi giá trị chia tần mới và đọc lại qua bus MMIO, xác nhận mạch thanh ghi hoạt động chuẩn xác.</a:t>
            </a:r>
          </a:p>
          <a:p>
            <a:pPr>
              <a:lnSpc>
                <a:spcPct val="115000"/>
              </a:lnSpc>
              <a:spcAft>
                <a:spcPts val="800"/>
              </a:spcAft>
              <a:defRPr sz="1050">
                <a:solidFill>
                  <a:srgbClr val="0F172A"/>
                </a:solidFill>
                <a:latin typeface="Segoe UI"/>
              </a:defRPr>
            </a:pPr>
            <a:r>
              <a:t>• 3. Serial TX Waveform: Ghi ký tự vào offset 0x04, kiểm tra dạng sóng nối tiếp tx_o (Start bit = 0, 8 data bits LSB-first, Stop bit = 1).</a:t>
            </a:r>
          </a:p>
          <a:p>
            <a:pPr>
              <a:lnSpc>
                <a:spcPct val="115000"/>
              </a:lnSpc>
              <a:spcAft>
                <a:spcPts val="800"/>
              </a:spcAft>
              <a:defRPr sz="1050">
                <a:solidFill>
                  <a:srgbClr val="0F172A"/>
                </a:solidFill>
                <a:latin typeface="Segoe UI"/>
              </a:defRPr>
            </a:pPr>
            <a:r>
              <a:t>• 4. Serial RX &amp; FIFO: Bắn chuỗi bit vào rx_i, cờ rx_activity_o tích cực, kiểm tra dữ liệu nạp vào FIFO và trả về 0xFFFFFFFF khi rỗng.</a:t>
            </a:r>
          </a:p>
          <a:p>
            <a:pPr>
              <a:lnSpc>
                <a:spcPct val="115000"/>
              </a:lnSpc>
              <a:spcAft>
                <a:spcPts val="800"/>
              </a:spcAft>
              <a:defRPr sz="1050">
                <a:solidFill>
                  <a:srgbClr val="0F172A"/>
                </a:solidFill>
                <a:latin typeface="Segoe UI"/>
              </a:defRPr>
            </a:pPr>
            <a:r>
              <a:t>• 5. Multi-Byte Burst: Bắn liên tiếp chuỗi byte kiểm tra cơ chế chống tràn của hàng đợi FIFO 32 byte.</a:t>
            </a:r>
          </a:p>
        </p:txBody>
      </p:sp>
      <p:sp>
        <p:nvSpPr>
          <p:cNvPr id="10" name="Rounded Rectangle 9"/>
          <p:cNvSpPr/>
          <p:nvPr/>
        </p:nvSpPr>
        <p:spPr>
          <a:xfrm>
            <a:off x="6217920" y="1234440"/>
            <a:ext cx="5239512" cy="4937760"/>
          </a:xfrm>
          <a:prstGeom prst="roundRect">
            <a:avLst/>
          </a:prstGeom>
          <a:solidFill>
            <a:srgbClr val="0B132B"/>
          </a:solidFill>
          <a:ln w="19050">
            <a:solidFill>
              <a:srgbClr val="1C254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355080" y="1307592"/>
            <a:ext cx="4965192" cy="292608"/>
          </a:xfrm>
          <a:prstGeom prst="rect">
            <a:avLst/>
          </a:prstGeom>
          <a:noFill/>
        </p:spPr>
        <p:txBody>
          <a:bodyPr wrap="none" lIns="0" tIns="0" rIns="0" bIns="0">
            <a:spAutoFit/>
          </a:bodyPr>
          <a:lstStyle/>
          <a:p>
            <a:pPr>
              <a:defRPr sz="950" b="1">
                <a:solidFill>
                  <a:srgbClr val="0EA5E9"/>
                </a:solidFill>
                <a:latin typeface="Consolas"/>
              </a:defRPr>
            </a:pPr>
            <a:r>
              <a:t>&gt;_  tb/run_sim_uart.bat output</a:t>
            </a:r>
          </a:p>
        </p:txBody>
      </p:sp>
      <p:sp>
        <p:nvSpPr>
          <p:cNvPr id="12" name="TextBox 11"/>
          <p:cNvSpPr txBox="1"/>
          <p:nvPr/>
        </p:nvSpPr>
        <p:spPr>
          <a:xfrm>
            <a:off x="6355080" y="1600200"/>
            <a:ext cx="4965192" cy="4224528"/>
          </a:xfrm>
          <a:prstGeom prst="rect">
            <a:avLst/>
          </a:prstGeom>
          <a:noFill/>
        </p:spPr>
        <p:txBody>
          <a:bodyPr wrap="square" lIns="0" tIns="0" rIns="0" bIns="0">
            <a:spAutoFit/>
          </a:bodyPr>
          <a:lstStyle/>
          <a:p>
            <a:pPr>
              <a:lnSpc>
                <a:spcPct val="108000"/>
              </a:lnSpc>
              <a:spcAft>
                <a:spcPts val="0"/>
              </a:spcAft>
              <a:defRPr sz="800">
                <a:solidFill>
                  <a:srgbClr val="FFFFFF"/>
                </a:solidFill>
                <a:latin typeface="Consolas"/>
              </a:defRPr>
            </a:pPr>
            <a:r>
              <a:t>Vivado Simulator v2025.1 - xelab &amp; xsim</a:t>
            </a:r>
          </a:p>
          <a:p>
            <a:pPr>
              <a:lnSpc>
                <a:spcPct val="108000"/>
              </a:lnSpc>
              <a:spcAft>
                <a:spcPts val="0"/>
              </a:spcAft>
              <a:defRPr sz="800">
                <a:solidFill>
                  <a:srgbClr val="FFFFFF"/>
                </a:solidFill>
                <a:latin typeface="Consolas"/>
              </a:defRPr>
            </a:pPr>
            <a:r>
              <a:t>Analyzing Verilog file rtl/uart/sync_2ff.v</a:t>
            </a:r>
          </a:p>
          <a:p>
            <a:pPr>
              <a:lnSpc>
                <a:spcPct val="108000"/>
              </a:lnSpc>
              <a:spcAft>
                <a:spcPts val="0"/>
              </a:spcAft>
              <a:defRPr sz="800">
                <a:solidFill>
                  <a:srgbClr val="93C5FD"/>
                </a:solidFill>
                <a:latin typeface="Consolas"/>
              </a:defRPr>
            </a:pPr>
            <a:r>
              <a:t>Analyzing Verilog file rtl/uart/sync_fifo.v</a:t>
            </a:r>
          </a:p>
          <a:p>
            <a:pPr>
              <a:lnSpc>
                <a:spcPct val="108000"/>
              </a:lnSpc>
              <a:spcAft>
                <a:spcPts val="0"/>
              </a:spcAft>
              <a:defRPr sz="800">
                <a:solidFill>
                  <a:srgbClr val="FFFFFF"/>
                </a:solidFill>
                <a:latin typeface="Consolas"/>
              </a:defRPr>
            </a:pPr>
            <a:r>
              <a:t>Analyzing Verilog file rtl/uart/simpleuart.v</a:t>
            </a:r>
          </a:p>
          <a:p>
            <a:pPr>
              <a:lnSpc>
                <a:spcPct val="108000"/>
              </a:lnSpc>
              <a:spcAft>
                <a:spcPts val="0"/>
              </a:spcAft>
              <a:defRPr sz="800">
                <a:solidFill>
                  <a:srgbClr val="FFFFFF"/>
                </a:solidFill>
                <a:latin typeface="Consolas"/>
              </a:defRPr>
            </a:pPr>
            <a:r>
              <a:t>Analyzing Verilog file rtl/uart/uart_mmio.v</a:t>
            </a:r>
          </a:p>
          <a:p>
            <a:pPr>
              <a:lnSpc>
                <a:spcPct val="108000"/>
              </a:lnSpc>
              <a:spcAft>
                <a:spcPts val="0"/>
              </a:spcAft>
              <a:defRPr sz="800">
                <a:solidFill>
                  <a:srgbClr val="FFFFFF"/>
                </a:solidFill>
                <a:latin typeface="Consolas"/>
              </a:defRPr>
            </a:pPr>
            <a:r>
              <a:t>Analyzing Verilog file tb/tb_uart_rtl.v</a:t>
            </a:r>
          </a:p>
          <a:p>
            <a:pPr>
              <a:lnSpc>
                <a:spcPct val="108000"/>
              </a:lnSpc>
              <a:spcAft>
                <a:spcPts val="0"/>
              </a:spcAft>
              <a:defRPr sz="800">
                <a:solidFill>
                  <a:srgbClr val="FFFFFF"/>
                </a:solidFill>
                <a:latin typeface="Consolas"/>
              </a:defRPr>
            </a:pPr>
          </a:p>
          <a:p>
            <a:pPr>
              <a:lnSpc>
                <a:spcPct val="108000"/>
              </a:lnSpc>
              <a:spcAft>
                <a:spcPts val="0"/>
              </a:spcAft>
              <a:defRPr sz="800" b="1">
                <a:solidFill>
                  <a:srgbClr val="0EA5E9"/>
                </a:solidFill>
                <a:latin typeface="Consolas"/>
              </a:defRPr>
            </a:pPr>
            <a:r>
              <a:t>[TEST 1] Checking Default Prescaler Divider...</a:t>
            </a:r>
          </a:p>
          <a:p>
            <a:pPr>
              <a:lnSpc>
                <a:spcPct val="108000"/>
              </a:lnSpc>
              <a:spcAft>
                <a:spcPts val="0"/>
              </a:spcAft>
              <a:defRPr sz="800" b="1">
                <a:solidFill>
                  <a:srgbClr val="10B981"/>
                </a:solidFill>
                <a:latin typeface="Consolas"/>
              </a:defRPr>
            </a:pPr>
            <a:r>
              <a:t>  [PASS] Prescaler default matches DEFAULT_DIV = 5208</a:t>
            </a:r>
          </a:p>
          <a:p>
            <a:pPr>
              <a:lnSpc>
                <a:spcPct val="108000"/>
              </a:lnSpc>
              <a:spcAft>
                <a:spcPts val="0"/>
              </a:spcAft>
              <a:defRPr sz="800" b="1">
                <a:solidFill>
                  <a:srgbClr val="0EA5E9"/>
                </a:solidFill>
                <a:latin typeface="Consolas"/>
              </a:defRPr>
            </a:pPr>
            <a:r>
              <a:t>[TEST 2] Reconfiguring Divider to 10416 (4800 baud)...</a:t>
            </a:r>
          </a:p>
          <a:p>
            <a:pPr>
              <a:lnSpc>
                <a:spcPct val="108000"/>
              </a:lnSpc>
              <a:spcAft>
                <a:spcPts val="0"/>
              </a:spcAft>
              <a:defRPr sz="800" b="1">
                <a:solidFill>
                  <a:srgbClr val="10B981"/>
                </a:solidFill>
                <a:latin typeface="Consolas"/>
              </a:defRPr>
            </a:pPr>
            <a:r>
              <a:t>  [PASS] Read-back matches written value 10416</a:t>
            </a:r>
          </a:p>
          <a:p>
            <a:pPr>
              <a:lnSpc>
                <a:spcPct val="108000"/>
              </a:lnSpc>
              <a:spcAft>
                <a:spcPts val="0"/>
              </a:spcAft>
              <a:defRPr sz="800" b="1">
                <a:solidFill>
                  <a:srgbClr val="0EA5E9"/>
                </a:solidFill>
                <a:latin typeface="Consolas"/>
              </a:defRPr>
            </a:pPr>
            <a:r>
              <a:t>[TEST 3] Transmitting Byte 0x55 ('U') over TX...</a:t>
            </a:r>
          </a:p>
          <a:p>
            <a:pPr>
              <a:lnSpc>
                <a:spcPct val="108000"/>
              </a:lnSpc>
              <a:spcAft>
                <a:spcPts val="0"/>
              </a:spcAft>
              <a:defRPr sz="800" b="1">
                <a:solidFill>
                  <a:srgbClr val="10B981"/>
                </a:solidFill>
                <a:latin typeface="Consolas"/>
              </a:defRPr>
            </a:pPr>
            <a:r>
              <a:t>  [PASS] TX Waveform matches 9600-8-N-1 timing!</a:t>
            </a:r>
          </a:p>
          <a:p>
            <a:pPr>
              <a:lnSpc>
                <a:spcPct val="108000"/>
              </a:lnSpc>
              <a:spcAft>
                <a:spcPts val="0"/>
              </a:spcAft>
              <a:defRPr sz="800" b="1">
                <a:solidFill>
                  <a:srgbClr val="0EA5E9"/>
                </a:solidFill>
                <a:latin typeface="Consolas"/>
              </a:defRPr>
            </a:pPr>
            <a:r>
              <a:t>[TEST 4] Receiving Serial Byte 0xA5 into FIFO...</a:t>
            </a:r>
          </a:p>
          <a:p>
            <a:pPr>
              <a:lnSpc>
                <a:spcPct val="108000"/>
              </a:lnSpc>
              <a:spcAft>
                <a:spcPts val="0"/>
              </a:spcAft>
              <a:defRPr sz="800" b="1">
                <a:solidFill>
                  <a:srgbClr val="10B981"/>
                </a:solidFill>
                <a:latin typeface="Consolas"/>
              </a:defRPr>
            </a:pPr>
            <a:r>
              <a:t>  [PASS] rx_activity_o asserted! Read 0xA5 cleanly!</a:t>
            </a:r>
          </a:p>
          <a:p>
            <a:pPr>
              <a:lnSpc>
                <a:spcPct val="108000"/>
              </a:lnSpc>
              <a:spcAft>
                <a:spcPts val="0"/>
              </a:spcAft>
              <a:defRPr sz="800" b="1">
                <a:solidFill>
                  <a:srgbClr val="10B981"/>
                </a:solidFill>
                <a:latin typeface="Consolas"/>
              </a:defRPr>
            </a:pPr>
            <a:r>
              <a:t>  [PASS] FIFO Empty flag returns 0xFFFFFFFF</a:t>
            </a:r>
          </a:p>
          <a:p>
            <a:pPr>
              <a:lnSpc>
                <a:spcPct val="108000"/>
              </a:lnSpc>
              <a:spcAft>
                <a:spcPts val="0"/>
              </a:spcAft>
              <a:defRPr sz="800" b="1">
                <a:solidFill>
                  <a:srgbClr val="0EA5E9"/>
                </a:solidFill>
                <a:latin typeface="Consolas"/>
              </a:defRPr>
            </a:pPr>
            <a:r>
              <a:t>[TEST 5] Multi-Byte Burst Test (16 bytes)...</a:t>
            </a:r>
          </a:p>
          <a:p>
            <a:pPr>
              <a:lnSpc>
                <a:spcPct val="108000"/>
              </a:lnSpc>
              <a:spcAft>
                <a:spcPts val="0"/>
              </a:spcAft>
              <a:defRPr sz="800" b="1">
                <a:solidFill>
                  <a:srgbClr val="10B981"/>
                </a:solidFill>
                <a:latin typeface="Consolas"/>
              </a:defRPr>
            </a:pPr>
            <a:r>
              <a:t>  [PASS] All 16 bytes drained without data corruption!</a:t>
            </a:r>
          </a:p>
        </p:txBody>
      </p:sp>
      <p:sp>
        <p:nvSpPr>
          <p:cNvPr id="13" name="TextBox 12"/>
          <p:cNvSpPr txBox="1"/>
          <p:nvPr/>
        </p:nvSpPr>
        <p:spPr>
          <a:xfrm>
            <a:off x="6355080" y="5788152"/>
            <a:ext cx="4965192" cy="274320"/>
          </a:xfrm>
          <a:prstGeom prst="rect">
            <a:avLst/>
          </a:prstGeom>
          <a:noFill/>
        </p:spPr>
        <p:txBody>
          <a:bodyPr wrap="none" lIns="0" tIns="0" rIns="0" bIns="0">
            <a:spAutoFit/>
          </a:bodyPr>
          <a:lstStyle/>
          <a:p>
            <a:pPr>
              <a:defRPr sz="819" b="1">
                <a:solidFill>
                  <a:srgbClr val="10B981"/>
                </a:solidFill>
                <a:latin typeface="Segoe UI"/>
              </a:defRPr>
            </a:pPr>
            <a:r>
              <a:t>=== UART RTL TESTBENCH: 100% PASS ===</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1440"/>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201168"/>
            <a:ext cx="10728655" cy="868680"/>
          </a:xfrm>
          <a:prstGeom prst="rect">
            <a:avLst/>
          </a:prstGeom>
          <a:noFill/>
        </p:spPr>
        <p:txBody>
          <a:bodyPr wrap="square" lIns="0" tIns="0" rIns="0" bIns="0">
            <a:spAutoFit/>
          </a:bodyPr>
          <a:lstStyle/>
          <a:p>
            <a:pPr>
              <a:spcAft>
                <a:spcPts val="200"/>
              </a:spcAft>
              <a:defRPr sz="1050" b="1">
                <a:solidFill>
                  <a:srgbClr val="2563EB"/>
                </a:solidFill>
                <a:latin typeface="Segoe UI"/>
              </a:defRPr>
            </a:pPr>
            <a:r>
              <a:t>PHẦN 4: HỆ THỐNG TESTBENCH &amp; MÔ PHỎNG</a:t>
            </a:r>
          </a:p>
          <a:p>
            <a:pPr>
              <a:defRPr sz="1700" b="1">
                <a:solidFill>
                  <a:srgbClr val="0F172A"/>
                </a:solidFill>
                <a:latin typeface="Segoe UI"/>
              </a:defRPr>
            </a:pPr>
            <a:r>
              <a:t>Testbench 2: Kiểm Thử Tích Hợp Toàn Diện Top SoC Boot Flash &amp; Ping (tb_uart_ping.v)</a:t>
            </a:r>
          </a:p>
        </p:txBody>
      </p:sp>
      <p:sp>
        <p:nvSpPr>
          <p:cNvPr id="5" name="Rectangle 4"/>
          <p:cNvSpPr/>
          <p:nvPr/>
        </p:nvSpPr>
        <p:spPr>
          <a:xfrm>
            <a:off x="731520" y="6446520"/>
            <a:ext cx="10728655" cy="18288"/>
          </a:xfrm>
          <a:prstGeom prst="rect">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31520" y="6492240"/>
            <a:ext cx="7315200" cy="274320"/>
          </a:xfrm>
          <a:prstGeom prst="rect">
            <a:avLst/>
          </a:prstGeom>
          <a:noFill/>
        </p:spPr>
        <p:txBody>
          <a:bodyPr wrap="none" lIns="0" tIns="0" rIns="0" bIns="0">
            <a:spAutoFit/>
          </a:bodyPr>
          <a:lstStyle/>
          <a:p>
            <a:pPr>
              <a:defRPr sz="950">
                <a:solidFill>
                  <a:srgbClr val="475569"/>
                </a:solidFill>
                <a:latin typeface="Segoe UI"/>
              </a:defRPr>
            </a:pPr>
            <a:r>
              <a:t>Đồ Án Tốt Nghiệp: SoC PicoRV32 RFID RDM6300 &amp; SPI Flash | SV: Thái Tuấn Hiệp | GVHD: ThS. Nguyễn Văn Đông</a:t>
            </a:r>
          </a:p>
        </p:txBody>
      </p:sp>
      <p:sp>
        <p:nvSpPr>
          <p:cNvPr id="7" name="TextBox 6"/>
          <p:cNvSpPr txBox="1"/>
          <p:nvPr/>
        </p:nvSpPr>
        <p:spPr>
          <a:xfrm>
            <a:off x="10058400" y="6492240"/>
            <a:ext cx="1401775" cy="274320"/>
          </a:xfrm>
          <a:prstGeom prst="rect">
            <a:avLst/>
          </a:prstGeom>
          <a:noFill/>
        </p:spPr>
        <p:txBody>
          <a:bodyPr wrap="none" lIns="0" tIns="0" rIns="0" bIns="0">
            <a:spAutoFit/>
          </a:bodyPr>
          <a:lstStyle/>
          <a:p>
            <a:pPr algn="r">
              <a:defRPr sz="950" b="1">
                <a:solidFill>
                  <a:srgbClr val="2563EB"/>
                </a:solidFill>
                <a:latin typeface="Segoe UI"/>
              </a:defRPr>
            </a:pPr>
            <a:r>
              <a:t>13 / 24</a:t>
            </a:r>
          </a:p>
        </p:txBody>
      </p:sp>
      <p:sp>
        <p:nvSpPr>
          <p:cNvPr id="8" name="Rounded Rectangle 7"/>
          <p:cNvSpPr/>
          <p:nvPr/>
        </p:nvSpPr>
        <p:spPr>
          <a:xfrm>
            <a:off x="731520" y="1234440"/>
            <a:ext cx="5212080" cy="4937760"/>
          </a:xfrm>
          <a:prstGeom prst="roundRect">
            <a:avLst/>
          </a:prstGeom>
          <a:solidFill>
            <a:srgbClr val="FFFFFF"/>
          </a:solidFill>
          <a:ln w="19050">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4400" y="1371600"/>
            <a:ext cx="4846320" cy="4663440"/>
          </a:xfrm>
          <a:prstGeom prst="rect">
            <a:avLst/>
          </a:prstGeom>
          <a:noFill/>
        </p:spPr>
        <p:txBody>
          <a:bodyPr wrap="square">
            <a:spAutoFit/>
          </a:bodyPr>
          <a:lstStyle/>
          <a:p>
            <a:pPr>
              <a:spcAft>
                <a:spcPts val="1000"/>
              </a:spcAft>
              <a:defRPr sz="1300" b="1">
                <a:solidFill>
                  <a:srgbClr val="10B981"/>
                </a:solidFill>
                <a:latin typeface="Segoe UI"/>
              </a:defRPr>
            </a:pPr>
            <a:r>
              <a:t>5 KỊCH BẢN KIỂM THỬ TÍCH HỢP TOP SOC</a:t>
            </a:r>
          </a:p>
          <a:p>
            <a:pPr>
              <a:lnSpc>
                <a:spcPct val="115000"/>
              </a:lnSpc>
              <a:spcAft>
                <a:spcPts val="800"/>
              </a:spcAft>
              <a:defRPr sz="1050">
                <a:solidFill>
                  <a:srgbClr val="0F172A"/>
                </a:solidFill>
                <a:latin typeface="Segoe UI"/>
              </a:defRPr>
            </a:pPr>
            <a:r>
              <a:t>• Mục tiêu: Xác minh hệ thống Top-level hoàn chỉnh gồm CPU PicoRV32, spimemio, 1KB SRAM, Interconnect và UART.</a:t>
            </a:r>
          </a:p>
          <a:p>
            <a:pPr>
              <a:lnSpc>
                <a:spcPct val="115000"/>
              </a:lnSpc>
              <a:spcAft>
                <a:spcPts val="800"/>
              </a:spcAft>
              <a:defRPr sz="1050">
                <a:solidFill>
                  <a:srgbClr val="0F172A"/>
                </a:solidFill>
                <a:latin typeface="Segoe UI"/>
              </a:defRPr>
            </a:pPr>
            <a:r>
              <a:t>• 1. Power-On Reset &amp; Boot Flash: PicoRV32 thức dậy tại 0x0025_0000, spimemio kéo từng từ lệnh mã C từ firmware.hex qua XIP.</a:t>
            </a:r>
          </a:p>
          <a:p>
            <a:pPr>
              <a:lnSpc>
                <a:spcPct val="115000"/>
              </a:lnSpc>
              <a:spcAft>
                <a:spcPts val="800"/>
              </a:spcAft>
              <a:defRPr sz="1050">
                <a:solidFill>
                  <a:srgbClr val="0F172A"/>
                </a:solidFill>
                <a:latin typeface="Segoe UI"/>
              </a:defRPr>
            </a:pPr>
            <a:r>
              <a:t>• 2. C Startup Banner: CPU thực thi mã C trong main.c, khởi tạo ngoại vi và in toàn bộ chuỗi chào mừng ra UART.</a:t>
            </a:r>
          </a:p>
          <a:p>
            <a:pPr>
              <a:lnSpc>
                <a:spcPct val="115000"/>
              </a:lnSpc>
              <a:spcAft>
                <a:spcPts val="800"/>
              </a:spcAft>
              <a:defRPr sz="1050">
                <a:solidFill>
                  <a:srgbClr val="0F172A"/>
                </a:solidFill>
                <a:latin typeface="Segoe UI"/>
              </a:defRPr>
            </a:pPr>
            <a:r>
              <a:t>• 3. Host Ping Processing: Testbench đóng vai trò PC Host gửi byte lệnh 'P' (0x50) và '\n' (0x0A) qua cổng nối tiếp.</a:t>
            </a:r>
          </a:p>
          <a:p>
            <a:pPr>
              <a:lnSpc>
                <a:spcPct val="115000"/>
              </a:lnSpc>
              <a:spcAft>
                <a:spcPts val="800"/>
              </a:spcAft>
              <a:defRPr sz="1050">
                <a:solidFill>
                  <a:srgbClr val="0F172A"/>
                </a:solidFill>
                <a:latin typeface="Segoe UI"/>
              </a:defRPr>
            </a:pPr>
            <a:r>
              <a:t>• 4. Response Verification: CPU phản hồi chuỗi 'PONG: PicoRV32 Active', testbench so khớp từng ký tự.</a:t>
            </a:r>
          </a:p>
          <a:p>
            <a:pPr>
              <a:lnSpc>
                <a:spcPct val="115000"/>
              </a:lnSpc>
              <a:spcAft>
                <a:spcPts val="800"/>
              </a:spcAft>
              <a:defRPr sz="1050">
                <a:solidFill>
                  <a:srgbClr val="0F172A"/>
                </a:solidFill>
                <a:latin typeface="Segoe UI"/>
              </a:defRPr>
            </a:pPr>
            <a:r>
              <a:t>• 5. CPU Health &amp; Zero-Trap: Khẳng định tín hiệu cpu_trap == 0 xuyên suốt quá trình chạy, không bị illegal instruction hay tràn RAM.</a:t>
            </a:r>
          </a:p>
        </p:txBody>
      </p:sp>
      <p:sp>
        <p:nvSpPr>
          <p:cNvPr id="10" name="Rounded Rectangle 9"/>
          <p:cNvSpPr/>
          <p:nvPr/>
        </p:nvSpPr>
        <p:spPr>
          <a:xfrm>
            <a:off x="6217920" y="1234440"/>
            <a:ext cx="5239512" cy="4937760"/>
          </a:xfrm>
          <a:prstGeom prst="roundRect">
            <a:avLst/>
          </a:prstGeom>
          <a:solidFill>
            <a:srgbClr val="0B132B"/>
          </a:solidFill>
          <a:ln w="19050">
            <a:solidFill>
              <a:srgbClr val="1C254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355080" y="1307592"/>
            <a:ext cx="4965192" cy="292608"/>
          </a:xfrm>
          <a:prstGeom prst="rect">
            <a:avLst/>
          </a:prstGeom>
          <a:noFill/>
        </p:spPr>
        <p:txBody>
          <a:bodyPr wrap="none" lIns="0" tIns="0" rIns="0" bIns="0">
            <a:spAutoFit/>
          </a:bodyPr>
          <a:lstStyle/>
          <a:p>
            <a:pPr>
              <a:defRPr sz="950" b="1">
                <a:solidFill>
                  <a:srgbClr val="0EA5E9"/>
                </a:solidFill>
                <a:latin typeface="Consolas"/>
              </a:defRPr>
            </a:pPr>
            <a:r>
              <a:t>&gt;_  tb/run_sim_ping.bat output</a:t>
            </a:r>
          </a:p>
        </p:txBody>
      </p:sp>
      <p:sp>
        <p:nvSpPr>
          <p:cNvPr id="12" name="TextBox 11"/>
          <p:cNvSpPr txBox="1"/>
          <p:nvPr/>
        </p:nvSpPr>
        <p:spPr>
          <a:xfrm>
            <a:off x="6355080" y="1600200"/>
            <a:ext cx="4965192" cy="4224528"/>
          </a:xfrm>
          <a:prstGeom prst="rect">
            <a:avLst/>
          </a:prstGeom>
          <a:noFill/>
        </p:spPr>
        <p:txBody>
          <a:bodyPr wrap="square" lIns="0" tIns="0" rIns="0" bIns="0">
            <a:spAutoFit/>
          </a:bodyPr>
          <a:lstStyle/>
          <a:p>
            <a:pPr>
              <a:lnSpc>
                <a:spcPct val="108000"/>
              </a:lnSpc>
              <a:spcAft>
                <a:spcPts val="0"/>
              </a:spcAft>
              <a:defRPr sz="800">
                <a:solidFill>
                  <a:srgbClr val="FFFFFF"/>
                </a:solidFill>
                <a:latin typeface="Consolas"/>
              </a:defRPr>
            </a:pPr>
            <a:r>
              <a:t>Vivado Simulator v2025.1 - xelab &amp; xsim</a:t>
            </a:r>
          </a:p>
          <a:p>
            <a:pPr>
              <a:lnSpc>
                <a:spcPct val="108000"/>
              </a:lnSpc>
              <a:spcAft>
                <a:spcPts val="0"/>
              </a:spcAft>
              <a:defRPr sz="800">
                <a:solidFill>
                  <a:srgbClr val="FFFFFF"/>
                </a:solidFill>
                <a:latin typeface="Consolas"/>
              </a:defRPr>
            </a:pPr>
            <a:r>
              <a:t>Analyzing Verilog file rtl/rdm6300_picorv32_soc.v</a:t>
            </a:r>
          </a:p>
          <a:p>
            <a:pPr>
              <a:lnSpc>
                <a:spcPct val="108000"/>
              </a:lnSpc>
              <a:spcAft>
                <a:spcPts val="0"/>
              </a:spcAft>
              <a:defRPr sz="800">
                <a:solidFill>
                  <a:srgbClr val="FFFFFF"/>
                </a:solidFill>
                <a:latin typeface="Consolas"/>
              </a:defRPr>
            </a:pPr>
            <a:r>
              <a:t>Analyzing Verilog file tb/tb_uart_ping.v</a:t>
            </a:r>
          </a:p>
          <a:p>
            <a:pPr>
              <a:lnSpc>
                <a:spcPct val="108000"/>
              </a:lnSpc>
              <a:spcAft>
                <a:spcPts val="0"/>
              </a:spcAft>
              <a:defRPr sz="800">
                <a:solidFill>
                  <a:srgbClr val="FFFFFF"/>
                </a:solidFill>
                <a:latin typeface="Consolas"/>
              </a:defRPr>
            </a:pPr>
          </a:p>
          <a:p>
            <a:pPr>
              <a:lnSpc>
                <a:spcPct val="108000"/>
              </a:lnSpc>
              <a:spcAft>
                <a:spcPts val="0"/>
              </a:spcAft>
              <a:defRPr sz="800" b="1">
                <a:solidFill>
                  <a:srgbClr val="0EA5E9"/>
                </a:solidFill>
                <a:latin typeface="Consolas"/>
              </a:defRPr>
            </a:pPr>
            <a:r>
              <a:t>[BOOT] Releasing CPU Reset...</a:t>
            </a:r>
          </a:p>
          <a:p>
            <a:pPr>
              <a:lnSpc>
                <a:spcPct val="108000"/>
              </a:lnSpc>
              <a:spcAft>
                <a:spcPts val="0"/>
              </a:spcAft>
              <a:defRPr sz="800" b="1">
                <a:solidFill>
                  <a:srgbClr val="0EA5E9"/>
                </a:solidFill>
                <a:latin typeface="Consolas"/>
              </a:defRPr>
            </a:pPr>
            <a:r>
              <a:t>[BOOT] PicoRV32 woke up at 0x00250000 (Flash XIP)</a:t>
            </a:r>
          </a:p>
          <a:p>
            <a:pPr>
              <a:lnSpc>
                <a:spcPct val="108000"/>
              </a:lnSpc>
              <a:spcAft>
                <a:spcPts val="0"/>
              </a:spcAft>
              <a:defRPr sz="800" b="1">
                <a:solidFill>
                  <a:srgbClr val="0EA5E9"/>
                </a:solidFill>
                <a:latin typeface="Consolas"/>
              </a:defRPr>
            </a:pPr>
            <a:r>
              <a:t>[EXEC] Loading instructions from firmware.hex...</a:t>
            </a:r>
          </a:p>
          <a:p>
            <a:pPr>
              <a:lnSpc>
                <a:spcPct val="108000"/>
              </a:lnSpc>
              <a:spcAft>
                <a:spcPts val="0"/>
              </a:spcAft>
              <a:defRPr sz="800" b="1">
                <a:solidFill>
                  <a:srgbClr val="0EA5E9"/>
                </a:solidFill>
                <a:latin typeface="Consolas"/>
              </a:defRPr>
            </a:pPr>
            <a:r>
              <a:t>[UART] Detected Startup Banner:</a:t>
            </a:r>
          </a:p>
          <a:p>
            <a:pPr>
              <a:lnSpc>
                <a:spcPct val="108000"/>
              </a:lnSpc>
              <a:spcAft>
                <a:spcPts val="0"/>
              </a:spcAft>
              <a:defRPr sz="800">
                <a:solidFill>
                  <a:srgbClr val="FFFFFF"/>
                </a:solidFill>
                <a:latin typeface="Consolas"/>
              </a:defRPr>
            </a:pPr>
            <a:r>
              <a:t>  ================================================</a:t>
            </a:r>
          </a:p>
          <a:p>
            <a:pPr>
              <a:lnSpc>
                <a:spcPct val="108000"/>
              </a:lnSpc>
              <a:spcAft>
                <a:spcPts val="0"/>
              </a:spcAft>
              <a:defRPr sz="800">
                <a:solidFill>
                  <a:srgbClr val="FFFFFF"/>
                </a:solidFill>
                <a:latin typeface="Consolas"/>
              </a:defRPr>
            </a:pPr>
            <a:r>
              <a:t>    RDM6300 PICORV32 SOC ACCESS CONTROLLER READY  </a:t>
            </a:r>
          </a:p>
          <a:p>
            <a:pPr>
              <a:lnSpc>
                <a:spcPct val="108000"/>
              </a:lnSpc>
              <a:spcAft>
                <a:spcPts val="0"/>
              </a:spcAft>
              <a:defRPr sz="800">
                <a:solidFill>
                  <a:srgbClr val="FFFFFF"/>
                </a:solidFill>
                <a:latin typeface="Consolas"/>
              </a:defRPr>
            </a:pPr>
            <a:r>
              <a:t>  ================================================</a:t>
            </a:r>
          </a:p>
          <a:p>
            <a:pPr>
              <a:lnSpc>
                <a:spcPct val="108000"/>
              </a:lnSpc>
              <a:spcAft>
                <a:spcPts val="0"/>
              </a:spcAft>
              <a:defRPr sz="800" b="1">
                <a:solidFill>
                  <a:srgbClr val="0EA5E9"/>
                </a:solidFill>
                <a:latin typeface="Consolas"/>
              </a:defRPr>
            </a:pPr>
            <a:r>
              <a:t>[HOST] Sending Host Command: 'P' (Ping)...</a:t>
            </a:r>
          </a:p>
          <a:p>
            <a:pPr>
              <a:lnSpc>
                <a:spcPct val="108000"/>
              </a:lnSpc>
              <a:spcAft>
                <a:spcPts val="0"/>
              </a:spcAft>
              <a:defRPr sz="800">
                <a:solidFill>
                  <a:srgbClr val="FFFFFF"/>
                </a:solidFill>
                <a:latin typeface="Consolas"/>
              </a:defRPr>
            </a:pPr>
            <a:r>
              <a:t>[RECV] CPU Response received via UART:</a:t>
            </a:r>
          </a:p>
          <a:p>
            <a:pPr>
              <a:lnSpc>
                <a:spcPct val="108000"/>
              </a:lnSpc>
              <a:spcAft>
                <a:spcPts val="0"/>
              </a:spcAft>
              <a:defRPr sz="800">
                <a:solidFill>
                  <a:srgbClr val="FFFFFF"/>
                </a:solidFill>
                <a:latin typeface="Consolas"/>
              </a:defRPr>
            </a:pPr>
            <a:r>
              <a:t>  PONG: PicoRV32 Active</a:t>
            </a:r>
          </a:p>
          <a:p>
            <a:pPr>
              <a:lnSpc>
                <a:spcPct val="108000"/>
              </a:lnSpc>
              <a:spcAft>
                <a:spcPts val="0"/>
              </a:spcAft>
              <a:defRPr sz="800">
                <a:solidFill>
                  <a:srgbClr val="FFFFFF"/>
                </a:solidFill>
                <a:latin typeface="Consolas"/>
              </a:defRPr>
            </a:pPr>
            <a:r>
              <a:t>[VERIFY] String matches expected response!</a:t>
            </a:r>
          </a:p>
          <a:p>
            <a:pPr>
              <a:lnSpc>
                <a:spcPct val="108000"/>
              </a:lnSpc>
              <a:spcAft>
                <a:spcPts val="0"/>
              </a:spcAft>
              <a:defRPr sz="800">
                <a:solidFill>
                  <a:srgbClr val="FFFFFF"/>
                </a:solidFill>
                <a:latin typeface="Consolas"/>
              </a:defRPr>
            </a:pPr>
            <a:r>
              <a:t>[ASSERT] Checking cpu_trap signal...</a:t>
            </a:r>
          </a:p>
          <a:p>
            <a:pPr>
              <a:lnSpc>
                <a:spcPct val="108000"/>
              </a:lnSpc>
              <a:spcAft>
                <a:spcPts val="0"/>
              </a:spcAft>
              <a:defRPr sz="800" b="1">
                <a:solidFill>
                  <a:srgbClr val="10B981"/>
                </a:solidFill>
                <a:latin typeface="Consolas"/>
              </a:defRPr>
            </a:pPr>
            <a:r>
              <a:t>  cpu_trap == 0 (CONFIRMED: ZERO CPU TRAPS!)</a:t>
            </a:r>
          </a:p>
        </p:txBody>
      </p:sp>
      <p:sp>
        <p:nvSpPr>
          <p:cNvPr id="13" name="TextBox 12"/>
          <p:cNvSpPr txBox="1"/>
          <p:nvPr/>
        </p:nvSpPr>
        <p:spPr>
          <a:xfrm>
            <a:off x="6355080" y="5788152"/>
            <a:ext cx="4965192" cy="274320"/>
          </a:xfrm>
          <a:prstGeom prst="rect">
            <a:avLst/>
          </a:prstGeom>
          <a:noFill/>
        </p:spPr>
        <p:txBody>
          <a:bodyPr wrap="none" lIns="0" tIns="0" rIns="0" bIns="0">
            <a:spAutoFit/>
          </a:bodyPr>
          <a:lstStyle/>
          <a:p>
            <a:pPr>
              <a:defRPr sz="819" b="1">
                <a:solidFill>
                  <a:srgbClr val="10B981"/>
                </a:solidFill>
                <a:latin typeface="Segoe UI"/>
              </a:defRPr>
            </a:pPr>
            <a:r>
              <a:t>=== TOP SOC PING TESTBENCH: 100% PASS ===</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1440"/>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201168"/>
            <a:ext cx="10728655" cy="868680"/>
          </a:xfrm>
          <a:prstGeom prst="rect">
            <a:avLst/>
          </a:prstGeom>
          <a:noFill/>
        </p:spPr>
        <p:txBody>
          <a:bodyPr wrap="square" lIns="0" tIns="0" rIns="0" bIns="0">
            <a:spAutoFit/>
          </a:bodyPr>
          <a:lstStyle/>
          <a:p>
            <a:pPr>
              <a:spcAft>
                <a:spcPts val="200"/>
              </a:spcAft>
              <a:defRPr sz="1050" b="1">
                <a:solidFill>
                  <a:srgbClr val="2563EB"/>
                </a:solidFill>
                <a:latin typeface="Segoe UI"/>
              </a:defRPr>
            </a:pPr>
            <a:r>
              <a:t>TẦNG FIRMWARE C &amp; PHẦN CỨNG (BIẾN ĐỊA CHỈ 1/6)</a:t>
            </a:r>
          </a:p>
          <a:p>
            <a:pPr>
              <a:defRPr sz="1700" b="1">
                <a:solidFill>
                  <a:srgbClr val="0F172A"/>
                </a:solidFill>
                <a:latin typeface="Segoe UI"/>
              </a:defRPr>
            </a:pPr>
            <a:r>
              <a:t>Biến Địa Chỉ 1: REG_RFID_UART_DAT &amp; DIV (0x1000_0004 &amp; 0x1000_0000)</a:t>
            </a:r>
          </a:p>
        </p:txBody>
      </p:sp>
      <p:sp>
        <p:nvSpPr>
          <p:cNvPr id="5" name="Rectangle 4"/>
          <p:cNvSpPr/>
          <p:nvPr/>
        </p:nvSpPr>
        <p:spPr>
          <a:xfrm>
            <a:off x="731520" y="6446520"/>
            <a:ext cx="10728655" cy="18288"/>
          </a:xfrm>
          <a:prstGeom prst="rect">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31520" y="6492240"/>
            <a:ext cx="7315200" cy="274320"/>
          </a:xfrm>
          <a:prstGeom prst="rect">
            <a:avLst/>
          </a:prstGeom>
          <a:noFill/>
        </p:spPr>
        <p:txBody>
          <a:bodyPr wrap="none" lIns="0" tIns="0" rIns="0" bIns="0">
            <a:spAutoFit/>
          </a:bodyPr>
          <a:lstStyle/>
          <a:p>
            <a:pPr>
              <a:defRPr sz="950">
                <a:solidFill>
                  <a:srgbClr val="475569"/>
                </a:solidFill>
                <a:latin typeface="Segoe UI"/>
              </a:defRPr>
            </a:pPr>
            <a:r>
              <a:t>Đồ Án Tốt Nghiệp: SoC PicoRV32 RFID RDM6300 &amp; SPI Flash | SV: Thái Tuấn Hiệp | GVHD: ThS. Nguyễn Văn Đông</a:t>
            </a:r>
          </a:p>
        </p:txBody>
      </p:sp>
      <p:sp>
        <p:nvSpPr>
          <p:cNvPr id="7" name="TextBox 6"/>
          <p:cNvSpPr txBox="1"/>
          <p:nvPr/>
        </p:nvSpPr>
        <p:spPr>
          <a:xfrm>
            <a:off x="10058400" y="6492240"/>
            <a:ext cx="1401775" cy="274320"/>
          </a:xfrm>
          <a:prstGeom prst="rect">
            <a:avLst/>
          </a:prstGeom>
          <a:noFill/>
        </p:spPr>
        <p:txBody>
          <a:bodyPr wrap="none" lIns="0" tIns="0" rIns="0" bIns="0">
            <a:spAutoFit/>
          </a:bodyPr>
          <a:lstStyle/>
          <a:p>
            <a:pPr algn="r">
              <a:defRPr sz="950" b="1">
                <a:solidFill>
                  <a:srgbClr val="2563EB"/>
                </a:solidFill>
                <a:latin typeface="Segoe UI"/>
              </a:defRPr>
            </a:pPr>
            <a:r>
              <a:t>14 / 24</a:t>
            </a:r>
          </a:p>
        </p:txBody>
      </p:sp>
      <p:sp>
        <p:nvSpPr>
          <p:cNvPr id="8" name="Rounded Rectangle 7"/>
          <p:cNvSpPr/>
          <p:nvPr/>
        </p:nvSpPr>
        <p:spPr>
          <a:xfrm>
            <a:off x="731520" y="1188720"/>
            <a:ext cx="5257800" cy="5029200"/>
          </a:xfrm>
          <a:prstGeom prst="roundRect">
            <a:avLst/>
          </a:prstGeom>
          <a:solidFill>
            <a:srgbClr val="0B132B"/>
          </a:solidFill>
          <a:ln w="19050">
            <a:solidFill>
              <a:srgbClr val="1C254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68680" y="1261872"/>
            <a:ext cx="4983480" cy="292608"/>
          </a:xfrm>
          <a:prstGeom prst="rect">
            <a:avLst/>
          </a:prstGeom>
          <a:noFill/>
        </p:spPr>
        <p:txBody>
          <a:bodyPr wrap="none" lIns="0" tIns="0" rIns="0" bIns="0">
            <a:spAutoFit/>
          </a:bodyPr>
          <a:lstStyle/>
          <a:p>
            <a:pPr>
              <a:defRPr sz="950" b="1">
                <a:solidFill>
                  <a:srgbClr val="0EA5E9"/>
                </a:solidFill>
                <a:latin typeface="Consolas"/>
              </a:defRPr>
            </a:pPr>
            <a:r>
              <a:t>&gt;_  access_control.c &amp; soc_regs.h [RFID MMIO]</a:t>
            </a:r>
          </a:p>
        </p:txBody>
      </p:sp>
      <p:sp>
        <p:nvSpPr>
          <p:cNvPr id="10" name="TextBox 9"/>
          <p:cNvSpPr txBox="1"/>
          <p:nvPr/>
        </p:nvSpPr>
        <p:spPr>
          <a:xfrm>
            <a:off x="868680" y="1554480"/>
            <a:ext cx="4983480" cy="4315968"/>
          </a:xfrm>
          <a:prstGeom prst="rect">
            <a:avLst/>
          </a:prstGeom>
          <a:noFill/>
        </p:spPr>
        <p:txBody>
          <a:bodyPr wrap="square" lIns="0" tIns="0" rIns="0" bIns="0">
            <a:spAutoFit/>
          </a:bodyPr>
          <a:lstStyle/>
          <a:p>
            <a:pPr>
              <a:lnSpc>
                <a:spcPct val="108000"/>
              </a:lnSpc>
              <a:spcAft>
                <a:spcPts val="0"/>
              </a:spcAft>
              <a:defRPr sz="800">
                <a:solidFill>
                  <a:srgbClr val="94A3B8"/>
                </a:solidFill>
                <a:latin typeface="Consolas"/>
              </a:defRPr>
            </a:pPr>
            <a:r>
              <a:t>// firmware/common/soc_regs.h - Định nghĩa con trỏ volatile</a:t>
            </a:r>
          </a:p>
          <a:p>
            <a:pPr>
              <a:lnSpc>
                <a:spcPct val="108000"/>
              </a:lnSpc>
              <a:spcAft>
                <a:spcPts val="0"/>
              </a:spcAft>
              <a:defRPr sz="800">
                <a:solidFill>
                  <a:srgbClr val="94A3B8"/>
                </a:solidFill>
                <a:latin typeface="Consolas"/>
              </a:defRPr>
            </a:pPr>
            <a:r>
              <a:t>#define REG_RFID_UART_DIV (*(volatile uint32_t*)0x10000000) // Baud divider</a:t>
            </a:r>
          </a:p>
          <a:p>
            <a:pPr>
              <a:lnSpc>
                <a:spcPct val="108000"/>
              </a:lnSpc>
              <a:spcAft>
                <a:spcPts val="0"/>
              </a:spcAft>
              <a:defRPr sz="800">
                <a:solidFill>
                  <a:srgbClr val="94A3B8"/>
                </a:solidFill>
                <a:latin typeface="Consolas"/>
              </a:defRPr>
            </a:pPr>
            <a:r>
              <a:t>#define REG_RFID_UART_DAT (*(volatile uint32_t*)0x10000004) // RX FIFO 32B</a:t>
            </a:r>
          </a:p>
          <a:p>
            <a:pPr>
              <a:lnSpc>
                <a:spcPct val="108000"/>
              </a:lnSpc>
              <a:spcAft>
                <a:spcPts val="0"/>
              </a:spcAft>
              <a:defRPr sz="800">
                <a:solidFill>
                  <a:srgbClr val="FFFFFF"/>
                </a:solidFill>
                <a:latin typeface="Consolas"/>
              </a:defRPr>
            </a:pPr>
          </a:p>
          <a:p>
            <a:pPr>
              <a:lnSpc>
                <a:spcPct val="108000"/>
              </a:lnSpc>
              <a:spcAft>
                <a:spcPts val="0"/>
              </a:spcAft>
              <a:defRPr sz="800">
                <a:solidFill>
                  <a:srgbClr val="94A3B8"/>
                </a:solidFill>
                <a:latin typeface="Consolas"/>
              </a:defRPr>
            </a:pPr>
            <a:r>
              <a:t>// firmware/app/access_control.c - Khởi tạo bộ chia tần số</a:t>
            </a:r>
          </a:p>
          <a:p>
            <a:pPr>
              <a:lnSpc>
                <a:spcPct val="108000"/>
              </a:lnSpc>
              <a:spcAft>
                <a:spcPts val="0"/>
              </a:spcAft>
              <a:defRPr sz="800">
                <a:solidFill>
                  <a:srgbClr val="93C5FD"/>
                </a:solidFill>
                <a:latin typeface="Consolas"/>
              </a:defRPr>
            </a:pPr>
            <a:r>
              <a:t>void access_control_init(void) {</a:t>
            </a:r>
          </a:p>
          <a:p>
            <a:pPr>
              <a:lnSpc>
                <a:spcPct val="108000"/>
              </a:lnSpc>
              <a:spcAft>
                <a:spcPts val="0"/>
              </a:spcAft>
              <a:defRPr sz="800">
                <a:solidFill>
                  <a:srgbClr val="93C5FD"/>
                </a:solidFill>
                <a:latin typeface="Consolas"/>
              </a:defRPr>
            </a:pPr>
            <a:r>
              <a:t>    if (REG_RFID_UART_DIV == 0) {</a:t>
            </a:r>
          </a:p>
          <a:p>
            <a:pPr>
              <a:lnSpc>
                <a:spcPct val="108000"/>
              </a:lnSpc>
              <a:spcAft>
                <a:spcPts val="0"/>
              </a:spcAft>
              <a:defRPr sz="800">
                <a:solidFill>
                  <a:srgbClr val="FFFFFF"/>
                </a:solidFill>
                <a:latin typeface="Consolas"/>
              </a:defRPr>
            </a:pPr>
            <a:r>
              <a:t>        REG_RFID_UART_DIV = 5208; // 50 MHz / 9600 Baud = 5208</a:t>
            </a:r>
          </a:p>
          <a:p>
            <a:pPr>
              <a:lnSpc>
                <a:spcPct val="108000"/>
              </a:lnSpc>
              <a:spcAft>
                <a:spcPts val="0"/>
              </a:spcAft>
              <a:defRPr sz="800">
                <a:solidFill>
                  <a:srgbClr val="FFFFFF"/>
                </a:solidFill>
                <a:latin typeface="Consolas"/>
              </a:defRPr>
            </a:pPr>
            <a:r>
              <a:t>    }</a:t>
            </a:r>
          </a:p>
          <a:p>
            <a:pPr>
              <a:lnSpc>
                <a:spcPct val="108000"/>
              </a:lnSpc>
              <a:spcAft>
                <a:spcPts val="0"/>
              </a:spcAft>
              <a:defRPr sz="800">
                <a:solidFill>
                  <a:srgbClr val="FFFFFF"/>
                </a:solidFill>
                <a:latin typeface="Consolas"/>
              </a:defRPr>
            </a:pPr>
            <a:r>
              <a:t>    rdm6300_parser_init();</a:t>
            </a:r>
          </a:p>
          <a:p>
            <a:pPr>
              <a:lnSpc>
                <a:spcPct val="108000"/>
              </a:lnSpc>
              <a:spcAft>
                <a:spcPts val="0"/>
              </a:spcAft>
              <a:defRPr sz="800">
                <a:solidFill>
                  <a:srgbClr val="FFFFFF"/>
                </a:solidFill>
                <a:latin typeface="Consolas"/>
              </a:defRPr>
            </a:pPr>
            <a:r>
              <a:t>}</a:t>
            </a:r>
          </a:p>
          <a:p>
            <a:pPr>
              <a:lnSpc>
                <a:spcPct val="108000"/>
              </a:lnSpc>
              <a:spcAft>
                <a:spcPts val="0"/>
              </a:spcAft>
              <a:defRPr sz="800">
                <a:solidFill>
                  <a:srgbClr val="FFFFFF"/>
                </a:solidFill>
                <a:latin typeface="Consolas"/>
              </a:defRPr>
            </a:pPr>
          </a:p>
          <a:p>
            <a:pPr>
              <a:lnSpc>
                <a:spcPct val="108000"/>
              </a:lnSpc>
              <a:spcAft>
                <a:spcPts val="0"/>
              </a:spcAft>
              <a:defRPr sz="800">
                <a:solidFill>
                  <a:srgbClr val="94A3B8"/>
                </a:solidFill>
                <a:latin typeface="Consolas"/>
              </a:defRPr>
            </a:pPr>
            <a:r>
              <a:t>// firmware/app/access_control.c - Đọc không khóa từ hàng đợi FIFO</a:t>
            </a:r>
          </a:p>
          <a:p>
            <a:pPr>
              <a:lnSpc>
                <a:spcPct val="108000"/>
              </a:lnSpc>
              <a:spcAft>
                <a:spcPts val="0"/>
              </a:spcAft>
              <a:defRPr sz="800">
                <a:solidFill>
                  <a:srgbClr val="93C5FD"/>
                </a:solidFill>
                <a:latin typeface="Consolas"/>
              </a:defRPr>
            </a:pPr>
            <a:r>
              <a:t>static inline int rfid_uart_getc_nonblock(void) {</a:t>
            </a:r>
          </a:p>
          <a:p>
            <a:pPr>
              <a:lnSpc>
                <a:spcPct val="108000"/>
              </a:lnSpc>
              <a:spcAft>
                <a:spcPts val="0"/>
              </a:spcAft>
              <a:defRPr sz="800">
                <a:solidFill>
                  <a:srgbClr val="FFFFFF"/>
                </a:solidFill>
                <a:latin typeface="Consolas"/>
              </a:defRPr>
            </a:pPr>
            <a:r>
              <a:t>    uint32_t d = REG_RFID_UART_DAT; // Pop 1 byte từ RX FIFO phần cứng</a:t>
            </a:r>
          </a:p>
          <a:p>
            <a:pPr>
              <a:lnSpc>
                <a:spcPct val="108000"/>
              </a:lnSpc>
              <a:spcAft>
                <a:spcPts val="0"/>
              </a:spcAft>
              <a:defRPr sz="800">
                <a:solidFill>
                  <a:srgbClr val="93C5FD"/>
                </a:solidFill>
                <a:latin typeface="Consolas"/>
              </a:defRPr>
            </a:pPr>
            <a:r>
              <a:t>    if (d == 0xFFFFFFFF) return -1; // FIFO rỗng -&gt; Thoát ngay (0-wait)</a:t>
            </a:r>
          </a:p>
          <a:p>
            <a:pPr>
              <a:lnSpc>
                <a:spcPct val="108000"/>
              </a:lnSpc>
              <a:spcAft>
                <a:spcPts val="0"/>
              </a:spcAft>
              <a:defRPr sz="800">
                <a:solidFill>
                  <a:srgbClr val="93C5FD"/>
                </a:solidFill>
                <a:latin typeface="Consolas"/>
              </a:defRPr>
            </a:pPr>
            <a:r>
              <a:t>    return (int)(d &amp; 0xFF);         // Trả về byte dữ liệu 8-bit</a:t>
            </a:r>
          </a:p>
          <a:p>
            <a:pPr>
              <a:lnSpc>
                <a:spcPct val="108000"/>
              </a:lnSpc>
              <a:spcAft>
                <a:spcPts val="0"/>
              </a:spcAft>
              <a:defRPr sz="800">
                <a:solidFill>
                  <a:srgbClr val="FFFFFF"/>
                </a:solidFill>
                <a:latin typeface="Consolas"/>
              </a:defRPr>
            </a:pPr>
            <a:r>
              <a:t>}</a:t>
            </a:r>
          </a:p>
          <a:p>
            <a:pPr>
              <a:lnSpc>
                <a:spcPct val="108000"/>
              </a:lnSpc>
              <a:spcAft>
                <a:spcPts val="0"/>
              </a:spcAft>
              <a:defRPr sz="800">
                <a:solidFill>
                  <a:srgbClr val="FFFFFF"/>
                </a:solidFill>
                <a:latin typeface="Consolas"/>
              </a:defRPr>
            </a:pPr>
          </a:p>
          <a:p>
            <a:pPr>
              <a:lnSpc>
                <a:spcPct val="108000"/>
              </a:lnSpc>
              <a:spcAft>
                <a:spcPts val="0"/>
              </a:spcAft>
              <a:defRPr sz="800">
                <a:solidFill>
                  <a:srgbClr val="93C5FD"/>
                </a:solidFill>
                <a:latin typeface="Consolas"/>
              </a:defRPr>
            </a:pPr>
            <a:r>
              <a:t>void access_control_poll(void) {</a:t>
            </a:r>
          </a:p>
          <a:p>
            <a:pPr>
              <a:lnSpc>
                <a:spcPct val="108000"/>
              </a:lnSpc>
              <a:spcAft>
                <a:spcPts val="0"/>
              </a:spcAft>
              <a:defRPr sz="800">
                <a:solidFill>
                  <a:srgbClr val="FFFFFF"/>
                </a:solidFill>
                <a:latin typeface="Consolas"/>
              </a:defRPr>
            </a:pPr>
            <a:r>
              <a:t>    int ch;</a:t>
            </a:r>
          </a:p>
          <a:p>
            <a:pPr>
              <a:lnSpc>
                <a:spcPct val="108000"/>
              </a:lnSpc>
              <a:spcAft>
                <a:spcPts val="0"/>
              </a:spcAft>
              <a:defRPr sz="800">
                <a:solidFill>
                  <a:srgbClr val="93C5FD"/>
                </a:solidFill>
                <a:latin typeface="Consolas"/>
              </a:defRPr>
            </a:pPr>
            <a:r>
              <a:t>    while ((ch = rfid_uart_getc_nonblock()) &gt;= 0) {</a:t>
            </a:r>
          </a:p>
          <a:p>
            <a:pPr>
              <a:lnSpc>
                <a:spcPct val="108000"/>
              </a:lnSpc>
              <a:spcAft>
                <a:spcPts val="0"/>
              </a:spcAft>
              <a:defRPr sz="800">
                <a:solidFill>
                  <a:srgbClr val="FFFFFF"/>
                </a:solidFill>
                <a:latin typeface="Consolas"/>
              </a:defRPr>
            </a:pPr>
            <a:r>
              <a:t>        rdm6300_tag_t tag;</a:t>
            </a:r>
          </a:p>
          <a:p>
            <a:pPr>
              <a:lnSpc>
                <a:spcPct val="108000"/>
              </a:lnSpc>
              <a:spcAft>
                <a:spcPts val="0"/>
              </a:spcAft>
              <a:defRPr sz="800">
                <a:solidFill>
                  <a:srgbClr val="93C5FD"/>
                </a:solidFill>
                <a:latin typeface="Consolas"/>
              </a:defRPr>
            </a:pPr>
            <a:r>
              <a:t>        if (rdm6300_parse_byte((uint8_t)ch, &amp;tag))</a:t>
            </a:r>
          </a:p>
          <a:p>
            <a:pPr>
              <a:lnSpc>
                <a:spcPct val="108000"/>
              </a:lnSpc>
              <a:spcAft>
                <a:spcPts val="0"/>
              </a:spcAft>
              <a:defRPr sz="800">
                <a:solidFill>
                  <a:srgbClr val="FFFFFF"/>
                </a:solidFill>
                <a:latin typeface="Consolas"/>
              </a:defRPr>
            </a:pPr>
            <a:r>
              <a:t>            access_control_process_card(tag.tag_hex, tag.tag_hi, tag.tag_lo);</a:t>
            </a:r>
          </a:p>
          <a:p>
            <a:pPr>
              <a:lnSpc>
                <a:spcPct val="108000"/>
              </a:lnSpc>
              <a:spcAft>
                <a:spcPts val="0"/>
              </a:spcAft>
              <a:defRPr sz="800">
                <a:solidFill>
                  <a:srgbClr val="FFFFFF"/>
                </a:solidFill>
                <a:latin typeface="Consolas"/>
              </a:defRPr>
            </a:pPr>
            <a:r>
              <a:t>    }</a:t>
            </a:r>
          </a:p>
          <a:p>
            <a:pPr>
              <a:lnSpc>
                <a:spcPct val="108000"/>
              </a:lnSpc>
              <a:spcAft>
                <a:spcPts val="0"/>
              </a:spcAft>
              <a:defRPr sz="800">
                <a:solidFill>
                  <a:srgbClr val="FFFFFF"/>
                </a:solidFill>
                <a:latin typeface="Consolas"/>
              </a:defRPr>
            </a:pPr>
            <a:r>
              <a:t>}</a:t>
            </a:r>
          </a:p>
        </p:txBody>
      </p:sp>
      <p:sp>
        <p:nvSpPr>
          <p:cNvPr id="11" name="TextBox 10"/>
          <p:cNvSpPr txBox="1"/>
          <p:nvPr/>
        </p:nvSpPr>
        <p:spPr>
          <a:xfrm>
            <a:off x="868680" y="5833872"/>
            <a:ext cx="4983480" cy="274320"/>
          </a:xfrm>
          <a:prstGeom prst="rect">
            <a:avLst/>
          </a:prstGeom>
          <a:noFill/>
        </p:spPr>
        <p:txBody>
          <a:bodyPr wrap="none" lIns="0" tIns="0" rIns="0" bIns="0">
            <a:spAutoFit/>
          </a:bodyPr>
          <a:lstStyle/>
          <a:p>
            <a:pPr>
              <a:defRPr sz="819" b="1">
                <a:solidFill>
                  <a:srgbClr val="10B981"/>
                </a:solidFill>
                <a:latin typeface="Segoe UI"/>
              </a:defRPr>
            </a:pPr>
            <a:r>
              <a:t>=== READ: 0x1000_0004 -&gt; POP RX FIFO (NON-BLOCKING 1-CYCLE) ===</a:t>
            </a:r>
          </a:p>
        </p:txBody>
      </p:sp>
      <p:sp>
        <p:nvSpPr>
          <p:cNvPr id="12" name="Rounded Rectangle 11"/>
          <p:cNvSpPr/>
          <p:nvPr/>
        </p:nvSpPr>
        <p:spPr>
          <a:xfrm>
            <a:off x="6172200" y="1188720"/>
            <a:ext cx="5285232" cy="5029200"/>
          </a:xfrm>
          <a:prstGeom prst="roundRect">
            <a:avLst/>
          </a:prstGeom>
          <a:solidFill>
            <a:srgbClr val="FFFFFF"/>
          </a:solidFill>
          <a:ln w="1905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355080" y="1325880"/>
            <a:ext cx="4919472" cy="4754880"/>
          </a:xfrm>
          <a:prstGeom prst="rect">
            <a:avLst/>
          </a:prstGeom>
          <a:noFill/>
        </p:spPr>
        <p:txBody>
          <a:bodyPr wrap="square">
            <a:spAutoFit/>
          </a:bodyPr>
          <a:lstStyle/>
          <a:p>
            <a:pPr>
              <a:spcAft>
                <a:spcPts val="800"/>
              </a:spcAft>
              <a:defRPr b="1" sz="1200">
                <a:solidFill>
                  <a:srgbClr val="2563EB"/>
                </a:solidFill>
                <a:latin typeface="Segoe UI"/>
              </a:defRPr>
            </a:pPr>
            <a:r>
              <a:t>THAO TÁC &amp; MỤC ĐÍCH THIẾT KẾ ĐỊA CHỈ RFID MMIO</a:t>
            </a:r>
          </a:p>
          <a:p>
            <a:pPr>
              <a:lnSpc>
                <a:spcPct val="115000"/>
              </a:lnSpc>
              <a:spcAft>
                <a:spcPts val="500"/>
              </a:spcAft>
              <a:defRPr sz="930">
                <a:solidFill>
                  <a:srgbClr val="0F172A"/>
                </a:solidFill>
                <a:latin typeface="Segoe UI"/>
              </a:defRPr>
            </a:pPr>
            <a:r>
              <a:t>• 1. Địa chỉ vật lý phần cứng: 0x1000_0000 (Prescaler Divider) và 0x1000_0004 (RX FIFO Data) do soc_interconnect.v giải mã khi cpu_mem_addr[31:28] == 4'h1 (Slave 2: uart_mmio.v).</a:t>
            </a:r>
          </a:p>
          <a:p>
            <a:pPr>
              <a:lnSpc>
                <a:spcPct val="115000"/>
              </a:lnSpc>
              <a:spcAft>
                <a:spcPts val="500"/>
              </a:spcAft>
              <a:defRPr sz="930">
                <a:solidFill>
                  <a:srgbClr val="0F172A"/>
                </a:solidFill>
                <a:latin typeface="Segoe UI"/>
              </a:defRPr>
            </a:pPr>
            <a:r>
              <a:t>• 2. Cách thao tác trong C: • Cấu hình baudrate: Ghi giá trị 5208 (50,000,000 / 9600) vào REG_RFID_UART_DIV một lần duy nhất lúc khởi động.</a:t>
            </a:r>
            <a:br/>
            <a:r>
              <a:t>• Đọc không khóa (Non-blocking): Đọc REG_RFID_UART_DAT. Nếu d != 0xFFFFFFFF, ép kiểu lấy byte dữ liệu (d &amp; 0xFF) đưa vào máy trạng thái parser.</a:t>
            </a:r>
          </a:p>
          <a:p>
            <a:pPr>
              <a:lnSpc>
                <a:spcPct val="115000"/>
              </a:lnSpc>
              <a:spcAft>
                <a:spcPts val="500"/>
              </a:spcAft>
              <a:defRPr sz="930">
                <a:solidFill>
                  <a:srgbClr val="0F172A"/>
                </a:solidFill>
                <a:latin typeface="Segoe UI"/>
              </a:defRPr>
            </a:pPr>
            <a:r>
              <a:t>• 3. Mục đích thiết kế: Thu nhận liên tục các byte mã thẻ từ đầu đọc RFID RDM6300 125kHz qua hàng đợi phần cứng FIFO 32 bytes mà không làm gián đoạn hay treo CPU.</a:t>
            </a:r>
          </a:p>
          <a:p>
            <a:pPr>
              <a:lnSpc>
                <a:spcPct val="115000"/>
              </a:lnSpc>
              <a:spcAft>
                <a:spcPts val="500"/>
              </a:spcAft>
              <a:defRPr sz="930">
                <a:solidFill>
                  <a:srgbClr val="0F172A"/>
                </a:solidFill>
                <a:latin typeface="Segoe UI"/>
              </a:defRPr>
            </a:pPr>
            <a:r>
              <a:t>• 4. Ràng buộc &amp; Ưu điểm: Cơ chế Non-blocking giúp CPU chỉ mất đúng 1 chu kỳ clock để kiểm tra trạng thái thẻ, giải phóng thời gian cho CPU xử lý các tác vụ kiểm soát và ghi Flash.</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1440"/>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201168"/>
            <a:ext cx="10728655" cy="868680"/>
          </a:xfrm>
          <a:prstGeom prst="rect">
            <a:avLst/>
          </a:prstGeom>
          <a:noFill/>
        </p:spPr>
        <p:txBody>
          <a:bodyPr wrap="square" lIns="0" tIns="0" rIns="0" bIns="0">
            <a:spAutoFit/>
          </a:bodyPr>
          <a:lstStyle/>
          <a:p>
            <a:pPr>
              <a:spcAft>
                <a:spcPts val="200"/>
              </a:spcAft>
              <a:defRPr sz="1050" b="1">
                <a:solidFill>
                  <a:srgbClr val="2563EB"/>
                </a:solidFill>
                <a:latin typeface="Segoe UI"/>
              </a:defRPr>
            </a:pPr>
            <a:r>
              <a:t>TẦNG FIRMWARE C &amp; PHẦN CỨNG (BIẾN ĐỊA CHỈ 2/6)</a:t>
            </a:r>
          </a:p>
          <a:p>
            <a:pPr>
              <a:defRPr sz="1700" b="1">
                <a:solidFill>
                  <a:srgbClr val="0F172A"/>
                </a:solidFill>
                <a:latin typeface="Segoe UI"/>
              </a:defRPr>
            </a:pPr>
            <a:r>
              <a:t>Biến Địa Chỉ 2: REG_PC_UART_DAT &amp; DIV (0x3000_0004 &amp; 0x3000_0000)</a:t>
            </a:r>
          </a:p>
        </p:txBody>
      </p:sp>
      <p:sp>
        <p:nvSpPr>
          <p:cNvPr id="5" name="Rectangle 4"/>
          <p:cNvSpPr/>
          <p:nvPr/>
        </p:nvSpPr>
        <p:spPr>
          <a:xfrm>
            <a:off x="731520" y="6446520"/>
            <a:ext cx="10728655" cy="18288"/>
          </a:xfrm>
          <a:prstGeom prst="rect">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31520" y="6492240"/>
            <a:ext cx="7315200" cy="274320"/>
          </a:xfrm>
          <a:prstGeom prst="rect">
            <a:avLst/>
          </a:prstGeom>
          <a:noFill/>
        </p:spPr>
        <p:txBody>
          <a:bodyPr wrap="none" lIns="0" tIns="0" rIns="0" bIns="0">
            <a:spAutoFit/>
          </a:bodyPr>
          <a:lstStyle/>
          <a:p>
            <a:pPr>
              <a:defRPr sz="950">
                <a:solidFill>
                  <a:srgbClr val="475569"/>
                </a:solidFill>
                <a:latin typeface="Segoe UI"/>
              </a:defRPr>
            </a:pPr>
            <a:r>
              <a:t>Đồ Án Tốt Nghiệp: SoC PicoRV32 RFID RDM6300 &amp; SPI Flash | SV: Thái Tuấn Hiệp | GVHD: ThS. Nguyễn Văn Đông</a:t>
            </a:r>
          </a:p>
        </p:txBody>
      </p:sp>
      <p:sp>
        <p:nvSpPr>
          <p:cNvPr id="7" name="TextBox 6"/>
          <p:cNvSpPr txBox="1"/>
          <p:nvPr/>
        </p:nvSpPr>
        <p:spPr>
          <a:xfrm>
            <a:off x="10058400" y="6492240"/>
            <a:ext cx="1401775" cy="274320"/>
          </a:xfrm>
          <a:prstGeom prst="rect">
            <a:avLst/>
          </a:prstGeom>
          <a:noFill/>
        </p:spPr>
        <p:txBody>
          <a:bodyPr wrap="none" lIns="0" tIns="0" rIns="0" bIns="0">
            <a:spAutoFit/>
          </a:bodyPr>
          <a:lstStyle/>
          <a:p>
            <a:pPr algn="r">
              <a:defRPr sz="950" b="1">
                <a:solidFill>
                  <a:srgbClr val="2563EB"/>
                </a:solidFill>
                <a:latin typeface="Segoe UI"/>
              </a:defRPr>
            </a:pPr>
            <a:r>
              <a:t>15 / 24</a:t>
            </a:r>
          </a:p>
        </p:txBody>
      </p:sp>
      <p:sp>
        <p:nvSpPr>
          <p:cNvPr id="8" name="Rounded Rectangle 7"/>
          <p:cNvSpPr/>
          <p:nvPr/>
        </p:nvSpPr>
        <p:spPr>
          <a:xfrm>
            <a:off x="731520" y="1188720"/>
            <a:ext cx="5257800" cy="5029200"/>
          </a:xfrm>
          <a:prstGeom prst="roundRect">
            <a:avLst/>
          </a:prstGeom>
          <a:solidFill>
            <a:srgbClr val="0B132B"/>
          </a:solidFill>
          <a:ln w="19050">
            <a:solidFill>
              <a:srgbClr val="1C254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68680" y="1261872"/>
            <a:ext cx="4983480" cy="292608"/>
          </a:xfrm>
          <a:prstGeom prst="rect">
            <a:avLst/>
          </a:prstGeom>
          <a:noFill/>
        </p:spPr>
        <p:txBody>
          <a:bodyPr wrap="none" lIns="0" tIns="0" rIns="0" bIns="0">
            <a:spAutoFit/>
          </a:bodyPr>
          <a:lstStyle/>
          <a:p>
            <a:pPr>
              <a:defRPr sz="950" b="1">
                <a:solidFill>
                  <a:srgbClr val="FBBF24"/>
                </a:solidFill>
                <a:latin typeface="Consolas"/>
              </a:defRPr>
            </a:pPr>
            <a:r>
              <a:t>&gt;_  uart.c &amp; soc_regs.h [Host PC UART MMIO]</a:t>
            </a:r>
          </a:p>
        </p:txBody>
      </p:sp>
      <p:sp>
        <p:nvSpPr>
          <p:cNvPr id="10" name="TextBox 9"/>
          <p:cNvSpPr txBox="1"/>
          <p:nvPr/>
        </p:nvSpPr>
        <p:spPr>
          <a:xfrm>
            <a:off x="868680" y="1554480"/>
            <a:ext cx="4983480" cy="4315968"/>
          </a:xfrm>
          <a:prstGeom prst="rect">
            <a:avLst/>
          </a:prstGeom>
          <a:noFill/>
        </p:spPr>
        <p:txBody>
          <a:bodyPr wrap="square" lIns="0" tIns="0" rIns="0" bIns="0">
            <a:spAutoFit/>
          </a:bodyPr>
          <a:lstStyle/>
          <a:p>
            <a:pPr>
              <a:lnSpc>
                <a:spcPct val="108000"/>
              </a:lnSpc>
              <a:spcAft>
                <a:spcPts val="0"/>
              </a:spcAft>
              <a:defRPr sz="800">
                <a:solidFill>
                  <a:srgbClr val="94A3B8"/>
                </a:solidFill>
                <a:latin typeface="Consolas"/>
              </a:defRPr>
            </a:pPr>
            <a:r>
              <a:t>// firmware/common/soc_regs.h - Địa chỉ UART Host PC</a:t>
            </a:r>
          </a:p>
          <a:p>
            <a:pPr>
              <a:lnSpc>
                <a:spcPct val="108000"/>
              </a:lnSpc>
              <a:spcAft>
                <a:spcPts val="0"/>
              </a:spcAft>
              <a:defRPr sz="800">
                <a:solidFill>
                  <a:srgbClr val="94A3B8"/>
                </a:solidFill>
                <a:latin typeface="Consolas"/>
              </a:defRPr>
            </a:pPr>
            <a:r>
              <a:t>#define REG_PC_UART_DIV   (*(volatile uint32_t*)0x30000000)</a:t>
            </a:r>
          </a:p>
          <a:p>
            <a:pPr>
              <a:lnSpc>
                <a:spcPct val="108000"/>
              </a:lnSpc>
              <a:spcAft>
                <a:spcPts val="0"/>
              </a:spcAft>
              <a:defRPr sz="800">
                <a:solidFill>
                  <a:srgbClr val="94A3B8"/>
                </a:solidFill>
                <a:latin typeface="Consolas"/>
              </a:defRPr>
            </a:pPr>
            <a:r>
              <a:t>#define REG_PC_UART_DAT   (*(volatile uint32_t*)0x30000004)</a:t>
            </a:r>
          </a:p>
          <a:p>
            <a:pPr>
              <a:lnSpc>
                <a:spcPct val="108000"/>
              </a:lnSpc>
              <a:spcAft>
                <a:spcPts val="0"/>
              </a:spcAft>
              <a:defRPr sz="800">
                <a:solidFill>
                  <a:srgbClr val="FFFFFF"/>
                </a:solidFill>
                <a:latin typeface="Consolas"/>
              </a:defRPr>
            </a:pPr>
          </a:p>
          <a:p>
            <a:pPr>
              <a:lnSpc>
                <a:spcPct val="108000"/>
              </a:lnSpc>
              <a:spcAft>
                <a:spcPts val="0"/>
              </a:spcAft>
              <a:defRPr sz="800">
                <a:solidFill>
                  <a:srgbClr val="94A3B8"/>
                </a:solidFill>
                <a:latin typeface="Consolas"/>
              </a:defRPr>
            </a:pPr>
            <a:r>
              <a:t>// firmware/drivers/uart.c - Khởi tạo &amp; Gửi/Nhận ký tự</a:t>
            </a:r>
          </a:p>
          <a:p>
            <a:pPr>
              <a:lnSpc>
                <a:spcPct val="108000"/>
              </a:lnSpc>
              <a:spcAft>
                <a:spcPts val="0"/>
              </a:spcAft>
              <a:defRPr sz="800">
                <a:solidFill>
                  <a:srgbClr val="93C5FD"/>
                </a:solidFill>
                <a:latin typeface="Consolas"/>
              </a:defRPr>
            </a:pPr>
            <a:r>
              <a:t>void uart_init(uint32_t baud_div) {</a:t>
            </a:r>
          </a:p>
          <a:p>
            <a:pPr>
              <a:lnSpc>
                <a:spcPct val="108000"/>
              </a:lnSpc>
              <a:spcAft>
                <a:spcPts val="0"/>
              </a:spcAft>
              <a:defRPr sz="800">
                <a:solidFill>
                  <a:srgbClr val="93C5FD"/>
                </a:solidFill>
                <a:latin typeface="Consolas"/>
              </a:defRPr>
            </a:pPr>
            <a:r>
              <a:t>    if (REG_PC_UART_DIV == 0 &amp;&amp; baud_div != 0)</a:t>
            </a:r>
          </a:p>
          <a:p>
            <a:pPr>
              <a:lnSpc>
                <a:spcPct val="108000"/>
              </a:lnSpc>
              <a:spcAft>
                <a:spcPts val="0"/>
              </a:spcAft>
              <a:defRPr sz="800">
                <a:solidFill>
                  <a:srgbClr val="FFFFFF"/>
                </a:solidFill>
                <a:latin typeface="Consolas"/>
              </a:defRPr>
            </a:pPr>
            <a:r>
              <a:t>        REG_PC_UART_DIV = baud_div; // 5208 cho 9600 Baud @ 50MHz</a:t>
            </a:r>
          </a:p>
          <a:p>
            <a:pPr>
              <a:lnSpc>
                <a:spcPct val="108000"/>
              </a:lnSpc>
              <a:spcAft>
                <a:spcPts val="0"/>
              </a:spcAft>
              <a:defRPr sz="800">
                <a:solidFill>
                  <a:srgbClr val="FFFFFF"/>
                </a:solidFill>
                <a:latin typeface="Consolas"/>
              </a:defRPr>
            </a:pPr>
            <a:r>
              <a:t>}</a:t>
            </a:r>
          </a:p>
          <a:p>
            <a:pPr>
              <a:lnSpc>
                <a:spcPct val="108000"/>
              </a:lnSpc>
              <a:spcAft>
                <a:spcPts val="0"/>
              </a:spcAft>
              <a:defRPr sz="800">
                <a:solidFill>
                  <a:srgbClr val="FFFFFF"/>
                </a:solidFill>
                <a:latin typeface="Consolas"/>
              </a:defRPr>
            </a:pPr>
          </a:p>
          <a:p>
            <a:pPr>
              <a:lnSpc>
                <a:spcPct val="108000"/>
              </a:lnSpc>
              <a:spcAft>
                <a:spcPts val="0"/>
              </a:spcAft>
              <a:defRPr sz="800">
                <a:solidFill>
                  <a:srgbClr val="93C5FD"/>
                </a:solidFill>
                <a:latin typeface="Consolas"/>
              </a:defRPr>
            </a:pPr>
            <a:r>
              <a:t>void uart_putc(char c) {</a:t>
            </a:r>
          </a:p>
          <a:p>
            <a:pPr>
              <a:lnSpc>
                <a:spcPct val="108000"/>
              </a:lnSpc>
              <a:spcAft>
                <a:spcPts val="0"/>
              </a:spcAft>
              <a:defRPr sz="800">
                <a:solidFill>
                  <a:srgbClr val="FFFFFF"/>
                </a:solidFill>
                <a:latin typeface="Consolas"/>
              </a:defRPr>
            </a:pPr>
            <a:r>
              <a:t>    REG_PC_UART_DAT = (uint32_t)(uint8_t)c; // Đẩy vào TX FIFO</a:t>
            </a:r>
          </a:p>
          <a:p>
            <a:pPr>
              <a:lnSpc>
                <a:spcPct val="108000"/>
              </a:lnSpc>
              <a:spcAft>
                <a:spcPts val="0"/>
              </a:spcAft>
              <a:defRPr sz="800">
                <a:solidFill>
                  <a:srgbClr val="FFFFFF"/>
                </a:solidFill>
                <a:latin typeface="Consolas"/>
              </a:defRPr>
            </a:pPr>
            <a:r>
              <a:t>}</a:t>
            </a:r>
          </a:p>
          <a:p>
            <a:pPr>
              <a:lnSpc>
                <a:spcPct val="108000"/>
              </a:lnSpc>
              <a:spcAft>
                <a:spcPts val="0"/>
              </a:spcAft>
              <a:defRPr sz="800">
                <a:solidFill>
                  <a:srgbClr val="93C5FD"/>
                </a:solidFill>
                <a:latin typeface="Consolas"/>
              </a:defRPr>
            </a:pPr>
            <a:r>
              <a:t>void uart_puts(const char *str) {</a:t>
            </a:r>
          </a:p>
          <a:p>
            <a:pPr>
              <a:lnSpc>
                <a:spcPct val="108000"/>
              </a:lnSpc>
              <a:spcAft>
                <a:spcPts val="0"/>
              </a:spcAft>
              <a:defRPr sz="800">
                <a:solidFill>
                  <a:srgbClr val="93C5FD"/>
                </a:solidFill>
                <a:latin typeface="Consolas"/>
              </a:defRPr>
            </a:pPr>
            <a:r>
              <a:t>    while (*str) {</a:t>
            </a:r>
          </a:p>
          <a:p>
            <a:pPr>
              <a:lnSpc>
                <a:spcPct val="108000"/>
              </a:lnSpc>
              <a:spcAft>
                <a:spcPts val="0"/>
              </a:spcAft>
              <a:defRPr sz="800">
                <a:solidFill>
                  <a:srgbClr val="93C5FD"/>
                </a:solidFill>
                <a:latin typeface="Consolas"/>
              </a:defRPr>
            </a:pPr>
            <a:r>
              <a:t>        if (*str == '\n') uart_putc('\r'); // Chuẩn hóa CRLF</a:t>
            </a:r>
          </a:p>
          <a:p>
            <a:pPr>
              <a:lnSpc>
                <a:spcPct val="108000"/>
              </a:lnSpc>
              <a:spcAft>
                <a:spcPts val="0"/>
              </a:spcAft>
              <a:defRPr sz="800">
                <a:solidFill>
                  <a:srgbClr val="FFFFFF"/>
                </a:solidFill>
                <a:latin typeface="Consolas"/>
              </a:defRPr>
            </a:pPr>
            <a:r>
              <a:t>        uart_putc(*str++);</a:t>
            </a:r>
          </a:p>
          <a:p>
            <a:pPr>
              <a:lnSpc>
                <a:spcPct val="108000"/>
              </a:lnSpc>
              <a:spcAft>
                <a:spcPts val="0"/>
              </a:spcAft>
              <a:defRPr sz="800">
                <a:solidFill>
                  <a:srgbClr val="FFFFFF"/>
                </a:solidFill>
                <a:latin typeface="Consolas"/>
              </a:defRPr>
            </a:pPr>
            <a:r>
              <a:t>    }</a:t>
            </a:r>
          </a:p>
          <a:p>
            <a:pPr>
              <a:lnSpc>
                <a:spcPct val="108000"/>
              </a:lnSpc>
              <a:spcAft>
                <a:spcPts val="0"/>
              </a:spcAft>
              <a:defRPr sz="800">
                <a:solidFill>
                  <a:srgbClr val="FFFFFF"/>
                </a:solidFill>
                <a:latin typeface="Consolas"/>
              </a:defRPr>
            </a:pPr>
            <a:r>
              <a:t>}</a:t>
            </a:r>
          </a:p>
          <a:p>
            <a:pPr>
              <a:lnSpc>
                <a:spcPct val="108000"/>
              </a:lnSpc>
              <a:spcAft>
                <a:spcPts val="0"/>
              </a:spcAft>
              <a:defRPr sz="800">
                <a:solidFill>
                  <a:srgbClr val="FFFFFF"/>
                </a:solidFill>
                <a:latin typeface="Consolas"/>
              </a:defRPr>
            </a:pPr>
          </a:p>
          <a:p>
            <a:pPr>
              <a:lnSpc>
                <a:spcPct val="108000"/>
              </a:lnSpc>
              <a:spcAft>
                <a:spcPts val="0"/>
              </a:spcAft>
              <a:defRPr sz="800">
                <a:solidFill>
                  <a:srgbClr val="93C5FD"/>
                </a:solidFill>
                <a:latin typeface="Consolas"/>
              </a:defRPr>
            </a:pPr>
            <a:r>
              <a:t>int uart_getc_nonblock(void) {</a:t>
            </a:r>
          </a:p>
          <a:p>
            <a:pPr>
              <a:lnSpc>
                <a:spcPct val="108000"/>
              </a:lnSpc>
              <a:spcAft>
                <a:spcPts val="0"/>
              </a:spcAft>
              <a:defRPr sz="800">
                <a:solidFill>
                  <a:srgbClr val="FFFFFF"/>
                </a:solidFill>
                <a:latin typeface="Consolas"/>
              </a:defRPr>
            </a:pPr>
            <a:r>
              <a:t>    uint32_t d = REG_PC_UART_DAT; // Đọc từ RX FIFO Host PC</a:t>
            </a:r>
          </a:p>
          <a:p>
            <a:pPr>
              <a:lnSpc>
                <a:spcPct val="108000"/>
              </a:lnSpc>
              <a:spcAft>
                <a:spcPts val="0"/>
              </a:spcAft>
              <a:defRPr sz="800">
                <a:solidFill>
                  <a:srgbClr val="93C5FD"/>
                </a:solidFill>
                <a:latin typeface="Consolas"/>
              </a:defRPr>
            </a:pPr>
            <a:r>
              <a:t>    if (d == 0xFFFFFFFF) return -1; // Chưa có phím bấm từ PC</a:t>
            </a:r>
          </a:p>
          <a:p>
            <a:pPr>
              <a:lnSpc>
                <a:spcPct val="108000"/>
              </a:lnSpc>
              <a:spcAft>
                <a:spcPts val="0"/>
              </a:spcAft>
              <a:defRPr sz="800">
                <a:solidFill>
                  <a:srgbClr val="93C5FD"/>
                </a:solidFill>
                <a:latin typeface="Consolas"/>
              </a:defRPr>
            </a:pPr>
            <a:r>
              <a:t>    return (int)(d &amp; 0xFF);</a:t>
            </a:r>
          </a:p>
          <a:p>
            <a:pPr>
              <a:lnSpc>
                <a:spcPct val="108000"/>
              </a:lnSpc>
              <a:spcAft>
                <a:spcPts val="0"/>
              </a:spcAft>
              <a:defRPr sz="800">
                <a:solidFill>
                  <a:srgbClr val="FFFFFF"/>
                </a:solidFill>
                <a:latin typeface="Consolas"/>
              </a:defRPr>
            </a:pPr>
            <a:r>
              <a:t>}</a:t>
            </a:r>
          </a:p>
          <a:p>
            <a:pPr>
              <a:lnSpc>
                <a:spcPct val="108000"/>
              </a:lnSpc>
              <a:spcAft>
                <a:spcPts val="0"/>
              </a:spcAft>
              <a:defRPr sz="800">
                <a:solidFill>
                  <a:srgbClr val="93C5FD"/>
                </a:solidFill>
                <a:latin typeface="Consolas"/>
              </a:defRPr>
            </a:pPr>
            <a:r>
              <a:t>char uart_getc_blocking(void) {</a:t>
            </a:r>
          </a:p>
          <a:p>
            <a:pPr>
              <a:lnSpc>
                <a:spcPct val="108000"/>
              </a:lnSpc>
              <a:spcAft>
                <a:spcPts val="0"/>
              </a:spcAft>
              <a:defRPr sz="800">
                <a:solidFill>
                  <a:srgbClr val="93C5FD"/>
                </a:solidFill>
                <a:latin typeface="Consolas"/>
              </a:defRPr>
            </a:pPr>
            <a:r>
              <a:t>    int c; do { c = uart_getc_nonblock(); } while (c &lt; 0);</a:t>
            </a:r>
          </a:p>
          <a:p>
            <a:pPr>
              <a:lnSpc>
                <a:spcPct val="108000"/>
              </a:lnSpc>
              <a:spcAft>
                <a:spcPts val="0"/>
              </a:spcAft>
              <a:defRPr sz="800">
                <a:solidFill>
                  <a:srgbClr val="93C5FD"/>
                </a:solidFill>
                <a:latin typeface="Consolas"/>
              </a:defRPr>
            </a:pPr>
            <a:r>
              <a:t>    return (char)c;</a:t>
            </a:r>
          </a:p>
          <a:p>
            <a:pPr>
              <a:lnSpc>
                <a:spcPct val="108000"/>
              </a:lnSpc>
              <a:spcAft>
                <a:spcPts val="0"/>
              </a:spcAft>
              <a:defRPr sz="800">
                <a:solidFill>
                  <a:srgbClr val="FFFFFF"/>
                </a:solidFill>
                <a:latin typeface="Consolas"/>
              </a:defRPr>
            </a:pPr>
            <a:r>
              <a:t>}</a:t>
            </a:r>
          </a:p>
        </p:txBody>
      </p:sp>
      <p:sp>
        <p:nvSpPr>
          <p:cNvPr id="11" name="TextBox 10"/>
          <p:cNvSpPr txBox="1"/>
          <p:nvPr/>
        </p:nvSpPr>
        <p:spPr>
          <a:xfrm>
            <a:off x="868680" y="5833872"/>
            <a:ext cx="4983480" cy="274320"/>
          </a:xfrm>
          <a:prstGeom prst="rect">
            <a:avLst/>
          </a:prstGeom>
          <a:noFill/>
        </p:spPr>
        <p:txBody>
          <a:bodyPr wrap="none" lIns="0" tIns="0" rIns="0" bIns="0">
            <a:spAutoFit/>
          </a:bodyPr>
          <a:lstStyle/>
          <a:p>
            <a:pPr>
              <a:defRPr sz="819" b="1">
                <a:solidFill>
                  <a:srgbClr val="10B981"/>
                </a:solidFill>
                <a:latin typeface="Segoe UI"/>
              </a:defRPr>
            </a:pPr>
            <a:r>
              <a:t>=== WRITE: 0x3000_0004 -&gt; PUSH TX FIFO | READ: POP RX FIFO ===</a:t>
            </a:r>
          </a:p>
        </p:txBody>
      </p:sp>
      <p:sp>
        <p:nvSpPr>
          <p:cNvPr id="12" name="Rounded Rectangle 11"/>
          <p:cNvSpPr/>
          <p:nvPr/>
        </p:nvSpPr>
        <p:spPr>
          <a:xfrm>
            <a:off x="6172200" y="1188720"/>
            <a:ext cx="5285232" cy="5029200"/>
          </a:xfrm>
          <a:prstGeom prst="roundRect">
            <a:avLst/>
          </a:prstGeom>
          <a:solidFill>
            <a:srgbClr val="FFFFFF"/>
          </a:solidFill>
          <a:ln w="19050">
            <a:solidFill>
              <a:srgbClr val="D9770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355080" y="1325880"/>
            <a:ext cx="4919472" cy="4754880"/>
          </a:xfrm>
          <a:prstGeom prst="rect">
            <a:avLst/>
          </a:prstGeom>
          <a:noFill/>
        </p:spPr>
        <p:txBody>
          <a:bodyPr wrap="square">
            <a:spAutoFit/>
          </a:bodyPr>
          <a:lstStyle/>
          <a:p>
            <a:pPr>
              <a:spcAft>
                <a:spcPts val="800"/>
              </a:spcAft>
              <a:defRPr b="1" sz="1200">
                <a:solidFill>
                  <a:srgbClr val="D97706"/>
                </a:solidFill>
                <a:latin typeface="Segoe UI"/>
              </a:defRPr>
            </a:pPr>
            <a:r>
              <a:t>THAO TÁC &amp; MỤC ĐÍCH THIẾT KẾ ĐỊA CHỈ HOST PC UART</a:t>
            </a:r>
          </a:p>
          <a:p>
            <a:pPr>
              <a:lnSpc>
                <a:spcPct val="115000"/>
              </a:lnSpc>
              <a:spcAft>
                <a:spcPts val="500"/>
              </a:spcAft>
              <a:defRPr sz="930">
                <a:solidFill>
                  <a:srgbClr val="0F172A"/>
                </a:solidFill>
                <a:latin typeface="Segoe UI"/>
              </a:defRPr>
            </a:pPr>
            <a:r>
              <a:t>• 1. Địa chỉ vật lý phần cứng: 0x3000_0000 (Bộ chia Baudrate) và 0x3000_0004 (TX/RX FIFO Data) do soc_interconnect.v giải mã khi cpu_mem_addr[31:28] == 4'h3 (Slave 3: uart_mmio.v).</a:t>
            </a:r>
          </a:p>
          <a:p>
            <a:pPr>
              <a:lnSpc>
                <a:spcPct val="115000"/>
              </a:lnSpc>
              <a:spcAft>
                <a:spcPts val="500"/>
              </a:spcAft>
              <a:defRPr sz="930">
                <a:solidFill>
                  <a:srgbClr val="0F172A"/>
                </a:solidFill>
                <a:latin typeface="Segoe UI"/>
              </a:defRPr>
            </a:pPr>
            <a:r>
              <a:t>• 2. Cách thao tác trong C: • Ghi dữ liệu phát (TX): Gán REG_PC_UART_DAT = c. Phần cứng tự động nạp ký tự vào TX FIFO 32 bytes và phát ra chân tx_o.</a:t>
            </a:r>
            <a:br/>
            <a:r>
              <a:t>• Đọc dữ liệu nhận (RX): Đọc REG_PC_UART_DAT. Nhận lệnh điều khiển từ Host Console PC mà không bị khóa chương trình.</a:t>
            </a:r>
          </a:p>
          <a:p>
            <a:pPr>
              <a:lnSpc>
                <a:spcPct val="115000"/>
              </a:lnSpc>
              <a:spcAft>
                <a:spcPts val="500"/>
              </a:spcAft>
              <a:defRPr sz="930">
                <a:solidFill>
                  <a:srgbClr val="0F172A"/>
                </a:solidFill>
                <a:latin typeface="Segoe UI"/>
              </a:defRPr>
            </a:pPr>
            <a:r>
              <a:t>• 3. Mục đích thiết kế: Hiện thực hóa kênh truyền Full-Duplex tin cậy giữa SoC PicoRV32 và máy tính: phản hồi lệnh Ping ('PONG'), truyền log quẹt thẻ thời gian thực và nhận cấu hình nạp thẻ mới.</a:t>
            </a:r>
          </a:p>
          <a:p>
            <a:pPr>
              <a:lnSpc>
                <a:spcPct val="115000"/>
              </a:lnSpc>
              <a:spcAft>
                <a:spcPts val="500"/>
              </a:spcAft>
              <a:defRPr sz="930">
                <a:solidFill>
                  <a:srgbClr val="0F172A"/>
                </a:solidFill>
                <a:latin typeface="Segoe UI"/>
              </a:defRPr>
            </a:pPr>
            <a:r>
              <a:t>• 4. Tối ưu hóa chuỗi ký tự: Hàm uart_puts tự động chèn ký tự CR ('\r') trước LF ('\n') giúp định dạng văn bản chuẩn trên mọi Terminal (Putty, TeraTerm, Python Host Console).</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1440"/>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201168"/>
            <a:ext cx="10728655" cy="868680"/>
          </a:xfrm>
          <a:prstGeom prst="rect">
            <a:avLst/>
          </a:prstGeom>
          <a:noFill/>
        </p:spPr>
        <p:txBody>
          <a:bodyPr wrap="square" lIns="0" tIns="0" rIns="0" bIns="0">
            <a:spAutoFit/>
          </a:bodyPr>
          <a:lstStyle/>
          <a:p>
            <a:pPr>
              <a:spcAft>
                <a:spcPts val="200"/>
              </a:spcAft>
              <a:defRPr sz="1050" b="1">
                <a:solidFill>
                  <a:srgbClr val="2563EB"/>
                </a:solidFill>
                <a:latin typeface="Segoe UI"/>
              </a:defRPr>
            </a:pPr>
            <a:r>
              <a:t>TẦNG FIRMWARE C &amp; PHẦN CỨNG (BIẾN ĐỊA CHỈ 3/6)</a:t>
            </a:r>
          </a:p>
          <a:p>
            <a:pPr>
              <a:defRPr sz="1700" b="1">
                <a:solidFill>
                  <a:srgbClr val="0F172A"/>
                </a:solidFill>
                <a:latin typeface="Segoe UI"/>
              </a:defRPr>
            </a:pPr>
            <a:r>
              <a:t>Biến Địa Chỉ 3: REG_GPIO_LEDS (0x4000_0000) - Điều Khiển LED &amp; Relay</a:t>
            </a:r>
          </a:p>
        </p:txBody>
      </p:sp>
      <p:sp>
        <p:nvSpPr>
          <p:cNvPr id="5" name="Rectangle 4"/>
          <p:cNvSpPr/>
          <p:nvPr/>
        </p:nvSpPr>
        <p:spPr>
          <a:xfrm>
            <a:off x="731520" y="6446520"/>
            <a:ext cx="10728655" cy="18288"/>
          </a:xfrm>
          <a:prstGeom prst="rect">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31520" y="6492240"/>
            <a:ext cx="7315200" cy="274320"/>
          </a:xfrm>
          <a:prstGeom prst="rect">
            <a:avLst/>
          </a:prstGeom>
          <a:noFill/>
        </p:spPr>
        <p:txBody>
          <a:bodyPr wrap="none" lIns="0" tIns="0" rIns="0" bIns="0">
            <a:spAutoFit/>
          </a:bodyPr>
          <a:lstStyle/>
          <a:p>
            <a:pPr>
              <a:defRPr sz="950">
                <a:solidFill>
                  <a:srgbClr val="475569"/>
                </a:solidFill>
                <a:latin typeface="Segoe UI"/>
              </a:defRPr>
            </a:pPr>
            <a:r>
              <a:t>Đồ Án Tốt Nghiệp: SoC PicoRV32 RFID RDM6300 &amp; SPI Flash | SV: Thái Tuấn Hiệp | GVHD: ThS. Nguyễn Văn Đông</a:t>
            </a:r>
          </a:p>
        </p:txBody>
      </p:sp>
      <p:sp>
        <p:nvSpPr>
          <p:cNvPr id="7" name="TextBox 6"/>
          <p:cNvSpPr txBox="1"/>
          <p:nvPr/>
        </p:nvSpPr>
        <p:spPr>
          <a:xfrm>
            <a:off x="10058400" y="6492240"/>
            <a:ext cx="1401775" cy="274320"/>
          </a:xfrm>
          <a:prstGeom prst="rect">
            <a:avLst/>
          </a:prstGeom>
          <a:noFill/>
        </p:spPr>
        <p:txBody>
          <a:bodyPr wrap="none" lIns="0" tIns="0" rIns="0" bIns="0">
            <a:spAutoFit/>
          </a:bodyPr>
          <a:lstStyle/>
          <a:p>
            <a:pPr algn="r">
              <a:defRPr sz="950" b="1">
                <a:solidFill>
                  <a:srgbClr val="2563EB"/>
                </a:solidFill>
                <a:latin typeface="Segoe UI"/>
              </a:defRPr>
            </a:pPr>
            <a:r>
              <a:t>16 / 24</a:t>
            </a:r>
          </a:p>
        </p:txBody>
      </p:sp>
      <p:sp>
        <p:nvSpPr>
          <p:cNvPr id="8" name="Rounded Rectangle 7"/>
          <p:cNvSpPr/>
          <p:nvPr/>
        </p:nvSpPr>
        <p:spPr>
          <a:xfrm>
            <a:off x="731520" y="1188720"/>
            <a:ext cx="5257800" cy="5029200"/>
          </a:xfrm>
          <a:prstGeom prst="roundRect">
            <a:avLst/>
          </a:prstGeom>
          <a:solidFill>
            <a:srgbClr val="0B132B"/>
          </a:solidFill>
          <a:ln w="19050">
            <a:solidFill>
              <a:srgbClr val="1C254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68680" y="1261872"/>
            <a:ext cx="4983480" cy="292608"/>
          </a:xfrm>
          <a:prstGeom prst="rect">
            <a:avLst/>
          </a:prstGeom>
          <a:noFill/>
        </p:spPr>
        <p:txBody>
          <a:bodyPr wrap="none" lIns="0" tIns="0" rIns="0" bIns="0">
            <a:spAutoFit/>
          </a:bodyPr>
          <a:lstStyle/>
          <a:p>
            <a:pPr>
              <a:defRPr sz="950" b="1">
                <a:solidFill>
                  <a:srgbClr val="34D399"/>
                </a:solidFill>
                <a:latin typeface="Consolas"/>
              </a:defRPr>
            </a:pPr>
            <a:r>
              <a:t>&gt;_  access_control.c &amp; flash.c [GPIO MMIO]</a:t>
            </a:r>
          </a:p>
        </p:txBody>
      </p:sp>
      <p:sp>
        <p:nvSpPr>
          <p:cNvPr id="10" name="TextBox 9"/>
          <p:cNvSpPr txBox="1"/>
          <p:nvPr/>
        </p:nvSpPr>
        <p:spPr>
          <a:xfrm>
            <a:off x="868680" y="1554480"/>
            <a:ext cx="4983480" cy="4315968"/>
          </a:xfrm>
          <a:prstGeom prst="rect">
            <a:avLst/>
          </a:prstGeom>
          <a:noFill/>
        </p:spPr>
        <p:txBody>
          <a:bodyPr wrap="square" lIns="0" tIns="0" rIns="0" bIns="0">
            <a:spAutoFit/>
          </a:bodyPr>
          <a:lstStyle/>
          <a:p>
            <a:pPr>
              <a:lnSpc>
                <a:spcPct val="108000"/>
              </a:lnSpc>
              <a:spcAft>
                <a:spcPts val="0"/>
              </a:spcAft>
              <a:defRPr sz="800">
                <a:solidFill>
                  <a:srgbClr val="94A3B8"/>
                </a:solidFill>
                <a:latin typeface="Consolas"/>
              </a:defRPr>
            </a:pPr>
            <a:r>
              <a:t>// firmware/common/soc_regs.h</a:t>
            </a:r>
          </a:p>
          <a:p>
            <a:pPr>
              <a:lnSpc>
                <a:spcPct val="108000"/>
              </a:lnSpc>
              <a:spcAft>
                <a:spcPts val="0"/>
              </a:spcAft>
              <a:defRPr sz="800">
                <a:solidFill>
                  <a:srgbClr val="94A3B8"/>
                </a:solidFill>
                <a:latin typeface="Consolas"/>
              </a:defRPr>
            </a:pPr>
            <a:r>
              <a:t>#define REG_GPIO_LEDS (*(volatile uint32_t*)0x40000000) // 16-bit GPIO Out</a:t>
            </a:r>
          </a:p>
          <a:p>
            <a:pPr>
              <a:lnSpc>
                <a:spcPct val="108000"/>
              </a:lnSpc>
              <a:spcAft>
                <a:spcPts val="0"/>
              </a:spcAft>
              <a:defRPr sz="800">
                <a:solidFill>
                  <a:srgbClr val="FFFFFF"/>
                </a:solidFill>
                <a:latin typeface="Consolas"/>
              </a:defRPr>
            </a:pPr>
          </a:p>
          <a:p>
            <a:pPr>
              <a:lnSpc>
                <a:spcPct val="108000"/>
              </a:lnSpc>
              <a:spcAft>
                <a:spcPts val="0"/>
              </a:spcAft>
              <a:defRPr sz="800">
                <a:solidFill>
                  <a:srgbClr val="94A3B8"/>
                </a:solidFill>
                <a:latin typeface="Consolas"/>
              </a:defRPr>
            </a:pPr>
            <a:r>
              <a:t>// firmware/app/access_control.c - Bật LED xanh/đỏ theo phân quyền</a:t>
            </a:r>
          </a:p>
          <a:p>
            <a:pPr>
              <a:lnSpc>
                <a:spcPct val="108000"/>
              </a:lnSpc>
              <a:spcAft>
                <a:spcPts val="0"/>
              </a:spcAft>
              <a:defRPr sz="800">
                <a:solidFill>
                  <a:srgbClr val="93C5FD"/>
                </a:solidFill>
                <a:latin typeface="Consolas"/>
              </a:defRPr>
            </a:pPr>
            <a:r>
              <a:t>void access_control_process_card(const char *hex, uint32_t hi, uint32_t lo) {</a:t>
            </a:r>
          </a:p>
          <a:p>
            <a:pPr>
              <a:lnSpc>
                <a:spcPct val="108000"/>
              </a:lnSpc>
              <a:spcAft>
                <a:spcPts val="0"/>
              </a:spcAft>
              <a:defRPr sz="800">
                <a:solidFill>
                  <a:srgbClr val="93C5FD"/>
                </a:solidFill>
                <a:latin typeface="Consolas"/>
              </a:defRPr>
            </a:pPr>
            <a:r>
              <a:t>    if (is_granted) {</a:t>
            </a:r>
          </a:p>
          <a:p>
            <a:pPr>
              <a:lnSpc>
                <a:spcPct val="108000"/>
              </a:lnSpc>
              <a:spcAft>
                <a:spcPts val="0"/>
              </a:spcAft>
              <a:defRPr sz="800">
                <a:solidFill>
                  <a:srgbClr val="94A3B8"/>
                </a:solidFill>
                <a:latin typeface="Consolas"/>
              </a:defRPr>
            </a:pPr>
            <a:r>
              <a:t>        // Bật LED xanh (Bit 2) &amp; Kích hoạt Relay chốt điện mở cửa</a:t>
            </a:r>
          </a:p>
          <a:p>
            <a:pPr>
              <a:lnSpc>
                <a:spcPct val="108000"/>
              </a:lnSpc>
              <a:spcAft>
                <a:spcPts val="0"/>
              </a:spcAft>
              <a:defRPr sz="800">
                <a:solidFill>
                  <a:srgbClr val="FFFFFF"/>
                </a:solidFill>
                <a:latin typeface="Consolas"/>
              </a:defRPr>
            </a:pPr>
            <a:r>
              <a:t>        REG_GPIO_LEDS = (REG_GPIO_LEDS &amp; ~0x0002) | 0x0004;</a:t>
            </a:r>
          </a:p>
          <a:p>
            <a:pPr>
              <a:lnSpc>
                <a:spcPct val="108000"/>
              </a:lnSpc>
              <a:spcAft>
                <a:spcPts val="0"/>
              </a:spcAft>
              <a:defRPr sz="800">
                <a:solidFill>
                  <a:srgbClr val="FFFFFF"/>
                </a:solidFill>
                <a:latin typeface="Consolas"/>
              </a:defRPr>
            </a:pPr>
            <a:r>
              <a:t>    } else {</a:t>
            </a:r>
          </a:p>
          <a:p>
            <a:pPr>
              <a:lnSpc>
                <a:spcPct val="108000"/>
              </a:lnSpc>
              <a:spcAft>
                <a:spcPts val="0"/>
              </a:spcAft>
              <a:defRPr sz="800">
                <a:solidFill>
                  <a:srgbClr val="94A3B8"/>
                </a:solidFill>
                <a:latin typeface="Consolas"/>
              </a:defRPr>
            </a:pPr>
            <a:r>
              <a:t>        // Bật LED đỏ cảnh báo (Bit 1) từ chối truy cập</a:t>
            </a:r>
          </a:p>
          <a:p>
            <a:pPr>
              <a:lnSpc>
                <a:spcPct val="108000"/>
              </a:lnSpc>
              <a:spcAft>
                <a:spcPts val="0"/>
              </a:spcAft>
              <a:defRPr sz="800">
                <a:solidFill>
                  <a:srgbClr val="FFFFFF"/>
                </a:solidFill>
                <a:latin typeface="Consolas"/>
              </a:defRPr>
            </a:pPr>
            <a:r>
              <a:t>        REG_GPIO_LEDS = (REG_GPIO_LEDS &amp; ~0x0004) | 0x0002;</a:t>
            </a:r>
          </a:p>
          <a:p>
            <a:pPr>
              <a:lnSpc>
                <a:spcPct val="108000"/>
              </a:lnSpc>
              <a:spcAft>
                <a:spcPts val="0"/>
              </a:spcAft>
              <a:defRPr sz="800">
                <a:solidFill>
                  <a:srgbClr val="FFFFFF"/>
                </a:solidFill>
                <a:latin typeface="Consolas"/>
              </a:defRPr>
            </a:pPr>
            <a:r>
              <a:t>    }</a:t>
            </a:r>
          </a:p>
          <a:p>
            <a:pPr>
              <a:lnSpc>
                <a:spcPct val="108000"/>
              </a:lnSpc>
              <a:spcAft>
                <a:spcPts val="0"/>
              </a:spcAft>
              <a:defRPr sz="800">
                <a:solidFill>
                  <a:srgbClr val="FFFFFF"/>
                </a:solidFill>
                <a:latin typeface="Consolas"/>
              </a:defRPr>
            </a:pPr>
            <a:r>
              <a:t>}</a:t>
            </a:r>
          </a:p>
          <a:p>
            <a:pPr>
              <a:lnSpc>
                <a:spcPct val="108000"/>
              </a:lnSpc>
              <a:spcAft>
                <a:spcPts val="0"/>
              </a:spcAft>
              <a:defRPr sz="800">
                <a:solidFill>
                  <a:srgbClr val="FFFFFF"/>
                </a:solidFill>
                <a:latin typeface="Consolas"/>
              </a:defRPr>
            </a:pPr>
          </a:p>
          <a:p>
            <a:pPr>
              <a:lnSpc>
                <a:spcPct val="108000"/>
              </a:lnSpc>
              <a:spcAft>
                <a:spcPts val="0"/>
              </a:spcAft>
              <a:defRPr sz="800">
                <a:solidFill>
                  <a:srgbClr val="94A3B8"/>
                </a:solidFill>
                <a:latin typeface="Consolas"/>
              </a:defRPr>
            </a:pPr>
            <a:r>
              <a:t>// firmware/drivers/flash.c - Bật LED vàng cảnh báo Flash bận</a:t>
            </a:r>
          </a:p>
          <a:p>
            <a:pPr>
              <a:lnSpc>
                <a:spcPct val="108000"/>
              </a:lnSpc>
              <a:spcAft>
                <a:spcPts val="0"/>
              </a:spcAft>
              <a:defRPr sz="800">
                <a:solidFill>
                  <a:srgbClr val="93C5FD"/>
                </a:solidFill>
                <a:latin typeface="Consolas"/>
              </a:defRPr>
            </a:pPr>
            <a:r>
              <a:t>void flash_write_word(uint32_t addr, uint32_t data) {</a:t>
            </a:r>
          </a:p>
          <a:p>
            <a:pPr>
              <a:lnSpc>
                <a:spcPct val="108000"/>
              </a:lnSpc>
              <a:spcAft>
                <a:spcPts val="0"/>
              </a:spcAft>
              <a:defRPr sz="800">
                <a:solidFill>
                  <a:srgbClr val="FFFFFF"/>
                </a:solidFill>
                <a:latin typeface="Consolas"/>
              </a:defRPr>
            </a:pPr>
            <a:r>
              <a:t>    REG_GPIO_LEDS |= 0x0008;  // Bật LED Bit 3</a:t>
            </a:r>
          </a:p>
          <a:p>
            <a:pPr>
              <a:lnSpc>
                <a:spcPct val="108000"/>
              </a:lnSpc>
              <a:spcAft>
                <a:spcPts val="0"/>
              </a:spcAft>
              <a:defRPr sz="800">
                <a:solidFill>
                  <a:srgbClr val="FFFFFF"/>
                </a:solidFill>
                <a:latin typeface="Consolas"/>
              </a:defRPr>
            </a:pPr>
            <a:r>
              <a:t>    flashio(buf, 8, 0x06);    // Thực thi nạp Page Program</a:t>
            </a:r>
          </a:p>
          <a:p>
            <a:pPr>
              <a:lnSpc>
                <a:spcPct val="108000"/>
              </a:lnSpc>
              <a:spcAft>
                <a:spcPts val="0"/>
              </a:spcAft>
              <a:defRPr sz="800">
                <a:solidFill>
                  <a:srgbClr val="FFFFFF"/>
                </a:solidFill>
                <a:latin typeface="Consolas"/>
              </a:defRPr>
            </a:pPr>
            <a:r>
              <a:t>    REG_GPIO_LEDS &amp;= ~0x0008; // Tắt LED Bit 3 khi ghi xong</a:t>
            </a:r>
          </a:p>
          <a:p>
            <a:pPr>
              <a:lnSpc>
                <a:spcPct val="108000"/>
              </a:lnSpc>
              <a:spcAft>
                <a:spcPts val="0"/>
              </a:spcAft>
              <a:defRPr sz="800">
                <a:solidFill>
                  <a:srgbClr val="FFFFFF"/>
                </a:solidFill>
                <a:latin typeface="Consolas"/>
              </a:defRPr>
            </a:pPr>
            <a:r>
              <a:t>}</a:t>
            </a:r>
          </a:p>
          <a:p>
            <a:pPr>
              <a:lnSpc>
                <a:spcPct val="108000"/>
              </a:lnSpc>
              <a:spcAft>
                <a:spcPts val="0"/>
              </a:spcAft>
              <a:defRPr sz="800">
                <a:solidFill>
                  <a:srgbClr val="FFFFFF"/>
                </a:solidFill>
                <a:latin typeface="Consolas"/>
              </a:defRPr>
            </a:pPr>
          </a:p>
          <a:p>
            <a:pPr>
              <a:lnSpc>
                <a:spcPct val="108000"/>
              </a:lnSpc>
              <a:spcAft>
                <a:spcPts val="0"/>
              </a:spcAft>
              <a:defRPr sz="800">
                <a:solidFill>
                  <a:srgbClr val="94A3B8"/>
                </a:solidFill>
                <a:latin typeface="Consolas"/>
              </a:defRPr>
            </a:pPr>
            <a:r>
              <a:t>// firmware/main.c - Nhịp tim 1Hz chứng minh CPU đang sống</a:t>
            </a:r>
          </a:p>
          <a:p>
            <a:pPr>
              <a:lnSpc>
                <a:spcPct val="108000"/>
              </a:lnSpc>
              <a:spcAft>
                <a:spcPts val="0"/>
              </a:spcAft>
              <a:defRPr sz="800">
                <a:solidFill>
                  <a:srgbClr val="93C5FD"/>
                </a:solidFill>
                <a:latin typeface="Consolas"/>
              </a:defRPr>
            </a:pPr>
            <a:r>
              <a:t>void main_heartbeat_toggle(void) {</a:t>
            </a:r>
          </a:p>
          <a:p>
            <a:pPr>
              <a:lnSpc>
                <a:spcPct val="108000"/>
              </a:lnSpc>
              <a:spcAft>
                <a:spcPts val="0"/>
              </a:spcAft>
              <a:defRPr sz="800">
                <a:solidFill>
                  <a:srgbClr val="FFFFFF"/>
                </a:solidFill>
                <a:latin typeface="Consolas"/>
              </a:defRPr>
            </a:pPr>
            <a:r>
              <a:t>    REG_GPIO_LEDS ^= 0x0001;  // Đảo trạng thái LED Bit 0 (Heartbeat)</a:t>
            </a:r>
          </a:p>
          <a:p>
            <a:pPr>
              <a:lnSpc>
                <a:spcPct val="108000"/>
              </a:lnSpc>
              <a:spcAft>
                <a:spcPts val="0"/>
              </a:spcAft>
              <a:defRPr sz="800">
                <a:solidFill>
                  <a:srgbClr val="FFFFFF"/>
                </a:solidFill>
                <a:latin typeface="Consolas"/>
              </a:defRPr>
            </a:pPr>
            <a:r>
              <a:t>}</a:t>
            </a:r>
          </a:p>
        </p:txBody>
      </p:sp>
      <p:sp>
        <p:nvSpPr>
          <p:cNvPr id="11" name="TextBox 10"/>
          <p:cNvSpPr txBox="1"/>
          <p:nvPr/>
        </p:nvSpPr>
        <p:spPr>
          <a:xfrm>
            <a:off x="868680" y="5833872"/>
            <a:ext cx="4983480" cy="274320"/>
          </a:xfrm>
          <a:prstGeom prst="rect">
            <a:avLst/>
          </a:prstGeom>
          <a:noFill/>
        </p:spPr>
        <p:txBody>
          <a:bodyPr wrap="none" lIns="0" tIns="0" rIns="0" bIns="0">
            <a:spAutoFit/>
          </a:bodyPr>
          <a:lstStyle/>
          <a:p>
            <a:pPr>
              <a:defRPr sz="819" b="1">
                <a:solidFill>
                  <a:srgbClr val="10B981"/>
                </a:solidFill>
                <a:latin typeface="Segoe UI"/>
              </a:defRPr>
            </a:pPr>
            <a:r>
              <a:t>=== WRITE: 0x4000_0000 -&gt; 16-BIT PARALLEL GPIO OUT (1-CYCLE) ===</a:t>
            </a:r>
          </a:p>
        </p:txBody>
      </p:sp>
      <p:sp>
        <p:nvSpPr>
          <p:cNvPr id="12" name="Rounded Rectangle 11"/>
          <p:cNvSpPr/>
          <p:nvPr/>
        </p:nvSpPr>
        <p:spPr>
          <a:xfrm>
            <a:off x="6172200" y="1188720"/>
            <a:ext cx="5285232" cy="5029200"/>
          </a:xfrm>
          <a:prstGeom prst="roundRect">
            <a:avLst/>
          </a:prstGeom>
          <a:solidFill>
            <a:srgbClr val="FFFFFF"/>
          </a:solidFill>
          <a:ln w="19050">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355080" y="1325880"/>
            <a:ext cx="4919472" cy="4754880"/>
          </a:xfrm>
          <a:prstGeom prst="rect">
            <a:avLst/>
          </a:prstGeom>
          <a:noFill/>
        </p:spPr>
        <p:txBody>
          <a:bodyPr wrap="square">
            <a:spAutoFit/>
          </a:bodyPr>
          <a:lstStyle/>
          <a:p>
            <a:pPr>
              <a:spcAft>
                <a:spcPts val="800"/>
              </a:spcAft>
              <a:defRPr b="1" sz="1200">
                <a:solidFill>
                  <a:srgbClr val="10B981"/>
                </a:solidFill>
                <a:latin typeface="Segoe UI"/>
              </a:defRPr>
            </a:pPr>
            <a:r>
              <a:t>THAO TÁC BITMASK &amp; MỤC ĐÍCH ĐIỀU KHIỂN GPIO</a:t>
            </a:r>
          </a:p>
          <a:p>
            <a:pPr>
              <a:lnSpc>
                <a:spcPct val="115000"/>
              </a:lnSpc>
              <a:spcAft>
                <a:spcPts val="500"/>
              </a:spcAft>
              <a:defRPr sz="930">
                <a:solidFill>
                  <a:srgbClr val="0F172A"/>
                </a:solidFill>
                <a:latin typeface="Segoe UI"/>
              </a:defRPr>
            </a:pPr>
            <a:r>
              <a:t>• 1. Địa chỉ vật lý phần cứng: 0x4000_0000 do soc_interconnect.v giải mã khi cpu_mem_addr[31:28] == 4'h4 (Slave 4: soc_gpio_mmio.v). Xuất tín hiệu ra 16 chân LED và Relay.</a:t>
            </a:r>
          </a:p>
          <a:p>
            <a:pPr>
              <a:lnSpc>
                <a:spcPct val="115000"/>
              </a:lnSpc>
              <a:spcAft>
                <a:spcPts val="500"/>
              </a:spcAft>
              <a:defRPr sz="930">
                <a:solidFill>
                  <a:srgbClr val="0F172A"/>
                </a:solidFill>
                <a:latin typeface="Segoe UI"/>
              </a:defRPr>
            </a:pPr>
            <a:r>
              <a:t>• 2. Phép toán Bitmask chuẩn mực: • Bit 0 (0x0001): LED nhịp tim (Heartbeat 1 Hz), đảo trạng thái bằng phép ^= 0x0001.</a:t>
            </a:r>
            <a:br/>
            <a:r>
              <a:t>• Bit 1 (0x0002): LED đỏ cảnh báo từ chối quẹt thẻ (Access Denied).</a:t>
            </a:r>
            <a:br/>
            <a:r>
              <a:t>• Bit 2 (0x0004): LED xanh mở cửa &amp; kích hoạt Relay chốt điện từ (Access Granted).</a:t>
            </a:r>
            <a:br/>
            <a:r>
              <a:t>• Bit 3 (0x0008): LED vàng cảnh báo chip Flash đang bận xóa/ghi sector.</a:t>
            </a:r>
          </a:p>
          <a:p>
            <a:pPr>
              <a:lnSpc>
                <a:spcPct val="115000"/>
              </a:lnSpc>
              <a:spcAft>
                <a:spcPts val="500"/>
              </a:spcAft>
              <a:defRPr sz="930">
                <a:solidFill>
                  <a:srgbClr val="0F172A"/>
                </a:solidFill>
                <a:latin typeface="Segoe UI"/>
              </a:defRPr>
            </a:pPr>
            <a:r>
              <a:t>• 3. Mục đích thiết kế: Điều khiển cơ cấu chấp hành vật lý mở khóa cửa tại chỗ và cung cấp kênh chỉ thị thị giác trực quan về trạng thái hoạt động của toàn bộ hệ thống.</a:t>
            </a:r>
          </a:p>
          <a:p>
            <a:pPr>
              <a:lnSpc>
                <a:spcPct val="115000"/>
              </a:lnSpc>
              <a:spcAft>
                <a:spcPts val="500"/>
              </a:spcAft>
              <a:defRPr sz="930">
                <a:solidFill>
                  <a:srgbClr val="0F172A"/>
                </a:solidFill>
                <a:latin typeface="Segoe UI"/>
              </a:defRPr>
            </a:pPr>
            <a:r>
              <a:t>• 4. Tính an toàn thời gian thực: Thao tác ghi GPIO hoàn tất trong 1 chu kỳ clock (20ns), không tạo độ trễ đối với luồng quét thẻ.</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1440"/>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201168"/>
            <a:ext cx="10728655" cy="868680"/>
          </a:xfrm>
          <a:prstGeom prst="rect">
            <a:avLst/>
          </a:prstGeom>
          <a:noFill/>
        </p:spPr>
        <p:txBody>
          <a:bodyPr wrap="square" lIns="0" tIns="0" rIns="0" bIns="0">
            <a:spAutoFit/>
          </a:bodyPr>
          <a:lstStyle/>
          <a:p>
            <a:pPr>
              <a:spcAft>
                <a:spcPts val="200"/>
              </a:spcAft>
              <a:defRPr sz="1050" b="1">
                <a:solidFill>
                  <a:srgbClr val="2563EB"/>
                </a:solidFill>
                <a:latin typeface="Segoe UI"/>
              </a:defRPr>
            </a:pPr>
            <a:r>
              <a:t>TẦNG FIRMWARE C &amp; PHẦN CỨNG (BIẾN ĐỊA CHỈ 4/6)</a:t>
            </a:r>
          </a:p>
          <a:p>
            <a:pPr>
              <a:defRPr sz="1700" b="1">
                <a:solidFill>
                  <a:srgbClr val="0F172A"/>
                </a:solidFill>
                <a:latin typeface="Segoe UI"/>
              </a:defRPr>
            </a:pPr>
            <a:r>
              <a:t>Biến Địa Chỉ 4: USER_FLASH_ADDR (0x0030_0000 - Sector 48 Whitelist)</a:t>
            </a:r>
          </a:p>
        </p:txBody>
      </p:sp>
      <p:sp>
        <p:nvSpPr>
          <p:cNvPr id="5" name="Rectangle 4"/>
          <p:cNvSpPr/>
          <p:nvPr/>
        </p:nvSpPr>
        <p:spPr>
          <a:xfrm>
            <a:off x="731520" y="6446520"/>
            <a:ext cx="10728655" cy="18288"/>
          </a:xfrm>
          <a:prstGeom prst="rect">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31520" y="6492240"/>
            <a:ext cx="7315200" cy="274320"/>
          </a:xfrm>
          <a:prstGeom prst="rect">
            <a:avLst/>
          </a:prstGeom>
          <a:noFill/>
        </p:spPr>
        <p:txBody>
          <a:bodyPr wrap="none" lIns="0" tIns="0" rIns="0" bIns="0">
            <a:spAutoFit/>
          </a:bodyPr>
          <a:lstStyle/>
          <a:p>
            <a:pPr>
              <a:defRPr sz="950">
                <a:solidFill>
                  <a:srgbClr val="475569"/>
                </a:solidFill>
                <a:latin typeface="Segoe UI"/>
              </a:defRPr>
            </a:pPr>
            <a:r>
              <a:t>Đồ Án Tốt Nghiệp: SoC PicoRV32 RFID RDM6300 &amp; SPI Flash | SV: Thái Tuấn Hiệp | GVHD: ThS. Nguyễn Văn Đông</a:t>
            </a:r>
          </a:p>
        </p:txBody>
      </p:sp>
      <p:sp>
        <p:nvSpPr>
          <p:cNvPr id="7" name="TextBox 6"/>
          <p:cNvSpPr txBox="1"/>
          <p:nvPr/>
        </p:nvSpPr>
        <p:spPr>
          <a:xfrm>
            <a:off x="10058400" y="6492240"/>
            <a:ext cx="1401775" cy="274320"/>
          </a:xfrm>
          <a:prstGeom prst="rect">
            <a:avLst/>
          </a:prstGeom>
          <a:noFill/>
        </p:spPr>
        <p:txBody>
          <a:bodyPr wrap="none" lIns="0" tIns="0" rIns="0" bIns="0">
            <a:spAutoFit/>
          </a:bodyPr>
          <a:lstStyle/>
          <a:p>
            <a:pPr algn="r">
              <a:defRPr sz="950" b="1">
                <a:solidFill>
                  <a:srgbClr val="2563EB"/>
                </a:solidFill>
                <a:latin typeface="Segoe UI"/>
              </a:defRPr>
            </a:pPr>
            <a:r>
              <a:t>17 / 24</a:t>
            </a:r>
          </a:p>
        </p:txBody>
      </p:sp>
      <p:sp>
        <p:nvSpPr>
          <p:cNvPr id="8" name="Rounded Rectangle 7"/>
          <p:cNvSpPr/>
          <p:nvPr/>
        </p:nvSpPr>
        <p:spPr>
          <a:xfrm>
            <a:off x="731520" y="1188720"/>
            <a:ext cx="5257800" cy="5029200"/>
          </a:xfrm>
          <a:prstGeom prst="roundRect">
            <a:avLst/>
          </a:prstGeom>
          <a:solidFill>
            <a:srgbClr val="0B132B"/>
          </a:solidFill>
          <a:ln w="19050">
            <a:solidFill>
              <a:srgbClr val="1C254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68680" y="1261872"/>
            <a:ext cx="4983480" cy="292608"/>
          </a:xfrm>
          <a:prstGeom prst="rect">
            <a:avLst/>
          </a:prstGeom>
          <a:noFill/>
        </p:spPr>
        <p:txBody>
          <a:bodyPr wrap="none" lIns="0" tIns="0" rIns="0" bIns="0">
            <a:spAutoFit/>
          </a:bodyPr>
          <a:lstStyle/>
          <a:p>
            <a:pPr>
              <a:defRPr sz="950" b="1">
                <a:solidFill>
                  <a:srgbClr val="0EA5E9"/>
                </a:solidFill>
                <a:latin typeface="Consolas"/>
              </a:defRPr>
            </a:pPr>
            <a:r>
              <a:t>&gt;_  flash.c &amp; soc_regs.h [Tag Whitelist Sector 48]</a:t>
            </a:r>
          </a:p>
        </p:txBody>
      </p:sp>
      <p:sp>
        <p:nvSpPr>
          <p:cNvPr id="10" name="TextBox 9"/>
          <p:cNvSpPr txBox="1"/>
          <p:nvPr/>
        </p:nvSpPr>
        <p:spPr>
          <a:xfrm>
            <a:off x="868680" y="1554480"/>
            <a:ext cx="4983480" cy="4315968"/>
          </a:xfrm>
          <a:prstGeom prst="rect">
            <a:avLst/>
          </a:prstGeom>
          <a:noFill/>
        </p:spPr>
        <p:txBody>
          <a:bodyPr wrap="square" lIns="0" tIns="0" rIns="0" bIns="0">
            <a:spAutoFit/>
          </a:bodyPr>
          <a:lstStyle/>
          <a:p>
            <a:pPr>
              <a:lnSpc>
                <a:spcPct val="108000"/>
              </a:lnSpc>
              <a:spcAft>
                <a:spcPts val="0"/>
              </a:spcAft>
              <a:defRPr sz="800">
                <a:solidFill>
                  <a:srgbClr val="94A3B8"/>
                </a:solidFill>
                <a:latin typeface="Consolas"/>
              </a:defRPr>
            </a:pPr>
            <a:r>
              <a:t>// firmware/common/soc_regs.h - Vùng Whitelist Sector 48</a:t>
            </a:r>
          </a:p>
          <a:p>
            <a:pPr>
              <a:lnSpc>
                <a:spcPct val="108000"/>
              </a:lnSpc>
              <a:spcAft>
                <a:spcPts val="0"/>
              </a:spcAft>
              <a:defRPr sz="800">
                <a:solidFill>
                  <a:srgbClr val="94A3B8"/>
                </a:solidFill>
                <a:latin typeface="Consolas"/>
              </a:defRPr>
            </a:pPr>
            <a:r>
              <a:t>#define USER_FLASH_ADDR    0x300000   // Sector 48 (64KB)</a:t>
            </a:r>
          </a:p>
          <a:p>
            <a:pPr>
              <a:lnSpc>
                <a:spcPct val="108000"/>
              </a:lnSpc>
              <a:spcAft>
                <a:spcPts val="0"/>
              </a:spcAft>
              <a:defRPr sz="800">
                <a:solidFill>
                  <a:srgbClr val="94A3B8"/>
                </a:solidFill>
                <a:latin typeface="Consolas"/>
              </a:defRPr>
            </a:pPr>
            <a:r>
              <a:t>#define FLASH_SLOT_SIZE    16         // 16 bytes per tag record</a:t>
            </a:r>
          </a:p>
          <a:p>
            <a:pPr>
              <a:lnSpc>
                <a:spcPct val="108000"/>
              </a:lnSpc>
              <a:spcAft>
                <a:spcPts val="0"/>
              </a:spcAft>
              <a:defRPr sz="800">
                <a:solidFill>
                  <a:srgbClr val="94A3B8"/>
                </a:solidFill>
                <a:latin typeface="Consolas"/>
              </a:defRPr>
            </a:pPr>
            <a:r>
              <a:t>#define MAX_TAG_SLOTS      4096       // Tối đa 4096 thẻ</a:t>
            </a:r>
          </a:p>
          <a:p>
            <a:pPr>
              <a:lnSpc>
                <a:spcPct val="108000"/>
              </a:lnSpc>
              <a:spcAft>
                <a:spcPts val="0"/>
              </a:spcAft>
              <a:defRPr sz="800">
                <a:solidFill>
                  <a:srgbClr val="94A3B8"/>
                </a:solidFill>
                <a:latin typeface="Consolas"/>
              </a:defRPr>
            </a:pPr>
            <a:r>
              <a:t>#define FLASH_RECORD_MAGIC 0x52464944 // ASCII 'RFID'</a:t>
            </a:r>
          </a:p>
          <a:p>
            <a:pPr>
              <a:lnSpc>
                <a:spcPct val="108000"/>
              </a:lnSpc>
              <a:spcAft>
                <a:spcPts val="0"/>
              </a:spcAft>
              <a:defRPr sz="800">
                <a:solidFill>
                  <a:srgbClr val="FFFFFF"/>
                </a:solidFill>
                <a:latin typeface="Consolas"/>
              </a:defRPr>
            </a:pPr>
          </a:p>
          <a:p>
            <a:pPr>
              <a:lnSpc>
                <a:spcPct val="108000"/>
              </a:lnSpc>
              <a:spcAft>
                <a:spcPts val="0"/>
              </a:spcAft>
              <a:defRPr sz="800">
                <a:solidFill>
                  <a:srgbClr val="94A3B8"/>
                </a:solidFill>
                <a:latin typeface="Consolas"/>
              </a:defRPr>
            </a:pPr>
            <a:r>
              <a:t>// firmware/drivers/flash.c - Tra cứu thẻ Whitelist qua XIP</a:t>
            </a:r>
          </a:p>
          <a:p>
            <a:pPr>
              <a:lnSpc>
                <a:spcPct val="108000"/>
              </a:lnSpc>
              <a:spcAft>
                <a:spcPts val="0"/>
              </a:spcAft>
              <a:defRPr sz="800">
                <a:solidFill>
                  <a:srgbClr val="FFFFFF"/>
                </a:solidFill>
                <a:latin typeface="Consolas"/>
              </a:defRPr>
            </a:pPr>
            <a:r>
              <a:t>int flash_find_tag(uint32_t hi, uint32_t lo) {</a:t>
            </a:r>
          </a:p>
          <a:p>
            <a:pPr>
              <a:lnSpc>
                <a:spcPct val="108000"/>
              </a:lnSpc>
              <a:spcAft>
                <a:spcPts val="0"/>
              </a:spcAft>
              <a:defRPr sz="800">
                <a:solidFill>
                  <a:srgbClr val="93C5FD"/>
                </a:solidFill>
                <a:latin typeface="Consolas"/>
              </a:defRPr>
            </a:pPr>
            <a:r>
              <a:t>    for (int slot = 0; slot &lt; MAX_TAG_SLOTS; slot++) {</a:t>
            </a:r>
          </a:p>
          <a:p>
            <a:pPr>
              <a:lnSpc>
                <a:spcPct val="108000"/>
              </a:lnSpc>
              <a:spcAft>
                <a:spcPts val="0"/>
              </a:spcAft>
              <a:defRPr sz="800">
                <a:solidFill>
                  <a:srgbClr val="FFFFFF"/>
                </a:solidFill>
                <a:latin typeface="Consolas"/>
              </a:defRPr>
            </a:pPr>
            <a:r>
              <a:t>        uint32_t addr = USER_FLASH_ADDR + (uint32_t)(slot * 16);</a:t>
            </a:r>
          </a:p>
          <a:p>
            <a:pPr>
              <a:lnSpc>
                <a:spcPct val="108000"/>
              </a:lnSpc>
              <a:spcAft>
                <a:spcPts val="0"/>
              </a:spcAft>
              <a:defRPr sz="800">
                <a:solidFill>
                  <a:srgbClr val="FFFFFF"/>
                </a:solidFill>
                <a:latin typeface="Consolas"/>
              </a:defRPr>
            </a:pPr>
            <a:r>
              <a:t>        uint32_t magic = flash_read_word(addr); // Đọc XIP trực tiếp</a:t>
            </a:r>
          </a:p>
          <a:p>
            <a:pPr>
              <a:lnSpc>
                <a:spcPct val="108000"/>
              </a:lnSpc>
              <a:spcAft>
                <a:spcPts val="0"/>
              </a:spcAft>
              <a:defRPr sz="800">
                <a:solidFill>
                  <a:srgbClr val="93C5FD"/>
                </a:solidFill>
                <a:latin typeface="Consolas"/>
              </a:defRPr>
            </a:pPr>
            <a:r>
              <a:t>        if (magic == 0xFFFFFFFF) return -1;    // Vùng trống -&gt; Dừng ngay</a:t>
            </a:r>
          </a:p>
          <a:p>
            <a:pPr>
              <a:lnSpc>
                <a:spcPct val="108000"/>
              </a:lnSpc>
              <a:spcAft>
                <a:spcPts val="0"/>
              </a:spcAft>
              <a:defRPr sz="800">
                <a:solidFill>
                  <a:srgbClr val="93C5FD"/>
                </a:solidFill>
                <a:latin typeface="Consolas"/>
              </a:defRPr>
            </a:pPr>
            <a:r>
              <a:t>        if (magic == FLASH_RECORD_MAGIC) {</a:t>
            </a:r>
          </a:p>
          <a:p>
            <a:pPr>
              <a:lnSpc>
                <a:spcPct val="108000"/>
              </a:lnSpc>
              <a:spcAft>
                <a:spcPts val="0"/>
              </a:spcAft>
              <a:defRPr sz="800">
                <a:solidFill>
                  <a:srgbClr val="FFFFFF"/>
                </a:solidFill>
                <a:latin typeface="Consolas"/>
              </a:defRPr>
            </a:pPr>
            <a:r>
              <a:t>            uint32_t s_hi = flash_read_word(addr + 4);</a:t>
            </a:r>
          </a:p>
          <a:p>
            <a:pPr>
              <a:lnSpc>
                <a:spcPct val="108000"/>
              </a:lnSpc>
              <a:spcAft>
                <a:spcPts val="0"/>
              </a:spcAft>
              <a:defRPr sz="800">
                <a:solidFill>
                  <a:srgbClr val="FFFFFF"/>
                </a:solidFill>
                <a:latin typeface="Consolas"/>
              </a:defRPr>
            </a:pPr>
            <a:r>
              <a:t>            uint32_t s_lo = flash_read_word(addr + 8);</a:t>
            </a:r>
          </a:p>
          <a:p>
            <a:pPr>
              <a:lnSpc>
                <a:spcPct val="108000"/>
              </a:lnSpc>
              <a:spcAft>
                <a:spcPts val="0"/>
              </a:spcAft>
              <a:defRPr sz="800">
                <a:solidFill>
                  <a:srgbClr val="93C5FD"/>
                </a:solidFill>
                <a:latin typeface="Consolas"/>
              </a:defRPr>
            </a:pPr>
            <a:r>
              <a:t>            if (s_hi == hi &amp;&amp; s_lo == lo) return slot; // Khớp thẻ!</a:t>
            </a:r>
          </a:p>
          <a:p>
            <a:pPr>
              <a:lnSpc>
                <a:spcPct val="108000"/>
              </a:lnSpc>
              <a:spcAft>
                <a:spcPts val="0"/>
              </a:spcAft>
              <a:defRPr sz="800">
                <a:solidFill>
                  <a:srgbClr val="FFFFFF"/>
                </a:solidFill>
                <a:latin typeface="Consolas"/>
              </a:defRPr>
            </a:pPr>
            <a:r>
              <a:t>        }</a:t>
            </a:r>
          </a:p>
          <a:p>
            <a:pPr>
              <a:lnSpc>
                <a:spcPct val="108000"/>
              </a:lnSpc>
              <a:spcAft>
                <a:spcPts val="0"/>
              </a:spcAft>
              <a:defRPr sz="800">
                <a:solidFill>
                  <a:srgbClr val="FFFFFF"/>
                </a:solidFill>
                <a:latin typeface="Consolas"/>
              </a:defRPr>
            </a:pPr>
            <a:r>
              <a:t>    }</a:t>
            </a:r>
          </a:p>
          <a:p>
            <a:pPr>
              <a:lnSpc>
                <a:spcPct val="108000"/>
              </a:lnSpc>
              <a:spcAft>
                <a:spcPts val="0"/>
              </a:spcAft>
              <a:defRPr sz="800">
                <a:solidFill>
                  <a:srgbClr val="93C5FD"/>
                </a:solidFill>
                <a:latin typeface="Consolas"/>
              </a:defRPr>
            </a:pPr>
            <a:r>
              <a:t>    return -1;</a:t>
            </a:r>
          </a:p>
          <a:p>
            <a:pPr>
              <a:lnSpc>
                <a:spcPct val="108000"/>
              </a:lnSpc>
              <a:spcAft>
                <a:spcPts val="0"/>
              </a:spcAft>
              <a:defRPr sz="800">
                <a:solidFill>
                  <a:srgbClr val="FFFFFF"/>
                </a:solidFill>
                <a:latin typeface="Consolas"/>
              </a:defRPr>
            </a:pPr>
            <a:r>
              <a:t>}</a:t>
            </a:r>
          </a:p>
          <a:p>
            <a:pPr>
              <a:lnSpc>
                <a:spcPct val="108000"/>
              </a:lnSpc>
              <a:spcAft>
                <a:spcPts val="0"/>
              </a:spcAft>
              <a:defRPr sz="800">
                <a:solidFill>
                  <a:srgbClr val="94A3B8"/>
                </a:solidFill>
                <a:latin typeface="Consolas"/>
              </a:defRPr>
            </a:pPr>
            <a:r>
              <a:t>// firmware/drivers/flash.c - Lưu thẻ mới vào Flash</a:t>
            </a:r>
          </a:p>
          <a:p>
            <a:pPr>
              <a:lnSpc>
                <a:spcPct val="108000"/>
              </a:lnSpc>
              <a:spcAft>
                <a:spcPts val="0"/>
              </a:spcAft>
              <a:defRPr sz="800">
                <a:solidFill>
                  <a:srgbClr val="FFFFFF"/>
                </a:solidFill>
                <a:latin typeface="Consolas"/>
              </a:defRPr>
            </a:pPr>
            <a:r>
              <a:t>int flash_save_tag(uint32_t hi, uint32_t lo, int *out_slot) {</a:t>
            </a:r>
          </a:p>
          <a:p>
            <a:pPr>
              <a:lnSpc>
                <a:spcPct val="108000"/>
              </a:lnSpc>
              <a:spcAft>
                <a:spcPts val="0"/>
              </a:spcAft>
              <a:defRPr sz="800">
                <a:solidFill>
                  <a:srgbClr val="FFFFFF"/>
                </a:solidFill>
                <a:latin typeface="Consolas"/>
              </a:defRPr>
            </a:pPr>
            <a:r>
              <a:t>    int slot = flash_find_empty_tag_slot();</a:t>
            </a:r>
          </a:p>
          <a:p>
            <a:pPr>
              <a:lnSpc>
                <a:spcPct val="108000"/>
              </a:lnSpc>
              <a:spcAft>
                <a:spcPts val="0"/>
              </a:spcAft>
              <a:defRPr sz="800">
                <a:solidFill>
                  <a:srgbClr val="FFFFFF"/>
                </a:solidFill>
                <a:latin typeface="Consolas"/>
              </a:defRPr>
            </a:pPr>
            <a:r>
              <a:t>    uint32_t addr = USER_FLASH_ADDR + (uint32_t)(slot * 16);</a:t>
            </a:r>
          </a:p>
          <a:p>
            <a:pPr>
              <a:lnSpc>
                <a:spcPct val="108000"/>
              </a:lnSpc>
              <a:spcAft>
                <a:spcPts val="0"/>
              </a:spcAft>
              <a:defRPr sz="800">
                <a:solidFill>
                  <a:srgbClr val="FFFFFF"/>
                </a:solidFill>
                <a:latin typeface="Consolas"/>
              </a:defRPr>
            </a:pPr>
            <a:r>
              <a:t>    flash_write_word(addr + 4, hi);  flash_write_word(addr + 8, lo);</a:t>
            </a:r>
          </a:p>
          <a:p>
            <a:pPr>
              <a:lnSpc>
                <a:spcPct val="108000"/>
              </a:lnSpc>
              <a:spcAft>
                <a:spcPts val="0"/>
              </a:spcAft>
              <a:defRPr sz="800">
                <a:solidFill>
                  <a:srgbClr val="FFFFFF"/>
                </a:solidFill>
                <a:latin typeface="Consolas"/>
              </a:defRPr>
            </a:pPr>
            <a:r>
              <a:t>    flash_write_word(addr + 12, hi ^ lo);</a:t>
            </a:r>
          </a:p>
          <a:p>
            <a:pPr>
              <a:lnSpc>
                <a:spcPct val="108000"/>
              </a:lnSpc>
              <a:spcAft>
                <a:spcPts val="0"/>
              </a:spcAft>
              <a:defRPr sz="800">
                <a:solidFill>
                  <a:srgbClr val="FFFFFF"/>
                </a:solidFill>
                <a:latin typeface="Consolas"/>
              </a:defRPr>
            </a:pPr>
            <a:r>
              <a:t>    flash_write_word(addr + 0, FLASH_RECORD_MAGIC); // Commit</a:t>
            </a:r>
          </a:p>
          <a:p>
            <a:pPr>
              <a:lnSpc>
                <a:spcPct val="108000"/>
              </a:lnSpc>
              <a:spcAft>
                <a:spcPts val="0"/>
              </a:spcAft>
              <a:defRPr sz="800">
                <a:solidFill>
                  <a:srgbClr val="93C5FD"/>
                </a:solidFill>
                <a:latin typeface="Consolas"/>
              </a:defRPr>
            </a:pPr>
            <a:r>
              <a:t>    return 1;</a:t>
            </a:r>
          </a:p>
          <a:p>
            <a:pPr>
              <a:lnSpc>
                <a:spcPct val="108000"/>
              </a:lnSpc>
              <a:spcAft>
                <a:spcPts val="0"/>
              </a:spcAft>
              <a:defRPr sz="800">
                <a:solidFill>
                  <a:srgbClr val="FFFFFF"/>
                </a:solidFill>
                <a:latin typeface="Consolas"/>
              </a:defRPr>
            </a:pPr>
            <a:r>
              <a:t>}</a:t>
            </a:r>
          </a:p>
        </p:txBody>
      </p:sp>
      <p:sp>
        <p:nvSpPr>
          <p:cNvPr id="11" name="TextBox 10"/>
          <p:cNvSpPr txBox="1"/>
          <p:nvPr/>
        </p:nvSpPr>
        <p:spPr>
          <a:xfrm>
            <a:off x="868680" y="5833872"/>
            <a:ext cx="4983480" cy="274320"/>
          </a:xfrm>
          <a:prstGeom prst="rect">
            <a:avLst/>
          </a:prstGeom>
          <a:noFill/>
        </p:spPr>
        <p:txBody>
          <a:bodyPr wrap="none" lIns="0" tIns="0" rIns="0" bIns="0">
            <a:spAutoFit/>
          </a:bodyPr>
          <a:lstStyle/>
          <a:p>
            <a:pPr>
              <a:defRPr sz="819" b="1">
                <a:solidFill>
                  <a:srgbClr val="10B981"/>
                </a:solidFill>
                <a:latin typeface="Segoe UI"/>
              </a:defRPr>
            </a:pPr>
            <a:r>
              <a:t>=== BASE: 0x0030_0000 | 4,096 SLOTS x 16B | XIP READ &amp; WRITE ===</a:t>
            </a:r>
          </a:p>
        </p:txBody>
      </p:sp>
      <p:sp>
        <p:nvSpPr>
          <p:cNvPr id="12" name="Rounded Rectangle 11"/>
          <p:cNvSpPr/>
          <p:nvPr/>
        </p:nvSpPr>
        <p:spPr>
          <a:xfrm>
            <a:off x="6172200" y="1188720"/>
            <a:ext cx="5285232" cy="5029200"/>
          </a:xfrm>
          <a:prstGeom prst="roundRect">
            <a:avLst/>
          </a:prstGeom>
          <a:solidFill>
            <a:srgbClr val="FFFFFF"/>
          </a:solidFill>
          <a:ln w="1905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355080" y="1325880"/>
            <a:ext cx="4919472" cy="4754880"/>
          </a:xfrm>
          <a:prstGeom prst="rect">
            <a:avLst/>
          </a:prstGeom>
          <a:noFill/>
        </p:spPr>
        <p:txBody>
          <a:bodyPr wrap="square">
            <a:spAutoFit/>
          </a:bodyPr>
          <a:lstStyle/>
          <a:p>
            <a:pPr>
              <a:spcAft>
                <a:spcPts val="800"/>
              </a:spcAft>
              <a:defRPr b="1" sz="1200">
                <a:solidFill>
                  <a:srgbClr val="2563EB"/>
                </a:solidFill>
                <a:latin typeface="Segoe UI"/>
              </a:defRPr>
            </a:pPr>
            <a:r>
              <a:t>CƠ CHẾ LƯU TRỮ &amp; TRA CỨU DANH SÁCH THẺ WHITELIST</a:t>
            </a:r>
          </a:p>
          <a:p>
            <a:pPr>
              <a:lnSpc>
                <a:spcPct val="115000"/>
              </a:lnSpc>
              <a:spcAft>
                <a:spcPts val="500"/>
              </a:spcAft>
              <a:defRPr sz="930">
                <a:solidFill>
                  <a:srgbClr val="0F172A"/>
                </a:solidFill>
                <a:latin typeface="Segoe UI"/>
              </a:defRPr>
            </a:pPr>
            <a:r>
              <a:t>• 1. Định vị vùng nhớ Flash: Sector 48 tại địa chỉ cơ sở 0x0030_0000 (kích thước 64KB) trên chip SPI Flash Spansion S25FL032P (4MB).</a:t>
            </a:r>
          </a:p>
          <a:p>
            <a:pPr>
              <a:lnSpc>
                <a:spcPct val="115000"/>
              </a:lnSpc>
              <a:spcAft>
                <a:spcPts val="500"/>
              </a:spcAft>
              <a:defRPr sz="930">
                <a:solidFill>
                  <a:srgbClr val="0F172A"/>
                </a:solidFill>
                <a:latin typeface="Segoe UI"/>
              </a:defRPr>
            </a:pPr>
            <a:r>
              <a:t>• 2. Cấu trúc bản ghi 16 Bytes (Slot Record): • Offset +0 (4B): Magic Number 0x52464944 ('RFID') xác nhận slot hợp lệ.</a:t>
            </a:r>
            <a:br/>
            <a:r>
              <a:t>• Offset +4 (4B): UID Word High (tag_hi).</a:t>
            </a:r>
            <a:br/>
            <a:r>
              <a:t>• Offset +8 (4B): UID Word Low (tag_lo).</a:t>
            </a:r>
            <a:br/>
            <a:r>
              <a:t>• Offset +12 (4B): Checksum toàn vẹn (tag_hi ^ tag_lo).</a:t>
            </a:r>
          </a:p>
          <a:p>
            <a:pPr>
              <a:lnSpc>
                <a:spcPct val="115000"/>
              </a:lnSpc>
              <a:spcAft>
                <a:spcPts val="500"/>
              </a:spcAft>
              <a:defRPr sz="930">
                <a:solidFill>
                  <a:srgbClr val="0F172A"/>
                </a:solidFill>
                <a:latin typeface="Segoe UI"/>
              </a:defRPr>
            </a:pPr>
            <a:r>
              <a:t>• 3. Cách thao tác trong C: • Tra cứu tức thì qua cơ chế XIP: CPU đọc thẳng vùng nhớ 0x300000 qua con trỏ con trỏ bộ nhớ mà không cần tải vào RAM.</a:t>
            </a:r>
            <a:br/>
            <a:r>
              <a:t>• Thuật toán Early Termination: Khi gặp slot có Magic == 0xFFFFFFFF (vùng Flash trắng chưa ghi), vòng lặp dừng ngay lập tức.</a:t>
            </a:r>
          </a:p>
          <a:p>
            <a:pPr>
              <a:lnSpc>
                <a:spcPct val="115000"/>
              </a:lnSpc>
              <a:spcAft>
                <a:spcPts val="500"/>
              </a:spcAft>
              <a:defRPr sz="930">
                <a:solidFill>
                  <a:srgbClr val="0F172A"/>
                </a:solidFill>
                <a:latin typeface="Segoe UI"/>
              </a:defRPr>
            </a:pPr>
            <a:r>
              <a:t>• 4. Mục đích thiết kế: Lưu trữ bền vững tới 4,096 thẻ nhân viên được phép mở cửa, bảo toàn dữ liệu vĩnh viễn không phụ thuộc nguồn điện.</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1440"/>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201168"/>
            <a:ext cx="10728655" cy="868680"/>
          </a:xfrm>
          <a:prstGeom prst="rect">
            <a:avLst/>
          </a:prstGeom>
          <a:noFill/>
        </p:spPr>
        <p:txBody>
          <a:bodyPr wrap="square" lIns="0" tIns="0" rIns="0" bIns="0">
            <a:spAutoFit/>
          </a:bodyPr>
          <a:lstStyle/>
          <a:p>
            <a:pPr>
              <a:spcAft>
                <a:spcPts val="200"/>
              </a:spcAft>
              <a:defRPr sz="1050" b="1">
                <a:solidFill>
                  <a:srgbClr val="2563EB"/>
                </a:solidFill>
                <a:latin typeface="Segoe UI"/>
              </a:defRPr>
            </a:pPr>
            <a:r>
              <a:t>TẦNG FIRMWARE C &amp; PHẦN CỨNG (BIẾN ĐỊA CHỈ 5/6)</a:t>
            </a:r>
          </a:p>
          <a:p>
            <a:pPr>
              <a:defRPr sz="1700" b="1">
                <a:solidFill>
                  <a:srgbClr val="0F172A"/>
                </a:solidFill>
                <a:latin typeface="Segoe UI"/>
              </a:defRPr>
            </a:pPr>
            <a:r>
              <a:t>Biến Địa Chỉ 5: LOG_FLASH_ADDR (0x0031_0000 - Sector 49 Access Logs)</a:t>
            </a:r>
          </a:p>
        </p:txBody>
      </p:sp>
      <p:sp>
        <p:nvSpPr>
          <p:cNvPr id="5" name="Rectangle 4"/>
          <p:cNvSpPr/>
          <p:nvPr/>
        </p:nvSpPr>
        <p:spPr>
          <a:xfrm>
            <a:off x="731520" y="6446520"/>
            <a:ext cx="10728655" cy="18288"/>
          </a:xfrm>
          <a:prstGeom prst="rect">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31520" y="6492240"/>
            <a:ext cx="7315200" cy="274320"/>
          </a:xfrm>
          <a:prstGeom prst="rect">
            <a:avLst/>
          </a:prstGeom>
          <a:noFill/>
        </p:spPr>
        <p:txBody>
          <a:bodyPr wrap="none" lIns="0" tIns="0" rIns="0" bIns="0">
            <a:spAutoFit/>
          </a:bodyPr>
          <a:lstStyle/>
          <a:p>
            <a:pPr>
              <a:defRPr sz="950">
                <a:solidFill>
                  <a:srgbClr val="475569"/>
                </a:solidFill>
                <a:latin typeface="Segoe UI"/>
              </a:defRPr>
            </a:pPr>
            <a:r>
              <a:t>Đồ Án Tốt Nghiệp: SoC PicoRV32 RFID RDM6300 &amp; SPI Flash | SV: Thái Tuấn Hiệp | GVHD: ThS. Nguyễn Văn Đông</a:t>
            </a:r>
          </a:p>
        </p:txBody>
      </p:sp>
      <p:sp>
        <p:nvSpPr>
          <p:cNvPr id="7" name="TextBox 6"/>
          <p:cNvSpPr txBox="1"/>
          <p:nvPr/>
        </p:nvSpPr>
        <p:spPr>
          <a:xfrm>
            <a:off x="10058400" y="6492240"/>
            <a:ext cx="1401775" cy="274320"/>
          </a:xfrm>
          <a:prstGeom prst="rect">
            <a:avLst/>
          </a:prstGeom>
          <a:noFill/>
        </p:spPr>
        <p:txBody>
          <a:bodyPr wrap="none" lIns="0" tIns="0" rIns="0" bIns="0">
            <a:spAutoFit/>
          </a:bodyPr>
          <a:lstStyle/>
          <a:p>
            <a:pPr algn="r">
              <a:defRPr sz="950" b="1">
                <a:solidFill>
                  <a:srgbClr val="2563EB"/>
                </a:solidFill>
                <a:latin typeface="Segoe UI"/>
              </a:defRPr>
            </a:pPr>
            <a:r>
              <a:t>18 / 24</a:t>
            </a:r>
          </a:p>
        </p:txBody>
      </p:sp>
      <p:sp>
        <p:nvSpPr>
          <p:cNvPr id="8" name="Rounded Rectangle 7"/>
          <p:cNvSpPr/>
          <p:nvPr/>
        </p:nvSpPr>
        <p:spPr>
          <a:xfrm>
            <a:off x="731520" y="1188720"/>
            <a:ext cx="5257800" cy="5029200"/>
          </a:xfrm>
          <a:prstGeom prst="roundRect">
            <a:avLst/>
          </a:prstGeom>
          <a:solidFill>
            <a:srgbClr val="0B132B"/>
          </a:solidFill>
          <a:ln w="19050">
            <a:solidFill>
              <a:srgbClr val="1C254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68680" y="1261872"/>
            <a:ext cx="4983480" cy="292608"/>
          </a:xfrm>
          <a:prstGeom prst="rect">
            <a:avLst/>
          </a:prstGeom>
          <a:noFill/>
        </p:spPr>
        <p:txBody>
          <a:bodyPr wrap="none" lIns="0" tIns="0" rIns="0" bIns="0">
            <a:spAutoFit/>
          </a:bodyPr>
          <a:lstStyle/>
          <a:p>
            <a:pPr>
              <a:defRPr sz="950" b="1">
                <a:solidFill>
                  <a:srgbClr val="F43F5E"/>
                </a:solidFill>
                <a:latin typeface="Consolas"/>
              </a:defRPr>
            </a:pPr>
            <a:r>
              <a:t>&gt;_  flash.c &amp; soc_regs.h [Access Logs Sector 49]</a:t>
            </a:r>
          </a:p>
        </p:txBody>
      </p:sp>
      <p:sp>
        <p:nvSpPr>
          <p:cNvPr id="10" name="TextBox 9"/>
          <p:cNvSpPr txBox="1"/>
          <p:nvPr/>
        </p:nvSpPr>
        <p:spPr>
          <a:xfrm>
            <a:off x="868680" y="1554480"/>
            <a:ext cx="4983480" cy="4315968"/>
          </a:xfrm>
          <a:prstGeom prst="rect">
            <a:avLst/>
          </a:prstGeom>
          <a:noFill/>
        </p:spPr>
        <p:txBody>
          <a:bodyPr wrap="square" lIns="0" tIns="0" rIns="0" bIns="0">
            <a:spAutoFit/>
          </a:bodyPr>
          <a:lstStyle/>
          <a:p>
            <a:pPr>
              <a:lnSpc>
                <a:spcPct val="108000"/>
              </a:lnSpc>
              <a:spcAft>
                <a:spcPts val="0"/>
              </a:spcAft>
              <a:defRPr sz="800">
                <a:solidFill>
                  <a:srgbClr val="94A3B8"/>
                </a:solidFill>
                <a:latin typeface="Consolas"/>
              </a:defRPr>
            </a:pPr>
            <a:r>
              <a:t>// firmware/common/soc_regs.h - Vùng Nhật ký Sector 49</a:t>
            </a:r>
          </a:p>
          <a:p>
            <a:pPr>
              <a:lnSpc>
                <a:spcPct val="108000"/>
              </a:lnSpc>
              <a:spcAft>
                <a:spcPts val="0"/>
              </a:spcAft>
              <a:defRPr sz="800">
                <a:solidFill>
                  <a:srgbClr val="94A3B8"/>
                </a:solidFill>
                <a:latin typeface="Consolas"/>
              </a:defRPr>
            </a:pPr>
            <a:r>
              <a:t>#define LOG_FLASH_ADDR 0x310000   // Sector 49 (64KB)</a:t>
            </a:r>
          </a:p>
          <a:p>
            <a:pPr>
              <a:lnSpc>
                <a:spcPct val="108000"/>
              </a:lnSpc>
              <a:spcAft>
                <a:spcPts val="0"/>
              </a:spcAft>
              <a:defRPr sz="800">
                <a:solidFill>
                  <a:srgbClr val="94A3B8"/>
                </a:solidFill>
                <a:latin typeface="Consolas"/>
              </a:defRPr>
            </a:pPr>
            <a:r>
              <a:t>#define LOG_SLOT_SIZE  16         // 16 bytes per log record</a:t>
            </a:r>
          </a:p>
          <a:p>
            <a:pPr>
              <a:lnSpc>
                <a:spcPct val="108000"/>
              </a:lnSpc>
              <a:spcAft>
                <a:spcPts val="0"/>
              </a:spcAft>
              <a:defRPr sz="800">
                <a:solidFill>
                  <a:srgbClr val="94A3B8"/>
                </a:solidFill>
                <a:latin typeface="Consolas"/>
              </a:defRPr>
            </a:pPr>
            <a:r>
              <a:t>#define MAX_LOG_SLOTS  512        // 512 sự kiện kiểm toán</a:t>
            </a:r>
          </a:p>
          <a:p>
            <a:pPr>
              <a:lnSpc>
                <a:spcPct val="108000"/>
              </a:lnSpc>
              <a:spcAft>
                <a:spcPts val="0"/>
              </a:spcAft>
              <a:defRPr sz="800">
                <a:solidFill>
                  <a:srgbClr val="94A3B8"/>
                </a:solidFill>
                <a:latin typeface="Consolas"/>
              </a:defRPr>
            </a:pPr>
            <a:r>
              <a:t>#define LOG_MAGIC_SUCC 0x53554343 // 'SUCC' (Hợp lệ)</a:t>
            </a:r>
          </a:p>
          <a:p>
            <a:pPr>
              <a:lnSpc>
                <a:spcPct val="108000"/>
              </a:lnSpc>
              <a:spcAft>
                <a:spcPts val="0"/>
              </a:spcAft>
              <a:defRPr sz="800">
                <a:solidFill>
                  <a:srgbClr val="94A3B8"/>
                </a:solidFill>
                <a:latin typeface="Consolas"/>
              </a:defRPr>
            </a:pPr>
            <a:r>
              <a:t>#define LOG_MAGIC_FAIL 0x4641494C // 'FAIL' (Từ chối)</a:t>
            </a:r>
          </a:p>
          <a:p>
            <a:pPr>
              <a:lnSpc>
                <a:spcPct val="108000"/>
              </a:lnSpc>
              <a:spcAft>
                <a:spcPts val="0"/>
              </a:spcAft>
              <a:defRPr sz="800">
                <a:solidFill>
                  <a:srgbClr val="FFFFFF"/>
                </a:solidFill>
                <a:latin typeface="Consolas"/>
              </a:defRPr>
            </a:pPr>
          </a:p>
          <a:p>
            <a:pPr>
              <a:lnSpc>
                <a:spcPct val="108000"/>
              </a:lnSpc>
              <a:spcAft>
                <a:spcPts val="0"/>
              </a:spcAft>
              <a:defRPr sz="800">
                <a:solidFill>
                  <a:srgbClr val="94A3B8"/>
                </a:solidFill>
                <a:latin typeface="Consolas"/>
              </a:defRPr>
            </a:pPr>
            <a:r>
              <a:t>// firmware/drivers/flash.c - Ghi nhật ký quẹt thẻ an toàn</a:t>
            </a:r>
          </a:p>
          <a:p>
            <a:pPr>
              <a:lnSpc>
                <a:spcPct val="108000"/>
              </a:lnSpc>
              <a:spcAft>
                <a:spcPts val="0"/>
              </a:spcAft>
              <a:defRPr sz="800">
                <a:solidFill>
                  <a:srgbClr val="FFFFFF"/>
                </a:solidFill>
                <a:latin typeface="Consolas"/>
              </a:defRPr>
            </a:pPr>
            <a:r>
              <a:t>int flash_append_log(bool success, uint32_t hi, uint32_t lo) {</a:t>
            </a:r>
          </a:p>
          <a:p>
            <a:pPr>
              <a:lnSpc>
                <a:spcPct val="108000"/>
              </a:lnSpc>
              <a:spcAft>
                <a:spcPts val="0"/>
              </a:spcAft>
              <a:defRPr sz="800">
                <a:solidFill>
                  <a:srgbClr val="FFFFFF"/>
                </a:solidFill>
                <a:latin typeface="Consolas"/>
              </a:defRPr>
            </a:pPr>
            <a:r>
              <a:t>    int slot = flash_find_empty_log_slot();</a:t>
            </a:r>
          </a:p>
          <a:p>
            <a:pPr>
              <a:lnSpc>
                <a:spcPct val="108000"/>
              </a:lnSpc>
              <a:spcAft>
                <a:spcPts val="0"/>
              </a:spcAft>
              <a:defRPr sz="800">
                <a:solidFill>
                  <a:srgbClr val="93C5FD"/>
                </a:solidFill>
                <a:latin typeface="Consolas"/>
              </a:defRPr>
            </a:pPr>
            <a:r>
              <a:t>    if (slot &lt; 0) return -1; // Đầy bộ nhớ log</a:t>
            </a:r>
          </a:p>
          <a:p>
            <a:pPr>
              <a:lnSpc>
                <a:spcPct val="108000"/>
              </a:lnSpc>
              <a:spcAft>
                <a:spcPts val="0"/>
              </a:spcAft>
              <a:defRPr sz="800">
                <a:solidFill>
                  <a:srgbClr val="FFFFFF"/>
                </a:solidFill>
                <a:latin typeface="Consolas"/>
              </a:defRPr>
            </a:pPr>
            <a:r>
              <a:t>    uint32_t addr = LOG_FLASH_ADDR + (uint32_t)(slot * 16);</a:t>
            </a:r>
          </a:p>
          <a:p>
            <a:pPr>
              <a:lnSpc>
                <a:spcPct val="108000"/>
              </a:lnSpc>
              <a:spcAft>
                <a:spcPts val="0"/>
              </a:spcAft>
              <a:defRPr sz="800">
                <a:solidFill>
                  <a:srgbClr val="FFFFFF"/>
                </a:solidFill>
                <a:latin typeface="Consolas"/>
              </a:defRPr>
            </a:pPr>
            <a:r>
              <a:t>    uint32_t status = success ? LOG_MAGIC_SUCC : LOG_MAGIC_FAIL;</a:t>
            </a:r>
          </a:p>
          <a:p>
            <a:pPr>
              <a:lnSpc>
                <a:spcPct val="108000"/>
              </a:lnSpc>
              <a:spcAft>
                <a:spcPts val="0"/>
              </a:spcAft>
              <a:defRPr sz="800">
                <a:solidFill>
                  <a:srgbClr val="FFFFFF"/>
                </a:solidFill>
                <a:latin typeface="Consolas"/>
              </a:defRPr>
            </a:pPr>
            <a:r>
              <a:t>    uint32_t seq = (uint32_t)(slot + 1);</a:t>
            </a:r>
          </a:p>
          <a:p>
            <a:pPr>
              <a:lnSpc>
                <a:spcPct val="108000"/>
              </a:lnSpc>
              <a:spcAft>
                <a:spcPts val="0"/>
              </a:spcAft>
              <a:defRPr sz="800">
                <a:solidFill>
                  <a:srgbClr val="FFFFFF"/>
                </a:solidFill>
                <a:latin typeface="Consolas"/>
              </a:defRPr>
            </a:pPr>
            <a:r>
              <a:t>    REG_GPIO_LEDS |= 0x0008; // Flash LED active</a:t>
            </a:r>
          </a:p>
          <a:p>
            <a:pPr>
              <a:lnSpc>
                <a:spcPct val="108000"/>
              </a:lnSpc>
              <a:spcAft>
                <a:spcPts val="0"/>
              </a:spcAft>
              <a:defRPr sz="800">
                <a:solidFill>
                  <a:srgbClr val="FFFFFF"/>
                </a:solidFill>
                <a:latin typeface="Consolas"/>
              </a:defRPr>
            </a:pPr>
            <a:r>
              <a:t>    flash_write_word(addr + 4, hi);</a:t>
            </a:r>
          </a:p>
          <a:p>
            <a:pPr>
              <a:lnSpc>
                <a:spcPct val="108000"/>
              </a:lnSpc>
              <a:spcAft>
                <a:spcPts val="0"/>
              </a:spcAft>
              <a:defRPr sz="800">
                <a:solidFill>
                  <a:srgbClr val="FFFFFF"/>
                </a:solidFill>
                <a:latin typeface="Consolas"/>
              </a:defRPr>
            </a:pPr>
            <a:r>
              <a:t>    flash_write_word(addr + 8, lo);</a:t>
            </a:r>
          </a:p>
          <a:p>
            <a:pPr>
              <a:lnSpc>
                <a:spcPct val="108000"/>
              </a:lnSpc>
              <a:spcAft>
                <a:spcPts val="0"/>
              </a:spcAft>
              <a:defRPr sz="800">
                <a:solidFill>
                  <a:srgbClr val="FFFFFF"/>
                </a:solidFill>
                <a:latin typeface="Consolas"/>
              </a:defRPr>
            </a:pPr>
            <a:r>
              <a:t>    flash_write_word(addr + 12, seq);</a:t>
            </a:r>
          </a:p>
          <a:p>
            <a:pPr>
              <a:lnSpc>
                <a:spcPct val="108000"/>
              </a:lnSpc>
              <a:spcAft>
                <a:spcPts val="0"/>
              </a:spcAft>
              <a:defRPr sz="800">
                <a:solidFill>
                  <a:srgbClr val="FFFFFF"/>
                </a:solidFill>
                <a:latin typeface="Consolas"/>
              </a:defRPr>
            </a:pPr>
            <a:r>
              <a:t>    flash_write_word(addr + 0, status); // Ghi magic cuối cùng (Atomic Commit)!</a:t>
            </a:r>
          </a:p>
          <a:p>
            <a:pPr>
              <a:lnSpc>
                <a:spcPct val="108000"/>
              </a:lnSpc>
              <a:spcAft>
                <a:spcPts val="0"/>
              </a:spcAft>
              <a:defRPr sz="800">
                <a:solidFill>
                  <a:srgbClr val="FFFFFF"/>
                </a:solidFill>
                <a:latin typeface="Consolas"/>
              </a:defRPr>
            </a:pPr>
            <a:r>
              <a:t>    REG_GPIO_LEDS &amp;= ~0x0008;</a:t>
            </a:r>
          </a:p>
          <a:p>
            <a:pPr>
              <a:lnSpc>
                <a:spcPct val="108000"/>
              </a:lnSpc>
              <a:spcAft>
                <a:spcPts val="0"/>
              </a:spcAft>
              <a:defRPr sz="800">
                <a:solidFill>
                  <a:srgbClr val="93C5FD"/>
                </a:solidFill>
                <a:latin typeface="Consolas"/>
              </a:defRPr>
            </a:pPr>
            <a:r>
              <a:t>    return slot;</a:t>
            </a:r>
          </a:p>
          <a:p>
            <a:pPr>
              <a:lnSpc>
                <a:spcPct val="108000"/>
              </a:lnSpc>
              <a:spcAft>
                <a:spcPts val="0"/>
              </a:spcAft>
              <a:defRPr sz="800">
                <a:solidFill>
                  <a:srgbClr val="FFFFFF"/>
                </a:solidFill>
                <a:latin typeface="Consolas"/>
              </a:defRPr>
            </a:pPr>
            <a:r>
              <a:t>}</a:t>
            </a:r>
          </a:p>
        </p:txBody>
      </p:sp>
      <p:sp>
        <p:nvSpPr>
          <p:cNvPr id="11" name="TextBox 10"/>
          <p:cNvSpPr txBox="1"/>
          <p:nvPr/>
        </p:nvSpPr>
        <p:spPr>
          <a:xfrm>
            <a:off x="868680" y="5833872"/>
            <a:ext cx="4983480" cy="274320"/>
          </a:xfrm>
          <a:prstGeom prst="rect">
            <a:avLst/>
          </a:prstGeom>
          <a:noFill/>
        </p:spPr>
        <p:txBody>
          <a:bodyPr wrap="none" lIns="0" tIns="0" rIns="0" bIns="0">
            <a:spAutoFit/>
          </a:bodyPr>
          <a:lstStyle/>
          <a:p>
            <a:pPr>
              <a:defRPr sz="819" b="1">
                <a:solidFill>
                  <a:srgbClr val="10B981"/>
                </a:solidFill>
                <a:latin typeface="Segoe UI"/>
              </a:defRPr>
            </a:pPr>
            <a:r>
              <a:t>=== BASE: 0x0031_0000 | 512 AUDIT EVENTS x 16B | ATOMIC COMMIT ===</a:t>
            </a:r>
          </a:p>
        </p:txBody>
      </p:sp>
      <p:sp>
        <p:nvSpPr>
          <p:cNvPr id="12" name="Rounded Rectangle 11"/>
          <p:cNvSpPr/>
          <p:nvPr/>
        </p:nvSpPr>
        <p:spPr>
          <a:xfrm>
            <a:off x="6172200" y="1188720"/>
            <a:ext cx="5285232" cy="5029200"/>
          </a:xfrm>
          <a:prstGeom prst="roundRect">
            <a:avLst/>
          </a:prstGeom>
          <a:solidFill>
            <a:srgbClr val="FFFFFF"/>
          </a:solidFill>
          <a:ln w="19050">
            <a:solidFill>
              <a:srgbClr val="E11D4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355080" y="1325880"/>
            <a:ext cx="4919472" cy="4754880"/>
          </a:xfrm>
          <a:prstGeom prst="rect">
            <a:avLst/>
          </a:prstGeom>
          <a:noFill/>
        </p:spPr>
        <p:txBody>
          <a:bodyPr wrap="square">
            <a:spAutoFit/>
          </a:bodyPr>
          <a:lstStyle/>
          <a:p>
            <a:pPr>
              <a:spcAft>
                <a:spcPts val="800"/>
              </a:spcAft>
              <a:defRPr b="1" sz="1200">
                <a:solidFill>
                  <a:srgbClr val="E11D48"/>
                </a:solidFill>
                <a:latin typeface="Segoe UI"/>
              </a:defRPr>
            </a:pPr>
            <a:r>
              <a:t>GHI VẾT KIỂM TOÁN AN NINH (AUDIT TRAIL LOGGING)</a:t>
            </a:r>
          </a:p>
          <a:p>
            <a:pPr>
              <a:lnSpc>
                <a:spcPct val="115000"/>
              </a:lnSpc>
              <a:spcAft>
                <a:spcPts val="500"/>
              </a:spcAft>
              <a:defRPr sz="930">
                <a:solidFill>
                  <a:srgbClr val="0F172A"/>
                </a:solidFill>
                <a:latin typeface="Segoe UI"/>
              </a:defRPr>
            </a:pPr>
            <a:r>
              <a:t>• 1. Phân vùng nhật ký: Sector 49 tại địa chỉ cơ sở 0x0031_0000. Dành riêng 8KB đầu tiên lưu trữ tuần tự 512 sự kiện quẹt thẻ mới nhất.</a:t>
            </a:r>
          </a:p>
          <a:p>
            <a:pPr>
              <a:lnSpc>
                <a:spcPct val="115000"/>
              </a:lnSpc>
              <a:spcAft>
                <a:spcPts val="500"/>
              </a:spcAft>
              <a:defRPr sz="930">
                <a:solidFill>
                  <a:srgbClr val="0F172A"/>
                </a:solidFill>
                <a:latin typeface="Segoe UI"/>
              </a:defRPr>
            </a:pPr>
            <a:r>
              <a:t>• 2. Cấu trúc bản ghi sự kiện 16 Bytes: • Offset +0 (4B): Trạng thái mở cửa: 0x53554343 ('SUCC') hoặc 0x4641494C ('FAIL').</a:t>
            </a:r>
            <a:br/>
            <a:r>
              <a:t>• Offset +4 (4B): UID High của thẻ quẹt.</a:t>
            </a:r>
            <a:br/>
            <a:r>
              <a:t>• Offset +8 (4B): UID Low của thẻ quẹt.</a:t>
            </a:r>
            <a:br/>
            <a:r>
              <a:t>• Offset +12 (4B): Số thứ tự sự kiện (Sequence Number 1, 2, 3...).</a:t>
            </a:r>
          </a:p>
          <a:p>
            <a:pPr>
              <a:lnSpc>
                <a:spcPct val="115000"/>
              </a:lnSpc>
              <a:spcAft>
                <a:spcPts val="500"/>
              </a:spcAft>
              <a:defRPr sz="930">
                <a:solidFill>
                  <a:srgbClr val="0F172A"/>
                </a:solidFill>
                <a:latin typeface="Segoe UI"/>
              </a:defRPr>
            </a:pPr>
            <a:r>
              <a:t>• 3. Kỹ thuật ghi chống hỏng dữ liệu (Atomic Commit): Dữ liệu UID và số thứ tự được ghi trước vào Flash, từ khóa Magic (SUCC/FAIL) được ghi sau cùng. Nếu mất điện giữa chừng, bản ghi chưa có Magic sẽ bị bỏ qua, chống rác dữ liệu!</a:t>
            </a:r>
          </a:p>
          <a:p>
            <a:pPr>
              <a:lnSpc>
                <a:spcPct val="115000"/>
              </a:lnSpc>
              <a:spcAft>
                <a:spcPts val="500"/>
              </a:spcAft>
              <a:defRPr sz="930">
                <a:solidFill>
                  <a:srgbClr val="0F172A"/>
                </a:solidFill>
                <a:latin typeface="Segoe UI"/>
              </a:defRPr>
            </a:pPr>
            <a:r>
              <a:t>• 4. Mục đích thiết kế: Phục vụ công tác hậu kiểm, xuất file CSV lên máy tính để phát hiện các hành vi quẹt thẻ lạ hoặc dò tìm thẻ trái phép.</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1440"/>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201168"/>
            <a:ext cx="10728655" cy="868680"/>
          </a:xfrm>
          <a:prstGeom prst="rect">
            <a:avLst/>
          </a:prstGeom>
          <a:noFill/>
        </p:spPr>
        <p:txBody>
          <a:bodyPr wrap="square" lIns="0" tIns="0" rIns="0" bIns="0">
            <a:spAutoFit/>
          </a:bodyPr>
          <a:lstStyle/>
          <a:p>
            <a:pPr>
              <a:spcAft>
                <a:spcPts val="200"/>
              </a:spcAft>
              <a:defRPr sz="1050" b="1">
                <a:solidFill>
                  <a:srgbClr val="2563EB"/>
                </a:solidFill>
                <a:latin typeface="Segoe UI"/>
              </a:defRPr>
            </a:pPr>
            <a:r>
              <a:t>TẦNG FIRMWARE C &amp; PHẦN CỨNG (BIẾN ĐỊA CHỈ 6/6)</a:t>
            </a:r>
          </a:p>
          <a:p>
            <a:pPr>
              <a:defRPr sz="1700" b="1">
                <a:solidFill>
                  <a:srgbClr val="0F172A"/>
                </a:solidFill>
                <a:latin typeface="Segoe UI"/>
              </a:defRPr>
            </a:pPr>
            <a:r>
              <a:t>Biến Địa Chỉ 6: 0x0200_0000 &amp; flashio_worker (Nạp Routine Vào SRAM)</a:t>
            </a:r>
          </a:p>
        </p:txBody>
      </p:sp>
      <p:sp>
        <p:nvSpPr>
          <p:cNvPr id="5" name="Rectangle 4"/>
          <p:cNvSpPr/>
          <p:nvPr/>
        </p:nvSpPr>
        <p:spPr>
          <a:xfrm>
            <a:off x="731520" y="6446520"/>
            <a:ext cx="10728655" cy="18288"/>
          </a:xfrm>
          <a:prstGeom prst="rect">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31520" y="6492240"/>
            <a:ext cx="7315200" cy="274320"/>
          </a:xfrm>
          <a:prstGeom prst="rect">
            <a:avLst/>
          </a:prstGeom>
          <a:noFill/>
        </p:spPr>
        <p:txBody>
          <a:bodyPr wrap="none" lIns="0" tIns="0" rIns="0" bIns="0">
            <a:spAutoFit/>
          </a:bodyPr>
          <a:lstStyle/>
          <a:p>
            <a:pPr>
              <a:defRPr sz="950">
                <a:solidFill>
                  <a:srgbClr val="475569"/>
                </a:solidFill>
                <a:latin typeface="Segoe UI"/>
              </a:defRPr>
            </a:pPr>
            <a:r>
              <a:t>Đồ Án Tốt Nghiệp: SoC PicoRV32 RFID RDM6300 &amp; SPI Flash | SV: Thái Tuấn Hiệp | GVHD: ThS. Nguyễn Văn Đông</a:t>
            </a:r>
          </a:p>
        </p:txBody>
      </p:sp>
      <p:sp>
        <p:nvSpPr>
          <p:cNvPr id="7" name="TextBox 6"/>
          <p:cNvSpPr txBox="1"/>
          <p:nvPr/>
        </p:nvSpPr>
        <p:spPr>
          <a:xfrm>
            <a:off x="10058400" y="6492240"/>
            <a:ext cx="1401775" cy="274320"/>
          </a:xfrm>
          <a:prstGeom prst="rect">
            <a:avLst/>
          </a:prstGeom>
          <a:noFill/>
        </p:spPr>
        <p:txBody>
          <a:bodyPr wrap="none" lIns="0" tIns="0" rIns="0" bIns="0">
            <a:spAutoFit/>
          </a:bodyPr>
          <a:lstStyle/>
          <a:p>
            <a:pPr algn="r">
              <a:defRPr sz="950" b="1">
                <a:solidFill>
                  <a:srgbClr val="2563EB"/>
                </a:solidFill>
                <a:latin typeface="Segoe UI"/>
              </a:defRPr>
            </a:pPr>
            <a:r>
              <a:t>19 / 24</a:t>
            </a:r>
          </a:p>
        </p:txBody>
      </p:sp>
      <p:sp>
        <p:nvSpPr>
          <p:cNvPr id="8" name="Rounded Rectangle 7"/>
          <p:cNvSpPr/>
          <p:nvPr/>
        </p:nvSpPr>
        <p:spPr>
          <a:xfrm>
            <a:off x="731520" y="1188720"/>
            <a:ext cx="5257800" cy="5029200"/>
          </a:xfrm>
          <a:prstGeom prst="roundRect">
            <a:avLst/>
          </a:prstGeom>
          <a:solidFill>
            <a:srgbClr val="0B132B"/>
          </a:solidFill>
          <a:ln w="19050">
            <a:solidFill>
              <a:srgbClr val="1C254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68680" y="1261872"/>
            <a:ext cx="4983480" cy="292608"/>
          </a:xfrm>
          <a:prstGeom prst="rect">
            <a:avLst/>
          </a:prstGeom>
          <a:noFill/>
        </p:spPr>
        <p:txBody>
          <a:bodyPr wrap="none" lIns="0" tIns="0" rIns="0" bIns="0">
            <a:spAutoFit/>
          </a:bodyPr>
          <a:lstStyle/>
          <a:p>
            <a:pPr>
              <a:defRPr sz="950" b="1">
                <a:solidFill>
                  <a:srgbClr val="A78BFA"/>
                </a:solidFill>
                <a:latin typeface="Consolas"/>
              </a:defRPr>
            </a:pPr>
            <a:r>
              <a:t>&gt;_  start.s &amp; flash.c [In-SRAM Flash Worker]</a:t>
            </a:r>
          </a:p>
        </p:txBody>
      </p:sp>
      <p:sp>
        <p:nvSpPr>
          <p:cNvPr id="10" name="TextBox 9"/>
          <p:cNvSpPr txBox="1"/>
          <p:nvPr/>
        </p:nvSpPr>
        <p:spPr>
          <a:xfrm>
            <a:off x="868680" y="1554480"/>
            <a:ext cx="4983480" cy="4315968"/>
          </a:xfrm>
          <a:prstGeom prst="rect">
            <a:avLst/>
          </a:prstGeom>
          <a:noFill/>
        </p:spPr>
        <p:txBody>
          <a:bodyPr wrap="square" lIns="0" tIns="0" rIns="0" bIns="0">
            <a:spAutoFit/>
          </a:bodyPr>
          <a:lstStyle/>
          <a:p>
            <a:pPr>
              <a:lnSpc>
                <a:spcPct val="108000"/>
              </a:lnSpc>
              <a:spcAft>
                <a:spcPts val="0"/>
              </a:spcAft>
              <a:defRPr sz="800">
                <a:solidFill>
                  <a:srgbClr val="94A3B8"/>
                </a:solidFill>
                <a:latin typeface="Consolas"/>
              </a:defRPr>
            </a:pPr>
            <a:r>
              <a:t>// firmware/start.s - Routine phát lệnh bit-bang SPI</a:t>
            </a:r>
          </a:p>
          <a:p>
            <a:pPr>
              <a:lnSpc>
                <a:spcPct val="108000"/>
              </a:lnSpc>
              <a:spcAft>
                <a:spcPts val="0"/>
              </a:spcAft>
              <a:defRPr sz="800">
                <a:solidFill>
                  <a:srgbClr val="FFFFFF"/>
                </a:solidFill>
                <a:latin typeface="Consolas"/>
              </a:defRPr>
            </a:pPr>
            <a:r>
              <a:t>.global flashio_worker_begin, flashio_worker_end</a:t>
            </a:r>
          </a:p>
          <a:p>
            <a:pPr>
              <a:lnSpc>
                <a:spcPct val="108000"/>
              </a:lnSpc>
              <a:spcAft>
                <a:spcPts val="0"/>
              </a:spcAft>
              <a:defRPr sz="800">
                <a:solidFill>
                  <a:srgbClr val="FFFFFF"/>
                </a:solidFill>
                <a:latin typeface="Consolas"/>
              </a:defRPr>
            </a:pPr>
            <a:r>
              <a:t>flashio_worker_begin:</a:t>
            </a:r>
          </a:p>
          <a:p>
            <a:pPr>
              <a:lnSpc>
                <a:spcPct val="108000"/>
              </a:lnSpc>
              <a:spcAft>
                <a:spcPts val="0"/>
              </a:spcAft>
              <a:defRPr sz="800">
                <a:solidFill>
                  <a:srgbClr val="FFFFFF"/>
                </a:solidFill>
                <a:latin typeface="Consolas"/>
              </a:defRPr>
            </a:pPr>
            <a:r>
              <a:t>    li   t0, 0x02000000   # Địa chỉ SPICFG MMIO</a:t>
            </a:r>
          </a:p>
          <a:p>
            <a:pPr>
              <a:lnSpc>
                <a:spcPct val="108000"/>
              </a:lnSpc>
              <a:spcAft>
                <a:spcPts val="0"/>
              </a:spcAft>
              <a:defRPr sz="800">
                <a:solidFill>
                  <a:srgbClr val="FFFFFF"/>
                </a:solidFill>
                <a:latin typeface="Consolas"/>
              </a:defRPr>
            </a:pPr>
            <a:r>
              <a:t>    sw   a2, 0(t0)        # Gửi lệnh WREN (0x06)</a:t>
            </a:r>
          </a:p>
          <a:p>
            <a:pPr>
              <a:lnSpc>
                <a:spcPct val="108000"/>
              </a:lnSpc>
              <a:spcAft>
                <a:spcPts val="0"/>
              </a:spcAft>
              <a:defRPr sz="800">
                <a:solidFill>
                  <a:srgbClr val="94A3B8"/>
                </a:solidFill>
                <a:latin typeface="Consolas"/>
              </a:defRPr>
            </a:pPr>
            <a:r>
              <a:t>    # ... Vòng lặp phát xung bit-bang SPI trên thanh ghi SPICFG ...</a:t>
            </a:r>
          </a:p>
          <a:p>
            <a:pPr>
              <a:lnSpc>
                <a:spcPct val="108000"/>
              </a:lnSpc>
              <a:spcAft>
                <a:spcPts val="0"/>
              </a:spcAft>
              <a:defRPr sz="800">
                <a:solidFill>
                  <a:srgbClr val="FFFFFF"/>
                </a:solidFill>
                <a:latin typeface="Consolas"/>
              </a:defRPr>
            </a:pPr>
            <a:r>
              <a:t>    ret</a:t>
            </a:r>
          </a:p>
          <a:p>
            <a:pPr>
              <a:lnSpc>
                <a:spcPct val="108000"/>
              </a:lnSpc>
              <a:spcAft>
                <a:spcPts val="0"/>
              </a:spcAft>
              <a:defRPr sz="800">
                <a:solidFill>
                  <a:srgbClr val="FFFFFF"/>
                </a:solidFill>
                <a:latin typeface="Consolas"/>
              </a:defRPr>
            </a:pPr>
            <a:r>
              <a:t>flashio_worker_end:</a:t>
            </a:r>
          </a:p>
          <a:p>
            <a:pPr>
              <a:lnSpc>
                <a:spcPct val="108000"/>
              </a:lnSpc>
              <a:spcAft>
                <a:spcPts val="0"/>
              </a:spcAft>
              <a:defRPr sz="800">
                <a:solidFill>
                  <a:srgbClr val="FFFFFF"/>
                </a:solidFill>
                <a:latin typeface="Consolas"/>
              </a:defRPr>
            </a:pPr>
          </a:p>
          <a:p>
            <a:pPr>
              <a:lnSpc>
                <a:spcPct val="108000"/>
              </a:lnSpc>
              <a:spcAft>
                <a:spcPts val="0"/>
              </a:spcAft>
              <a:defRPr sz="800">
                <a:solidFill>
                  <a:srgbClr val="94A3B8"/>
                </a:solidFill>
                <a:latin typeface="Consolas"/>
              </a:defRPr>
            </a:pPr>
            <a:r>
              <a:t>// firmware/drivers/flash.c - Sao chép và thực thi trên 1KB SRAM</a:t>
            </a:r>
          </a:p>
          <a:p>
            <a:pPr>
              <a:lnSpc>
                <a:spcPct val="108000"/>
              </a:lnSpc>
              <a:spcAft>
                <a:spcPts val="0"/>
              </a:spcAft>
              <a:defRPr sz="800">
                <a:solidFill>
                  <a:srgbClr val="93C5FD"/>
                </a:solidFill>
                <a:latin typeface="Consolas"/>
              </a:defRPr>
            </a:pPr>
            <a:r>
              <a:t>static void flashio(uint8_t *data, int len, uint8_t wrencmd) {</a:t>
            </a:r>
          </a:p>
          <a:p>
            <a:pPr>
              <a:lnSpc>
                <a:spcPct val="108000"/>
              </a:lnSpc>
              <a:spcAft>
                <a:spcPts val="0"/>
              </a:spcAft>
              <a:defRPr sz="800">
                <a:solidFill>
                  <a:srgbClr val="94A3B8"/>
                </a:solidFill>
                <a:latin typeface="Consolas"/>
              </a:defRPr>
            </a:pPr>
            <a:r>
              <a:t>    // Cấp phát vùng nhớ hàm trên Stack (thuộc 1KB SRAM)</a:t>
            </a:r>
          </a:p>
          <a:p>
            <a:pPr>
              <a:lnSpc>
                <a:spcPct val="108000"/>
              </a:lnSpc>
              <a:spcAft>
                <a:spcPts val="0"/>
              </a:spcAft>
              <a:defRPr sz="800">
                <a:solidFill>
                  <a:srgbClr val="FFFFFF"/>
                </a:solidFill>
                <a:latin typeface="Consolas"/>
              </a:defRPr>
            </a:pPr>
            <a:r>
              <a:t>    uint32_t func[&amp;flashio_worker_end - &amp;flashio_worker_begin];</a:t>
            </a:r>
          </a:p>
          <a:p>
            <a:pPr>
              <a:lnSpc>
                <a:spcPct val="108000"/>
              </a:lnSpc>
              <a:spcAft>
                <a:spcPts val="0"/>
              </a:spcAft>
              <a:defRPr sz="800">
                <a:solidFill>
                  <a:srgbClr val="FFFFFF"/>
                </a:solidFill>
                <a:latin typeface="Consolas"/>
              </a:defRPr>
            </a:pPr>
            <a:r>
              <a:t>    uint32_t *src = &amp;flashio_worker_begin;</a:t>
            </a:r>
          </a:p>
          <a:p>
            <a:pPr>
              <a:lnSpc>
                <a:spcPct val="108000"/>
              </a:lnSpc>
              <a:spcAft>
                <a:spcPts val="0"/>
              </a:spcAft>
              <a:defRPr sz="800">
                <a:solidFill>
                  <a:srgbClr val="FFFFFF"/>
                </a:solidFill>
                <a:latin typeface="Consolas"/>
              </a:defRPr>
            </a:pPr>
            <a:r>
              <a:t>    uint32_t *dst = func;</a:t>
            </a:r>
          </a:p>
          <a:p>
            <a:pPr>
              <a:lnSpc>
                <a:spcPct val="108000"/>
              </a:lnSpc>
              <a:spcAft>
                <a:spcPts val="0"/>
              </a:spcAft>
              <a:defRPr sz="800">
                <a:solidFill>
                  <a:srgbClr val="93C5FD"/>
                </a:solidFill>
                <a:latin typeface="Consolas"/>
              </a:defRPr>
            </a:pPr>
            <a:r>
              <a:t>    while (src != &amp;flashio_worker_end) *(dst++) = *(src++);</a:t>
            </a:r>
          </a:p>
          <a:p>
            <a:pPr>
              <a:lnSpc>
                <a:spcPct val="108000"/>
              </a:lnSpc>
              <a:spcAft>
                <a:spcPts val="0"/>
              </a:spcAft>
              <a:defRPr sz="800">
                <a:solidFill>
                  <a:srgbClr val="FFFFFF"/>
                </a:solidFill>
                <a:latin typeface="Consolas"/>
              </a:defRPr>
            </a:pPr>
          </a:p>
          <a:p>
            <a:pPr>
              <a:lnSpc>
                <a:spcPct val="108000"/>
              </a:lnSpc>
              <a:spcAft>
                <a:spcPts val="0"/>
              </a:spcAft>
              <a:defRPr sz="800">
                <a:solidFill>
                  <a:srgbClr val="94A3B8"/>
                </a:solidFill>
                <a:latin typeface="Consolas"/>
              </a:defRPr>
            </a:pPr>
            <a:r>
              <a:t>    // Ép kiểu con trỏ hàm và thực thi thẳng trên SRAM!</a:t>
            </a:r>
          </a:p>
          <a:p>
            <a:pPr>
              <a:lnSpc>
                <a:spcPct val="108000"/>
              </a:lnSpc>
              <a:spcAft>
                <a:spcPts val="0"/>
              </a:spcAft>
              <a:defRPr sz="800">
                <a:solidFill>
                  <a:srgbClr val="93C5FD"/>
                </a:solidFill>
                <a:latin typeface="Consolas"/>
              </a:defRPr>
            </a:pPr>
            <a:r>
              <a:t>    ((void(*)(uint8_t*, uint32_t, uint32_t))func)(data, len, wrencmd);</a:t>
            </a:r>
          </a:p>
          <a:p>
            <a:pPr>
              <a:lnSpc>
                <a:spcPct val="108000"/>
              </a:lnSpc>
              <a:spcAft>
                <a:spcPts val="0"/>
              </a:spcAft>
              <a:defRPr sz="800">
                <a:solidFill>
                  <a:srgbClr val="FFFFFF"/>
                </a:solidFill>
                <a:latin typeface="Consolas"/>
              </a:defRPr>
            </a:pPr>
            <a:r>
              <a:t>}</a:t>
            </a:r>
          </a:p>
        </p:txBody>
      </p:sp>
      <p:sp>
        <p:nvSpPr>
          <p:cNvPr id="11" name="TextBox 10"/>
          <p:cNvSpPr txBox="1"/>
          <p:nvPr/>
        </p:nvSpPr>
        <p:spPr>
          <a:xfrm>
            <a:off x="868680" y="5833872"/>
            <a:ext cx="4983480" cy="274320"/>
          </a:xfrm>
          <a:prstGeom prst="rect">
            <a:avLst/>
          </a:prstGeom>
          <a:noFill/>
        </p:spPr>
        <p:txBody>
          <a:bodyPr wrap="none" lIns="0" tIns="0" rIns="0" bIns="0">
            <a:spAutoFit/>
          </a:bodyPr>
          <a:lstStyle/>
          <a:p>
            <a:pPr>
              <a:defRPr sz="819" b="1">
                <a:solidFill>
                  <a:srgbClr val="10B981"/>
                </a:solidFill>
                <a:latin typeface="Segoe UI"/>
              </a:defRPr>
            </a:pPr>
            <a:r>
              <a:t>=== SPICFG: 0x0200_0000 | COPIED TO SRAM @ 0x0000_0000 (ZERO-STALL) ===</a:t>
            </a:r>
          </a:p>
        </p:txBody>
      </p:sp>
      <p:sp>
        <p:nvSpPr>
          <p:cNvPr id="12" name="Rounded Rectangle 11"/>
          <p:cNvSpPr/>
          <p:nvPr/>
        </p:nvSpPr>
        <p:spPr>
          <a:xfrm>
            <a:off x="6172200" y="1188720"/>
            <a:ext cx="5285232" cy="5029200"/>
          </a:xfrm>
          <a:prstGeom prst="roundRect">
            <a:avLst/>
          </a:prstGeom>
          <a:solidFill>
            <a:srgbClr val="FFFFFF"/>
          </a:solidFill>
          <a:ln w="19050">
            <a:solidFill>
              <a:srgbClr val="7C3AE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355080" y="1325880"/>
            <a:ext cx="4919472" cy="4754880"/>
          </a:xfrm>
          <a:prstGeom prst="rect">
            <a:avLst/>
          </a:prstGeom>
          <a:noFill/>
        </p:spPr>
        <p:txBody>
          <a:bodyPr wrap="square">
            <a:spAutoFit/>
          </a:bodyPr>
          <a:lstStyle/>
          <a:p>
            <a:pPr>
              <a:spcAft>
                <a:spcPts val="800"/>
              </a:spcAft>
              <a:defRPr b="1" sz="1200">
                <a:solidFill>
                  <a:srgbClr val="7C3AED"/>
                </a:solidFill>
                <a:latin typeface="Segoe UI"/>
              </a:defRPr>
            </a:pPr>
            <a:r>
              <a:t>CƠ CHẾ IN-SRAM EXECUTION GIẢI QUYẾT XUNG ĐỘT BUS</a:t>
            </a:r>
          </a:p>
          <a:p>
            <a:pPr>
              <a:lnSpc>
                <a:spcPct val="115000"/>
              </a:lnSpc>
              <a:spcAft>
                <a:spcPts val="500"/>
              </a:spcAft>
              <a:defRPr sz="930">
                <a:solidFill>
                  <a:srgbClr val="0F172A"/>
                </a:solidFill>
                <a:latin typeface="Segoe UI"/>
              </a:defRPr>
            </a:pPr>
            <a:r>
              <a:t>• 1. Vấn đề xung đột bus cốt tử: CPU PicoRV32 đang kéo mã lệnh thực thi từ chip SPI Flash qua chế độ XIP. Khi muốn xóa sector hoặc ghi dữ liệu vào Flash, chip Flash sẽ bận và KHÔNG THỂ CUNG CẤP MÃ LỆNH CHO CPU -&gt; Hệ thống sẽ bị treo vĩnh viễn!</a:t>
            </a:r>
          </a:p>
          <a:p>
            <a:pPr>
              <a:lnSpc>
                <a:spcPct val="115000"/>
              </a:lnSpc>
              <a:spcAft>
                <a:spcPts val="500"/>
              </a:spcAft>
              <a:defRPr sz="930">
                <a:solidFill>
                  <a:srgbClr val="0F172A"/>
                </a:solidFill>
                <a:latin typeface="Segoe UI"/>
              </a:defRPr>
            </a:pPr>
            <a:r>
              <a:t>• 2. Giải pháp In-SRAM Execution: Sao chép đoạn mã máy flashio_worker từ Flash vào 1KB SRAM nội bộ và nhảy vào SRAM để thực thi. Trong suốt quá trình ghi Flash, CPU lấy mã lệnh từ 1KB SRAM nội mà không chạm vào Flash.</a:t>
            </a:r>
          </a:p>
          <a:p>
            <a:pPr>
              <a:lnSpc>
                <a:spcPct val="115000"/>
              </a:lnSpc>
              <a:spcAft>
                <a:spcPts val="500"/>
              </a:spcAft>
              <a:defRPr sz="930">
                <a:solidFill>
                  <a:srgbClr val="0F172A"/>
                </a:solidFill>
                <a:latin typeface="Segoe UI"/>
              </a:defRPr>
            </a:pPr>
            <a:r>
              <a:t>• 3. Tương tác địa chỉ 0x0200_0000: Đoạn mã worker ghi trực tiếp vào thanh ghi SPICFG tại 0x0200_0000 để bit-bang điều khiển chân CS, SCK, MOSI, MISO của chip Flash ngoài.</a:t>
            </a:r>
          </a:p>
          <a:p>
            <a:pPr>
              <a:lnSpc>
                <a:spcPct val="115000"/>
              </a:lnSpc>
              <a:spcAft>
                <a:spcPts val="500"/>
              </a:spcAft>
              <a:defRPr sz="930">
                <a:solidFill>
                  <a:srgbClr val="0F172A"/>
                </a:solidFill>
                <a:latin typeface="Segoe UI"/>
              </a:defRPr>
            </a:pPr>
            <a:r>
              <a:t>• 4. Ý nghĩa kỹ thuật đỉnh cao: Hiện thực hóa khả năng tự lập trình lại bộ nhớ không bay hơi (Self-Programming NVM) trên vi mạch SoC mà không cần thêm bộ nhớ ROM phụ trợ.</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1440"/>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201168"/>
            <a:ext cx="10728655" cy="868680"/>
          </a:xfrm>
          <a:prstGeom prst="rect">
            <a:avLst/>
          </a:prstGeom>
          <a:noFill/>
        </p:spPr>
        <p:txBody>
          <a:bodyPr wrap="square" lIns="0" tIns="0" rIns="0" bIns="0">
            <a:spAutoFit/>
          </a:bodyPr>
          <a:lstStyle/>
          <a:p>
            <a:pPr>
              <a:spcAft>
                <a:spcPts val="200"/>
              </a:spcAft>
              <a:defRPr sz="1050" b="1">
                <a:solidFill>
                  <a:srgbClr val="2563EB"/>
                </a:solidFill>
                <a:latin typeface="Segoe UI"/>
              </a:defRPr>
            </a:pPr>
            <a:r>
              <a:t>PHẦN 5: DEMO CHỨC NĂNG SẢN PHẨM</a:t>
            </a:r>
          </a:p>
          <a:p>
            <a:pPr>
              <a:defRPr sz="1700" b="1">
                <a:solidFill>
                  <a:srgbClr val="0F172A"/>
                </a:solidFill>
                <a:latin typeface="Segoe UI"/>
              </a:defRPr>
            </a:pPr>
            <a:r>
              <a:t>Kiểm Chứng Thực Nghiệm Trên FPGA Basys 3: Thiết Lập Kết Nối Phần Cứng</a:t>
            </a:r>
          </a:p>
        </p:txBody>
      </p:sp>
      <p:sp>
        <p:nvSpPr>
          <p:cNvPr id="5" name="Rectangle 4"/>
          <p:cNvSpPr/>
          <p:nvPr/>
        </p:nvSpPr>
        <p:spPr>
          <a:xfrm>
            <a:off x="731520" y="6446520"/>
            <a:ext cx="10728655" cy="18288"/>
          </a:xfrm>
          <a:prstGeom prst="rect">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31520" y="6492240"/>
            <a:ext cx="7315200" cy="274320"/>
          </a:xfrm>
          <a:prstGeom prst="rect">
            <a:avLst/>
          </a:prstGeom>
          <a:noFill/>
        </p:spPr>
        <p:txBody>
          <a:bodyPr wrap="none" lIns="0" tIns="0" rIns="0" bIns="0">
            <a:spAutoFit/>
          </a:bodyPr>
          <a:lstStyle/>
          <a:p>
            <a:pPr>
              <a:defRPr sz="950">
                <a:solidFill>
                  <a:srgbClr val="475569"/>
                </a:solidFill>
                <a:latin typeface="Segoe UI"/>
              </a:defRPr>
            </a:pPr>
            <a:r>
              <a:t>Đồ Án Tốt Nghiệp: SoC PicoRV32 RFID RDM6300 &amp; SPI Flash | SV: Thái Tuấn Hiệp | GVHD: ThS. Nguyễn Văn Đông</a:t>
            </a:r>
          </a:p>
        </p:txBody>
      </p:sp>
      <p:sp>
        <p:nvSpPr>
          <p:cNvPr id="7" name="TextBox 6"/>
          <p:cNvSpPr txBox="1"/>
          <p:nvPr/>
        </p:nvSpPr>
        <p:spPr>
          <a:xfrm>
            <a:off x="10058400" y="6492240"/>
            <a:ext cx="1401775" cy="274320"/>
          </a:xfrm>
          <a:prstGeom prst="rect">
            <a:avLst/>
          </a:prstGeom>
          <a:noFill/>
        </p:spPr>
        <p:txBody>
          <a:bodyPr wrap="none" lIns="0" tIns="0" rIns="0" bIns="0">
            <a:spAutoFit/>
          </a:bodyPr>
          <a:lstStyle/>
          <a:p>
            <a:pPr algn="r">
              <a:defRPr sz="950" b="1">
                <a:solidFill>
                  <a:srgbClr val="2563EB"/>
                </a:solidFill>
                <a:latin typeface="Segoe UI"/>
              </a:defRPr>
            </a:pPr>
            <a:r>
              <a:t>20 / 24</a:t>
            </a:r>
          </a:p>
        </p:txBody>
      </p:sp>
      <p:sp>
        <p:nvSpPr>
          <p:cNvPr id="8" name="Rounded Rectangle 7"/>
          <p:cNvSpPr/>
          <p:nvPr/>
        </p:nvSpPr>
        <p:spPr>
          <a:xfrm>
            <a:off x="731520" y="1280160"/>
            <a:ext cx="3429000" cy="4846320"/>
          </a:xfrm>
          <a:prstGeom prst="roundRect">
            <a:avLst/>
          </a:prstGeom>
          <a:solidFill>
            <a:srgbClr val="FFFFFF"/>
          </a:solidFill>
          <a:ln w="25400">
            <a:solidFill>
              <a:srgbClr val="D9770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96112" y="1463040"/>
            <a:ext cx="3099816" cy="4480560"/>
          </a:xfrm>
          <a:prstGeom prst="rect">
            <a:avLst/>
          </a:prstGeom>
          <a:noFill/>
        </p:spPr>
        <p:txBody>
          <a:bodyPr wrap="square">
            <a:spAutoFit/>
          </a:bodyPr>
          <a:lstStyle/>
          <a:p>
            <a:pPr>
              <a:spcAft>
                <a:spcPts val="1200"/>
              </a:spcAft>
              <a:defRPr sz="1200" b="1">
                <a:solidFill>
                  <a:srgbClr val="D97706"/>
                </a:solidFill>
                <a:latin typeface="Segoe UI"/>
              </a:defRPr>
            </a:pPr>
            <a:r>
              <a:t>KẾT NỐI ĐẦU ĐỌC RFID RDM6300</a:t>
            </a:r>
          </a:p>
          <a:p>
            <a:pPr>
              <a:lnSpc>
                <a:spcPct val="115000"/>
              </a:lnSpc>
              <a:spcAft>
                <a:spcPts val="800"/>
              </a:spcAft>
              <a:defRPr sz="1050">
                <a:solidFill>
                  <a:srgbClr val="0F172A"/>
                </a:solidFill>
                <a:latin typeface="Segoe UI"/>
              </a:defRPr>
            </a:pPr>
            <a:r>
              <a:t>• Cổng PMOD JA trên Basys 3: Cắm module RDM6300 trực tiếp vào cổng PMOD JA.</a:t>
            </a:r>
          </a:p>
          <a:p>
            <a:pPr>
              <a:lnSpc>
                <a:spcPct val="115000"/>
              </a:lnSpc>
              <a:spcAft>
                <a:spcPts val="800"/>
              </a:spcAft>
              <a:defRPr sz="1050">
                <a:solidFill>
                  <a:srgbClr val="0F172A"/>
                </a:solidFill>
                <a:latin typeface="Segoe UI"/>
              </a:defRPr>
            </a:pPr>
            <a:r>
              <a:t>• Chân JA1 (Pin J1 FPGA): Nhận luồng dữ liệu UART TX 9600-8-N-1 từ RDM6300.</a:t>
            </a:r>
          </a:p>
          <a:p>
            <a:pPr>
              <a:lnSpc>
                <a:spcPct val="115000"/>
              </a:lnSpc>
              <a:spcAft>
                <a:spcPts val="800"/>
              </a:spcAft>
              <a:defRPr sz="1050">
                <a:solidFill>
                  <a:srgbClr val="0F172A"/>
                </a:solidFill>
                <a:latin typeface="Segoe UI"/>
              </a:defRPr>
            </a:pPr>
            <a:r>
              <a:t>• Nguồn cấp 5V &amp; GND: Lấy trực tiếp từ chân VCC/GND của cổng PMOD bo mạch.</a:t>
            </a:r>
          </a:p>
          <a:p>
            <a:pPr>
              <a:lnSpc>
                <a:spcPct val="115000"/>
              </a:lnSpc>
              <a:spcAft>
                <a:spcPts val="800"/>
              </a:spcAft>
              <a:defRPr sz="1050">
                <a:solidFill>
                  <a:srgbClr val="0F172A"/>
                </a:solidFill>
                <a:latin typeface="Segoe UI"/>
              </a:defRPr>
            </a:pPr>
            <a:r>
              <a:t>• Ăng-ten cuộn cảm rời: Đặt cách ly chống nhiễu từ trường với các linh kiện số trên bo mạch.</a:t>
            </a:r>
          </a:p>
        </p:txBody>
      </p:sp>
      <p:sp>
        <p:nvSpPr>
          <p:cNvPr id="10" name="Rounded Rectangle 9"/>
          <p:cNvSpPr/>
          <p:nvPr/>
        </p:nvSpPr>
        <p:spPr>
          <a:xfrm>
            <a:off x="4343400" y="1280160"/>
            <a:ext cx="3429000" cy="4846320"/>
          </a:xfrm>
          <a:prstGeom prst="roundRect">
            <a:avLst/>
          </a:prstGeom>
          <a:solidFill>
            <a:srgbClr val="FFFFFF"/>
          </a:solidFill>
          <a:ln w="2540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507992" y="1463040"/>
            <a:ext cx="3099816" cy="4480560"/>
          </a:xfrm>
          <a:prstGeom prst="rect">
            <a:avLst/>
          </a:prstGeom>
          <a:noFill/>
        </p:spPr>
        <p:txBody>
          <a:bodyPr wrap="square">
            <a:spAutoFit/>
          </a:bodyPr>
          <a:lstStyle/>
          <a:p>
            <a:pPr>
              <a:spcAft>
                <a:spcPts val="1200"/>
              </a:spcAft>
              <a:defRPr sz="1200" b="1">
                <a:solidFill>
                  <a:srgbClr val="2563EB"/>
                </a:solidFill>
                <a:latin typeface="Segoe UI"/>
              </a:defRPr>
            </a:pPr>
            <a:r>
              <a:t>KẾT NỐI MÁY TÍNH HOST PC</a:t>
            </a:r>
          </a:p>
          <a:p>
            <a:pPr>
              <a:lnSpc>
                <a:spcPct val="115000"/>
              </a:lnSpc>
              <a:spcAft>
                <a:spcPts val="800"/>
              </a:spcAft>
              <a:defRPr sz="1050">
                <a:solidFill>
                  <a:srgbClr val="0F172A"/>
                </a:solidFill>
                <a:latin typeface="Segoe UI"/>
              </a:defRPr>
            </a:pPr>
            <a:r>
              <a:t>• Cáp Micro-USB tiêu chuẩn: Vừa cấp nguồn +5V DC vừa mở cổng COM ảo qua chip FTDI.</a:t>
            </a:r>
          </a:p>
          <a:p>
            <a:pPr>
              <a:lnSpc>
                <a:spcPct val="115000"/>
              </a:lnSpc>
              <a:spcAft>
                <a:spcPts val="800"/>
              </a:spcAft>
              <a:defRPr sz="1050">
                <a:solidFill>
                  <a:srgbClr val="0F172A"/>
                </a:solidFill>
                <a:latin typeface="Segoe UI"/>
              </a:defRPr>
            </a:pPr>
            <a:r>
              <a:t>• Tốc độ baud 9600 bps: Giao tiếp Full-Duplex tin cậy giữa máy tính và SoC PicoRV32.</a:t>
            </a:r>
          </a:p>
          <a:p>
            <a:pPr>
              <a:lnSpc>
                <a:spcPct val="115000"/>
              </a:lnSpc>
              <a:spcAft>
                <a:spcPts val="800"/>
              </a:spcAft>
              <a:defRPr sz="1050">
                <a:solidFill>
                  <a:srgbClr val="0F172A"/>
                </a:solidFill>
                <a:latin typeface="Segoe UI"/>
              </a:defRPr>
            </a:pPr>
            <a:r>
              <a:t>• Phần mềm Host Console C: Giao diện dòng lệnh tương tác 11 chức năng quản trị cơ sở dữ liệu thẻ.</a:t>
            </a:r>
          </a:p>
          <a:p>
            <a:pPr>
              <a:lnSpc>
                <a:spcPct val="115000"/>
              </a:lnSpc>
              <a:spcAft>
                <a:spcPts val="800"/>
              </a:spcAft>
              <a:defRPr sz="1050">
                <a:solidFill>
                  <a:srgbClr val="0F172A"/>
                </a:solidFill>
                <a:latin typeface="Segoe UI"/>
              </a:defRPr>
            </a:pPr>
            <a:r>
              <a:t>• Trích xuất dữ liệu tự động: Tự động sao lưu lịch sử quẹt thẻ ra file CSV trên máy tính.</a:t>
            </a:r>
          </a:p>
        </p:txBody>
      </p:sp>
      <p:sp>
        <p:nvSpPr>
          <p:cNvPr id="12" name="Rounded Rectangle 11"/>
          <p:cNvSpPr/>
          <p:nvPr/>
        </p:nvSpPr>
        <p:spPr>
          <a:xfrm>
            <a:off x="7955280" y="1280160"/>
            <a:ext cx="3429000" cy="4846320"/>
          </a:xfrm>
          <a:prstGeom prst="roundRect">
            <a:avLst/>
          </a:prstGeom>
          <a:solidFill>
            <a:srgbClr val="FFFFFF"/>
          </a:solidFill>
          <a:ln w="25400">
            <a:solidFill>
              <a:srgbClr val="7C3AE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119872" y="1463040"/>
            <a:ext cx="3099816" cy="4480560"/>
          </a:xfrm>
          <a:prstGeom prst="rect">
            <a:avLst/>
          </a:prstGeom>
          <a:noFill/>
        </p:spPr>
        <p:txBody>
          <a:bodyPr wrap="square">
            <a:spAutoFit/>
          </a:bodyPr>
          <a:lstStyle/>
          <a:p>
            <a:pPr>
              <a:spcAft>
                <a:spcPts val="1200"/>
              </a:spcAft>
              <a:defRPr sz="1200" b="1">
                <a:solidFill>
                  <a:srgbClr val="7C3AED"/>
                </a:solidFill>
                <a:latin typeface="Segoe UI"/>
              </a:defRPr>
            </a:pPr>
            <a:r>
              <a:t>ĐIỀU KHIỂN FLASH &amp; HIỂN THỊ LED</a:t>
            </a:r>
          </a:p>
          <a:p>
            <a:pPr>
              <a:lnSpc>
                <a:spcPct val="115000"/>
              </a:lnSpc>
              <a:spcAft>
                <a:spcPts val="800"/>
              </a:spcAft>
              <a:defRPr sz="1050">
                <a:solidFill>
                  <a:srgbClr val="0F172A"/>
                </a:solidFill>
                <a:latin typeface="Segoe UI"/>
              </a:defRPr>
            </a:pPr>
            <a:r>
              <a:t>• Nguyên thủy STARTUPE2: Đưa xung nhịp Flash SCK vào USRCCLKO để làm chủ chân CCLK nối tới chip Flash.</a:t>
            </a:r>
          </a:p>
          <a:p>
            <a:pPr>
              <a:lnSpc>
                <a:spcPct val="115000"/>
              </a:lnSpc>
              <a:spcAft>
                <a:spcPts val="800"/>
              </a:spcAft>
              <a:defRPr sz="1050">
                <a:solidFill>
                  <a:srgbClr val="0F172A"/>
                </a:solidFill>
                <a:latin typeface="Segoe UI"/>
              </a:defRPr>
            </a:pPr>
            <a:r>
              <a:t>• Chip Flash Spansion S25FL032P: Lưu trữ bền vững danh mục Whitelist (Sector 48) và Access Logs (Sector 49).</a:t>
            </a:r>
          </a:p>
          <a:p>
            <a:pPr>
              <a:lnSpc>
                <a:spcPct val="115000"/>
              </a:lnSpc>
              <a:spcAft>
                <a:spcPts val="800"/>
              </a:spcAft>
              <a:defRPr sz="1050">
                <a:solidFill>
                  <a:srgbClr val="0F172A"/>
                </a:solidFill>
                <a:latin typeface="Segoe UI"/>
              </a:defRPr>
            </a:pPr>
            <a:r>
              <a:t>• LED[0] (Heartbeat): Nhấp nháy 1 Hz báo hiệu CPU PicoRV32 đang hoạt động bình thường.</a:t>
            </a:r>
          </a:p>
          <a:p>
            <a:pPr>
              <a:lnSpc>
                <a:spcPct val="115000"/>
              </a:lnSpc>
              <a:spcAft>
                <a:spcPts val="800"/>
              </a:spcAft>
              <a:defRPr sz="1050">
                <a:solidFill>
                  <a:srgbClr val="0F172A"/>
                </a:solidFill>
                <a:latin typeface="Segoe UI"/>
              </a:defRPr>
            </a:pPr>
            <a:r>
              <a:t>• LED[1] &amp; LED[2]: LED[1] sáng khi chip Flash đang bận ghi; LED[2] sáng khi quẹt thẻ hợp lệ.</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1440"/>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201168"/>
            <a:ext cx="10728655" cy="868680"/>
          </a:xfrm>
          <a:prstGeom prst="rect">
            <a:avLst/>
          </a:prstGeom>
          <a:noFill/>
        </p:spPr>
        <p:txBody>
          <a:bodyPr wrap="square" lIns="0" tIns="0" rIns="0" bIns="0">
            <a:spAutoFit/>
          </a:bodyPr>
          <a:lstStyle/>
          <a:p>
            <a:pPr>
              <a:spcAft>
                <a:spcPts val="200"/>
              </a:spcAft>
              <a:defRPr sz="1050" b="1">
                <a:solidFill>
                  <a:srgbClr val="2563EB"/>
                </a:solidFill>
                <a:latin typeface="Segoe UI"/>
              </a:defRPr>
            </a:pPr>
            <a:r>
              <a:t>PHẦN 5: DEMO CHỨC NĂNG SẢN PHẨM</a:t>
            </a:r>
          </a:p>
          <a:p>
            <a:pPr>
              <a:defRPr sz="1700" b="1">
                <a:solidFill>
                  <a:srgbClr val="0F172A"/>
                </a:solidFill>
                <a:latin typeface="Segoe UI"/>
              </a:defRPr>
            </a:pPr>
            <a:r>
              <a:t>Các Kịch Bản Thực Nghiệm Quẹt Thẻ Thực Tế Trên FPGA Basys 3</a:t>
            </a:r>
          </a:p>
        </p:txBody>
      </p:sp>
      <p:sp>
        <p:nvSpPr>
          <p:cNvPr id="5" name="Rectangle 4"/>
          <p:cNvSpPr/>
          <p:nvPr/>
        </p:nvSpPr>
        <p:spPr>
          <a:xfrm>
            <a:off x="731520" y="6446520"/>
            <a:ext cx="10728655" cy="18288"/>
          </a:xfrm>
          <a:prstGeom prst="rect">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31520" y="6492240"/>
            <a:ext cx="7315200" cy="274320"/>
          </a:xfrm>
          <a:prstGeom prst="rect">
            <a:avLst/>
          </a:prstGeom>
          <a:noFill/>
        </p:spPr>
        <p:txBody>
          <a:bodyPr wrap="none" lIns="0" tIns="0" rIns="0" bIns="0">
            <a:spAutoFit/>
          </a:bodyPr>
          <a:lstStyle/>
          <a:p>
            <a:pPr>
              <a:defRPr sz="950">
                <a:solidFill>
                  <a:srgbClr val="475569"/>
                </a:solidFill>
                <a:latin typeface="Segoe UI"/>
              </a:defRPr>
            </a:pPr>
            <a:r>
              <a:t>Đồ Án Tốt Nghiệp: SoC PicoRV32 RFID RDM6300 &amp; SPI Flash | SV: Thái Tuấn Hiệp | GVHD: ThS. Nguyễn Văn Đông</a:t>
            </a:r>
          </a:p>
        </p:txBody>
      </p:sp>
      <p:sp>
        <p:nvSpPr>
          <p:cNvPr id="7" name="TextBox 6"/>
          <p:cNvSpPr txBox="1"/>
          <p:nvPr/>
        </p:nvSpPr>
        <p:spPr>
          <a:xfrm>
            <a:off x="10058400" y="6492240"/>
            <a:ext cx="1401775" cy="274320"/>
          </a:xfrm>
          <a:prstGeom prst="rect">
            <a:avLst/>
          </a:prstGeom>
          <a:noFill/>
        </p:spPr>
        <p:txBody>
          <a:bodyPr wrap="none" lIns="0" tIns="0" rIns="0" bIns="0">
            <a:spAutoFit/>
          </a:bodyPr>
          <a:lstStyle/>
          <a:p>
            <a:pPr algn="r">
              <a:defRPr sz="950" b="1">
                <a:solidFill>
                  <a:srgbClr val="2563EB"/>
                </a:solidFill>
                <a:latin typeface="Segoe UI"/>
              </a:defRPr>
            </a:pPr>
            <a:r>
              <a:t>21 / 24</a:t>
            </a:r>
          </a:p>
        </p:txBody>
      </p:sp>
      <p:sp>
        <p:nvSpPr>
          <p:cNvPr id="8" name="Rounded Rectangle 7"/>
          <p:cNvSpPr/>
          <p:nvPr/>
        </p:nvSpPr>
        <p:spPr>
          <a:xfrm>
            <a:off x="731520" y="1280160"/>
            <a:ext cx="5120640" cy="2148840"/>
          </a:xfrm>
          <a:prstGeom prst="roundRect">
            <a:avLst/>
          </a:prstGeom>
          <a:solidFill>
            <a:srgbClr val="FFFFFF"/>
          </a:solidFill>
          <a:ln w="2540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4400" y="1417320"/>
            <a:ext cx="4754880" cy="1874520"/>
          </a:xfrm>
          <a:prstGeom prst="rect">
            <a:avLst/>
          </a:prstGeom>
          <a:noFill/>
        </p:spPr>
        <p:txBody>
          <a:bodyPr wrap="square">
            <a:spAutoFit/>
          </a:bodyPr>
          <a:lstStyle/>
          <a:p>
            <a:pPr>
              <a:spcAft>
                <a:spcPts val="800"/>
              </a:spcAft>
              <a:defRPr sz="1250" b="1">
                <a:solidFill>
                  <a:srgbClr val="2563EB"/>
                </a:solidFill>
                <a:latin typeface="Segoe UI"/>
              </a:defRPr>
            </a:pPr>
            <a:r>
              <a:t>KỊCH BẢN 1: PING PHẦN CỨNG</a:t>
            </a:r>
          </a:p>
          <a:p>
            <a:pPr>
              <a:lnSpc>
                <a:spcPct val="115000"/>
              </a:lnSpc>
              <a:spcAft>
                <a:spcPts val="400"/>
              </a:spcAft>
              <a:defRPr sz="1050">
                <a:solidFill>
                  <a:srgbClr val="0F172A"/>
                </a:solidFill>
                <a:latin typeface="Segoe UI"/>
              </a:defRPr>
            </a:pPr>
            <a:r>
              <a:t>• Thao tác: Chọn menu [1] trên Host Console gửi lệnh 'P'.</a:t>
            </a:r>
          </a:p>
          <a:p>
            <a:pPr>
              <a:lnSpc>
                <a:spcPct val="115000"/>
              </a:lnSpc>
              <a:spcAft>
                <a:spcPts val="400"/>
              </a:spcAft>
              <a:defRPr sz="1050">
                <a:solidFill>
                  <a:srgbClr val="0F172A"/>
                </a:solidFill>
                <a:latin typeface="Segoe UI"/>
              </a:defRPr>
            </a:pPr>
            <a:r>
              <a:t>• Kết quả: PicoRV32 phản hồi ngay 'PONG: PicoRV32 Active'.</a:t>
            </a:r>
          </a:p>
          <a:p>
            <a:pPr>
              <a:lnSpc>
                <a:spcPct val="115000"/>
              </a:lnSpc>
              <a:spcAft>
                <a:spcPts val="400"/>
              </a:spcAft>
              <a:defRPr sz="1050">
                <a:solidFill>
                  <a:srgbClr val="0F172A"/>
                </a:solidFill>
                <a:latin typeface="Segoe UI"/>
              </a:defRPr>
            </a:pPr>
            <a:r>
              <a:t>• Ý nghĩa: Khẳng định CPU, Interconnect và UART hoạt động thông suốt.</a:t>
            </a:r>
          </a:p>
        </p:txBody>
      </p:sp>
      <p:sp>
        <p:nvSpPr>
          <p:cNvPr id="10" name="Rounded Rectangle 9"/>
          <p:cNvSpPr/>
          <p:nvPr/>
        </p:nvSpPr>
        <p:spPr>
          <a:xfrm>
            <a:off x="6126480" y="1280160"/>
            <a:ext cx="5120640" cy="2148840"/>
          </a:xfrm>
          <a:prstGeom prst="roundRect">
            <a:avLst/>
          </a:prstGeom>
          <a:solidFill>
            <a:srgbClr val="FFFFFF"/>
          </a:solidFill>
          <a:ln w="25400">
            <a:solidFill>
              <a:srgbClr val="E11D4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309360" y="1417320"/>
            <a:ext cx="4754880" cy="1874520"/>
          </a:xfrm>
          <a:prstGeom prst="rect">
            <a:avLst/>
          </a:prstGeom>
          <a:noFill/>
        </p:spPr>
        <p:txBody>
          <a:bodyPr wrap="square">
            <a:spAutoFit/>
          </a:bodyPr>
          <a:lstStyle/>
          <a:p>
            <a:pPr>
              <a:spcAft>
                <a:spcPts val="800"/>
              </a:spcAft>
              <a:defRPr sz="1250" b="1">
                <a:solidFill>
                  <a:srgbClr val="E11D48"/>
                </a:solidFill>
                <a:latin typeface="Segoe UI"/>
              </a:defRPr>
            </a:pPr>
            <a:r>
              <a:t>KỊCH BẢN 2: THẺ CHƯA ĐĂNG KÝ</a:t>
            </a:r>
          </a:p>
          <a:p>
            <a:pPr>
              <a:lnSpc>
                <a:spcPct val="115000"/>
              </a:lnSpc>
              <a:spcAft>
                <a:spcPts val="400"/>
              </a:spcAft>
              <a:defRPr sz="1050">
                <a:solidFill>
                  <a:srgbClr val="0F172A"/>
                </a:solidFill>
                <a:latin typeface="Segoe UI"/>
              </a:defRPr>
            </a:pPr>
            <a:r>
              <a:t>• Thao tác: Quẹt thẻ thật 0007508976 chưa có trong Flash.</a:t>
            </a:r>
          </a:p>
          <a:p>
            <a:pPr>
              <a:lnSpc>
                <a:spcPct val="115000"/>
              </a:lnSpc>
              <a:spcAft>
                <a:spcPts val="400"/>
              </a:spcAft>
              <a:defRPr sz="1050">
                <a:solidFill>
                  <a:srgbClr val="0F172A"/>
                </a:solidFill>
                <a:latin typeface="Segoe UI"/>
              </a:defRPr>
            </a:pPr>
            <a:r>
              <a:t>• Phản hồi: Hệ thống bóc tách UID 00007293F0 -&gt; 'ACCESS:DENIED'.</a:t>
            </a:r>
          </a:p>
          <a:p>
            <a:pPr>
              <a:lnSpc>
                <a:spcPct val="115000"/>
              </a:lnSpc>
              <a:spcAft>
                <a:spcPts val="400"/>
              </a:spcAft>
              <a:defRPr sz="1050">
                <a:solidFill>
                  <a:srgbClr val="0F172A"/>
                </a:solidFill>
                <a:latin typeface="Segoe UI"/>
              </a:defRPr>
            </a:pPr>
            <a:r>
              <a:t>• Tác động: Nháy LED đỏ cảnh báo, ghi vết FAIL vào Flash Sector 49.</a:t>
            </a:r>
          </a:p>
        </p:txBody>
      </p:sp>
      <p:sp>
        <p:nvSpPr>
          <p:cNvPr id="12" name="Rounded Rectangle 11"/>
          <p:cNvSpPr/>
          <p:nvPr/>
        </p:nvSpPr>
        <p:spPr>
          <a:xfrm>
            <a:off x="731520" y="3703320"/>
            <a:ext cx="5120640" cy="2148840"/>
          </a:xfrm>
          <a:prstGeom prst="roundRect">
            <a:avLst/>
          </a:prstGeom>
          <a:solidFill>
            <a:srgbClr val="FFFFFF"/>
          </a:solidFill>
          <a:ln w="25400">
            <a:solidFill>
              <a:srgbClr val="D9770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14400" y="3840480"/>
            <a:ext cx="4754880" cy="1874520"/>
          </a:xfrm>
          <a:prstGeom prst="rect">
            <a:avLst/>
          </a:prstGeom>
          <a:noFill/>
        </p:spPr>
        <p:txBody>
          <a:bodyPr wrap="square">
            <a:spAutoFit/>
          </a:bodyPr>
          <a:lstStyle/>
          <a:p>
            <a:pPr>
              <a:spcAft>
                <a:spcPts val="800"/>
              </a:spcAft>
              <a:defRPr sz="1250" b="1">
                <a:solidFill>
                  <a:srgbClr val="D97706"/>
                </a:solidFill>
                <a:latin typeface="Segoe UI"/>
              </a:defRPr>
            </a:pPr>
            <a:r>
              <a:t>KỊCH BẢN 3: ĐĂNG KÝ THẺ VÀO FLASH</a:t>
            </a:r>
          </a:p>
          <a:p>
            <a:pPr>
              <a:lnSpc>
                <a:spcPct val="115000"/>
              </a:lnSpc>
              <a:spcAft>
                <a:spcPts val="400"/>
              </a:spcAft>
              <a:defRPr sz="1050">
                <a:solidFill>
                  <a:srgbClr val="0F172A"/>
                </a:solidFill>
                <a:latin typeface="Segoe UI"/>
              </a:defRPr>
            </a:pPr>
            <a:r>
              <a:t>• Thao tác: Chọn menu [2] nhập 10 số in trên thẻ (0007508976).</a:t>
            </a:r>
          </a:p>
          <a:p>
            <a:pPr>
              <a:lnSpc>
                <a:spcPct val="115000"/>
              </a:lnSpc>
              <a:spcAft>
                <a:spcPts val="400"/>
              </a:spcAft>
              <a:defRPr sz="1050">
                <a:solidFill>
                  <a:srgbClr val="0F172A"/>
                </a:solidFill>
                <a:latin typeface="Segoe UI"/>
              </a:defRPr>
            </a:pPr>
            <a:r>
              <a:t>• Xử lý: CPU nạp flashio_worker vào SRAM ghi vào Sector 48.</a:t>
            </a:r>
          </a:p>
          <a:p>
            <a:pPr>
              <a:lnSpc>
                <a:spcPct val="115000"/>
              </a:lnSpc>
              <a:spcAft>
                <a:spcPts val="400"/>
              </a:spcAft>
              <a:defRPr sz="1050">
                <a:solidFill>
                  <a:srgbClr val="0F172A"/>
                </a:solidFill>
                <a:latin typeface="Segoe UI"/>
              </a:defRPr>
            </a:pPr>
            <a:r>
              <a:t>• Kết quả: Lưu thành công tại Slot #0 (0x300000), nháy LED Flash.</a:t>
            </a:r>
          </a:p>
        </p:txBody>
      </p:sp>
      <p:sp>
        <p:nvSpPr>
          <p:cNvPr id="14" name="Rounded Rectangle 13"/>
          <p:cNvSpPr/>
          <p:nvPr/>
        </p:nvSpPr>
        <p:spPr>
          <a:xfrm>
            <a:off x="6126480" y="3703320"/>
            <a:ext cx="5120640" cy="2148840"/>
          </a:xfrm>
          <a:prstGeom prst="roundRect">
            <a:avLst/>
          </a:prstGeom>
          <a:solidFill>
            <a:srgbClr val="FFFFFF"/>
          </a:solidFill>
          <a:ln w="25400">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309360" y="3840480"/>
            <a:ext cx="4754880" cy="1874520"/>
          </a:xfrm>
          <a:prstGeom prst="rect">
            <a:avLst/>
          </a:prstGeom>
          <a:noFill/>
        </p:spPr>
        <p:txBody>
          <a:bodyPr wrap="square">
            <a:spAutoFit/>
          </a:bodyPr>
          <a:lstStyle/>
          <a:p>
            <a:pPr>
              <a:spcAft>
                <a:spcPts val="800"/>
              </a:spcAft>
              <a:defRPr sz="1250" b="1">
                <a:solidFill>
                  <a:srgbClr val="10B981"/>
                </a:solidFill>
                <a:latin typeface="Segoe UI"/>
              </a:defRPr>
            </a:pPr>
            <a:r>
              <a:t>KỊCH BẢN 4: QUẸT THẺ HỢP LỆ</a:t>
            </a:r>
          </a:p>
          <a:p>
            <a:pPr>
              <a:lnSpc>
                <a:spcPct val="115000"/>
              </a:lnSpc>
              <a:spcAft>
                <a:spcPts val="400"/>
              </a:spcAft>
              <a:defRPr sz="1050">
                <a:solidFill>
                  <a:srgbClr val="0F172A"/>
                </a:solidFill>
                <a:latin typeface="Segoe UI"/>
              </a:defRPr>
            </a:pPr>
            <a:r>
              <a:t>• Thao tác: Quẹt lại thẻ 0007508976 lên đầu đọc RDM6300.</a:t>
            </a:r>
          </a:p>
          <a:p>
            <a:pPr>
              <a:lnSpc>
                <a:spcPct val="115000"/>
              </a:lnSpc>
              <a:spcAft>
                <a:spcPts val="400"/>
              </a:spcAft>
              <a:defRPr sz="1050">
                <a:solidFill>
                  <a:srgbClr val="0F172A"/>
                </a:solidFill>
                <a:latin typeface="Segoe UI"/>
              </a:defRPr>
            </a:pPr>
            <a:r>
              <a:t>• Phản hồi: SoC tra cứu trúng Slot #0 -&gt; 'ACCESS:GRANTED'.</a:t>
            </a:r>
          </a:p>
          <a:p>
            <a:pPr>
              <a:lnSpc>
                <a:spcPct val="115000"/>
              </a:lnSpc>
              <a:spcAft>
                <a:spcPts val="400"/>
              </a:spcAft>
              <a:defRPr sz="1050">
                <a:solidFill>
                  <a:srgbClr val="0F172A"/>
                </a:solidFill>
                <a:latin typeface="Segoe UI"/>
              </a:defRPr>
            </a:pPr>
            <a:r>
              <a:t>• Tác động: Bật sáng LED xanh mở cửa, ghi vết SUCC vào Flash Sector 49.</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1440"/>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201168"/>
            <a:ext cx="10728655" cy="868680"/>
          </a:xfrm>
          <a:prstGeom prst="rect">
            <a:avLst/>
          </a:prstGeom>
          <a:noFill/>
        </p:spPr>
        <p:txBody>
          <a:bodyPr wrap="square" lIns="0" tIns="0" rIns="0" bIns="0">
            <a:spAutoFit/>
          </a:bodyPr>
          <a:lstStyle/>
          <a:p>
            <a:pPr>
              <a:spcAft>
                <a:spcPts val="200"/>
              </a:spcAft>
              <a:defRPr sz="1050" b="1">
                <a:solidFill>
                  <a:srgbClr val="2563EB"/>
                </a:solidFill>
                <a:latin typeface="Segoe UI"/>
              </a:defRPr>
            </a:pPr>
            <a:r>
              <a:t>PHẦN 6: THIẾT KẾ VẬT LÝ ASIC</a:t>
            </a:r>
          </a:p>
          <a:p>
            <a:pPr>
              <a:defRPr sz="1700" b="1">
                <a:solidFill>
                  <a:srgbClr val="0F172A"/>
                </a:solidFill>
                <a:latin typeface="Segoe UI"/>
              </a:defRPr>
            </a:pPr>
            <a:r>
              <a:t>Quy Trình Thiết Kế Vật Lý Vi Mạch RTL-to-GDSII Trên OpenLane 2</a:t>
            </a:r>
          </a:p>
        </p:txBody>
      </p:sp>
      <p:sp>
        <p:nvSpPr>
          <p:cNvPr id="5" name="Rectangle 4"/>
          <p:cNvSpPr/>
          <p:nvPr/>
        </p:nvSpPr>
        <p:spPr>
          <a:xfrm>
            <a:off x="731520" y="6446520"/>
            <a:ext cx="10728655" cy="18288"/>
          </a:xfrm>
          <a:prstGeom prst="rect">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31520" y="6492240"/>
            <a:ext cx="7315200" cy="274320"/>
          </a:xfrm>
          <a:prstGeom prst="rect">
            <a:avLst/>
          </a:prstGeom>
          <a:noFill/>
        </p:spPr>
        <p:txBody>
          <a:bodyPr wrap="none" lIns="0" tIns="0" rIns="0" bIns="0">
            <a:spAutoFit/>
          </a:bodyPr>
          <a:lstStyle/>
          <a:p>
            <a:pPr>
              <a:defRPr sz="950">
                <a:solidFill>
                  <a:srgbClr val="475569"/>
                </a:solidFill>
                <a:latin typeface="Segoe UI"/>
              </a:defRPr>
            </a:pPr>
            <a:r>
              <a:t>Đồ Án Tốt Nghiệp: SoC PicoRV32 RFID RDM6300 &amp; SPI Flash | SV: Thái Tuấn Hiệp | GVHD: ThS. Nguyễn Văn Đông</a:t>
            </a:r>
          </a:p>
        </p:txBody>
      </p:sp>
      <p:sp>
        <p:nvSpPr>
          <p:cNvPr id="7" name="TextBox 6"/>
          <p:cNvSpPr txBox="1"/>
          <p:nvPr/>
        </p:nvSpPr>
        <p:spPr>
          <a:xfrm>
            <a:off x="10058400" y="6492240"/>
            <a:ext cx="1401775" cy="274320"/>
          </a:xfrm>
          <a:prstGeom prst="rect">
            <a:avLst/>
          </a:prstGeom>
          <a:noFill/>
        </p:spPr>
        <p:txBody>
          <a:bodyPr wrap="none" lIns="0" tIns="0" rIns="0" bIns="0">
            <a:spAutoFit/>
          </a:bodyPr>
          <a:lstStyle/>
          <a:p>
            <a:pPr algn="r">
              <a:defRPr sz="950" b="1">
                <a:solidFill>
                  <a:srgbClr val="2563EB"/>
                </a:solidFill>
                <a:latin typeface="Segoe UI"/>
              </a:defRPr>
            </a:pPr>
            <a:r>
              <a:t>22 / 24</a:t>
            </a:r>
          </a:p>
        </p:txBody>
      </p:sp>
      <p:sp>
        <p:nvSpPr>
          <p:cNvPr id="8" name="Rounded Rectangle 7"/>
          <p:cNvSpPr/>
          <p:nvPr/>
        </p:nvSpPr>
        <p:spPr>
          <a:xfrm>
            <a:off x="731520" y="1234440"/>
            <a:ext cx="5212080" cy="4937760"/>
          </a:xfrm>
          <a:prstGeom prst="roundRect">
            <a:avLst/>
          </a:prstGeom>
          <a:solidFill>
            <a:srgbClr val="0B132B"/>
          </a:solidFill>
          <a:ln w="19050">
            <a:solidFill>
              <a:srgbClr val="1C254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68680" y="1307592"/>
            <a:ext cx="4937760" cy="292608"/>
          </a:xfrm>
          <a:prstGeom prst="rect">
            <a:avLst/>
          </a:prstGeom>
          <a:noFill/>
        </p:spPr>
        <p:txBody>
          <a:bodyPr wrap="none" lIns="0" tIns="0" rIns="0" bIns="0">
            <a:spAutoFit/>
          </a:bodyPr>
          <a:lstStyle/>
          <a:p>
            <a:pPr>
              <a:defRPr sz="950" b="1">
                <a:solidFill>
                  <a:srgbClr val="0EA5E9"/>
                </a:solidFill>
                <a:latin typeface="Consolas"/>
              </a:defRPr>
            </a:pPr>
            <a:r>
              <a:t>&gt;_  Cấu hình config.json chính thức</a:t>
            </a:r>
          </a:p>
        </p:txBody>
      </p:sp>
      <p:sp>
        <p:nvSpPr>
          <p:cNvPr id="10" name="TextBox 9"/>
          <p:cNvSpPr txBox="1"/>
          <p:nvPr/>
        </p:nvSpPr>
        <p:spPr>
          <a:xfrm>
            <a:off x="868680" y="1600200"/>
            <a:ext cx="4937760" cy="4526280"/>
          </a:xfrm>
          <a:prstGeom prst="rect">
            <a:avLst/>
          </a:prstGeom>
          <a:noFill/>
        </p:spPr>
        <p:txBody>
          <a:bodyPr wrap="square" lIns="0" tIns="0" rIns="0" bIns="0">
            <a:spAutoFit/>
          </a:bodyPr>
          <a:lstStyle/>
          <a:p>
            <a:pPr>
              <a:lnSpc>
                <a:spcPct val="108000"/>
              </a:lnSpc>
              <a:spcAft>
                <a:spcPts val="0"/>
              </a:spcAft>
              <a:defRPr sz="800">
                <a:solidFill>
                  <a:srgbClr val="FFFFFF"/>
                </a:solidFill>
                <a:latin typeface="Consolas"/>
              </a:defRPr>
            </a:pPr>
            <a:r>
              <a:t>{</a:t>
            </a:r>
          </a:p>
          <a:p>
            <a:pPr>
              <a:lnSpc>
                <a:spcPct val="108000"/>
              </a:lnSpc>
              <a:spcAft>
                <a:spcPts val="0"/>
              </a:spcAft>
              <a:defRPr sz="800">
                <a:solidFill>
                  <a:srgbClr val="FFFFFF"/>
                </a:solidFill>
                <a:latin typeface="Consolas"/>
              </a:defRPr>
            </a:pPr>
            <a:r>
              <a:t>  "DESIGN_NAME": "rdm6300_picorv32_soc",</a:t>
            </a:r>
          </a:p>
          <a:p>
            <a:pPr>
              <a:lnSpc>
                <a:spcPct val="108000"/>
              </a:lnSpc>
              <a:spcAft>
                <a:spcPts val="0"/>
              </a:spcAft>
              <a:defRPr sz="800">
                <a:solidFill>
                  <a:srgbClr val="FFFFFF"/>
                </a:solidFill>
                <a:latin typeface="Consolas"/>
              </a:defRPr>
            </a:pPr>
            <a:r>
              <a:t>  "PDK": "sky130A",</a:t>
            </a:r>
          </a:p>
          <a:p>
            <a:pPr>
              <a:lnSpc>
                <a:spcPct val="108000"/>
              </a:lnSpc>
              <a:spcAft>
                <a:spcPts val="0"/>
              </a:spcAft>
              <a:defRPr sz="800">
                <a:solidFill>
                  <a:srgbClr val="FFFFFF"/>
                </a:solidFill>
                <a:latin typeface="Consolas"/>
              </a:defRPr>
            </a:pPr>
            <a:r>
              <a:t>  "STD_CELL_LIBRARY": "sky130_fd_sc_hd",</a:t>
            </a:r>
          </a:p>
          <a:p>
            <a:pPr>
              <a:lnSpc>
                <a:spcPct val="108000"/>
              </a:lnSpc>
              <a:spcAft>
                <a:spcPts val="0"/>
              </a:spcAft>
              <a:defRPr sz="800">
                <a:solidFill>
                  <a:srgbClr val="FFFFFF"/>
                </a:solidFill>
                <a:latin typeface="Consolas"/>
              </a:defRPr>
            </a:pPr>
            <a:r>
              <a:t>  "CLOCK_PORT": "clk",</a:t>
            </a:r>
          </a:p>
          <a:p>
            <a:pPr>
              <a:lnSpc>
                <a:spcPct val="108000"/>
              </a:lnSpc>
              <a:spcAft>
                <a:spcPts val="0"/>
              </a:spcAft>
              <a:defRPr sz="800">
                <a:solidFill>
                  <a:srgbClr val="FFFFFF"/>
                </a:solidFill>
                <a:latin typeface="Consolas"/>
              </a:defRPr>
            </a:pPr>
            <a:r>
              <a:t>  "CLOCK_PERIOD": 20.0, // 50 MHz</a:t>
            </a:r>
          </a:p>
          <a:p>
            <a:pPr>
              <a:lnSpc>
                <a:spcPct val="108000"/>
              </a:lnSpc>
              <a:spcAft>
                <a:spcPts val="0"/>
              </a:spcAft>
              <a:defRPr sz="800">
                <a:solidFill>
                  <a:srgbClr val="FFFFFF"/>
                </a:solidFill>
                <a:latin typeface="Consolas"/>
              </a:defRPr>
            </a:pPr>
            <a:r>
              <a:t>  "FP_CORE_UTIL": 26,   // 26% density</a:t>
            </a:r>
          </a:p>
          <a:p>
            <a:pPr>
              <a:lnSpc>
                <a:spcPct val="108000"/>
              </a:lnSpc>
              <a:spcAft>
                <a:spcPts val="0"/>
              </a:spcAft>
              <a:defRPr sz="800">
                <a:solidFill>
                  <a:srgbClr val="FFFFFF"/>
                </a:solidFill>
                <a:latin typeface="Consolas"/>
              </a:defRPr>
            </a:pPr>
            <a:r>
              <a:t>  "MAX_FANOUT_CONSTRAINT": 12,</a:t>
            </a:r>
          </a:p>
          <a:p>
            <a:pPr>
              <a:lnSpc>
                <a:spcPct val="108000"/>
              </a:lnSpc>
              <a:spcAft>
                <a:spcPts val="0"/>
              </a:spcAft>
              <a:defRPr sz="800">
                <a:solidFill>
                  <a:srgbClr val="FFFFFF"/>
                </a:solidFill>
                <a:latin typeface="Consolas"/>
              </a:defRPr>
            </a:pPr>
            <a:r>
              <a:t>  "PL_RESIZER_HOLD_SLACK_MARGIN": 0.6,</a:t>
            </a:r>
          </a:p>
          <a:p>
            <a:pPr>
              <a:lnSpc>
                <a:spcPct val="108000"/>
              </a:lnSpc>
              <a:spcAft>
                <a:spcPts val="0"/>
              </a:spcAft>
              <a:defRPr sz="800">
                <a:solidFill>
                  <a:srgbClr val="FFFFFF"/>
                </a:solidFill>
                <a:latin typeface="Consolas"/>
              </a:defRPr>
            </a:pPr>
            <a:r>
              <a:t>  "RUN_HEURISTIC_DIODE_INSERTION": true,</a:t>
            </a:r>
          </a:p>
          <a:p>
            <a:pPr>
              <a:lnSpc>
                <a:spcPct val="108000"/>
              </a:lnSpc>
              <a:spcAft>
                <a:spcPts val="0"/>
              </a:spcAft>
              <a:defRPr sz="800">
                <a:solidFill>
                  <a:srgbClr val="FFFFFF"/>
                </a:solidFill>
                <a:latin typeface="Consolas"/>
              </a:defRPr>
            </a:pPr>
            <a:r>
              <a:t>  "HEURISTIC_ANTENNA_THRESHOLD": 24,</a:t>
            </a:r>
          </a:p>
          <a:p>
            <a:pPr>
              <a:lnSpc>
                <a:spcPct val="108000"/>
              </a:lnSpc>
              <a:spcAft>
                <a:spcPts val="0"/>
              </a:spcAft>
              <a:defRPr sz="800">
                <a:solidFill>
                  <a:srgbClr val="FFFFFF"/>
                </a:solidFill>
                <a:latin typeface="Consolas"/>
              </a:defRPr>
            </a:pPr>
            <a:r>
              <a:t>  "GRT_ANTENNA_ITERS": 35,</a:t>
            </a:r>
          </a:p>
          <a:p>
            <a:pPr>
              <a:lnSpc>
                <a:spcPct val="108000"/>
              </a:lnSpc>
              <a:spcAft>
                <a:spcPts val="0"/>
              </a:spcAft>
              <a:defRPr sz="800">
                <a:solidFill>
                  <a:srgbClr val="FFFFFF"/>
                </a:solidFill>
                <a:latin typeface="Consolas"/>
              </a:defRPr>
            </a:pPr>
            <a:r>
              <a:t>  "RUN_ANTENNA_REPAIR": true,</a:t>
            </a:r>
          </a:p>
          <a:p>
            <a:pPr>
              <a:lnSpc>
                <a:spcPct val="108000"/>
              </a:lnSpc>
              <a:spcAft>
                <a:spcPts val="0"/>
              </a:spcAft>
              <a:defRPr sz="800">
                <a:solidFill>
                  <a:srgbClr val="FFFFFF"/>
                </a:solidFill>
                <a:latin typeface="Consolas"/>
              </a:defRPr>
            </a:pPr>
            <a:r>
              <a:t>  "SYNTH_STRATEGY": "AREA 0"</a:t>
            </a:r>
          </a:p>
          <a:p>
            <a:pPr>
              <a:lnSpc>
                <a:spcPct val="108000"/>
              </a:lnSpc>
              <a:spcAft>
                <a:spcPts val="0"/>
              </a:spcAft>
              <a:defRPr sz="800">
                <a:solidFill>
                  <a:srgbClr val="FFFFFF"/>
                </a:solidFill>
                <a:latin typeface="Consolas"/>
              </a:defRPr>
            </a:pPr>
            <a:r>
              <a:t>}</a:t>
            </a:r>
          </a:p>
        </p:txBody>
      </p:sp>
      <p:sp>
        <p:nvSpPr>
          <p:cNvPr id="11" name="Rounded Rectangle 10"/>
          <p:cNvSpPr/>
          <p:nvPr/>
        </p:nvSpPr>
        <p:spPr>
          <a:xfrm>
            <a:off x="6217920" y="1234440"/>
            <a:ext cx="5239512" cy="4937760"/>
          </a:xfrm>
          <a:prstGeom prst="roundRect">
            <a:avLst/>
          </a:prstGeom>
          <a:solidFill>
            <a:srgbClr val="FFFFFF"/>
          </a:solidFill>
          <a:ln w="25400">
            <a:solidFill>
              <a:srgbClr val="E11D4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00800" y="1371600"/>
            <a:ext cx="4873752" cy="4663440"/>
          </a:xfrm>
          <a:prstGeom prst="rect">
            <a:avLst/>
          </a:prstGeom>
          <a:noFill/>
        </p:spPr>
        <p:txBody>
          <a:bodyPr wrap="square">
            <a:spAutoFit/>
          </a:bodyPr>
          <a:lstStyle/>
          <a:p>
            <a:pPr>
              <a:spcAft>
                <a:spcPts val="1000"/>
              </a:spcAft>
              <a:defRPr sz="1300" b="1">
                <a:solidFill>
                  <a:srgbClr val="E11D48"/>
                </a:solidFill>
                <a:latin typeface="Segoe UI"/>
              </a:defRPr>
            </a:pPr>
            <a:r>
              <a:t>CÁC CHIẾN LƯỢC VẬT LÝ THEN CHỐT</a:t>
            </a:r>
          </a:p>
          <a:p>
            <a:pPr>
              <a:lnSpc>
                <a:spcPct val="115000"/>
              </a:lnSpc>
              <a:spcAft>
                <a:spcPts val="800"/>
              </a:spcAft>
              <a:defRPr sz="1050">
                <a:solidFill>
                  <a:srgbClr val="0F172A"/>
                </a:solidFill>
                <a:latin typeface="Segoe UI"/>
              </a:defRPr>
            </a:pPr>
            <a:r>
              <a:t>• Mật độ diện tích lõi 26% (FP_CORE_UTIL): Khởi tạo mật độ cell 26%, để lại 74% diện tích cho các kênh định tuyến kim loại và chèn diode bảo vệ plasma.</a:t>
            </a:r>
          </a:p>
          <a:p>
            <a:pPr>
              <a:lnSpc>
                <a:spcPct val="115000"/>
              </a:lnSpc>
              <a:spcAft>
                <a:spcPts val="800"/>
              </a:spcAft>
              <a:defRPr sz="1050">
                <a:solidFill>
                  <a:srgbClr val="0F172A"/>
                </a:solidFill>
                <a:latin typeface="Segoe UI"/>
              </a:defRPr>
            </a:pPr>
            <a:r>
              <a:t>• Ràng buộc xung nhịp 50 MHz (CLOCK_PERIOD = 20.0 ns): Ràng buộc định thời thống nhất từ khâu tổng hợp logic Yosys, xây dựng cây clock CTS tới khâu phân tích định thời tĩnh STA.</a:t>
            </a:r>
          </a:p>
          <a:p>
            <a:pPr>
              <a:lnSpc>
                <a:spcPct val="115000"/>
              </a:lnSpc>
              <a:spcAft>
                <a:spcPts val="800"/>
              </a:spcAft>
              <a:defRPr sz="1050">
                <a:solidFill>
                  <a:srgbClr val="0F172A"/>
                </a:solidFill>
                <a:latin typeface="Segoe UI"/>
              </a:defRPr>
            </a:pPr>
            <a:r>
              <a:t>• Chèn Diode phỏng đoán (HEURISTIC_ANTENNA_THRESHOLD = 24): Thuật toán tối ưu tự động chèn diode tiêu tán điện tích plasma khi tỷ lệ dây/cực cổng vượt ngưỡng 24, triệt tiêu 100% lỗi Antenna.</a:t>
            </a:r>
          </a:p>
          <a:p>
            <a:pPr>
              <a:lnSpc>
                <a:spcPct val="115000"/>
              </a:lnSpc>
              <a:spcAft>
                <a:spcPts val="800"/>
              </a:spcAft>
              <a:defRPr sz="1050">
                <a:solidFill>
                  <a:srgbClr val="0F172A"/>
                </a:solidFill>
                <a:latin typeface="Segoe UI"/>
              </a:defRPr>
            </a:pPr>
            <a:r>
              <a:t>• Biên an toàn Hold Guard-band 0.60 ns: Đảm bảo bộ tối ưu hóa tế bào Resizer xử lý sạch sẽ các vi phạm chạy đua dữ liệu (Hold Violations) sau bước đi dây chi tiết.</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1440"/>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201168"/>
            <a:ext cx="10728655" cy="868680"/>
          </a:xfrm>
          <a:prstGeom prst="rect">
            <a:avLst/>
          </a:prstGeom>
          <a:noFill/>
        </p:spPr>
        <p:txBody>
          <a:bodyPr wrap="square" lIns="0" tIns="0" rIns="0" bIns="0">
            <a:spAutoFit/>
          </a:bodyPr>
          <a:lstStyle/>
          <a:p>
            <a:pPr>
              <a:spcAft>
                <a:spcPts val="200"/>
              </a:spcAft>
              <a:defRPr sz="1050" b="1">
                <a:solidFill>
                  <a:srgbClr val="2563EB"/>
                </a:solidFill>
                <a:latin typeface="Segoe UI"/>
              </a:defRPr>
            </a:pPr>
            <a:r>
              <a:t>PHẦN 6: THIẾT KẾ VẬT LÝ ASIC</a:t>
            </a:r>
          </a:p>
          <a:p>
            <a:pPr>
              <a:defRPr sz="1700" b="1">
                <a:solidFill>
                  <a:srgbClr val="0F172A"/>
                </a:solidFill>
                <a:latin typeface="Segoe UI"/>
              </a:defRPr>
            </a:pPr>
            <a:r>
              <a:t>Bản Vẽ Layout OpenROAD &amp; Báo Cáo Ký Duyệt Sign-off Toàn Diện</a:t>
            </a:r>
          </a:p>
        </p:txBody>
      </p:sp>
      <p:sp>
        <p:nvSpPr>
          <p:cNvPr id="5" name="Rectangle 4"/>
          <p:cNvSpPr/>
          <p:nvPr/>
        </p:nvSpPr>
        <p:spPr>
          <a:xfrm>
            <a:off x="731520" y="6446520"/>
            <a:ext cx="10728655" cy="18288"/>
          </a:xfrm>
          <a:prstGeom prst="rect">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31520" y="6492240"/>
            <a:ext cx="7315200" cy="274320"/>
          </a:xfrm>
          <a:prstGeom prst="rect">
            <a:avLst/>
          </a:prstGeom>
          <a:noFill/>
        </p:spPr>
        <p:txBody>
          <a:bodyPr wrap="none" lIns="0" tIns="0" rIns="0" bIns="0">
            <a:spAutoFit/>
          </a:bodyPr>
          <a:lstStyle/>
          <a:p>
            <a:pPr>
              <a:defRPr sz="950">
                <a:solidFill>
                  <a:srgbClr val="475569"/>
                </a:solidFill>
                <a:latin typeface="Segoe UI"/>
              </a:defRPr>
            </a:pPr>
            <a:r>
              <a:t>Đồ Án Tốt Nghiệp: SoC PicoRV32 RFID RDM6300 &amp; SPI Flash | SV: Thái Tuấn Hiệp | GVHD: ThS. Nguyễn Văn Đông</a:t>
            </a:r>
          </a:p>
        </p:txBody>
      </p:sp>
      <p:sp>
        <p:nvSpPr>
          <p:cNvPr id="7" name="TextBox 6"/>
          <p:cNvSpPr txBox="1"/>
          <p:nvPr/>
        </p:nvSpPr>
        <p:spPr>
          <a:xfrm>
            <a:off x="10058400" y="6492240"/>
            <a:ext cx="1401775" cy="274320"/>
          </a:xfrm>
          <a:prstGeom prst="rect">
            <a:avLst/>
          </a:prstGeom>
          <a:noFill/>
        </p:spPr>
        <p:txBody>
          <a:bodyPr wrap="none" lIns="0" tIns="0" rIns="0" bIns="0">
            <a:spAutoFit/>
          </a:bodyPr>
          <a:lstStyle/>
          <a:p>
            <a:pPr algn="r">
              <a:defRPr sz="950" b="1">
                <a:solidFill>
                  <a:srgbClr val="2563EB"/>
                </a:solidFill>
                <a:latin typeface="Segoe UI"/>
              </a:defRPr>
            </a:pPr>
            <a:r>
              <a:t>23 / 24</a:t>
            </a:r>
          </a:p>
        </p:txBody>
      </p:sp>
      <p:sp>
        <p:nvSpPr>
          <p:cNvPr id="8" name="Rounded Rectangle 7"/>
          <p:cNvSpPr/>
          <p:nvPr/>
        </p:nvSpPr>
        <p:spPr>
          <a:xfrm>
            <a:off x="731520" y="1234440"/>
            <a:ext cx="5212080" cy="3931920"/>
          </a:xfrm>
          <a:prstGeom prst="roundRect">
            <a:avLst/>
          </a:prstGeom>
          <a:solidFill>
            <a:srgbClr val="FFFFFF"/>
          </a:solidFill>
          <a:ln w="1905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OpenROAD.png"/>
          <p:cNvPicPr>
            <a:picLocks noChangeAspect="1"/>
          </p:cNvPicPr>
          <p:nvPr/>
        </p:nvPicPr>
        <p:blipFill>
          <a:blip r:embed="rId2"/>
          <a:stretch>
            <a:fillRect/>
          </a:stretch>
        </p:blipFill>
        <p:spPr>
          <a:xfrm>
            <a:off x="822960" y="1325880"/>
            <a:ext cx="5029200" cy="3749039"/>
          </a:xfrm>
          <a:prstGeom prst="rect">
            <a:avLst/>
          </a:prstGeom>
        </p:spPr>
      </p:pic>
      <p:sp>
        <p:nvSpPr>
          <p:cNvPr id="10" name="Rounded Rectangle 9"/>
          <p:cNvSpPr/>
          <p:nvPr/>
        </p:nvSpPr>
        <p:spPr>
          <a:xfrm>
            <a:off x="6217920" y="1234440"/>
            <a:ext cx="5239512" cy="3931920"/>
          </a:xfrm>
          <a:prstGeom prst="roundRect">
            <a:avLst/>
          </a:prstGeom>
          <a:solidFill>
            <a:srgbClr val="FFFFFF"/>
          </a:solidFill>
          <a:ln w="19050">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AntennaLvsDrc.png"/>
          <p:cNvPicPr>
            <a:picLocks noChangeAspect="1"/>
          </p:cNvPicPr>
          <p:nvPr/>
        </p:nvPicPr>
        <p:blipFill>
          <a:blip r:embed="rId3"/>
          <a:stretch>
            <a:fillRect/>
          </a:stretch>
        </p:blipFill>
        <p:spPr>
          <a:xfrm>
            <a:off x="6309360" y="1325880"/>
            <a:ext cx="5056632" cy="3749039"/>
          </a:xfrm>
          <a:prstGeom prst="rect">
            <a:avLst/>
          </a:prstGeom>
        </p:spPr>
      </p:pic>
      <p:sp>
        <p:nvSpPr>
          <p:cNvPr id="12" name="Rounded Rectangle 11"/>
          <p:cNvSpPr/>
          <p:nvPr/>
        </p:nvSpPr>
        <p:spPr>
          <a:xfrm>
            <a:off x="731520" y="5303520"/>
            <a:ext cx="10728655" cy="96012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68680" y="5349240"/>
            <a:ext cx="10424160" cy="868680"/>
          </a:xfrm>
          <a:prstGeom prst="rect">
            <a:avLst/>
          </a:prstGeom>
          <a:noFill/>
        </p:spPr>
        <p:txBody>
          <a:bodyPr wrap="square">
            <a:spAutoFit/>
          </a:bodyPr>
          <a:lstStyle/>
          <a:p>
            <a:pPr>
              <a:spcAft>
                <a:spcPts val="200"/>
              </a:spcAft>
              <a:defRPr sz="1100" b="1">
                <a:solidFill>
                  <a:srgbClr val="10B981"/>
                </a:solidFill>
                <a:latin typeface="Segoe UI"/>
              </a:defRPr>
            </a:pPr>
            <a:r>
              <a:t>KẾT QUẢ KÝ DUYỆT TAPE-OUT READY: 0 ANTENNA | 0 LVS | 0 DRC | MET TIMING 50 MHZ</a:t>
            </a:r>
          </a:p>
          <a:p>
            <a:pPr>
              <a:defRPr sz="950">
                <a:solidFill>
                  <a:srgbClr val="0F172A"/>
                </a:solidFill>
                <a:latin typeface="Segoe UI"/>
              </a:defRPr>
            </a:pPr>
            <a:r>
              <a:t>• Bố cục vật lý: Lưới nguồn PDN met4/met5 dày đặc, phân bổ 31 chân pad đối xứng trên 4 cạnh die, độ sụt áp IR drop &lt; 1.5% an toàn.</a:t>
            </a:r>
            <a:br/>
            <a:r>
              <a:t>• Định thời &amp; Ký duyệt: WNS &gt;= 0.00 ns tại 50 MHz trên cả 9 góc đo công nghệ từ -40°C đến 100°C; Netgen xác nhận 100% khớp netlist RTL.</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13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731520" y="731520"/>
            <a:ext cx="10728655" cy="5394960"/>
          </a:xfrm>
          <a:prstGeom prst="roundRect">
            <a:avLst/>
          </a:prstGeom>
          <a:solidFill>
            <a:srgbClr val="1C2541"/>
          </a:solidFill>
          <a:ln w="2540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97280" y="1005840"/>
            <a:ext cx="9966960" cy="4846320"/>
          </a:xfrm>
          <a:prstGeom prst="rect">
            <a:avLst/>
          </a:prstGeom>
          <a:noFill/>
        </p:spPr>
        <p:txBody>
          <a:bodyPr wrap="square">
            <a:spAutoFit/>
          </a:bodyPr>
          <a:lstStyle/>
          <a:p>
            <a:pPr>
              <a:spcAft>
                <a:spcPts val="1600"/>
              </a:spcAft>
              <a:defRPr sz="2200" b="1">
                <a:solidFill>
                  <a:srgbClr val="0EA5E9"/>
                </a:solidFill>
                <a:latin typeface="Segoe UI"/>
              </a:defRPr>
            </a:pPr>
            <a:r>
              <a:t>TỔNG KẾT ĐỒ ÁN VÀ CÁC ĐÓNG GÓP NỔI BẬT</a:t>
            </a:r>
          </a:p>
          <a:p>
            <a:pPr>
              <a:lnSpc>
                <a:spcPct val="115000"/>
              </a:lnSpc>
              <a:spcAft>
                <a:spcPts val="800"/>
              </a:spcAft>
              <a:defRPr sz="1100">
                <a:solidFill>
                  <a:srgbClr val="E2E8F0"/>
                </a:solidFill>
                <a:latin typeface="Segoe UI"/>
              </a:defRPr>
            </a:pPr>
            <a:r>
              <a:t>1. Tự chủ thiết kế kiến trúc SoC: Xây dựng hoàn chỉnh vi mạch tích hợp CPU RISC-V PicoRV32, cầu nối bus trung tâm soc_interconnect.v, 1KB SRAM, bộ điều khiển SPI Flash spimemio.v và ngoại vi UART FIFO.</a:t>
            </a:r>
          </a:p>
          <a:p>
            <a:pPr>
              <a:lnSpc>
                <a:spcPct val="115000"/>
              </a:lnSpc>
              <a:spcAft>
                <a:spcPts val="800"/>
              </a:spcAft>
              <a:defRPr sz="1100">
                <a:solidFill>
                  <a:srgbClr val="E2E8F0"/>
                </a:solidFill>
                <a:latin typeface="Segoe UI"/>
              </a:defRPr>
            </a:pPr>
            <a:r>
              <a:t>2. Tối ưu hóa kiến trúc thực thi nhúng: Hiện thực hóa cơ chế thực thi XIP từ SPI Flash kết hợp nạp động routine flashio_worker vào 1KB SRAM để ghi/xóa cơ sở dữ liệu Whitelist và nhật ký Access Log không xung đột bus.</a:t>
            </a:r>
          </a:p>
          <a:p>
            <a:pPr>
              <a:lnSpc>
                <a:spcPct val="115000"/>
              </a:lnSpc>
              <a:spcAft>
                <a:spcPts val="800"/>
              </a:spcAft>
              <a:defRPr sz="1100">
                <a:solidFill>
                  <a:srgbClr val="E2E8F0"/>
                </a:solidFill>
                <a:latin typeface="Segoe UI"/>
              </a:defRPr>
            </a:pPr>
            <a:r>
              <a:t>3. Kiểm chứng thực nghiệm 100%: Xây dựng 2 testbench mô phỏng tinh gọn (tb_uart_rtl.v, tb_uart_ping.v) và kiểm chứng thành công trên bo mạch FPGA Basys 3 với thẻ RFID thật và đầu đọc RDM6300 thật.</a:t>
            </a:r>
          </a:p>
          <a:p>
            <a:pPr>
              <a:lnSpc>
                <a:spcPct val="115000"/>
              </a:lnSpc>
              <a:spcAft>
                <a:spcPts val="800"/>
              </a:spcAft>
              <a:defRPr sz="1100">
                <a:solidFill>
                  <a:srgbClr val="E2E8F0"/>
                </a:solidFill>
                <a:latin typeface="Segoe UI"/>
              </a:defRPr>
            </a:pPr>
            <a:r>
              <a:t>4. Đạt chuẩn xuất xưởng ASIC (Tape-out Ready): Hoàn thành quy trình thiết kế vật lý trên OpenLane 2 với tiến trình SkyWater 130nm: 0 vi phạm Antenna, 0 lỗi LVS, 0 lỗi DRC, MET TIMING ở tần số 50 MHz trên cả 9 góc đo công nghệ.</a:t>
            </a:r>
          </a:p>
          <a:p>
            <a:pPr>
              <a:spcBef>
                <a:spcPts val="1600"/>
              </a:spcBef>
              <a:defRPr sz="1500" b="1">
                <a:solidFill>
                  <a:srgbClr val="FFFFFF"/>
                </a:solidFill>
                <a:latin typeface="Segoe UI"/>
              </a:defRPr>
            </a:pPr>
            <a:r>
              <a:t>XIN TRÂN TRỌNG CẢM ƠN THẦY CÔ VÀ HỘI ĐỒNG ĐÃ LẮNG NGHE!</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