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731520"/>
            <a:ext cx="10728655" cy="5394960"/>
          </a:xfrm>
          <a:prstGeom prst="roundRect">
            <a:avLst/>
          </a:prstGeom>
          <a:solidFill>
            <a:srgbClr val="1C2541"/>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097280"/>
            <a:ext cx="9784080" cy="4389120"/>
          </a:xfrm>
          <a:prstGeom prst="rect">
            <a:avLst/>
          </a:prstGeom>
          <a:noFill/>
        </p:spPr>
        <p:txBody>
          <a:bodyPr wrap="square">
            <a:spAutoFit/>
          </a:bodyPr>
          <a:lstStyle/>
          <a:p>
            <a:pPr>
              <a:spcAft>
                <a:spcPts val="1200"/>
              </a:spcAft>
              <a:defRPr sz="1300" b="1">
                <a:solidFill>
                  <a:srgbClr val="0EA5E9"/>
                </a:solidFill>
                <a:latin typeface="Segoe UI"/>
              </a:defRPr>
            </a:pPr>
            <a:r>
              <a:t>BÁO CÁO ĐỒ ÁN THIẾT KẾ VI MẠCH SỐ (ASIC / SOC DESIGN PROJECT)</a:t>
            </a:r>
          </a:p>
          <a:p>
            <a:pPr>
              <a:spcAft>
                <a:spcPts val="1000"/>
              </a:spcAft>
              <a:defRPr sz="2800" b="1">
                <a:solidFill>
                  <a:srgbClr val="FFFFFF"/>
                </a:solidFill>
                <a:latin typeface="Segoe UI"/>
              </a:defRPr>
            </a:pPr>
            <a:r>
              <a:t>HỆ THỐNG VI MẠCH SOC XỬ LÝ DỮ LIỆU THẺ RFID RDM6300</a:t>
            </a:r>
          </a:p>
          <a:p>
            <a:pPr>
              <a:spcAft>
                <a:spcPts val="2800"/>
              </a:spcAft>
              <a:defRPr sz="1500">
                <a:solidFill>
                  <a:srgbClr val="CBD5E1"/>
                </a:solidFill>
                <a:latin typeface="Segoe UI"/>
              </a:defRPr>
            </a:pPr>
            <a:r>
              <a:t>Tích Hợp Nhân CPU RISC-V PicoRV32 Quản Lý Firmware, Danh Mục Thẻ &amp; Nhật Ký Trên SPI Flash</a:t>
            </a:r>
          </a:p>
        </p:txBody>
      </p:sp>
      <p:sp>
        <p:nvSpPr>
          <p:cNvPr id="5" name="Rounded Rectangle 4"/>
          <p:cNvSpPr/>
          <p:nvPr/>
        </p:nvSpPr>
        <p:spPr>
          <a:xfrm>
            <a:off x="1097280" y="3931920"/>
            <a:ext cx="1554480" cy="384048"/>
          </a:xfrm>
          <a:prstGeom prst="roundRect">
            <a:avLst/>
          </a:prstGeom>
          <a:solidFill>
            <a:srgbClr val="0B132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2563EB"/>
                </a:solidFill>
                <a:latin typeface="Segoe UI"/>
              </a:defRPr>
            </a:pPr>
            <a:r>
              <a:t>SkyWater 130nm ASIC</a:t>
            </a:r>
          </a:p>
        </p:txBody>
      </p:sp>
      <p:sp>
        <p:nvSpPr>
          <p:cNvPr id="6" name="Rounded Rectangle 5"/>
          <p:cNvSpPr/>
          <p:nvPr/>
        </p:nvSpPr>
        <p:spPr>
          <a:xfrm>
            <a:off x="2816352" y="3931920"/>
            <a:ext cx="1554480" cy="384048"/>
          </a:xfrm>
          <a:prstGeom prst="roundRect">
            <a:avLst/>
          </a:prstGeom>
          <a:solidFill>
            <a:srgbClr val="0B132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EA5E9"/>
                </a:solidFill>
                <a:latin typeface="Segoe UI"/>
              </a:defRPr>
            </a:pPr>
            <a:r>
              <a:t>RISC-V PicoRV32 RV32I</a:t>
            </a:r>
          </a:p>
        </p:txBody>
      </p:sp>
      <p:sp>
        <p:nvSpPr>
          <p:cNvPr id="7" name="Rounded Rectangle 6"/>
          <p:cNvSpPr/>
          <p:nvPr/>
        </p:nvSpPr>
        <p:spPr>
          <a:xfrm>
            <a:off x="4535424" y="3931920"/>
            <a:ext cx="1554480" cy="384048"/>
          </a:xfrm>
          <a:prstGeom prst="roundRect">
            <a:avLst/>
          </a:prstGeom>
          <a:solidFill>
            <a:srgbClr val="0B132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10B981"/>
                </a:solidFill>
                <a:latin typeface="Segoe UI"/>
              </a:defRPr>
            </a:pPr>
            <a:r>
              <a:t>32 Mb SPI Flash NVM</a:t>
            </a:r>
          </a:p>
        </p:txBody>
      </p:sp>
      <p:sp>
        <p:nvSpPr>
          <p:cNvPr id="8" name="Rounded Rectangle 7"/>
          <p:cNvSpPr/>
          <p:nvPr/>
        </p:nvSpPr>
        <p:spPr>
          <a:xfrm>
            <a:off x="6254496" y="3931920"/>
            <a:ext cx="1554480" cy="384048"/>
          </a:xfrm>
          <a:prstGeom prst="roundRect">
            <a:avLst/>
          </a:prstGeom>
          <a:solidFill>
            <a:srgbClr val="0B132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D97706"/>
                </a:solidFill>
                <a:latin typeface="Segoe UI"/>
              </a:defRPr>
            </a:pPr>
            <a:r>
              <a:t>RDM6300 125 kHz</a:t>
            </a:r>
          </a:p>
        </p:txBody>
      </p:sp>
      <p:sp>
        <p:nvSpPr>
          <p:cNvPr id="9" name="Rounded Rectangle 8"/>
          <p:cNvSpPr/>
          <p:nvPr/>
        </p:nvSpPr>
        <p:spPr>
          <a:xfrm>
            <a:off x="7973568" y="3931920"/>
            <a:ext cx="1554480" cy="384048"/>
          </a:xfrm>
          <a:prstGeom prst="roundRect">
            <a:avLst/>
          </a:prstGeom>
          <a:solidFill>
            <a:srgbClr val="0B132B"/>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7C3AED"/>
                </a:solidFill>
                <a:latin typeface="Segoe UI"/>
              </a:defRPr>
            </a:pPr>
            <a:r>
              <a:t>Basys 3 FPGA Demo</a:t>
            </a:r>
          </a:p>
        </p:txBody>
      </p:sp>
      <p:sp>
        <p:nvSpPr>
          <p:cNvPr id="10" name="Rounded Rectangle 9"/>
          <p:cNvSpPr/>
          <p:nvPr/>
        </p:nvSpPr>
        <p:spPr>
          <a:xfrm>
            <a:off x="9692640" y="3931920"/>
            <a:ext cx="1554480" cy="384048"/>
          </a:xfrm>
          <a:prstGeom prst="roundRect">
            <a:avLst/>
          </a:prstGeom>
          <a:solidFill>
            <a:srgbClr val="0B132B"/>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Segoe UI"/>
              </a:defRPr>
            </a:pPr>
            <a:r>
              <a:t>OpenLane 2 Sign-off</a:t>
            </a:r>
          </a:p>
        </p:txBody>
      </p:sp>
      <p:sp>
        <p:nvSpPr>
          <p:cNvPr id="11" name="TextBox 10"/>
          <p:cNvSpPr txBox="1"/>
          <p:nvPr/>
        </p:nvSpPr>
        <p:spPr>
          <a:xfrm>
            <a:off x="1188720" y="4663440"/>
            <a:ext cx="9784080" cy="1097280"/>
          </a:xfrm>
          <a:prstGeom prst="rect">
            <a:avLst/>
          </a:prstGeom>
          <a:noFill/>
        </p:spPr>
        <p:txBody>
          <a:bodyPr wrap="none">
            <a:spAutoFit/>
          </a:bodyPr>
          <a:lstStyle/>
          <a:p>
            <a:pPr>
              <a:defRPr sz="1100">
                <a:solidFill>
                  <a:srgbClr val="94A3B8"/>
                </a:solidFill>
                <a:latin typeface="Segoe UI"/>
              </a:defRPr>
            </a:pPr>
            <a:r>
              <a:t>• Nền tảng thiết kế: OpenLane 2 (SkyWater Sky130A) | Ký duyệt STA 50 MHz (MET TIMING ở 9 Corners)</a:t>
            </a:r>
            <a:br/>
            <a:r>
              <a:t>• Thực nghiệm phần cứng: Bo mạch FPGA Xilinx Artix-7 Basys 3 kết nối đầu đọc RFID thật &amp; phần mềm Host 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1 | TỔNG QUAN &amp; ĐẶT VẤN ĐỀ</a:t>
            </a:r>
          </a:p>
          <a:p>
            <a:pPr>
              <a:defRPr sz="1900" b="1">
                <a:solidFill>
                  <a:srgbClr val="0F172A"/>
                </a:solidFill>
                <a:latin typeface="Segoe UI"/>
              </a:defRPr>
            </a:pPr>
            <a:r>
              <a:t>Định Hướng Sản Phẩm: Thiết Bị Kiểm Soát Ra Vào Độc Lập (Offline)</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02 / 22</a:t>
            </a:r>
          </a:p>
        </p:txBody>
      </p:sp>
      <p:sp>
        <p:nvSpPr>
          <p:cNvPr id="8" name="Rounded Rectangle 7"/>
          <p:cNvSpPr/>
          <p:nvPr/>
        </p:nvSpPr>
        <p:spPr>
          <a:xfrm>
            <a:off x="731520" y="1234440"/>
            <a:ext cx="3364992" cy="37033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2999232" cy="3337560"/>
          </a:xfrm>
          <a:prstGeom prst="rect">
            <a:avLst/>
          </a:prstGeom>
          <a:noFill/>
        </p:spPr>
        <p:txBody>
          <a:bodyPr wrap="square">
            <a:spAutoFit/>
          </a:bodyPr>
          <a:lstStyle/>
          <a:p>
            <a:pPr>
              <a:spcAft>
                <a:spcPts val="800"/>
              </a:spcAft>
              <a:defRPr sz="1400" b="1">
                <a:solidFill>
                  <a:srgbClr val="E11D48"/>
                </a:solidFill>
                <a:latin typeface="Segoe UI"/>
              </a:defRPr>
            </a:pPr>
            <a:r>
              <a:t>🔴 Hạn Chế Access Control Đám Mây</a:t>
            </a:r>
          </a:p>
          <a:p>
            <a:pPr>
              <a:spcAft>
                <a:spcPts val="400"/>
              </a:spcAft>
              <a:defRPr sz="1050" b="1">
                <a:solidFill>
                  <a:srgbClr val="0F172A"/>
                </a:solidFill>
                <a:latin typeface="Segoe UI"/>
              </a:defRPr>
            </a:pPr>
            <a:r>
              <a:t>• Nguy cơ mất kết nối:</a:t>
            </a:r>
            <a:br/>
            <a:r>
              <a:rPr sz="1000" b="0">
                <a:solidFill>
                  <a:srgbClr val="475569"/>
                </a:solidFill>
              </a:rPr>
              <a:t>  Hệ thống tê liệt khi đứt cáp quang hoặc mất mạng viễn thông.</a:t>
            </a:r>
          </a:p>
          <a:p>
            <a:pPr>
              <a:spcAft>
                <a:spcPts val="400"/>
              </a:spcAft>
              <a:defRPr sz="1050" b="1">
                <a:solidFill>
                  <a:srgbClr val="0F172A"/>
                </a:solidFill>
                <a:latin typeface="Segoe UI"/>
              </a:defRPr>
            </a:pPr>
            <a:r>
              <a:t>• Độ trễ cao:</a:t>
            </a:r>
            <a:br/>
            <a:r>
              <a:rPr sz="1000" b="0">
                <a:solidFill>
                  <a:srgbClr val="475569"/>
                </a:solidFill>
              </a:rPr>
              <a:t>  Phải gửi dữ liệu lên máy chủ từ xa rồi chờ phản hồi, gây ùn tắc.</a:t>
            </a:r>
          </a:p>
          <a:p>
            <a:pPr>
              <a:spcAft>
                <a:spcPts val="400"/>
              </a:spcAft>
              <a:defRPr sz="1050" b="1">
                <a:solidFill>
                  <a:srgbClr val="0F172A"/>
                </a:solidFill>
                <a:latin typeface="Segoe UI"/>
              </a:defRPr>
            </a:pPr>
            <a:r>
              <a:t>• Nguy cơ an ninh mạng:</a:t>
            </a:r>
            <a:br/>
            <a:r>
              <a:rPr sz="1000" b="0">
                <a:solidFill>
                  <a:srgbClr val="475569"/>
                </a:solidFill>
              </a:rPr>
              <a:t>  Dữ liệu định danh truyền qua mạng công cộng dễ bị nghe lén, DDoS.</a:t>
            </a:r>
          </a:p>
          <a:p>
            <a:pPr>
              <a:spcAft>
                <a:spcPts val="400"/>
              </a:spcAft>
              <a:defRPr sz="1050" b="1">
                <a:solidFill>
                  <a:srgbClr val="0F172A"/>
                </a:solidFill>
                <a:latin typeface="Segoe UI"/>
              </a:defRPr>
            </a:pPr>
            <a:r>
              <a:t>• Khó triển khai biệt lập:</a:t>
            </a:r>
            <a:br/>
            <a:r>
              <a:rPr sz="1000" b="0">
                <a:solidFill>
                  <a:srgbClr val="475569"/>
                </a:solidFill>
              </a:rPr>
              <a:t>  Bất khả thi tại các địa bàn vùng sâu, kho quân sự, hầm mỏ, phòng lab.</a:t>
            </a:r>
          </a:p>
        </p:txBody>
      </p:sp>
      <p:sp>
        <p:nvSpPr>
          <p:cNvPr id="10" name="Rounded Rectangle 9"/>
          <p:cNvSpPr/>
          <p:nvPr/>
        </p:nvSpPr>
        <p:spPr>
          <a:xfrm>
            <a:off x="4407408" y="1234440"/>
            <a:ext cx="3364992"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417320"/>
            <a:ext cx="2999232" cy="3337560"/>
          </a:xfrm>
          <a:prstGeom prst="rect">
            <a:avLst/>
          </a:prstGeom>
          <a:noFill/>
        </p:spPr>
        <p:txBody>
          <a:bodyPr wrap="square">
            <a:spAutoFit/>
          </a:bodyPr>
          <a:lstStyle/>
          <a:p>
            <a:pPr>
              <a:spcAft>
                <a:spcPts val="800"/>
              </a:spcAft>
              <a:defRPr sz="1400" b="1">
                <a:solidFill>
                  <a:srgbClr val="2563EB"/>
                </a:solidFill>
                <a:latin typeface="Segoe UI"/>
              </a:defRPr>
            </a:pPr>
            <a:r>
              <a:t>🔵 Thiết Bị Standalone Offline</a:t>
            </a:r>
          </a:p>
          <a:p>
            <a:pPr>
              <a:spcAft>
                <a:spcPts val="400"/>
              </a:spcAft>
              <a:defRPr sz="1050" b="1">
                <a:solidFill>
                  <a:srgbClr val="0F172A"/>
                </a:solidFill>
                <a:latin typeface="Segoe UI"/>
              </a:defRPr>
            </a:pPr>
            <a:r>
              <a:t>• Vận hành 100% độc lập:</a:t>
            </a:r>
            <a:br/>
            <a:r>
              <a:rPr sz="1000" b="0">
                <a:solidFill>
                  <a:srgbClr val="475569"/>
                </a:solidFill>
              </a:rPr>
              <a:t>  Tự giải mã thẻ và đối chiếu cơ sở dữ liệu tại chỗ, không cần Internet.</a:t>
            </a:r>
          </a:p>
          <a:p>
            <a:pPr>
              <a:spcAft>
                <a:spcPts val="400"/>
              </a:spcAft>
              <a:defRPr sz="1050" b="1">
                <a:solidFill>
                  <a:srgbClr val="0F172A"/>
                </a:solidFill>
                <a:latin typeface="Segoe UI"/>
              </a:defRPr>
            </a:pPr>
            <a:r>
              <a:t>• Độ trễ siêu nhỏ (&lt; 10 µs):</a:t>
            </a:r>
            <a:br/>
            <a:r>
              <a:rPr sz="1000" b="0">
                <a:solidFill>
                  <a:srgbClr val="475569"/>
                </a:solidFill>
              </a:rPr>
              <a:t>  Xác thực thẻ tức thì bằng phần cứng chuyên dụng, loại trừ trễ mạng.</a:t>
            </a:r>
          </a:p>
          <a:p>
            <a:pPr>
              <a:spcAft>
                <a:spcPts val="400"/>
              </a:spcAft>
              <a:defRPr sz="1050" b="1">
                <a:solidFill>
                  <a:srgbClr val="0F172A"/>
                </a:solidFill>
                <a:latin typeface="Segoe UI"/>
              </a:defRPr>
            </a:pPr>
            <a:r>
              <a:t>• Bảo mật vật lý (Air-Gap):</a:t>
            </a:r>
            <a:br/>
            <a:r>
              <a:rPr sz="1000" b="0">
                <a:solidFill>
                  <a:srgbClr val="475569"/>
                </a:solidFill>
              </a:rPr>
              <a:t>  Cách ly vật lý triệt tiêu hoàn toàn mọi khả năng xâm nhập từ xa.</a:t>
            </a:r>
          </a:p>
          <a:p>
            <a:pPr>
              <a:spcAft>
                <a:spcPts val="400"/>
              </a:spcAft>
              <a:defRPr sz="1050" b="1">
                <a:solidFill>
                  <a:srgbClr val="0F172A"/>
                </a:solidFill>
                <a:latin typeface="Segoe UI"/>
              </a:defRPr>
            </a:pPr>
            <a:r>
              <a:t>• Tính sẵn sàng cao:</a:t>
            </a:r>
            <a:br/>
            <a:r>
              <a:rPr sz="1000" b="0">
                <a:solidFill>
                  <a:srgbClr val="475569"/>
                </a:solidFill>
              </a:rPr>
              <a:t>  Hoạt động liên tục 24/7 ngay cả trong điều kiện mạng viễn thông sập.</a:t>
            </a:r>
          </a:p>
        </p:txBody>
      </p:sp>
      <p:sp>
        <p:nvSpPr>
          <p:cNvPr id="12" name="Rounded Rectangle 11"/>
          <p:cNvSpPr/>
          <p:nvPr/>
        </p:nvSpPr>
        <p:spPr>
          <a:xfrm>
            <a:off x="8083296" y="1234440"/>
            <a:ext cx="3364992"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6" y="1417320"/>
            <a:ext cx="2999232" cy="3337560"/>
          </a:xfrm>
          <a:prstGeom prst="rect">
            <a:avLst/>
          </a:prstGeom>
          <a:noFill/>
        </p:spPr>
        <p:txBody>
          <a:bodyPr wrap="square">
            <a:spAutoFit/>
          </a:bodyPr>
          <a:lstStyle/>
          <a:p>
            <a:pPr>
              <a:spcAft>
                <a:spcPts val="800"/>
              </a:spcAft>
              <a:defRPr sz="1400" b="1">
                <a:solidFill>
                  <a:srgbClr val="10B981"/>
                </a:solidFill>
                <a:latin typeface="Segoe UI"/>
              </a:defRPr>
            </a:pPr>
            <a:r>
              <a:t>🟢 Vai Trò Của SPI Flash (NVM)</a:t>
            </a:r>
          </a:p>
          <a:p>
            <a:pPr>
              <a:spcAft>
                <a:spcPts val="400"/>
              </a:spcAft>
              <a:defRPr sz="1050" b="1">
                <a:solidFill>
                  <a:srgbClr val="0F172A"/>
                </a:solidFill>
                <a:latin typeface="Segoe UI"/>
              </a:defRPr>
            </a:pPr>
            <a:r>
              <a:t>• Lưu trữ bất biến &gt; 20 năm:</a:t>
            </a:r>
            <a:br/>
            <a:r>
              <a:rPr sz="1000" b="0">
                <a:solidFill>
                  <a:srgbClr val="475569"/>
                </a:solidFill>
              </a:rPr>
              <a:t>  Danh sách thẻ Whitelist và nhật ký ra vào an toàn khi mất điện.</a:t>
            </a:r>
          </a:p>
          <a:p>
            <a:pPr>
              <a:spcAft>
                <a:spcPts val="400"/>
              </a:spcAft>
              <a:defRPr sz="1050" b="1">
                <a:solidFill>
                  <a:srgbClr val="0F172A"/>
                </a:solidFill>
                <a:latin typeface="Segoe UI"/>
              </a:defRPr>
            </a:pPr>
            <a:r>
              <a:t>• Dung lượng lớn chi phí thấp:</a:t>
            </a:r>
            <a:br/>
            <a:r>
              <a:rPr sz="1000" b="0">
                <a:solidFill>
                  <a:srgbClr val="475569"/>
                </a:solidFill>
              </a:rPr>
              <a:t>  Chip 32 Mbit (4MB) chứa được 4096 thẻ và 512 bản ghi nhật ký.</a:t>
            </a:r>
          </a:p>
          <a:p>
            <a:pPr>
              <a:spcAft>
                <a:spcPts val="400"/>
              </a:spcAft>
              <a:defRPr sz="1050" b="1">
                <a:solidFill>
                  <a:srgbClr val="0F172A"/>
                </a:solidFill>
                <a:latin typeface="Segoe UI"/>
              </a:defRPr>
            </a:pPr>
            <a:r>
              <a:t>• Tiết kiệm chân I/O tối đa:</a:t>
            </a:r>
            <a:br/>
            <a:r>
              <a:rPr sz="1000" b="0">
                <a:solidFill>
                  <a:srgbClr val="475569"/>
                </a:solidFill>
              </a:rPr>
              <a:t>  Chuẩn SPI chỉ cần 4 đường (CS, SCK, MOSI, MISO), rất lý tưởng cho ASIC.</a:t>
            </a:r>
          </a:p>
          <a:p>
            <a:pPr>
              <a:spcAft>
                <a:spcPts val="400"/>
              </a:spcAft>
              <a:defRPr sz="1050" b="1">
                <a:solidFill>
                  <a:srgbClr val="0F172A"/>
                </a:solidFill>
                <a:latin typeface="Segoe UI"/>
              </a:defRPr>
            </a:pPr>
            <a:r>
              <a:t>• Bảo trì &amp; trích xuất tiện lợi:</a:t>
            </a:r>
            <a:br/>
            <a:r>
              <a:rPr sz="1000" b="0">
                <a:solidFill>
                  <a:srgbClr val="475569"/>
                </a:solidFill>
              </a:rPr>
              <a:t>  Cắm máy tính qua UART để nạp danh mục thẻ hoặc xuất file CSV an toàn.</a:t>
            </a:r>
          </a:p>
        </p:txBody>
      </p:sp>
      <p:sp>
        <p:nvSpPr>
          <p:cNvPr id="14" name="Rounded Rectangle 13"/>
          <p:cNvSpPr/>
          <p:nvPr/>
        </p:nvSpPr>
        <p:spPr>
          <a:xfrm>
            <a:off x="731520" y="5120640"/>
            <a:ext cx="10728655" cy="105156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2563EB"/>
                </a:solidFill>
                <a:latin typeface="Segoe UI"/>
              </a:defRPr>
            </a:pPr>
            <a:r>
              <a:t>💡 KẾT LUẬN CHIẾN LƯỢC: ĐỊNH HƯỚNG THIẾT KẾ ACCESS CONTROL STANDALONE</a:t>
            </a:r>
          </a:p>
          <a:p>
            <a:pPr>
              <a:defRPr sz="1050">
                <a:solidFill>
                  <a:srgbClr val="0F172A"/>
                </a:solidFill>
                <a:latin typeface="Segoe UI"/>
              </a:defRPr>
            </a:pPr>
            <a:r>
              <a:t>Hệ thống Standalone giải quyết triệt để rủi ro bảo mật &amp; độ trễ thông qua kiến trúc xử lý cục bộ — Phù hợp tuyệt đối cho kho quân sự, phòng máy chủ, phòng sạch bán dẫn và các khu vực bảo mật nghiêm ngặt.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2 | KIẾN TRÚC HỆ THỐNG PHẦN CỨNG</a:t>
            </a:r>
          </a:p>
          <a:p>
            <a:pPr>
              <a:defRPr sz="1900" b="1">
                <a:solidFill>
                  <a:srgbClr val="0F172A"/>
                </a:solidFill>
                <a:latin typeface="Segoe UI"/>
              </a:defRPr>
            </a:pPr>
            <a:r>
              <a:t>Sơ Đồ Khối Kiến Trúc Vi Hệ Thống SoC PicoRV32 Tích Hợp (Hình 1)</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03 / 22</a:t>
            </a:r>
          </a:p>
        </p:txBody>
      </p:sp>
      <p:pic>
        <p:nvPicPr>
          <p:cNvPr id="8" name="Picture 7" descr="fig1_block_diagram.png"/>
          <p:cNvPicPr>
            <a:picLocks noChangeAspect="1"/>
          </p:cNvPicPr>
          <p:nvPr/>
        </p:nvPicPr>
        <p:blipFill>
          <a:blip r:embed="rId2"/>
          <a:stretch>
            <a:fillRect/>
          </a:stretch>
        </p:blipFill>
        <p:spPr>
          <a:xfrm>
            <a:off x="731520" y="1234440"/>
            <a:ext cx="6949440" cy="4722055"/>
          </a:xfrm>
          <a:prstGeom prst="rect">
            <a:avLst/>
          </a:prstGeom>
        </p:spPr>
      </p:pic>
      <p:sp>
        <p:nvSpPr>
          <p:cNvPr id="9" name="Rounded Rectangle 8"/>
          <p:cNvSpPr/>
          <p:nvPr/>
        </p:nvSpPr>
        <p:spPr>
          <a:xfrm>
            <a:off x="7909560" y="1234440"/>
            <a:ext cx="3547872"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92440" y="1371600"/>
            <a:ext cx="3182112" cy="4572000"/>
          </a:xfrm>
          <a:prstGeom prst="rect">
            <a:avLst/>
          </a:prstGeom>
          <a:noFill/>
        </p:spPr>
        <p:txBody>
          <a:bodyPr wrap="square">
            <a:spAutoFit/>
          </a:bodyPr>
          <a:lstStyle/>
          <a:p>
            <a:pPr>
              <a:spcAft>
                <a:spcPts val="1000"/>
              </a:spcAft>
              <a:defRPr sz="1500" b="1">
                <a:solidFill>
                  <a:srgbClr val="2563EB"/>
                </a:solidFill>
                <a:latin typeface="Segoe UI"/>
              </a:defRPr>
            </a:pPr>
            <a:r>
              <a:t>Đặc Điểm Cốt Lõi SoC</a:t>
            </a:r>
          </a:p>
          <a:p>
            <a:pPr>
              <a:spcAft>
                <a:spcPts val="400"/>
              </a:spcAft>
              <a:defRPr sz="1100" b="1">
                <a:solidFill>
                  <a:srgbClr val="0F172A"/>
                </a:solidFill>
                <a:latin typeface="Segoe UI"/>
              </a:defRPr>
            </a:pPr>
            <a:r>
              <a:t>▸ CPU RISC-V PicoRV32: </a:t>
            </a:r>
            <a:r>
              <a:rPr sz="1050" b="0">
                <a:solidFill>
                  <a:srgbClr val="475569"/>
                </a:solidFill>
              </a:rPr>
              <a:t>Hỗ trợ chuẩn tập lệnh RV32I, thiết kế gọn gàng, hiệu suất diện tích silicon cao.</a:t>
            </a:r>
          </a:p>
          <a:p>
            <a:pPr>
              <a:spcAft>
                <a:spcPts val="400"/>
              </a:spcAft>
              <a:defRPr sz="1100" b="1">
                <a:solidFill>
                  <a:srgbClr val="0F172A"/>
                </a:solidFill>
                <a:latin typeface="Segoe UI"/>
              </a:defRPr>
            </a:pPr>
            <a:r>
              <a:t>▸ 1KB On-Chip Data SRAM: </a:t>
            </a:r>
            <a:r>
              <a:rPr sz="1050" b="0">
                <a:solidFill>
                  <a:srgbClr val="475569"/>
                </a:solidFill>
              </a:rPr>
              <a:t>Chứa ngăn xếp Stack (sp = 0x400), biến .data, .bss và hàm flashio_worker.</a:t>
            </a:r>
          </a:p>
          <a:p>
            <a:pPr>
              <a:spcAft>
                <a:spcPts val="400"/>
              </a:spcAft>
              <a:defRPr sz="1100" b="1">
                <a:solidFill>
                  <a:srgbClr val="0F172A"/>
                </a:solidFill>
                <a:latin typeface="Segoe UI"/>
              </a:defRPr>
            </a:pPr>
            <a:r>
              <a:t>▸ Flash XIP Execution: </a:t>
            </a:r>
            <a:r>
              <a:rPr sz="1050" b="0">
                <a:solidFill>
                  <a:srgbClr val="475569"/>
                </a:solidFill>
              </a:rPr>
              <a:t>Thực thi trực tiếp mã máy từ Flash tại địa chỉ reset 0x0025_0000 thông qua SPIMEMIO.</a:t>
            </a:r>
          </a:p>
          <a:p>
            <a:pPr>
              <a:spcAft>
                <a:spcPts val="400"/>
              </a:spcAft>
              <a:defRPr sz="1100" b="1">
                <a:solidFill>
                  <a:srgbClr val="0F172A"/>
                </a:solidFill>
                <a:latin typeface="Segoe UI"/>
              </a:defRPr>
            </a:pPr>
            <a:r>
              <a:t>▸ Động Cơ Giải Mã RDM6300: </a:t>
            </a:r>
            <a:r>
              <a:rPr sz="1050" b="0">
                <a:solidFill>
                  <a:srgbClr val="475569"/>
                </a:solidFill>
              </a:rPr>
              <a:t>Phần cứng hóa tự động nhận dạng STX/ETX và so khớp XOR Checksum trong 1 chu kỳ.</a:t>
            </a:r>
          </a:p>
          <a:p>
            <a:pPr>
              <a:spcAft>
                <a:spcPts val="400"/>
              </a:spcAft>
              <a:defRPr sz="1100" b="1">
                <a:solidFill>
                  <a:srgbClr val="0F172A"/>
                </a:solidFill>
                <a:latin typeface="Segoe UI"/>
              </a:defRPr>
            </a:pPr>
            <a:r>
              <a:t>▸ Đệm FIFO Kép Cho UART: </a:t>
            </a:r>
            <a:r>
              <a:rPr sz="1050" b="0">
                <a:solidFill>
                  <a:srgbClr val="475569"/>
                </a:solidFill>
              </a:rPr>
              <a:t>Ngăn chặn nghẽn bus hoặc rơi rụng lệnh khi CPU đang bận ghi/xóa Flash.</a:t>
            </a:r>
          </a:p>
          <a:p>
            <a:pPr>
              <a:spcAft>
                <a:spcPts val="400"/>
              </a:spcAft>
              <a:defRPr sz="1100" b="1">
                <a:solidFill>
                  <a:srgbClr val="0F172A"/>
                </a:solidFill>
                <a:latin typeface="Segoe UI"/>
              </a:defRPr>
            </a:pPr>
            <a:r>
              <a:t>▸ 16 Đèn LED Chẩn Đoán: </a:t>
            </a:r>
            <a:r>
              <a:rPr sz="1050" b="0">
                <a:solidFill>
                  <a:srgbClr val="475569"/>
                </a:solidFill>
              </a:rPr>
              <a:t>Giám sát nhịp tim hệ thống (1Hz), cờ bận Flash, và trạng thái xác thực thẻ.</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3.1. Bước 1: Lựa Chọn Tài Nguyên Phần Cứng &amp; Phần Mềm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04 / 22</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Lựa Chọn Tài Nguyên Phần Cứng</a:t>
            </a:r>
          </a:p>
          <a:p>
            <a:pPr>
              <a:spcAft>
                <a:spcPts val="400"/>
              </a:spcAft>
              <a:defRPr sz="1050" b="1">
                <a:solidFill>
                  <a:srgbClr val="0F172A"/>
                </a:solidFill>
                <a:latin typeface="Segoe UI"/>
              </a:defRPr>
            </a:pPr>
            <a:r>
              <a:t>• Module RFID RDM6300 (125 kHz):</a:t>
            </a:r>
            <a:br/>
            <a:r>
              <a:rPr sz="1000" b="0">
                <a:solidFill>
                  <a:srgbClr val="475569"/>
                </a:solidFill>
              </a:rPr>
              <a:t>  Độ bền công nghiệp cao, hoạt động 5V/3.3V, ngõ ra UART 9600 bps tương thích hoàn hảo mức logic 3.3V của các cổng PMOD.</a:t>
            </a:r>
          </a:p>
          <a:p>
            <a:pPr>
              <a:spcAft>
                <a:spcPts val="400"/>
              </a:spcAft>
              <a:defRPr sz="1050" b="1">
                <a:solidFill>
                  <a:srgbClr val="0F172A"/>
                </a:solidFill>
                <a:latin typeface="Segoe UI"/>
              </a:defRPr>
            </a:pPr>
            <a:r>
              <a:t>• Bo mạch FPGA Digilent Basys 3 (XC7A35T):</a:t>
            </a:r>
            <a:br/>
            <a:r>
              <a:rPr sz="1000" b="0">
                <a:solidFill>
                  <a:srgbClr val="475569"/>
                </a:solidFill>
              </a:rPr>
              <a:t>  NỀN TẢNG DEMO VÀ TẠO MẪU PHẦN CỨNG (Hardware Prototype Platform). Tích hợp chip SPI Flash 32 Mbit (Spansion S25FL032P), chip USB-UART FTDI, 16 LED và cổng PMOD tiêu chuẩn.</a:t>
            </a:r>
          </a:p>
          <a:p>
            <a:pPr>
              <a:spcAft>
                <a:spcPts val="400"/>
              </a:spcAft>
              <a:defRPr sz="1050" b="1">
                <a:solidFill>
                  <a:srgbClr val="0F172A"/>
                </a:solidFill>
                <a:latin typeface="Segoe UI"/>
              </a:defRPr>
            </a:pPr>
            <a:r>
              <a:t>• Ý nghĩa kiểm chứng thực nghiệm:</a:t>
            </a:r>
            <a:br/>
            <a:r>
              <a:rPr sz="1000" b="0">
                <a:solidFill>
                  <a:srgbClr val="475569"/>
                </a:solidFill>
              </a:rPr>
              <a:t>  Cho phép xác thực hệ vi mạch SoC, firmware và thẻ RFID thật hoạt động ổn định 100% trong điều kiện nhiễu trước khi chuyển sang ASIC.</a:t>
            </a:r>
          </a:p>
        </p:txBody>
      </p:sp>
      <p:sp>
        <p:nvSpPr>
          <p:cNvPr id="10" name="Rounded Rectangle 9"/>
          <p:cNvSpPr/>
          <p:nvPr/>
        </p:nvSpPr>
        <p:spPr>
          <a:xfrm>
            <a:off x="6248095" y="1234440"/>
            <a:ext cx="5212080" cy="37033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7C3AED"/>
                </a:solidFill>
                <a:latin typeface="Segoe UI"/>
              </a:defRPr>
            </a:pPr>
            <a:r>
              <a:t>⚙️ Chuỗi Công Cụ Phát Triển Phần Mềm</a:t>
            </a:r>
          </a:p>
          <a:p>
            <a:pPr>
              <a:spcAft>
                <a:spcPts val="300"/>
              </a:spcAft>
              <a:defRPr sz="1000" b="1">
                <a:solidFill>
                  <a:srgbClr val="0F172A"/>
                </a:solidFill>
                <a:latin typeface="Segoe UI"/>
              </a:defRPr>
            </a:pPr>
            <a:r>
              <a:t>• Xilinx Vivado ML Edition:</a:t>
            </a:r>
            <a:br/>
            <a:r>
              <a:rPr sz="950" b="0">
                <a:solidFill>
                  <a:srgbClr val="475569"/>
                </a:solidFill>
              </a:rPr>
              <a:t>  Tổng hợp RTL, gán chân ràng buộc vật lý XDC (basys3_picorv32_rdm6300.xdc), nạp bitstream demo trên Basys 3.</a:t>
            </a:r>
          </a:p>
          <a:p>
            <a:pPr>
              <a:spcAft>
                <a:spcPts val="300"/>
              </a:spcAft>
              <a:defRPr sz="1000" b="1">
                <a:solidFill>
                  <a:srgbClr val="0F172A"/>
                </a:solidFill>
                <a:latin typeface="Segoe UI"/>
              </a:defRPr>
            </a:pPr>
            <a:r>
              <a:t>• OpenLane 2 &amp; SkyWater 130nm PDK:</a:t>
            </a:r>
            <a:br/>
            <a:r>
              <a:rPr sz="950" b="0">
                <a:solidFill>
                  <a:srgbClr val="475569"/>
                </a:solidFill>
              </a:rPr>
              <a:t>  Thực thi toàn bộ luồng tổng hợp vật lý RTL-to-GDSII ra layout bán dẫn hoàn chỉnh cho xưởng đúc.</a:t>
            </a:r>
          </a:p>
          <a:p>
            <a:pPr>
              <a:spcAft>
                <a:spcPts val="300"/>
              </a:spcAft>
              <a:defRPr sz="1000" b="1">
                <a:solidFill>
                  <a:srgbClr val="0F172A"/>
                </a:solidFill>
                <a:latin typeface="Segoe UI"/>
              </a:defRPr>
            </a:pPr>
            <a:r>
              <a:t>• GNU RISC-V Toolchain (riscv32-unknown-elf-gcc):</a:t>
            </a:r>
            <a:br/>
            <a:r>
              <a:rPr sz="950" b="0">
                <a:solidFill>
                  <a:srgbClr val="475569"/>
                </a:solidFill>
              </a:rPr>
              <a:t>  Biên dịch mã nguồn C bare-metal và file khởi động Assembly start.s thành tệp mã máy nhị phân firmware.hex.</a:t>
            </a:r>
          </a:p>
          <a:p>
            <a:pPr>
              <a:spcAft>
                <a:spcPts val="300"/>
              </a:spcAft>
              <a:defRPr sz="1000" b="1">
                <a:solidFill>
                  <a:srgbClr val="0F172A"/>
                </a:solidFill>
                <a:latin typeface="Segoe UI"/>
              </a:defRPr>
            </a:pPr>
            <a:r>
              <a:t>• Host PC Console (host/main.c):</a:t>
            </a:r>
            <a:br/>
            <a:r>
              <a:rPr sz="950" b="0">
                <a:solidFill>
                  <a:srgbClr val="475569"/>
                </a:solidFill>
              </a:rPr>
              <a:t>  Phát triển bằng ngôn ngữ C thuần trên Win32 Serial API, đóng vai trò giao diện điều khiển trung tâm.</a:t>
            </a:r>
          </a:p>
        </p:txBody>
      </p:sp>
      <p:sp>
        <p:nvSpPr>
          <p:cNvPr id="12" name="Rounded Rectangle 11"/>
          <p:cNvSpPr/>
          <p:nvPr/>
        </p:nvSpPr>
        <p:spPr>
          <a:xfrm>
            <a:off x="731520" y="5120640"/>
            <a:ext cx="10728655" cy="105156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2563EB"/>
                </a:solidFill>
                <a:latin typeface="Segoe UI"/>
              </a:defRPr>
            </a:pPr>
            <a:r>
              <a:t>💡 Ý NGHĨA CHIẾN LƯỢC CỦA BƯỚC CHỌN TÀI NGUYÊN:</a:t>
            </a:r>
          </a:p>
          <a:p>
            <a:pPr>
              <a:defRPr sz="1050">
                <a:solidFill>
                  <a:srgbClr val="0F172A"/>
                </a:solidFill>
                <a:latin typeface="Segoe UI"/>
              </a:defRPr>
            </a:pPr>
            <a:r>
              <a:t>Sự phối hợp giữa bo mạch FPGA Basys 3 (môi trường kiểm chứng thực nghiệm) và OpenLane 2 (luồng thiết kế vi mạch ASIC Sky130) giúp đảm bảo thiết kế chạy đúng 100% trên phần cứng thật trước khi gửi tape-out.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3.2. Bước 2: Thiết Kế Firmware &amp; Định Nghĩa Giao Thức Trước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05 / 22</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Triết Lý Software-First &amp; Quy Hoạch Flash</a:t>
            </a:r>
          </a:p>
          <a:p>
            <a:pPr>
              <a:spcAft>
                <a:spcPts val="400"/>
              </a:spcAft>
              <a:defRPr sz="1050" b="1">
                <a:solidFill>
                  <a:srgbClr val="0F172A"/>
                </a:solidFill>
                <a:latin typeface="Segoe UI"/>
              </a:defRPr>
            </a:pPr>
            <a:r>
              <a:t>• Triết lý thiết kế Software-First:</a:t>
            </a:r>
            <a:br/>
            <a:r>
              <a:rPr sz="1000" b="0">
                <a:solidFill>
                  <a:srgbClr val="475569"/>
                </a:solidFill>
              </a:rPr>
              <a:t>  Xác định các chức năng và giao thức phần mềm trước giúp định hình chính xác các thanh ghi ngoại vi và cấu trúc bus phần cứng cần thiết, tránh lãng phí diện tích silicon.</a:t>
            </a:r>
          </a:p>
          <a:p>
            <a:pPr>
              <a:spcAft>
                <a:spcPts val="400"/>
              </a:spcAft>
              <a:defRPr sz="1050" b="1">
                <a:solidFill>
                  <a:srgbClr val="0F172A"/>
                </a:solidFill>
                <a:latin typeface="Segoe UI"/>
              </a:defRPr>
            </a:pPr>
            <a:r>
              <a:t>• Sector 48 (0x0030_0000) - Danh mục thẻ hợp lệ:</a:t>
            </a:r>
            <a:br/>
            <a:r>
              <a:rPr sz="1000" b="0">
                <a:solidFill>
                  <a:srgbClr val="475569"/>
                </a:solidFill>
              </a:rPr>
              <a:t>  Dung lượng 64KB chứa tối đa 4096 bản ghi thẻ. Mỗi bản ghi 16 bytes: 4B Magic ('RFID' - 0x52464944), 4B UID High, 4B UID Low, 4B Flags trạng thái.</a:t>
            </a:r>
          </a:p>
          <a:p>
            <a:pPr>
              <a:spcAft>
                <a:spcPts val="400"/>
              </a:spcAft>
              <a:defRPr sz="1050" b="1">
                <a:solidFill>
                  <a:srgbClr val="0F172A"/>
                </a:solidFill>
                <a:latin typeface="Segoe UI"/>
              </a:defRPr>
            </a:pPr>
            <a:r>
              <a:t>• Sector 49 (0x0031_0000) - Nhật ký quẹt thẻ:</a:t>
            </a:r>
            <a:br/>
            <a:r>
              <a:rPr sz="1000" b="0">
                <a:solidFill>
                  <a:srgbClr val="475569"/>
                </a:solidFill>
              </a:rPr>
              <a:t>  Chứa tối đa 512 bản ghi nhật ký. Mỗi bản ghi 16 bytes: 4B Magic ('SUCC' hoặc 'FAIL'), 4B UID thẻ đã quẹt, 4B thứ tự lượt quẹt và 4B địa chỉ slot.</a:t>
            </a:r>
          </a:p>
        </p:txBody>
      </p:sp>
      <p:sp>
        <p:nvSpPr>
          <p:cNvPr id="10" name="Rounded Rectangle 9"/>
          <p:cNvSpPr/>
          <p:nvPr/>
        </p:nvSpPr>
        <p:spPr>
          <a:xfrm>
            <a:off x="6248095" y="1234440"/>
            <a:ext cx="5212080"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10B981"/>
                </a:solidFill>
                <a:latin typeface="Segoe UI"/>
              </a:defRPr>
            </a:pPr>
            <a:r>
              <a:t>📡 Tập Lệnh UART &amp; Hàm Cốt Lõi C</a:t>
            </a:r>
          </a:p>
          <a:p>
            <a:pPr>
              <a:spcAft>
                <a:spcPts val="400"/>
              </a:spcAft>
              <a:defRPr sz="1050" b="1">
                <a:solidFill>
                  <a:srgbClr val="0F172A"/>
                </a:solidFill>
                <a:latin typeface="Segoe UI"/>
              </a:defRPr>
            </a:pPr>
            <a:r>
              <a:t>• Giao thức tập lệnh ASCII kết thúc bằng '\n':</a:t>
            </a:r>
            <a:br/>
            <a:r>
              <a:rPr sz="1000" b="0">
                <a:solidFill>
                  <a:srgbClr val="475569"/>
                </a:solidFill>
              </a:rPr>
              <a:t>  Chuẩn hóa giao tiếp: 'P' (Ping CPU), 'N&lt;UID&gt;' (Thêm thẻ mới), 'C&lt;UID&gt;' (Kiểm tra thẻ), 'D&lt;UID&gt;' (Xóa thẻ), 'V&lt;UID&gt;' (Quẹt thẻ ảo), 'L' (Đọc nhật ký), 'X' (Xóa nhật ký sau sao lưu), 'E' (Xóa hết thẻ), 'S' (Trạng thái SoC).</a:t>
            </a:r>
          </a:p>
          <a:p>
            <a:pPr>
              <a:spcAft>
                <a:spcPts val="400"/>
              </a:spcAft>
              <a:defRPr sz="1050" b="1">
                <a:solidFill>
                  <a:srgbClr val="0F172A"/>
                </a:solidFill>
                <a:latin typeface="Segoe UI"/>
              </a:defRPr>
            </a:pPr>
            <a:r>
              <a:t>• Hàm xử lý quét thẻ execute_card_scan():</a:t>
            </a:r>
            <a:br/>
            <a:r>
              <a:rPr sz="1000" b="0">
                <a:solidFill>
                  <a:srgbClr val="475569"/>
                </a:solidFill>
              </a:rPr>
              <a:t>  Bóc tách mã thẻ từ thanh ghi phần cứng -&gt; Tra cứu Sector 48 qua find_tag_slot().</a:t>
            </a:r>
          </a:p>
          <a:p>
            <a:pPr>
              <a:spcAft>
                <a:spcPts val="400"/>
              </a:spcAft>
              <a:defRPr sz="1050" b="1">
                <a:solidFill>
                  <a:srgbClr val="0F172A"/>
                </a:solidFill>
                <a:latin typeface="Segoe UI"/>
              </a:defRPr>
            </a:pPr>
            <a:r>
              <a:t>• Xử lý kết quả xác thực tức thì:</a:t>
            </a:r>
            <a:br/>
            <a:r>
              <a:rPr sz="1000" b="0">
                <a:solidFill>
                  <a:srgbClr val="475569"/>
                </a:solidFill>
              </a:rPr>
              <a:t>  Hợp lệ: Bật LED xanh, ghi log SUCC vào Sector 49, xuất 'ACCESS:GRANTED'; Không hợp lệ: Bật LED cảnh báo, ghi log FAIL, xuất 'ACCESS:DENIED'.</a:t>
            </a:r>
          </a:p>
        </p:txBody>
      </p:sp>
      <p:sp>
        <p:nvSpPr>
          <p:cNvPr id="12" name="Rounded Rectangle 11"/>
          <p:cNvSpPr/>
          <p:nvPr/>
        </p:nvSpPr>
        <p:spPr>
          <a:xfrm>
            <a:off x="731520" y="5120640"/>
            <a:ext cx="10728655" cy="105156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10B981"/>
                </a:solidFill>
                <a:latin typeface="Segoe UI"/>
              </a:defRPr>
            </a:pPr>
            <a:r>
              <a:t>💡 HIỆU QUẢ CỦA BƯỚC ĐỊNH NGHĨA PHẦN MỀM TRƯỚC:</a:t>
            </a:r>
          </a:p>
          <a:p>
            <a:pPr>
              <a:defRPr sz="1050">
                <a:solidFill>
                  <a:srgbClr val="0F172A"/>
                </a:solidFill>
                <a:latin typeface="Segoe UI"/>
              </a:defRPr>
            </a:pPr>
            <a:r>
              <a:t>Việc đặc tả rõ ràng 13 chức năng và cấu trúc 16-byte cho từng slot giúp kỹ sư thiết kế phần cứng xác định chính xác số lượng thanh ghi MMIO, kích thước bộ đệm FIFO và các đường ngắt IRQ cần thiết mà không bị dư thừa.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3.3. Bước 3: Thiết Kế Khối Xử Lý Trung Tâm: CPU PicoRV32 &amp; 1KB 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06 / 22</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Nhân CPU RISC-V PicoRV32 (rtl/picorv32.v)</a:t>
            </a:r>
          </a:p>
          <a:p>
            <a:pPr>
              <a:spcAft>
                <a:spcPts val="300"/>
              </a:spcAft>
              <a:defRPr sz="1000" b="1">
                <a:solidFill>
                  <a:srgbClr val="0F172A"/>
                </a:solidFill>
                <a:latin typeface="Segoe UI"/>
              </a:defRPr>
            </a:pPr>
            <a:r>
              <a:t>• Chuẩn tập lệnh RV32I:</a:t>
            </a:r>
            <a:br/>
            <a:r>
              <a:rPr sz="950" b="0">
                <a:solidFill>
                  <a:srgbClr val="475569"/>
                </a:solidFill>
              </a:rPr>
              <a:t>  Cấu hình nhân 32-bit cơ bản RV32I, thiết kế cực kỳ tinh gọn, tối ưu hóa diện tích cho vi mạch SoC nhúng.</a:t>
            </a:r>
          </a:p>
          <a:p>
            <a:pPr>
              <a:spcAft>
                <a:spcPts val="300"/>
              </a:spcAft>
              <a:defRPr sz="1000" b="1">
                <a:solidFill>
                  <a:srgbClr val="0F172A"/>
                </a:solidFill>
                <a:latin typeface="Segoe UI"/>
              </a:defRPr>
            </a:pPr>
            <a:r>
              <a:t>• Giao thức Memory Bus 32-bit:</a:t>
            </a:r>
            <a:br/>
            <a:r>
              <a:rPr sz="950" b="0">
                <a:solidFill>
                  <a:srgbClr val="475569"/>
                </a:solidFill>
              </a:rPr>
              <a:t>  Giao tiếp qua các tín hiệu: mem_valid, mem_ready, mem_addr[31:0], mem_wdata[31:0], mem_wstrb[3:0], mem_rdata[31:0].</a:t>
            </a:r>
          </a:p>
          <a:p>
            <a:pPr>
              <a:spcAft>
                <a:spcPts val="300"/>
              </a:spcAft>
              <a:defRPr sz="1000" b="1">
                <a:solidFill>
                  <a:srgbClr val="0F172A"/>
                </a:solidFill>
                <a:latin typeface="Segoe UI"/>
              </a:defRPr>
            </a:pPr>
            <a:r>
              <a:t>• Mặt nạ ghi byte mem_wstrb[3:0]:</a:t>
            </a:r>
            <a:br/>
            <a:r>
              <a:rPr sz="950" b="0">
                <a:solidFill>
                  <a:srgbClr val="475569"/>
                </a:solidFill>
              </a:rPr>
              <a:t>  Cho phép ghi chính xác từng byte đơn lẻ vào SRAM mà không làm ghi đè dữ liệu lân cận.</a:t>
            </a:r>
          </a:p>
          <a:p>
            <a:pPr>
              <a:spcAft>
                <a:spcPts val="300"/>
              </a:spcAft>
              <a:defRPr sz="1000" b="1">
                <a:solidFill>
                  <a:srgbClr val="0F172A"/>
                </a:solidFill>
                <a:latin typeface="Segoe UI"/>
              </a:defRPr>
            </a:pPr>
            <a:r>
              <a:t>• Khởi động trực tiếp Reset Vector (PROGADDR_RESET):</a:t>
            </a:r>
            <a:br/>
            <a:r>
              <a:rPr sz="950" b="0">
                <a:solidFill>
                  <a:srgbClr val="475569"/>
                </a:solidFill>
              </a:rPr>
              <a:t>  Đặt tại địa chỉ 0x0025_0000 trong SPI Flash. CPU bắt đầu fetch lệnh trực tiếp từ Flash thông qua cơ chế XIP ngay khi nhả reset.</a:t>
            </a:r>
          </a:p>
        </p:txBody>
      </p:sp>
      <p:sp>
        <p:nvSpPr>
          <p:cNvPr id="10" name="Rounded Rectangle 9"/>
          <p:cNvSpPr/>
          <p:nvPr/>
        </p:nvSpPr>
        <p:spPr>
          <a:xfrm>
            <a:off x="6248095" y="1234440"/>
            <a:ext cx="5212080" cy="3703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D97706"/>
                </a:solidFill>
                <a:latin typeface="Segoe UI"/>
              </a:defRPr>
            </a:pPr>
            <a:r>
              <a:t>📦 Bộ Nhớ On-Chip 1KB Data SRAM &amp; Startup</a:t>
            </a:r>
          </a:p>
          <a:p>
            <a:pPr>
              <a:spcAft>
                <a:spcPts val="300"/>
              </a:spcAft>
              <a:defRPr sz="1000" b="1">
                <a:solidFill>
                  <a:srgbClr val="0F172A"/>
                </a:solidFill>
                <a:latin typeface="Segoe UI"/>
              </a:defRPr>
            </a:pPr>
            <a:r>
              <a:t>• Mảng nhớ nội bộ 1KB (rtl/data_sram.v):</a:t>
            </a:r>
            <a:br/>
            <a:r>
              <a:rPr sz="950" b="0">
                <a:solidFill>
                  <a:srgbClr val="475569"/>
                </a:solidFill>
              </a:rPr>
              <a:t>  Dung lượng chính xác 1 KByte (256 words x 32-bit = 1024 bytes), ánh xạ địa chỉ 0x0000_0000 đến 0x0000_03FF.</a:t>
            </a:r>
          </a:p>
          <a:p>
            <a:pPr>
              <a:spcAft>
                <a:spcPts val="300"/>
              </a:spcAft>
              <a:defRPr sz="1000" b="1">
                <a:solidFill>
                  <a:srgbClr val="0F172A"/>
                </a:solidFill>
                <a:latin typeface="Segoe UI"/>
              </a:defRPr>
            </a:pPr>
            <a:r>
              <a:t>• Không gian dữ liệu đọc/ghi:</a:t>
            </a:r>
            <a:br/>
            <a:r>
              <a:rPr sz="950" b="0">
                <a:solidFill>
                  <a:srgbClr val="475569"/>
                </a:solidFill>
              </a:rPr>
              <a:t>  Chứa ngăn xếp Stack Pointer (sp = 0x0000_0400), biến toàn cục (.data, .bss) và chứa đoạn mã hàm flashio_worker.</a:t>
            </a:r>
          </a:p>
          <a:p>
            <a:pPr>
              <a:spcAft>
                <a:spcPts val="300"/>
              </a:spcAft>
              <a:defRPr sz="1000" b="1">
                <a:solidFill>
                  <a:srgbClr val="0F172A"/>
                </a:solidFill>
                <a:latin typeface="Segoe UI"/>
              </a:defRPr>
            </a:pPr>
            <a:r>
              <a:t>• Tối ưu hóa diện tích bán dẫn:</a:t>
            </a:r>
            <a:br/>
            <a:r>
              <a:rPr sz="950" b="0">
                <a:solidFill>
                  <a:srgbClr val="475569"/>
                </a:solidFill>
              </a:rPr>
              <a:t>  1KB tối giản giúp khuôn chip chỉ tốn 1.69 mm² trên Sky130 và suy luận hoàn hảo thành khối Block RAM đồng bộ trên FPGA Basys 3.</a:t>
            </a:r>
          </a:p>
          <a:p>
            <a:pPr>
              <a:spcAft>
                <a:spcPts val="300"/>
              </a:spcAft>
              <a:defRPr sz="1000" b="1">
                <a:solidFill>
                  <a:srgbClr val="0F172A"/>
                </a:solidFill>
                <a:latin typeface="Segoe UI"/>
              </a:defRPr>
            </a:pPr>
            <a:r>
              <a:t>• Mã Assembly start.s &amp; Linker sections.lds:</a:t>
            </a:r>
            <a:br/>
            <a:r>
              <a:rPr sz="950" b="0">
                <a:solidFill>
                  <a:srgbClr val="475569"/>
                </a:solidFill>
              </a:rPr>
              <a:t>  Thiết lập sp = 0x400, sao chép .data từ Flash vào SRAM, xóa sạch .bss về 0 trước khi gọi hàm main().</a:t>
            </a:r>
          </a:p>
        </p:txBody>
      </p:sp>
      <p:sp>
        <p:nvSpPr>
          <p:cNvPr id="12" name="Rounded Rectangle 11"/>
          <p:cNvSpPr/>
          <p:nvPr/>
        </p:nvSpPr>
        <p:spPr>
          <a:xfrm>
            <a:off x="731520" y="5120640"/>
            <a:ext cx="10728655" cy="10515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D97706"/>
                </a:solidFill>
                <a:latin typeface="Segoe UI"/>
              </a:defRPr>
            </a:pPr>
            <a:r>
              <a:t>💡 ĐẶC TÍNH VƯỢT TRỘI CỦA KHỐI XỬ LÝ TRUNG TÂM:</a:t>
            </a:r>
          </a:p>
          <a:p>
            <a:pPr>
              <a:defRPr sz="1050">
                <a:solidFill>
                  <a:srgbClr val="0F172A"/>
                </a:solidFill>
                <a:latin typeface="Segoe UI"/>
              </a:defRPr>
            </a:pPr>
            <a:r>
              <a:t>Bằng cách giới hạn SRAM ở mức 1KB vừa đủ cho Stack/Data và chạy mã lệnh trực tiếp từ Flash ngoài, SoC đạt được hiệu năng tính toán 32-bit mạnh mẽ mà vẫn giữ diện tích silicon ở mức tối thiểu tuyệt đối.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3.4. Bước 4: Thiết Kế Bộ Điều Khiển Bộ Nhớ Ngoài SPI Flash</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07 / 22</a:t>
            </a:r>
          </a:p>
        </p:txBody>
      </p:sp>
      <p:sp>
        <p:nvSpPr>
          <p:cNvPr id="8" name="Rounded Rectangle 7"/>
          <p:cNvSpPr/>
          <p:nvPr/>
        </p:nvSpPr>
        <p:spPr>
          <a:xfrm>
            <a:off x="731520" y="1234440"/>
            <a:ext cx="5212080" cy="3703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D97706"/>
                </a:solidFill>
                <a:latin typeface="Segoe UI"/>
              </a:defRPr>
            </a:pPr>
            <a:r>
              <a:t>⚙️ FSM Điều Khiển SPI &amp; Tập Lệnh Phần Cứng</a:t>
            </a:r>
          </a:p>
          <a:p>
            <a:pPr>
              <a:spcAft>
                <a:spcPts val="300"/>
              </a:spcAft>
              <a:defRPr sz="1000" b="1">
                <a:solidFill>
                  <a:srgbClr val="0F172A"/>
                </a:solidFill>
                <a:latin typeface="Segoe UI"/>
              </a:defRPr>
            </a:pPr>
            <a:r>
              <a:t>• Cầu nối MMIO - SPI Flash (rtl/spimemio.v):</a:t>
            </a:r>
            <a:br/>
            <a:r>
              <a:rPr sz="950" b="0">
                <a:solidFill>
                  <a:srgbClr val="475569"/>
                </a:solidFill>
              </a:rPr>
              <a:t>  Chuyển đổi các giao dịch đọc/ghi bus 32-bit của CPU thành chuỗi xung nối tiếp SPI 1-bit điều khiển chip Flash ngoài.</a:t>
            </a:r>
          </a:p>
          <a:p>
            <a:pPr>
              <a:spcAft>
                <a:spcPts val="300"/>
              </a:spcAft>
              <a:defRPr sz="1000" b="1">
                <a:solidFill>
                  <a:srgbClr val="0F172A"/>
                </a:solidFill>
                <a:latin typeface="Segoe UI"/>
              </a:defRPr>
            </a:pPr>
            <a:r>
              <a:t>• Máy trạng thái FSM điều khiển tự động:</a:t>
            </a:r>
            <a:br/>
            <a:r>
              <a:rPr sz="950" b="0">
                <a:solidFill>
                  <a:srgbClr val="475569"/>
                </a:solidFill>
              </a:rPr>
              <a:t>  Tự động hóa hoàn toàn phát xung nhịp SCK, hạ chân chọn chip CS_N, đẩy địa chỉ qua MOSI và lấy mẫu dữ liệu từ MISO.</a:t>
            </a:r>
          </a:p>
          <a:p>
            <a:pPr>
              <a:spcAft>
                <a:spcPts val="300"/>
              </a:spcAft>
              <a:defRPr sz="1000" b="1">
                <a:solidFill>
                  <a:srgbClr val="0F172A"/>
                </a:solidFill>
                <a:latin typeface="Segoe UI"/>
              </a:defRPr>
            </a:pPr>
            <a:r>
              <a:t>• Tập lệnh Flash phần cứng hỗ trợ:</a:t>
            </a:r>
            <a:br/>
            <a:r>
              <a:rPr sz="950" b="0">
                <a:solidFill>
                  <a:srgbClr val="475569"/>
                </a:solidFill>
              </a:rPr>
              <a:t>  • 0x03 / 0x0B: Đọc dữ liệu (Read / Fast Read kèm 8 Dummy Clocks).
• 0x02: Ghi dữ liệu theo trang 256 bytes (Page Program).
• 0xD8 / 0x20: Xóa khối Sector 64KB / 4KB (Sector Erase).
• 0x05: Đọc thanh ghi trạng thái Flash (Read Status Register).</a:t>
            </a:r>
          </a:p>
        </p:txBody>
      </p:sp>
      <p:sp>
        <p:nvSpPr>
          <p:cNvPr id="10" name="Rounded Rectangle 9"/>
          <p:cNvSpPr/>
          <p:nvPr/>
        </p:nvSpPr>
        <p:spPr>
          <a:xfrm>
            <a:off x="6248095" y="1234440"/>
            <a:ext cx="5212080"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10B981"/>
                </a:solidFill>
                <a:latin typeface="Segoe UI"/>
              </a:defRPr>
            </a:pPr>
            <a:r>
              <a:t>🔄 Polling Cờ WIP &amp; Hàm flashio_worker</a:t>
            </a:r>
          </a:p>
          <a:p>
            <a:pPr>
              <a:spcAft>
                <a:spcPts val="300"/>
              </a:spcAft>
              <a:defRPr sz="1000" b="1">
                <a:solidFill>
                  <a:srgbClr val="0F172A"/>
                </a:solidFill>
                <a:latin typeface="Segoe UI"/>
              </a:defRPr>
            </a:pPr>
            <a:r>
              <a:t>• Tự động Polling cờ WIP bằng phần cứng:</a:t>
            </a:r>
            <a:br/>
            <a:r>
              <a:rPr sz="950" b="0">
                <a:solidFill>
                  <a:srgbClr val="475569"/>
                </a:solidFill>
              </a:rPr>
              <a:t>  Sau mỗi chu kỳ ghi trang hoặc xóa sector, khối SPIMEMIO tự động gửi lệnh 0x05 kiểm tra bit 0 (Write-In-Progress) của Flash.</a:t>
            </a:r>
          </a:p>
          <a:p>
            <a:pPr>
              <a:spcAft>
                <a:spcPts val="300"/>
              </a:spcAft>
              <a:defRPr sz="1000" b="1">
                <a:solidFill>
                  <a:srgbClr val="0F172A"/>
                </a:solidFill>
                <a:latin typeface="Segoe UI"/>
              </a:defRPr>
            </a:pPr>
            <a:r>
              <a:t>• Giải phóng 100% thời gian chờ cho CPU:</a:t>
            </a:r>
            <a:br/>
            <a:r>
              <a:rPr sz="950" b="0">
                <a:solidFill>
                  <a:srgbClr val="475569"/>
                </a:solidFill>
              </a:rPr>
              <a:t>  Khi Flash bận ghi vật lý, bit REG_SPI_STATUS_BUSY giữ mức 1; khi hoàn tất, cờ tự hạ về 0, CPU không phải chạy vòng lặp delay lãng phí.</a:t>
            </a:r>
          </a:p>
          <a:p>
            <a:pPr>
              <a:spcAft>
                <a:spcPts val="300"/>
              </a:spcAft>
              <a:defRPr sz="1000" b="1">
                <a:solidFill>
                  <a:srgbClr val="0F172A"/>
                </a:solidFill>
                <a:latin typeface="Segoe UI"/>
              </a:defRPr>
            </a:pPr>
            <a:r>
              <a:t>• Hàm flashio_worker chạy trên 1KB SRAM:</a:t>
            </a:r>
            <a:br/>
            <a:r>
              <a:rPr sz="950" b="0">
                <a:solidFill>
                  <a:srgbClr val="475569"/>
                </a:solidFill>
              </a:rPr>
              <a:t>  Khi cần ghi hoặc xóa Flash, hàm điều khiển tạm thời chuyển vào 1KB SRAM để thực thi an toàn, loại trừ hoàn toàn xung đột với lệnh fetch XIP.</a:t>
            </a:r>
          </a:p>
          <a:p>
            <a:pPr>
              <a:spcAft>
                <a:spcPts val="300"/>
              </a:spcAft>
              <a:defRPr sz="1000" b="1">
                <a:solidFill>
                  <a:srgbClr val="0F172A"/>
                </a:solidFill>
                <a:latin typeface="Segoe UI"/>
              </a:defRPr>
            </a:pPr>
            <a:r>
              <a:t>• Tiết kiệm chân I/O tối đa:</a:t>
            </a:r>
            <a:br/>
            <a:r>
              <a:rPr sz="950" b="0">
                <a:solidFill>
                  <a:srgbClr val="475569"/>
                </a:solidFill>
              </a:rPr>
              <a:t>  Toàn bộ giao tiếp bộ nhớ chỉ cần 4 chân tín hiệu (CS_N, SCK, MOSI, MISO), rất lý tưởng cho đóng gói vi mạch ASIC.</a:t>
            </a:r>
          </a:p>
        </p:txBody>
      </p:sp>
      <p:sp>
        <p:nvSpPr>
          <p:cNvPr id="12" name="Rounded Rectangle 11"/>
          <p:cNvSpPr/>
          <p:nvPr/>
        </p:nvSpPr>
        <p:spPr>
          <a:xfrm>
            <a:off x="731520" y="5120640"/>
            <a:ext cx="10728655" cy="105156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10B981"/>
                </a:solidFill>
                <a:latin typeface="Segoe UI"/>
              </a:defRPr>
            </a:pPr>
            <a:r>
              <a:t>💡 VAI TRÒ SỐNG CÒN CỦA SPI FLASH CONTROLLER:</a:t>
            </a:r>
          </a:p>
          <a:p>
            <a:pPr>
              <a:defRPr sz="1050">
                <a:solidFill>
                  <a:srgbClr val="0F172A"/>
                </a:solidFill>
                <a:latin typeface="Segoe UI"/>
              </a:defRPr>
            </a:pPr>
            <a:r>
              <a:t>Khối spimemio.v giải quyết triệt để bài toán dung lượng bộ nhớ lớn trong thiết kế ASIC: vừa cho phép chạy mã lệnh XIP trực tiếp, vừa cung cấp cơ chế lưu trữ bền vững &gt; 20 năm cho danh mục thẻ và nhật ký ra vào.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NGOẠI VI THU NHẬN RFID</a:t>
            </a:r>
          </a:p>
          <a:p>
            <a:pPr>
              <a:defRPr sz="1900" b="1">
                <a:solidFill>
                  <a:srgbClr val="0F172A"/>
                </a:solidFill>
                <a:latin typeface="Segoe UI"/>
              </a:defRPr>
            </a:pPr>
            <a:r>
              <a:t>3.5. Bước 5: Đường Ống 5 Giai Đoạn Thu Nhận &amp; Giải Mã Phần Cứng (Hình 2)</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08 / 22</a:t>
            </a:r>
          </a:p>
        </p:txBody>
      </p:sp>
      <p:pic>
        <p:nvPicPr>
          <p:cNvPr id="8" name="Picture 7" descr="fig2_rdm6300_horizontal.png"/>
          <p:cNvPicPr>
            <a:picLocks noChangeAspect="1"/>
          </p:cNvPicPr>
          <p:nvPr/>
        </p:nvPicPr>
        <p:blipFill>
          <a:blip r:embed="rId2"/>
          <a:stretch>
            <a:fillRect/>
          </a:stretch>
        </p:blipFill>
        <p:spPr>
          <a:xfrm>
            <a:off x="875995" y="1234440"/>
            <a:ext cx="10439704" cy="5074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GIAO THỨC DỮ LIỆU RFID</a:t>
            </a:r>
          </a:p>
          <a:p>
            <a:pPr>
              <a:defRPr sz="1900" b="1">
                <a:solidFill>
                  <a:srgbClr val="0F172A"/>
                </a:solidFill>
                <a:latin typeface="Segoe UI"/>
              </a:defRPr>
            </a:pPr>
            <a:r>
              <a:t>Cấu Trúc Khung 14 Byte &amp; Chứng Minh Toán Học Cây Toán Tử XOR</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09 / 22</a:t>
            </a:r>
          </a:p>
        </p:txBody>
      </p:sp>
      <p:sp>
        <p:nvSpPr>
          <p:cNvPr id="8" name="Rounded Rectangle 7"/>
          <p:cNvSpPr/>
          <p:nvPr/>
        </p:nvSpPr>
        <p:spPr>
          <a:xfrm>
            <a:off x="731520" y="1234440"/>
            <a:ext cx="10728655"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10362895" cy="1828800"/>
          </a:xfrm>
          <a:prstGeom prst="rect">
            <a:avLst/>
          </a:prstGeom>
          <a:noFill/>
        </p:spPr>
        <p:txBody>
          <a:bodyPr wrap="square">
            <a:spAutoFit/>
          </a:bodyPr>
          <a:lstStyle/>
          <a:p>
            <a:pPr>
              <a:spcAft>
                <a:spcPts val="600"/>
              </a:spcAft>
              <a:defRPr sz="1400" b="1">
                <a:solidFill>
                  <a:srgbClr val="2563EB"/>
                </a:solidFill>
                <a:latin typeface="Segoe UI"/>
              </a:defRPr>
            </a:pPr>
            <a:r>
              <a:t>Cấu Trúc Khung Truyền UART 14 Byte Của RDM6300 (Ví Dụ Thẻ Thật: 0007508976)</a:t>
            </a:r>
          </a:p>
        </p:txBody>
      </p:sp>
      <p:sp>
        <p:nvSpPr>
          <p:cNvPr id="10" name="Rounded Rectangle 9"/>
          <p:cNvSpPr/>
          <p:nvPr/>
        </p:nvSpPr>
        <p:spPr>
          <a:xfrm>
            <a:off x="914400" y="1737360"/>
            <a:ext cx="1234440" cy="960120"/>
          </a:xfrm>
          <a:prstGeom prst="roundRect">
            <a:avLst/>
          </a:prstGeom>
          <a:solidFill>
            <a:srgbClr val="F1F5F9"/>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Byte 0</a:t>
            </a:r>
          </a:p>
          <a:p>
            <a:pPr algn="ctr">
              <a:defRPr sz="1000" b="1">
                <a:solidFill>
                  <a:srgbClr val="475569"/>
                </a:solidFill>
                <a:latin typeface="Segoe UI"/>
              </a:defRPr>
            </a:pPr>
            <a:r>
              <a:t>STX</a:t>
            </a:r>
          </a:p>
          <a:p>
            <a:pPr algn="ctr">
              <a:defRPr sz="850">
                <a:solidFill>
                  <a:srgbClr val="0F172A"/>
                </a:solidFill>
                <a:latin typeface="Consolas"/>
              </a:defRPr>
            </a:pPr>
            <a:r>
              <a:t>0x02</a:t>
            </a:r>
          </a:p>
        </p:txBody>
      </p:sp>
      <p:sp>
        <p:nvSpPr>
          <p:cNvPr id="11" name="Rounded Rectangle 10"/>
          <p:cNvSpPr/>
          <p:nvPr/>
        </p:nvSpPr>
        <p:spPr>
          <a:xfrm>
            <a:off x="2221992" y="1737360"/>
            <a:ext cx="1234440" cy="960120"/>
          </a:xfrm>
          <a:prstGeom prst="roundRect">
            <a:avLst/>
          </a:prstGeom>
          <a:solidFill>
            <a:srgbClr val="EEF2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1-2</a:t>
            </a:r>
          </a:p>
          <a:p>
            <a:pPr algn="ctr">
              <a:defRPr sz="1000" b="1">
                <a:solidFill>
                  <a:srgbClr val="2563EB"/>
                </a:solidFill>
                <a:latin typeface="Segoe UI"/>
              </a:defRPr>
            </a:pPr>
            <a:r>
              <a:t>Version</a:t>
            </a:r>
          </a:p>
          <a:p>
            <a:pPr algn="ctr">
              <a:defRPr sz="850">
                <a:solidFill>
                  <a:srgbClr val="0F172A"/>
                </a:solidFill>
                <a:latin typeface="Consolas"/>
              </a:defRPr>
            </a:pPr>
            <a:r>
              <a:t>0x00 ('0''0')</a:t>
            </a:r>
          </a:p>
        </p:txBody>
      </p:sp>
      <p:sp>
        <p:nvSpPr>
          <p:cNvPr id="12" name="Rounded Rectangle 11"/>
          <p:cNvSpPr/>
          <p:nvPr/>
        </p:nvSpPr>
        <p:spPr>
          <a:xfrm>
            <a:off x="3529584"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3-4</a:t>
            </a:r>
          </a:p>
          <a:p>
            <a:pPr algn="ctr">
              <a:defRPr sz="1000" b="1">
                <a:solidFill>
                  <a:srgbClr val="10B981"/>
                </a:solidFill>
                <a:latin typeface="Segoe UI"/>
              </a:defRPr>
            </a:pPr>
            <a:r>
              <a:t>Data[31:24]</a:t>
            </a:r>
          </a:p>
          <a:p>
            <a:pPr algn="ctr">
              <a:defRPr sz="850">
                <a:solidFill>
                  <a:srgbClr val="0F172A"/>
                </a:solidFill>
                <a:latin typeface="Consolas"/>
              </a:defRPr>
            </a:pPr>
            <a:r>
              <a:t>0x00 ('0''0')</a:t>
            </a:r>
          </a:p>
        </p:txBody>
      </p:sp>
      <p:sp>
        <p:nvSpPr>
          <p:cNvPr id="13" name="Rounded Rectangle 12"/>
          <p:cNvSpPr/>
          <p:nvPr/>
        </p:nvSpPr>
        <p:spPr>
          <a:xfrm>
            <a:off x="4837176"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5-6</a:t>
            </a:r>
          </a:p>
          <a:p>
            <a:pPr algn="ctr">
              <a:defRPr sz="1000" b="1">
                <a:solidFill>
                  <a:srgbClr val="10B981"/>
                </a:solidFill>
                <a:latin typeface="Segoe UI"/>
              </a:defRPr>
            </a:pPr>
            <a:r>
              <a:t>Data[23:16]</a:t>
            </a:r>
          </a:p>
          <a:p>
            <a:pPr algn="ctr">
              <a:defRPr sz="850">
                <a:solidFill>
                  <a:srgbClr val="0F172A"/>
                </a:solidFill>
                <a:latin typeface="Consolas"/>
              </a:defRPr>
            </a:pPr>
            <a:r>
              <a:t>0x72 ('7''2')</a:t>
            </a:r>
          </a:p>
        </p:txBody>
      </p:sp>
      <p:sp>
        <p:nvSpPr>
          <p:cNvPr id="14" name="Rounded Rectangle 13"/>
          <p:cNvSpPr/>
          <p:nvPr/>
        </p:nvSpPr>
        <p:spPr>
          <a:xfrm>
            <a:off x="6144768"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7-8</a:t>
            </a:r>
          </a:p>
          <a:p>
            <a:pPr algn="ctr">
              <a:defRPr sz="1000" b="1">
                <a:solidFill>
                  <a:srgbClr val="10B981"/>
                </a:solidFill>
                <a:latin typeface="Segoe UI"/>
              </a:defRPr>
            </a:pPr>
            <a:r>
              <a:t>Data[15:8]</a:t>
            </a:r>
          </a:p>
          <a:p>
            <a:pPr algn="ctr">
              <a:defRPr sz="850">
                <a:solidFill>
                  <a:srgbClr val="0F172A"/>
                </a:solidFill>
                <a:latin typeface="Consolas"/>
              </a:defRPr>
            </a:pPr>
            <a:r>
              <a:t>0x93 ('9''3')</a:t>
            </a:r>
          </a:p>
        </p:txBody>
      </p:sp>
      <p:sp>
        <p:nvSpPr>
          <p:cNvPr id="15" name="Rounded Rectangle 14"/>
          <p:cNvSpPr/>
          <p:nvPr/>
        </p:nvSpPr>
        <p:spPr>
          <a:xfrm>
            <a:off x="7452360"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9-10</a:t>
            </a:r>
          </a:p>
          <a:p>
            <a:pPr algn="ctr">
              <a:defRPr sz="1000" b="1">
                <a:solidFill>
                  <a:srgbClr val="10B981"/>
                </a:solidFill>
                <a:latin typeface="Segoe UI"/>
              </a:defRPr>
            </a:pPr>
            <a:r>
              <a:t>Data[7:0]</a:t>
            </a:r>
          </a:p>
          <a:p>
            <a:pPr algn="ctr">
              <a:defRPr sz="850">
                <a:solidFill>
                  <a:srgbClr val="0F172A"/>
                </a:solidFill>
                <a:latin typeface="Consolas"/>
              </a:defRPr>
            </a:pPr>
            <a:r>
              <a:t>0xF0 ('F''0')</a:t>
            </a:r>
          </a:p>
        </p:txBody>
      </p:sp>
      <p:sp>
        <p:nvSpPr>
          <p:cNvPr id="16" name="Rounded Rectangle 15"/>
          <p:cNvSpPr/>
          <p:nvPr/>
        </p:nvSpPr>
        <p:spPr>
          <a:xfrm>
            <a:off x="8759952" y="1737360"/>
            <a:ext cx="1234440" cy="96012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 11-12</a:t>
            </a:r>
          </a:p>
          <a:p>
            <a:pPr algn="ctr">
              <a:defRPr sz="1000" b="1">
                <a:solidFill>
                  <a:srgbClr val="E11D48"/>
                </a:solidFill>
                <a:latin typeface="Segoe UI"/>
              </a:defRPr>
            </a:pPr>
            <a:r>
              <a:t>Checksum</a:t>
            </a:r>
          </a:p>
          <a:p>
            <a:pPr algn="ctr">
              <a:defRPr sz="850">
                <a:solidFill>
                  <a:srgbClr val="0F172A"/>
                </a:solidFill>
                <a:latin typeface="Consolas"/>
              </a:defRPr>
            </a:pPr>
            <a:r>
              <a:t>0xF0 ('F''0')</a:t>
            </a:r>
          </a:p>
        </p:txBody>
      </p:sp>
      <p:sp>
        <p:nvSpPr>
          <p:cNvPr id="17" name="Rounded Rectangle 16"/>
          <p:cNvSpPr/>
          <p:nvPr/>
        </p:nvSpPr>
        <p:spPr>
          <a:xfrm>
            <a:off x="10067544" y="1737360"/>
            <a:ext cx="1234440" cy="960120"/>
          </a:xfrm>
          <a:prstGeom prst="roundRect">
            <a:avLst/>
          </a:prstGeom>
          <a:solidFill>
            <a:srgbClr val="F1F5F9"/>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475569"/>
                </a:solidFill>
                <a:latin typeface="Segoe UI"/>
              </a:defRPr>
            </a:pPr>
            <a:r>
              <a:t>Byte 13</a:t>
            </a:r>
          </a:p>
          <a:p>
            <a:pPr algn="ctr">
              <a:defRPr sz="1000" b="1">
                <a:solidFill>
                  <a:srgbClr val="475569"/>
                </a:solidFill>
                <a:latin typeface="Segoe UI"/>
              </a:defRPr>
            </a:pPr>
            <a:r>
              <a:t>ETX</a:t>
            </a:r>
          </a:p>
          <a:p>
            <a:pPr algn="ctr">
              <a:defRPr sz="850">
                <a:solidFill>
                  <a:srgbClr val="0F172A"/>
                </a:solidFill>
                <a:latin typeface="Consolas"/>
              </a:defRPr>
            </a:pPr>
            <a:r>
              <a:t>0x03</a:t>
            </a:r>
          </a:p>
        </p:txBody>
      </p:sp>
      <p:sp>
        <p:nvSpPr>
          <p:cNvPr id="18" name="Rounded Rectangle 17"/>
          <p:cNvSpPr/>
          <p:nvPr/>
        </p:nvSpPr>
        <p:spPr>
          <a:xfrm>
            <a:off x="731520" y="3429000"/>
            <a:ext cx="5120640" cy="26974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520440"/>
            <a:ext cx="4754880" cy="2514600"/>
          </a:xfrm>
          <a:prstGeom prst="rect">
            <a:avLst/>
          </a:prstGeom>
          <a:noFill/>
        </p:spPr>
        <p:txBody>
          <a:bodyPr wrap="square">
            <a:spAutoFit/>
          </a:bodyPr>
          <a:lstStyle/>
          <a:p>
            <a:pPr>
              <a:spcAft>
                <a:spcPts val="600"/>
              </a:spcAft>
              <a:defRPr sz="1400" b="1">
                <a:solidFill>
                  <a:srgbClr val="10B981"/>
                </a:solidFill>
                <a:latin typeface="Segoe UI"/>
              </a:defRPr>
            </a:pPr>
            <a:r>
              <a:t>Quy Đổi Định Dạng Thẻ RFID Thật</a:t>
            </a:r>
          </a:p>
          <a:p>
            <a:pPr>
              <a:spcAft>
                <a:spcPts val="300"/>
              </a:spcAft>
              <a:defRPr sz="1050" b="1">
                <a:solidFill>
                  <a:srgbClr val="0F172A"/>
                </a:solidFill>
                <a:latin typeface="Segoe UI"/>
              </a:defRPr>
            </a:pPr>
            <a:r>
              <a:t>• Số in dập nổi trên thẻ:</a:t>
            </a:r>
            <a:br/>
            <a:r>
              <a:t>  0007508976 (10 chữ số thập phân)</a:t>
            </a:r>
          </a:p>
          <a:p>
            <a:pPr>
              <a:spcAft>
                <a:spcPts val="300"/>
              </a:spcAft>
              <a:defRPr sz="1050" b="0">
                <a:solidFill>
                  <a:srgbClr val="0F172A"/>
                </a:solidFill>
                <a:latin typeface="Segoe UI"/>
              </a:defRPr>
            </a:pPr>
            <a:r>
              <a:t>• Định dạng Wiegand chuẩn:</a:t>
            </a:r>
            <a:br/>
            <a:r>
              <a:t>  Facility Code: 114 | Card ID: 37872</a:t>
            </a:r>
          </a:p>
          <a:p>
            <a:pPr>
              <a:spcAft>
                <a:spcPts val="300"/>
              </a:spcAft>
              <a:defRPr sz="1050" b="1">
                <a:solidFill>
                  <a:srgbClr val="0F172A"/>
                </a:solidFill>
                <a:latin typeface="Segoe UI"/>
              </a:defRPr>
            </a:pPr>
            <a:r>
              <a:t>• Mã Hex 10 ký tự chuẩn hóa:</a:t>
            </a:r>
            <a:br/>
            <a:r>
              <a:t>  0x00 007293F0 (Version: 0x00, Serial: 0x007293F0)</a:t>
            </a:r>
          </a:p>
          <a:p>
            <a:pPr>
              <a:spcAft>
                <a:spcPts val="300"/>
              </a:spcAft>
              <a:defRPr sz="1050" b="0">
                <a:solidFill>
                  <a:srgbClr val="0F172A"/>
                </a:solidFill>
                <a:latin typeface="Segoe UI"/>
              </a:defRPr>
            </a:pPr>
            <a:r>
              <a:t>• Thuật toán chuyển đổi:</a:t>
            </a:r>
            <a:br/>
            <a:r>
              <a:t>  Do phần mềm Host C và FSM phần cứng tự động quy đổi đồng bộ 100%.</a:t>
            </a:r>
          </a:p>
        </p:txBody>
      </p:sp>
      <p:sp>
        <p:nvSpPr>
          <p:cNvPr id="20" name="Rounded Rectangle 19"/>
          <p:cNvSpPr/>
          <p:nvPr/>
        </p:nvSpPr>
        <p:spPr>
          <a:xfrm>
            <a:off x="6035040" y="3429000"/>
            <a:ext cx="5425135" cy="26974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3520440"/>
            <a:ext cx="5059375" cy="2514600"/>
          </a:xfrm>
          <a:prstGeom prst="rect">
            <a:avLst/>
          </a:prstGeom>
          <a:noFill/>
        </p:spPr>
        <p:txBody>
          <a:bodyPr wrap="square">
            <a:spAutoFit/>
          </a:bodyPr>
          <a:lstStyle/>
          <a:p>
            <a:pPr>
              <a:spcAft>
                <a:spcPts val="600"/>
              </a:spcAft>
              <a:defRPr sz="1400" b="1">
                <a:solidFill>
                  <a:srgbClr val="7C3AED"/>
                </a:solidFill>
                <a:latin typeface="Segoe UI"/>
              </a:defRPr>
            </a:pPr>
            <a:r>
              <a:t>Cây Toán Tử XOR Song Song 1 Chu Kỳ (20.0 ns)</a:t>
            </a:r>
          </a:p>
          <a:p>
            <a:pPr>
              <a:spcAft>
                <a:spcPts val="200"/>
              </a:spcAft>
              <a:defRPr sz="1050" b="1">
                <a:solidFill>
                  <a:srgbClr val="0F172A"/>
                </a:solidFill>
                <a:latin typeface="Segoe UI"/>
              </a:defRPr>
            </a:pPr>
            <a:r>
              <a:t>• Công thức: </a:t>
            </a:r>
            <a:r>
              <a:rPr sz="1000" b="0">
                <a:solidFill>
                  <a:srgbClr val="475569"/>
                </a:solidFill>
              </a:rPr>
              <a:t>Calc_CS = D[0] ^ D[1] ^ D[2] ^ D[3] ^ D[4]</a:t>
            </a:r>
          </a:p>
          <a:p>
            <a:pPr>
              <a:spcAft>
                <a:spcPts val="200"/>
              </a:spcAft>
              <a:defRPr sz="1050" b="1">
                <a:solidFill>
                  <a:srgbClr val="0F172A"/>
                </a:solidFill>
                <a:latin typeface="Segoe UI"/>
              </a:defRPr>
            </a:pPr>
            <a:r>
              <a:t>• Dạng nhị phân: </a:t>
            </a:r>
            <a:r>
              <a:rPr sz="1000" b="0">
                <a:solidFill>
                  <a:srgbClr val="475569"/>
                </a:solidFill>
              </a:rPr>
              <a:t>= 00000000 ^ 00000000 ^ 01110010 ^ 10010011 ^ 11110000</a:t>
            </a:r>
          </a:p>
          <a:p>
            <a:pPr>
              <a:spcAft>
                <a:spcPts val="200"/>
              </a:spcAft>
              <a:defRPr sz="1050" b="1">
                <a:solidFill>
                  <a:srgbClr val="0F172A"/>
                </a:solidFill>
                <a:latin typeface="Segoe UI"/>
              </a:defRPr>
            </a:pPr>
            <a:r>
              <a:t>• Dạng Hex: </a:t>
            </a:r>
            <a:r>
              <a:rPr sz="1000" b="0">
                <a:solidFill>
                  <a:srgbClr val="475569"/>
                </a:solidFill>
              </a:rPr>
              <a:t>= 0x00 ^ 0x00 ^ 0x72 ^ 0x93 ^ 0xF0 = 0xF0</a:t>
            </a:r>
          </a:p>
          <a:p>
            <a:pPr>
              <a:spcAft>
                <a:spcPts val="200"/>
              </a:spcAft>
              <a:defRPr sz="1050" b="1">
                <a:solidFill>
                  <a:srgbClr val="0F172A"/>
                </a:solidFill>
                <a:latin typeface="Segoe UI"/>
              </a:defRPr>
            </a:pPr>
            <a:r>
              <a:t>• So khớp: </a:t>
            </a:r>
            <a:r>
              <a:rPr sz="1000" b="0">
                <a:solidFill>
                  <a:srgbClr val="10B981"/>
                </a:solidFill>
              </a:rPr>
              <a:t>Calc_CS (0xF0) == Received_CS (0xF0) -&gt; MATCH OK!</a:t>
            </a:r>
          </a:p>
          <a:p>
            <a:pPr>
              <a:spcAft>
                <a:spcPts val="200"/>
              </a:spcAft>
              <a:defRPr sz="1050" b="1">
                <a:solidFill>
                  <a:srgbClr val="0F172A"/>
                </a:solidFill>
                <a:latin typeface="Segoe UI"/>
              </a:defRPr>
            </a:pPr>
            <a:r>
              <a:t>• Hiệu năng: </a:t>
            </a:r>
            <a:r>
              <a:rPr sz="1000" b="0">
                <a:solidFill>
                  <a:srgbClr val="475569"/>
                </a:solidFill>
              </a:rPr>
              <a:t>Hoàn tất trong 1 chu kỳ clock, không tốn tài nguyên CPU.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QUẢN LÝ BỘ NHỚ FLASH</a:t>
            </a:r>
          </a:p>
          <a:p>
            <a:pPr>
              <a:defRPr sz="1900" b="1">
                <a:solidFill>
                  <a:srgbClr val="0F172A"/>
                </a:solidFill>
                <a:latin typeface="Segoe UI"/>
              </a:defRPr>
            </a:pPr>
            <a:r>
              <a:t>3.6. Bước 6: Phân Vùng Bộ Nhớ SPI Flash &amp; Cơ Chế Thực Thi XIP</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10 / 22</a:t>
            </a:r>
          </a:p>
        </p:txBody>
      </p:sp>
      <p:sp>
        <p:nvSpPr>
          <p:cNvPr id="8" name="Rounded Rectangle 7"/>
          <p:cNvSpPr/>
          <p:nvPr/>
        </p:nvSpPr>
        <p:spPr>
          <a:xfrm>
            <a:off x="731520" y="1234440"/>
            <a:ext cx="603504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71600"/>
            <a:ext cx="5669280" cy="2926080"/>
          </a:xfrm>
          <a:prstGeom prst="rect">
            <a:avLst/>
          </a:prstGeom>
          <a:noFill/>
        </p:spPr>
        <p:txBody>
          <a:bodyPr wrap="square">
            <a:spAutoFit/>
          </a:bodyPr>
          <a:lstStyle/>
          <a:p>
            <a:pPr>
              <a:spcAft>
                <a:spcPts val="800"/>
              </a:spcAft>
              <a:defRPr sz="1400" b="1">
                <a:solidFill>
                  <a:srgbClr val="2563EB"/>
                </a:solidFill>
                <a:latin typeface="Segoe UI"/>
              </a:defRPr>
            </a:pPr>
            <a:r>
              <a:t>Quy Hoạch Bộ Nhớ SPI NOR Flash (32 Mbit / 4 MBytes)</a:t>
            </a:r>
          </a:p>
          <a:p>
            <a:pPr>
              <a:spcAft>
                <a:spcPts val="400"/>
              </a:spcAft>
              <a:defRPr sz="1050" b="1">
                <a:solidFill>
                  <a:srgbClr val="0F172A"/>
                </a:solidFill>
                <a:latin typeface="Segoe UI"/>
              </a:defRPr>
            </a:pPr>
            <a:r>
              <a:t>💾 Sector 0 - 36 (0x000000 - 0x0024FFFF):</a:t>
            </a:r>
            <a:br/>
            <a:r>
              <a:rPr sz="1000" b="0">
                <a:solidFill>
                  <a:srgbClr val="475569"/>
                </a:solidFill>
              </a:rPr>
              <a:t>    Dung lượng ~2.3 MB. Chứa FPGA Bitstream (khi nạp demo trên Basys 3) hoặc Bootloader.</a:t>
            </a:r>
          </a:p>
          <a:p>
            <a:pPr>
              <a:spcAft>
                <a:spcPts val="400"/>
              </a:spcAft>
              <a:defRPr sz="1050" b="1">
                <a:solidFill>
                  <a:srgbClr val="0F172A"/>
                </a:solidFill>
                <a:latin typeface="Segoe UI"/>
              </a:defRPr>
            </a:pPr>
            <a:r>
              <a:t>💾 Sector 37 (0x00250000 - 0x0025FFFF):</a:t>
            </a:r>
            <a:br/>
            <a:r>
              <a:rPr sz="1000" b="0">
                <a:solidFill>
                  <a:srgbClr val="475569"/>
                </a:solidFill>
              </a:rPr>
              <a:t>    Dung lượng 64 KB. Chứa toàn bộ Firmware RISC-V PicoRV32 thực thi tại chỗ (XIP).</a:t>
            </a:r>
          </a:p>
          <a:p>
            <a:pPr>
              <a:spcAft>
                <a:spcPts val="400"/>
              </a:spcAft>
              <a:defRPr sz="1050" b="1">
                <a:solidFill>
                  <a:srgbClr val="0F172A"/>
                </a:solidFill>
                <a:latin typeface="Segoe UI"/>
              </a:defRPr>
            </a:pPr>
            <a:r>
              <a:t>💾 Sector 48 (0x00300000 - 0x0030FFFF):</a:t>
            </a:r>
            <a:br/>
            <a:r>
              <a:rPr sz="1000" b="0">
                <a:solidFill>
                  <a:srgbClr val="475569"/>
                </a:solidFill>
              </a:rPr>
              <a:t>    Dung lượng 64 KB. Cơ sở dữ liệu danh mục thẻ hợp lệ (Whitelist), lưu trữ tối đa 4096 bản ghi thẻ.</a:t>
            </a:r>
          </a:p>
          <a:p>
            <a:pPr>
              <a:spcAft>
                <a:spcPts val="400"/>
              </a:spcAft>
              <a:defRPr sz="1050" b="1">
                <a:solidFill>
                  <a:srgbClr val="0F172A"/>
                </a:solidFill>
                <a:latin typeface="Segoe UI"/>
              </a:defRPr>
            </a:pPr>
            <a:r>
              <a:t>💾 Sector 49 (0x00310000 - 0x0031FFFF):</a:t>
            </a:r>
            <a:br/>
            <a:r>
              <a:rPr sz="1000" b="0">
                <a:solidFill>
                  <a:srgbClr val="475569"/>
                </a:solidFill>
              </a:rPr>
              <a:t>    Dung lượng 64 KB. Cơ sở dữ liệu nhật ký quẹt thẻ (Access Logs), lưu trữ tối đa 512 bản ghi lượt quẹt.</a:t>
            </a:r>
          </a:p>
        </p:txBody>
      </p:sp>
      <p:sp>
        <p:nvSpPr>
          <p:cNvPr id="10" name="Rectangle 9"/>
          <p:cNvSpPr/>
          <p:nvPr/>
        </p:nvSpPr>
        <p:spPr>
          <a:xfrm>
            <a:off x="914400" y="4343400"/>
            <a:ext cx="2560320" cy="384048"/>
          </a:xfrm>
          <a:prstGeom prst="rect">
            <a:avLst/>
          </a:prstGeom>
          <a:solidFill>
            <a:srgbClr val="E2E8F0"/>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0B132B"/>
                </a:solidFill>
                <a:latin typeface="Segoe UI"/>
              </a:defRPr>
            </a:pPr>
            <a:r>
              <a:t>Sec 0-36 (2.3M Bitstream)</a:t>
            </a:r>
          </a:p>
        </p:txBody>
      </p:sp>
      <p:sp>
        <p:nvSpPr>
          <p:cNvPr id="11" name="Rectangle 10"/>
          <p:cNvSpPr/>
          <p:nvPr/>
        </p:nvSpPr>
        <p:spPr>
          <a:xfrm>
            <a:off x="3474720" y="4343400"/>
            <a:ext cx="1051560" cy="384048"/>
          </a:xfrm>
          <a:prstGeom prst="rect">
            <a:avLst/>
          </a:prstGeom>
          <a:solidFill>
            <a:srgbClr val="BAE6F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0B132B"/>
                </a:solidFill>
                <a:latin typeface="Segoe UI"/>
              </a:defRPr>
            </a:pPr>
            <a:r>
              <a:t>Sec 37 (XIP)</a:t>
            </a:r>
          </a:p>
        </p:txBody>
      </p:sp>
      <p:sp>
        <p:nvSpPr>
          <p:cNvPr id="12" name="Rectangle 11"/>
          <p:cNvSpPr/>
          <p:nvPr/>
        </p:nvSpPr>
        <p:spPr>
          <a:xfrm>
            <a:off x="4526280" y="4343400"/>
            <a:ext cx="1051560" cy="384048"/>
          </a:xfrm>
          <a:prstGeom prst="rect">
            <a:avLst/>
          </a:prstGeom>
          <a:solidFill>
            <a:srgbClr val="BBF7D0"/>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0B132B"/>
                </a:solidFill>
                <a:latin typeface="Segoe UI"/>
              </a:defRPr>
            </a:pPr>
            <a:r>
              <a:t>Sec 48 (List)</a:t>
            </a:r>
          </a:p>
        </p:txBody>
      </p:sp>
      <p:sp>
        <p:nvSpPr>
          <p:cNvPr id="13" name="Rectangle 12"/>
          <p:cNvSpPr/>
          <p:nvPr/>
        </p:nvSpPr>
        <p:spPr>
          <a:xfrm>
            <a:off x="5577840" y="4343400"/>
            <a:ext cx="1051560" cy="384048"/>
          </a:xfrm>
          <a:prstGeom prst="rect">
            <a:avLst/>
          </a:prstGeom>
          <a:solidFill>
            <a:srgbClr val="FED7A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0B132B"/>
                </a:solidFill>
                <a:latin typeface="Segoe UI"/>
              </a:defRPr>
            </a:pPr>
            <a:r>
              <a:t>Sec 49 (Logs)</a:t>
            </a:r>
          </a:p>
        </p:txBody>
      </p:sp>
      <p:sp>
        <p:nvSpPr>
          <p:cNvPr id="14" name="TextBox 13"/>
          <p:cNvSpPr txBox="1"/>
          <p:nvPr/>
        </p:nvSpPr>
        <p:spPr>
          <a:xfrm>
            <a:off x="914400" y="4828032"/>
            <a:ext cx="5715000" cy="1097280"/>
          </a:xfrm>
          <a:prstGeom prst="rect">
            <a:avLst/>
          </a:prstGeom>
          <a:noFill/>
        </p:spPr>
        <p:txBody>
          <a:bodyPr wrap="square">
            <a:spAutoFit/>
          </a:bodyPr>
          <a:lstStyle/>
          <a:p>
            <a:pPr>
              <a:spcAft>
                <a:spcPts val="200"/>
              </a:spcAft>
              <a:defRPr sz="1100" b="1">
                <a:solidFill>
                  <a:srgbClr val="2563EB"/>
                </a:solidFill>
                <a:latin typeface="Segoe UI"/>
              </a:defRPr>
            </a:pPr>
            <a:r>
              <a:t>💡 Hiệu Quả Quy Hoạch Bộ Nhớ:</a:t>
            </a:r>
          </a:p>
          <a:p>
            <a:pPr>
              <a:defRPr sz="1000">
                <a:solidFill>
                  <a:srgbClr val="475569"/>
                </a:solidFill>
                <a:latin typeface="Segoe UI"/>
              </a:defRPr>
            </a:pPr>
            <a:r>
              <a:t>Bản đồ phân vùng bộ nhớ được chia tách vật lý độc lập theo từng Sector 64 KB, đảm bảo lệnh xóa Sector của một vùng không bao giờ ảnh hưởng hay gây hỏng hóc tới mã máy firmware và cơ sở dữ liệu các vùng khác.</a:t>
            </a:r>
          </a:p>
        </p:txBody>
      </p:sp>
      <p:sp>
        <p:nvSpPr>
          <p:cNvPr id="15" name="Rounded Rectangle 14"/>
          <p:cNvSpPr/>
          <p:nvPr/>
        </p:nvSpPr>
        <p:spPr>
          <a:xfrm>
            <a:off x="7132320" y="1234440"/>
            <a:ext cx="4327855" cy="4892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0" y="1371600"/>
            <a:ext cx="3962095" cy="2926080"/>
          </a:xfrm>
          <a:prstGeom prst="rect">
            <a:avLst/>
          </a:prstGeom>
          <a:noFill/>
        </p:spPr>
        <p:txBody>
          <a:bodyPr wrap="square">
            <a:spAutoFit/>
          </a:bodyPr>
          <a:lstStyle/>
          <a:p>
            <a:pPr>
              <a:spcAft>
                <a:spcPts val="800"/>
              </a:spcAft>
              <a:defRPr sz="1400" b="1">
                <a:solidFill>
                  <a:srgbClr val="10B981"/>
                </a:solidFill>
                <a:latin typeface="Segoe UI"/>
              </a:defRPr>
            </a:pPr>
            <a:r>
              <a:t>Cơ Chế Thực Thi Tại Chỗ (XIP)</a:t>
            </a:r>
          </a:p>
          <a:p>
            <a:pPr>
              <a:spcAft>
                <a:spcPts val="400"/>
              </a:spcAft>
              <a:defRPr sz="1050" b="1">
                <a:solidFill>
                  <a:srgbClr val="0F172A"/>
                </a:solidFill>
                <a:latin typeface="Segoe UI"/>
              </a:defRPr>
            </a:pPr>
            <a:r>
              <a:t>▸ Không cần nạp vào RAM:</a:t>
            </a:r>
            <a:br/>
            <a:r>
              <a:rPr sz="1000" b="0">
                <a:solidFill>
                  <a:srgbClr val="475569"/>
                </a:solidFill>
              </a:rPr>
              <a:t>  PicoRV32 đọc mã máy trực tiếp từ Flash thông qua bộ điều khiển spimemio.v, tiết kiệm diện tích SRAM trên chip.</a:t>
            </a:r>
          </a:p>
          <a:p>
            <a:pPr>
              <a:spcAft>
                <a:spcPts val="400"/>
              </a:spcAft>
              <a:defRPr sz="1050" b="1">
                <a:solidFill>
                  <a:srgbClr val="0F172A"/>
                </a:solidFill>
                <a:latin typeface="Segoe UI"/>
              </a:defRPr>
            </a:pPr>
            <a:r>
              <a:t>▸ Vector Reset 0x0025_0000:</a:t>
            </a:r>
            <a:br/>
            <a:r>
              <a:rPr sz="1000" b="0">
                <a:solidFill>
                  <a:srgbClr val="475569"/>
                </a:solidFill>
              </a:rPr>
              <a:t>  Ngay khi nhả tín hiệu rst_n, CPU bắt đầu fetch lệnh đầu tiên tại Sector 37 trong Flash.</a:t>
            </a:r>
          </a:p>
          <a:p>
            <a:pPr>
              <a:spcAft>
                <a:spcPts val="400"/>
              </a:spcAft>
              <a:defRPr sz="1050" b="1">
                <a:solidFill>
                  <a:srgbClr val="0F172A"/>
                </a:solidFill>
                <a:latin typeface="Segoe UI"/>
              </a:defRPr>
            </a:pPr>
            <a:r>
              <a:t>▸ Hàm flashio_worker độc đáo:</a:t>
            </a:r>
            <a:br/>
            <a:r>
              <a:rPr sz="1000" b="0">
                <a:solidFill>
                  <a:srgbClr val="475569"/>
                </a:solidFill>
              </a:rPr>
              <a:t>  Khi ghi hoặc xóa Flash, hàm điều khiển tạm thời chuyển vào 1KB SRAM để thực thi an toàn, không bị xung đột lệnh fetch.</a:t>
            </a:r>
          </a:p>
          <a:p>
            <a:pPr>
              <a:spcAft>
                <a:spcPts val="400"/>
              </a:spcAft>
              <a:defRPr sz="1050" b="1">
                <a:solidFill>
                  <a:srgbClr val="0F172A"/>
                </a:solidFill>
                <a:latin typeface="Segoe UI"/>
              </a:defRPr>
            </a:pPr>
            <a:r>
              <a:t>▸ Tự động Polling cờ WIP:</a:t>
            </a:r>
            <a:br/>
            <a:r>
              <a:rPr sz="1000" b="0">
                <a:solidFill>
                  <a:srgbClr val="475569"/>
                </a:solidFill>
              </a:rPr>
              <a:t>  Khối SPIMEMIO tự động kiểm tra bit bận của Flash bằng phần cứng, giải phóng hoàn toàn thời gian chờ đợi cho CPU.</a:t>
            </a:r>
          </a:p>
        </p:txBody>
      </p:sp>
      <p:sp>
        <p:nvSpPr>
          <p:cNvPr id="17" name="Rounded Rectangle 16"/>
          <p:cNvSpPr/>
          <p:nvPr/>
        </p:nvSpPr>
        <p:spPr>
          <a:xfrm>
            <a:off x="7315200" y="4389120"/>
            <a:ext cx="3962095" cy="155448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06640" y="4443984"/>
            <a:ext cx="3779215" cy="1417320"/>
          </a:xfrm>
          <a:prstGeom prst="rect">
            <a:avLst/>
          </a:prstGeom>
          <a:noFill/>
        </p:spPr>
        <p:txBody>
          <a:bodyPr wrap="square">
            <a:spAutoFit/>
          </a:bodyPr>
          <a:lstStyle/>
          <a:p>
            <a:pPr>
              <a:spcAft>
                <a:spcPts val="300"/>
              </a:spcAft>
              <a:defRPr sz="1050" b="1">
                <a:solidFill>
                  <a:srgbClr val="10B981"/>
                </a:solidFill>
                <a:latin typeface="Segoe UI"/>
              </a:defRPr>
            </a:pPr>
            <a:r>
              <a:t>⚡ Chu Trình Thực Thi Lệnh XIP (Fast Read):</a:t>
            </a:r>
          </a:p>
          <a:p>
            <a:pPr>
              <a:defRPr sz="950">
                <a:solidFill>
                  <a:srgbClr val="0F172A"/>
                </a:solidFill>
                <a:latin typeface="Segoe UI"/>
              </a:defRPr>
            </a:pPr>
            <a:r>
              <a:t>1. CPU phát địa chỉ Fetch PC: 0x0025_0000</a:t>
            </a:r>
            <a:br/>
            <a:r>
              <a:t>2. SPIMEMIO kích hoạt Fast Read (Lệnh 0x0B)</a:t>
            </a:r>
            <a:br/>
            <a:r>
              <a:t>3. Đọc 4 byte mã máy qua chân MISO</a:t>
            </a:r>
            <a:br/>
            <a:r>
              <a:t>4. Trả về bus dữ liệu ➔ PicoRV32 thực thi ngay!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PHẦN MỀM QUẢN TRỊ TRÊN MÁY TÍNH</a:t>
            </a:r>
          </a:p>
          <a:p>
            <a:pPr>
              <a:defRPr sz="1900" b="1">
                <a:solidFill>
                  <a:srgbClr val="0F172A"/>
                </a:solidFill>
                <a:latin typeface="Segoe UI"/>
              </a:defRPr>
            </a:pPr>
            <a:r>
              <a:t>3.7. Bước 7: Giao Diện Điều Khiển Host Console 13 Chức Năng (host/main.c)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11 / 22</a:t>
            </a:r>
          </a:p>
        </p:txBody>
      </p:sp>
      <p:sp>
        <p:nvSpPr>
          <p:cNvPr id="8" name="Rounded Rectangle 7"/>
          <p:cNvSpPr/>
          <p:nvPr/>
        </p:nvSpPr>
        <p:spPr>
          <a:xfrm>
            <a:off x="731520" y="1234440"/>
            <a:ext cx="5120640" cy="4892040"/>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71600"/>
            <a:ext cx="4754880" cy="4572000"/>
          </a:xfrm>
          <a:prstGeom prst="rect">
            <a:avLst/>
          </a:prstGeom>
          <a:noFill/>
        </p:spPr>
        <p:txBody>
          <a:bodyPr wrap="square">
            <a:spAutoFit/>
          </a:bodyPr>
          <a:lstStyle/>
          <a:p>
            <a:pPr>
              <a:spcAft>
                <a:spcPts val="600"/>
              </a:spcAft>
              <a:defRPr sz="1150" b="1">
                <a:solidFill>
                  <a:srgbClr val="0EA5E9"/>
                </a:solidFill>
                <a:latin typeface="Consolas"/>
              </a:defRPr>
            </a:pPr>
            <a:r>
              <a:t>RDM6300 RFID - PICORV32 MANAGER CONSOLE</a:t>
            </a:r>
          </a:p>
          <a:p>
            <a:pPr>
              <a:spcAft>
                <a:spcPts val="100"/>
              </a:spcAft>
              <a:defRPr sz="919">
                <a:solidFill>
                  <a:srgbClr val="E2E8F0"/>
                </a:solidFill>
                <a:latin typeface="Consolas"/>
              </a:defRPr>
            </a:pPr>
            <a:r>
              <a:t>[1]  Ping Hardware (Kiem tra ket noi PicoRV32)</a:t>
            </a:r>
          </a:p>
          <a:p>
            <a:pPr>
              <a:spcAft>
                <a:spcPts val="100"/>
              </a:spcAft>
              <a:defRPr sz="919">
                <a:solidFill>
                  <a:srgbClr val="E2E8F0"/>
                </a:solidFill>
                <a:latin typeface="Consolas"/>
              </a:defRPr>
            </a:pPr>
            <a:r>
              <a:t>[2]  Input &amp; Save New RFID Tag (Nhap 10 so in tren the)</a:t>
            </a:r>
          </a:p>
          <a:p>
            <a:pPr>
              <a:spcAft>
                <a:spcPts val="100"/>
              </a:spcAft>
              <a:defRPr sz="919">
                <a:solidFill>
                  <a:srgbClr val="E2E8F0"/>
                </a:solidFill>
                <a:latin typeface="Consolas"/>
              </a:defRPr>
            </a:pPr>
            <a:r>
              <a:t>[3]  Check RFID Tag in Flash (Tra cuu danh sach)</a:t>
            </a:r>
          </a:p>
          <a:p>
            <a:pPr>
              <a:spcAft>
                <a:spcPts val="100"/>
              </a:spcAft>
              <a:defRPr sz="919">
                <a:solidFill>
                  <a:srgbClr val="E2E8F0"/>
                </a:solidFill>
                <a:latin typeface="Consolas"/>
              </a:defRPr>
            </a:pPr>
            <a:r>
              <a:t>[4]  Delete RFID Tag from Flash (Xoa the khoi Flash)</a:t>
            </a:r>
          </a:p>
          <a:p>
            <a:pPr>
              <a:spcAft>
                <a:spcPts val="100"/>
              </a:spcAft>
              <a:defRPr sz="919">
                <a:solidFill>
                  <a:srgbClr val="10B981"/>
                </a:solidFill>
                <a:latin typeface="Consolas"/>
              </a:defRPr>
            </a:pPr>
            <a:r>
              <a:t>[5]  Virtual Scan: By Decimal (Quet the ao: 10 so)</a:t>
            </a:r>
          </a:p>
          <a:p>
            <a:pPr>
              <a:spcAft>
                <a:spcPts val="100"/>
              </a:spcAft>
              <a:defRPr sz="919">
                <a:solidFill>
                  <a:srgbClr val="E2E8F0"/>
                </a:solidFill>
                <a:latin typeface="Consolas"/>
              </a:defRPr>
            </a:pPr>
            <a:r>
              <a:t>[6]  Virtual Scan: By Hex (Quet the ao: 10 ky tu Hex)</a:t>
            </a:r>
          </a:p>
          <a:p>
            <a:pPr>
              <a:spcAft>
                <a:spcPts val="100"/>
              </a:spcAft>
              <a:defRPr sz="919">
                <a:solidFill>
                  <a:srgbClr val="E2E8F0"/>
                </a:solidFill>
                <a:latin typeface="Consolas"/>
              </a:defRPr>
            </a:pPr>
            <a:r>
              <a:t>[7]  View Access Logs from Flash (Xem nhat ky)</a:t>
            </a:r>
          </a:p>
          <a:p>
            <a:pPr>
              <a:spcAft>
                <a:spcPts val="100"/>
              </a:spcAft>
              <a:defRPr sz="919">
                <a:solidFill>
                  <a:srgbClr val="10B981"/>
                </a:solidFill>
                <a:latin typeface="Consolas"/>
              </a:defRPr>
            </a:pPr>
            <a:r>
              <a:t>[8]  Export Access Logs to CSV (Xuat file vao host/logs)</a:t>
            </a:r>
          </a:p>
          <a:p>
            <a:pPr>
              <a:spcAft>
                <a:spcPts val="100"/>
              </a:spcAft>
              <a:defRPr sz="919">
                <a:solidFill>
                  <a:srgbClr val="E2E8F0"/>
                </a:solidFill>
                <a:latin typeface="Consolas"/>
              </a:defRPr>
            </a:pPr>
            <a:r>
              <a:t>[9]  Erase Access Logs (Sao luu CSV roi xoa Flash)</a:t>
            </a:r>
          </a:p>
          <a:p>
            <a:pPr>
              <a:spcAft>
                <a:spcPts val="100"/>
              </a:spcAft>
              <a:defRPr sz="919">
                <a:solidFill>
                  <a:srgbClr val="E2E8F0"/>
                </a:solidFill>
                <a:latin typeface="Consolas"/>
              </a:defRPr>
            </a:pPr>
            <a:r>
              <a:t>[10] Erase Authorized Tags Sector (Xoa toan bo the)</a:t>
            </a:r>
          </a:p>
          <a:p>
            <a:pPr>
              <a:spcAft>
                <a:spcPts val="100"/>
              </a:spcAft>
              <a:defRPr sz="919">
                <a:solidFill>
                  <a:srgbClr val="E2E8F0"/>
                </a:solidFill>
                <a:latin typeface="Consolas"/>
              </a:defRPr>
            </a:pPr>
            <a:r>
              <a:t>[11] Get SoC Status (Xem trang thai LED, Flash, CPU)</a:t>
            </a:r>
          </a:p>
          <a:p>
            <a:pPr>
              <a:spcAft>
                <a:spcPts val="100"/>
              </a:spcAft>
              <a:defRPr sz="919">
                <a:solidFill>
                  <a:srgbClr val="E2E8F0"/>
                </a:solidFill>
                <a:latin typeface="Consolas"/>
              </a:defRPr>
            </a:pPr>
            <a:r>
              <a:t>[12] Export RFID Tags to CSV (Xuat danh sach the)</a:t>
            </a:r>
          </a:p>
          <a:p>
            <a:pPr>
              <a:spcAft>
                <a:spcPts val="100"/>
              </a:spcAft>
              <a:defRPr sz="919">
                <a:solidFill>
                  <a:srgbClr val="E2E8F0"/>
                </a:solidFill>
                <a:latin typeface="Consolas"/>
              </a:defRPr>
            </a:pPr>
            <a:r>
              <a:t>[13] Import RFID Tags from Latest CSV (Nap lai the)</a:t>
            </a:r>
          </a:p>
          <a:p>
            <a:pPr>
              <a:spcAft>
                <a:spcPts val="100"/>
              </a:spcAft>
              <a:defRPr sz="919">
                <a:solidFill>
                  <a:srgbClr val="E2E8F0"/>
                </a:solidFill>
                <a:latin typeface="Consolas"/>
              </a:defRPr>
            </a:pPr>
            <a:r>
              <a:t>[0]  Exit (Thoat chuong trinh)</a:t>
            </a:r>
          </a:p>
        </p:txBody>
      </p:sp>
      <p:sp>
        <p:nvSpPr>
          <p:cNvPr id="10" name="Rounded Rectangle 9"/>
          <p:cNvSpPr/>
          <p:nvPr/>
        </p:nvSpPr>
        <p:spPr>
          <a:xfrm>
            <a:off x="6035040" y="1234440"/>
            <a:ext cx="5425135" cy="4892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1371600"/>
            <a:ext cx="5059375" cy="4572000"/>
          </a:xfrm>
          <a:prstGeom prst="rect">
            <a:avLst/>
          </a:prstGeom>
          <a:noFill/>
        </p:spPr>
        <p:txBody>
          <a:bodyPr wrap="square">
            <a:spAutoFit/>
          </a:bodyPr>
          <a:lstStyle/>
          <a:p>
            <a:pPr>
              <a:spcAft>
                <a:spcPts val="1000"/>
              </a:spcAft>
              <a:defRPr sz="1500" b="1">
                <a:solidFill>
                  <a:srgbClr val="7C3AED"/>
                </a:solidFill>
                <a:latin typeface="Segoe UI"/>
              </a:defRPr>
            </a:pPr>
            <a:r>
              <a:t>Tính Năng Nổi Bật Của Host Console</a:t>
            </a:r>
          </a:p>
          <a:p>
            <a:pPr>
              <a:spcAft>
                <a:spcPts val="400"/>
              </a:spcAft>
              <a:defRPr sz="1150" b="1">
                <a:solidFill>
                  <a:srgbClr val="0F172A"/>
                </a:solidFill>
                <a:latin typeface="Segoe UI"/>
              </a:defRPr>
            </a:pPr>
            <a:r>
              <a:t>▸ Giao tiếp Win32 Serial API thuần túy:</a:t>
            </a:r>
            <a:br/>
            <a:r>
              <a:rPr sz="1050" b="0">
                <a:solidFill>
                  <a:srgbClr val="475569"/>
                </a:solidFill>
              </a:rPr>
              <a:t>  Phát triển hoàn toàn bằng ngôn ngữ C, không phụ thuộc thư viện nặng nề, kết nối cổng COM trực tiếp qua chip FTDI FT2232.</a:t>
            </a:r>
          </a:p>
          <a:p>
            <a:pPr>
              <a:spcAft>
                <a:spcPts val="400"/>
              </a:spcAft>
              <a:defRPr sz="1150" b="1">
                <a:solidFill>
                  <a:srgbClr val="0F172A"/>
                </a:solidFill>
                <a:latin typeface="Segoe UI"/>
              </a:defRPr>
            </a:pPr>
            <a:r>
              <a:t>▸ Bộ phân tích định dạng thẻ linh hoạt:</a:t>
            </a:r>
            <a:br/>
            <a:r>
              <a:rPr sz="1050" b="0">
                <a:solidFill>
                  <a:srgbClr val="475569"/>
                </a:solidFill>
              </a:rPr>
              <a:t>  Người dùng có thể nhập trực tiếp 10 số dập nổi trên thẻ, mã Wiegand (114,37872) hoặc mã Hex 10 ký tự; phần mềm tự động quy đổi.</a:t>
            </a:r>
          </a:p>
          <a:p>
            <a:pPr>
              <a:spcAft>
                <a:spcPts val="400"/>
              </a:spcAft>
              <a:defRPr sz="1150" b="1">
                <a:solidFill>
                  <a:srgbClr val="0F172A"/>
                </a:solidFill>
                <a:latin typeface="Segoe UI"/>
              </a:defRPr>
            </a:pPr>
            <a:r>
              <a:t>▸ Chế độ Quẹt Thẻ Ảo (Virtual Scan):</a:t>
            </a:r>
            <a:br/>
            <a:r>
              <a:rPr sz="1050" b="0">
                <a:solidFill>
                  <a:srgbClr val="475569"/>
                </a:solidFill>
              </a:rPr>
              <a:t>  Cho phép kiểm thử toàn bộ logic tra cứu Flash và ghi log từ xa mà không cần quẹt thẻ vật lý trên đầu đọc RDM6300.</a:t>
            </a:r>
          </a:p>
          <a:p>
            <a:pPr>
              <a:spcAft>
                <a:spcPts val="400"/>
              </a:spcAft>
              <a:defRPr sz="1150" b="1">
                <a:solidFill>
                  <a:srgbClr val="0F172A"/>
                </a:solidFill>
                <a:latin typeface="Segoe UI"/>
              </a:defRPr>
            </a:pPr>
            <a:r>
              <a:t>▸ Tự động sao lưu và bảo vệ dữ liệu CSV:</a:t>
            </a:r>
            <a:br/>
            <a:r>
              <a:rPr sz="1050" b="0">
                <a:solidFill>
                  <a:srgbClr val="475569"/>
                </a:solidFill>
              </a:rPr>
              <a:t>  Mỗi khi thêm/xóa thẻ hoặc xóa nhật ký, hệ thống tự động xuất bản ghi ra file CSV kèm dấu thời gian (Timestamp).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3.8. Tổng Quan Hệ Thống Testbench &amp; Ma Trận 63 Test Cases (PASS 100%)</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12 / 22</a:t>
            </a:r>
          </a:p>
        </p:txBody>
      </p:sp>
      <p:sp>
        <p:nvSpPr>
          <p:cNvPr id="8" name="Rounded Rectangle 7"/>
          <p:cNvSpPr/>
          <p:nvPr/>
        </p:nvSpPr>
        <p:spPr>
          <a:xfrm>
            <a:off x="731520" y="1234440"/>
            <a:ext cx="603504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71600"/>
            <a:ext cx="5669280" cy="4572000"/>
          </a:xfrm>
          <a:prstGeom prst="rect">
            <a:avLst/>
          </a:prstGeom>
          <a:noFill/>
        </p:spPr>
        <p:txBody>
          <a:bodyPr wrap="square">
            <a:spAutoFit/>
          </a:bodyPr>
          <a:lstStyle/>
          <a:p>
            <a:pPr>
              <a:spcAft>
                <a:spcPts val="800"/>
              </a:spcAft>
              <a:defRPr sz="1400" b="1">
                <a:solidFill>
                  <a:srgbClr val="2563EB"/>
                </a:solidFill>
                <a:latin typeface="Segoe UI"/>
              </a:defRPr>
            </a:pPr>
            <a:r>
              <a:t>📊 Bảng Tổng Hợp Kiểm Thử 5 Bước Thiết Kế (Ma Trận 63 TCs)</a:t>
            </a:r>
          </a:p>
          <a:p>
            <a:pPr>
              <a:spcAft>
                <a:spcPts val="200"/>
              </a:spcAft>
              <a:defRPr sz="980" b="1">
                <a:solidFill>
                  <a:srgbClr val="0F172A"/>
                </a:solidFill>
                <a:latin typeface="Segoe UI"/>
              </a:defRPr>
            </a:pPr>
            <a:r>
              <a:t>• Step 2 (tb/step2_firmware/): </a:t>
            </a:r>
            <a:r>
              <a:rPr b="1">
                <a:solidFill>
                  <a:srgbClr val="10B981"/>
                </a:solidFill>
              </a:rPr>
              <a:t>[21/21 PASS (100%)]
</a:t>
            </a:r>
            <a:r>
              <a:rPr sz="900" b="0">
                <a:solidFill>
                  <a:srgbClr val="475569"/>
                </a:solidFill>
              </a:rPr>
              <a:t>  Kiểm thử 21 hàm firmware C: in số không chia, checksum XOR thẻ 00007293F0 (0x11), tra cứu RAM.</a:t>
            </a:r>
          </a:p>
          <a:p>
            <a:pPr>
              <a:spcAft>
                <a:spcPts val="200"/>
              </a:spcAft>
              <a:defRPr sz="980" b="1">
                <a:solidFill>
                  <a:srgbClr val="0F172A"/>
                </a:solidFill>
                <a:latin typeface="Segoe UI"/>
              </a:defRPr>
            </a:pPr>
            <a:r>
              <a:t>• Step 3 (tb/step3_picorv32_sram/): </a:t>
            </a:r>
            <a:r>
              <a:rPr b="1">
                <a:solidFill>
                  <a:srgbClr val="10B981"/>
                </a:solidFill>
              </a:rPr>
              <a:t>[12/12 PASS (100%)]
</a:t>
            </a:r>
            <a:r>
              <a:rPr sz="900" b="0">
                <a:solidFill>
                  <a:srgbClr val="475569"/>
                </a:solidFill>
              </a:rPr>
              <a:t>  Nhân CPU PicoRV32 &amp; 1KB SRAM: ghi byte strobes wstrb[3:0], biên 0x3FC, bắt tay valid/ready 1 chu kỳ.</a:t>
            </a:r>
          </a:p>
          <a:p>
            <a:pPr>
              <a:spcAft>
                <a:spcPts val="200"/>
              </a:spcAft>
              <a:defRPr sz="980" b="1">
                <a:solidFill>
                  <a:srgbClr val="0F172A"/>
                </a:solidFill>
                <a:latin typeface="Segoe UI"/>
              </a:defRPr>
            </a:pPr>
            <a:r>
              <a:t>• Step 4 (tb/step4_spimemio_flash/): </a:t>
            </a:r>
            <a:r>
              <a:rPr b="1">
                <a:solidFill>
                  <a:srgbClr val="10B981"/>
                </a:solidFill>
              </a:rPr>
              <a:t>[10/10 PASS (100%)]
</a:t>
            </a:r>
            <a:r>
              <a:rPr sz="900" b="0">
                <a:solidFill>
                  <a:srgbClr val="475569"/>
                </a:solidFill>
              </a:rPr>
              <a:t>  Bộ điều khiển SPI Flash spimemio: Read JEDEC ID (0x9F), WREN, Erase Sector 48, Program, XIP Direct.</a:t>
            </a:r>
          </a:p>
          <a:p>
            <a:pPr>
              <a:spcAft>
                <a:spcPts val="200"/>
              </a:spcAft>
              <a:defRPr sz="980" b="1">
                <a:solidFill>
                  <a:srgbClr val="0F172A"/>
                </a:solidFill>
                <a:latin typeface="Segoe UI"/>
              </a:defRPr>
            </a:pPr>
            <a:r>
              <a:t>• Step 5 (tb/step5_rdm6300_pipeline/): </a:t>
            </a:r>
            <a:r>
              <a:rPr b="1">
                <a:solidFill>
                  <a:srgbClr val="10B981"/>
                </a:solidFill>
              </a:rPr>
              <a:t>[12/12 PASS (100%)]
</a:t>
            </a:r>
            <a:r>
              <a:rPr sz="900" b="0">
                <a:solidFill>
                  <a:srgbClr val="475569"/>
                </a:solidFill>
              </a:rPr>
              <a:t>  Đường ống RFID 5 tầng: 2-FF CDC, bộ lọc nhiễu majority 3 điểm, FIFO 16 byte, FSM 14 byte, cây XOR 20ns.</a:t>
            </a:r>
          </a:p>
          <a:p>
            <a:pPr>
              <a:spcAft>
                <a:spcPts val="200"/>
              </a:spcAft>
              <a:defRPr sz="980" b="1">
                <a:solidFill>
                  <a:srgbClr val="0F172A"/>
                </a:solidFill>
                <a:latin typeface="Segoe UI"/>
              </a:defRPr>
            </a:pPr>
            <a:r>
              <a:t>• Step 6 (tb/step6_top_soc_integration/): </a:t>
            </a:r>
            <a:r>
              <a:rPr b="1">
                <a:solidFill>
                  <a:srgbClr val="10B981"/>
                </a:solidFill>
              </a:rPr>
              <a:t>[8/8 PASS (100%)]
</a:t>
            </a:r>
            <a:r>
              <a:rPr sz="900" b="0">
                <a:solidFill>
                  <a:srgbClr val="475569"/>
                </a:solidFill>
              </a:rPr>
              <a:t>  Tích hợp toàn diện SoC: Boot Flash XIP, RFID ngắt CPU, Grant/Deny, ghi nhật ký, cpu_trap == 0.</a:t>
            </a:r>
          </a:p>
          <a:p>
            <a:pPr>
              <a:spcBef>
                <a:spcPts val="500"/>
              </a:spcBef>
              <a:defRPr sz="1050" b="1">
                <a:solidFill>
                  <a:srgbClr val="10B981"/>
                </a:solidFill>
                <a:latin typeface="Segoe UI"/>
              </a:defRPr>
            </a:pPr>
            <a:r>
              <a:t>🎯 TỔNG CỘNG HỆ THỐNG: 63/63 TEST CASES PASS (100% HOÀN HẢO)</a:t>
            </a:r>
          </a:p>
          <a:p>
            <a:pPr>
              <a:spcBef>
                <a:spcPts val="300"/>
              </a:spcBef>
              <a:defRPr sz="900" b="1">
                <a:solidFill>
                  <a:srgbClr val="2563EB"/>
                </a:solidFill>
                <a:latin typeface="Segoe UI"/>
              </a:defRPr>
            </a:pPr>
            <a:r>
              <a:t>⏱ Tần số kiểm tra: 50.0 MHz (Chu kỳ 20.0 ns)  |  Độ trễ bắt tay SRAM: 1 chu kỳ clock</a:t>
            </a:r>
          </a:p>
          <a:p>
            <a:pPr>
              <a:defRPr sz="900" b="1">
                <a:solidFill>
                  <a:srgbClr val="10B981"/>
                </a:solidFill>
                <a:latin typeface="Segoe UI"/>
              </a:defRPr>
            </a:pPr>
            <a:r>
              <a:t>⚡ Thời gian hồi quy: 0.18 giây (Python)  |  Tỷ lệ thành công: 63/63 PASS (100.0%)</a:t>
            </a:r>
          </a:p>
        </p:txBody>
      </p:sp>
      <p:sp>
        <p:nvSpPr>
          <p:cNvPr id="10" name="Rounded Rectangle 9"/>
          <p:cNvSpPr/>
          <p:nvPr/>
        </p:nvSpPr>
        <p:spPr>
          <a:xfrm>
            <a:off x="6949440" y="1234440"/>
            <a:ext cx="4510735" cy="23317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1371600"/>
            <a:ext cx="4144975" cy="2057400"/>
          </a:xfrm>
          <a:prstGeom prst="rect">
            <a:avLst/>
          </a:prstGeom>
          <a:noFill/>
        </p:spPr>
        <p:txBody>
          <a:bodyPr wrap="square">
            <a:spAutoFit/>
          </a:bodyPr>
          <a:lstStyle/>
          <a:p>
            <a:pPr>
              <a:spcAft>
                <a:spcPts val="600"/>
              </a:spcAft>
              <a:defRPr sz="1300" b="1">
                <a:solidFill>
                  <a:srgbClr val="7C3AED"/>
                </a:solidFill>
                <a:latin typeface="Segoe UI"/>
              </a:defRPr>
            </a:pPr>
            <a:r>
              <a:t>📁 Quy Hoạch Thư Mục Độc Lập</a:t>
            </a:r>
          </a:p>
          <a:p>
            <a:pPr>
              <a:spcAft>
                <a:spcPts val="200"/>
              </a:spcAft>
              <a:defRPr sz="950" b="1">
                <a:solidFill>
                  <a:srgbClr val="0F172A"/>
                </a:solidFill>
                <a:latin typeface="Segoe UI"/>
              </a:defRPr>
            </a:pPr>
            <a:r>
              <a:t>▸ Mỗi bước 1 thư mục riêng: </a:t>
            </a:r>
            <a:r>
              <a:rPr b="0">
                <a:solidFill>
                  <a:srgbClr val="475569"/>
                </a:solidFill>
              </a:rPr>
              <a:t>Chứa đầy đủ testbench Verilog (.v), test runner (.py), file chạy (.bat) và tài liệu README.md.</a:t>
            </a:r>
          </a:p>
          <a:p>
            <a:pPr>
              <a:spcAft>
                <a:spcPts val="200"/>
              </a:spcAft>
              <a:defRPr sz="950" b="1">
                <a:solidFill>
                  <a:srgbClr val="0F172A"/>
                </a:solidFill>
                <a:latin typeface="Segoe UI"/>
              </a:defRPr>
            </a:pPr>
            <a:r>
              <a:t>▸ Tự động gom tệp tạm vào temp/: </a:t>
            </a:r>
            <a:r>
              <a:rPr b="0">
                <a:solidFill>
                  <a:srgbClr val="475569"/>
                </a:solidFill>
              </a:rPr>
              <a:t>Toàn bộ file phát sinh từ Vivado (xsim.dir, *.log, *.pb, *.wdb) được tự động chuyển vào thư mục temp/ để giữ sạch cây mã nguồn.</a:t>
            </a:r>
          </a:p>
        </p:txBody>
      </p:sp>
      <p:sp>
        <p:nvSpPr>
          <p:cNvPr id="12" name="Rounded Rectangle 11"/>
          <p:cNvSpPr/>
          <p:nvPr/>
        </p:nvSpPr>
        <p:spPr>
          <a:xfrm>
            <a:off x="6949440" y="3794760"/>
            <a:ext cx="4510735" cy="2331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0" y="3931920"/>
            <a:ext cx="4144975" cy="2057400"/>
          </a:xfrm>
          <a:prstGeom prst="rect">
            <a:avLst/>
          </a:prstGeom>
          <a:noFill/>
        </p:spPr>
        <p:txBody>
          <a:bodyPr wrap="square">
            <a:spAutoFit/>
          </a:bodyPr>
          <a:lstStyle/>
          <a:p>
            <a:pPr>
              <a:spcAft>
                <a:spcPts val="600"/>
              </a:spcAft>
              <a:defRPr sz="1300" b="1">
                <a:solidFill>
                  <a:srgbClr val="D97706"/>
                </a:solidFill>
                <a:latin typeface="Segoe UI"/>
              </a:defRPr>
            </a:pPr>
            <a:r>
              <a:t>⚡ Cơ Chế Kiểm Thử Hai Tầng (Dual-Engine)</a:t>
            </a:r>
          </a:p>
          <a:p>
            <a:pPr>
              <a:spcAft>
                <a:spcPts val="200"/>
              </a:spcAft>
              <a:defRPr sz="950" b="1">
                <a:solidFill>
                  <a:srgbClr val="0F172A"/>
                </a:solidFill>
                <a:latin typeface="Segoe UI"/>
              </a:defRPr>
            </a:pPr>
            <a:r>
              <a:t>▸ Fast Automation Runner (Python): </a:t>
            </a:r>
            <a:r>
              <a:rPr b="0">
                <a:solidFill>
                  <a:srgbClr val="475569"/>
                </a:solidFill>
              </a:rPr>
              <a:t>Kiểm thử hồi quy toàn diện 63 test case trong 0.18 giây độc lập, không tốn tài nguyên đồ họa.</a:t>
            </a:r>
          </a:p>
          <a:p>
            <a:pPr>
              <a:spcAft>
                <a:spcPts val="200"/>
              </a:spcAft>
              <a:defRPr sz="950" b="1">
                <a:solidFill>
                  <a:srgbClr val="0F172A"/>
                </a:solidFill>
                <a:latin typeface="Segoe UI"/>
              </a:defRPr>
            </a:pPr>
            <a:r>
              <a:t>▸ AMD Vivado Simulator (xsim): </a:t>
            </a:r>
            <a:r>
              <a:rPr b="0">
                <a:solidFill>
                  <a:srgbClr val="475569"/>
                </a:solidFill>
              </a:rPr>
              <a:t>Mô phỏng phần cứng chu kỳ xung nhịp chuẩn xác (cycle-accurate) trên mã RTL Verilog, xuất waveform .wdb.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2 FIRMWARE</a:t>
            </a:r>
          </a:p>
          <a:p>
            <a:pPr>
              <a:defRPr sz="1900" b="1">
                <a:solidFill>
                  <a:srgbClr val="0F172A"/>
                </a:solidFill>
                <a:latin typeface="Segoe UI"/>
              </a:defRPr>
            </a:pPr>
            <a:r>
              <a:t>3.8.1. Kiểm Thử Bước 2: Logic Firmware Bare-Metal C &amp; Giao Thức Host</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13 / 22</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2</a:t>
            </a:r>
          </a:p>
          <a:p>
            <a:pPr>
              <a:spcAft>
                <a:spcPts val="200"/>
              </a:spcAft>
              <a:defRPr sz="919" b="1">
                <a:solidFill>
                  <a:srgbClr val="0F172A"/>
                </a:solidFill>
                <a:latin typeface="Segoe UI"/>
              </a:defRPr>
            </a:pPr>
            <a:r>
              <a:t>• Giả lập ngoại vi phần cứng MMIO: </a:t>
            </a:r>
            <a:r>
              <a:rPr b="0">
                <a:solidFill>
                  <a:srgbClr val="475569"/>
                </a:solidFill>
              </a:rPr>
              <a:t>Tạo mô hình mảng RAM 16MB giả lập Flash và ánh xạ thanh ghi MMIO (REG_RFID_STATUS, REG_RFID_TAG_HI/LO, REG_PC_UART_DAT, REG_GPIO_LEDS).</a:t>
            </a:r>
          </a:p>
          <a:p>
            <a:pPr>
              <a:spcAft>
                <a:spcPts val="200"/>
              </a:spcAft>
              <a:defRPr sz="919" b="1">
                <a:solidFill>
                  <a:srgbClr val="0F172A"/>
                </a:solidFill>
                <a:latin typeface="Segoe UI"/>
              </a:defRPr>
            </a:pPr>
            <a:r>
              <a:t>• Toán tử in số không dùng phép chia: </a:t>
            </a:r>
            <a:r>
              <a:rPr b="0">
                <a:solidFill>
                  <a:srgbClr val="475569"/>
                </a:solidFill>
              </a:rPr>
              <a:t>In số thập phân và Hex thuần túy bằng phép dịch bit và trừ tuần tự, loại bỏ hoàn toàn bộ chia RV32M để tiết kiệm 35% diện tích silicon.</a:t>
            </a:r>
          </a:p>
          <a:p>
            <a:pPr>
              <a:spcAft>
                <a:spcPts val="200"/>
              </a:spcAft>
              <a:defRPr sz="919" b="1">
                <a:solidFill>
                  <a:srgbClr val="0F172A"/>
                </a:solidFill>
                <a:latin typeface="Segoe UI"/>
              </a:defRPr>
            </a:pPr>
            <a:r>
              <a:t>• Xác thực Checksum &amp; Quản trị thẻ: </a:t>
            </a:r>
            <a:r>
              <a:rPr b="0">
                <a:solidFill>
                  <a:srgbClr val="475569"/>
                </a:solidFill>
              </a:rPr>
              <a:t>Kiểm thử thẻ 00007293F0 -&gt; Checksum XOR 0x11; ghi thẻ vào Flash; cơ chế chống trùng lặp; bảo vệ Master Card Slot 0 không bị xóa.</a:t>
            </a:r>
          </a:p>
          <a:p>
            <a:pPr>
              <a:spcAft>
                <a:spcPts val="200"/>
              </a:spcAft>
              <a:defRPr sz="919" b="1">
                <a:solidFill>
                  <a:srgbClr val="0F172A"/>
                </a:solidFill>
                <a:latin typeface="Segoe UI"/>
              </a:defRPr>
            </a:pPr>
            <a:r>
              <a:t>• Bộ giải mã tập lệnh Host Console: </a:t>
            </a:r>
            <a:r>
              <a:rPr b="0">
                <a:solidFill>
                  <a:srgbClr val="475569"/>
                </a:solidFill>
              </a:rPr>
              <a:t>Xác thực toàn diện 13 lệnh nhị phân Win32 ('P', 'R', 'W', 'N', 'C', 'L', 'K', 'X', 'S') qua đệm FIFO.</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Xác Minh Bước 2 (tb_firmware.c)</a:t>
            </a:r>
          </a:p>
          <a:p>
            <a:pPr>
              <a:spcAft>
                <a:spcPts val="150"/>
              </a:spcAft>
              <a:defRPr sz="900" b="1">
                <a:solidFill>
                  <a:srgbClr val="0F172A"/>
                </a:solidFill>
                <a:latin typeface="Segoe UI"/>
              </a:defRPr>
            </a:pPr>
            <a:r>
              <a:t>✔ Tỷ lệ thành công: </a:t>
            </a:r>
            <a:r>
              <a:rPr b="0">
                <a:solidFill>
                  <a:srgbClr val="475569"/>
                </a:solidFill>
              </a:rPr>
              <a:t>21/21 Unit Test Cases PASS (100.0% Tuyệt đối)</a:t>
            </a:r>
          </a:p>
          <a:p>
            <a:pPr>
              <a:spcAft>
                <a:spcPts val="150"/>
              </a:spcAft>
              <a:defRPr sz="900" b="1">
                <a:solidFill>
                  <a:srgbClr val="0F172A"/>
                </a:solidFill>
                <a:latin typeface="Segoe UI"/>
              </a:defRPr>
            </a:pPr>
            <a:r>
              <a:t>✔ Thời gian thực thi: </a:t>
            </a:r>
            <a:r>
              <a:rPr b="0">
                <a:solidFill>
                  <a:srgbClr val="475569"/>
                </a:solidFill>
              </a:rPr>
              <a:t>0.03 giây (Kiểm thử tức thì trên GCC &amp; Python Runner)</a:t>
            </a:r>
          </a:p>
          <a:p>
            <a:pPr>
              <a:spcAft>
                <a:spcPts val="150"/>
              </a:spcAft>
              <a:defRPr sz="900" b="1">
                <a:solidFill>
                  <a:srgbClr val="0F172A"/>
                </a:solidFill>
                <a:latin typeface="Segoe UI"/>
              </a:defRPr>
            </a:pPr>
            <a:r>
              <a:t>✔ An toàn bộ nhớ: </a:t>
            </a:r>
            <a:r>
              <a:rPr b="0">
                <a:solidFill>
                  <a:srgbClr val="475569"/>
                </a:solidFill>
              </a:rPr>
              <a:t>0 byte rò rỉ (Zero Leak), 0 lỗi con trỏ null</a:t>
            </a:r>
          </a:p>
          <a:p>
            <a:pPr>
              <a:spcAft>
                <a:spcPts val="150"/>
              </a:spcAft>
              <a:defRPr sz="900" b="1">
                <a:solidFill>
                  <a:srgbClr val="0F172A"/>
                </a:solidFill>
                <a:latin typeface="Segoe UI"/>
              </a:defRPr>
            </a:pPr>
            <a:r>
              <a:t>✔ Chống nhiễu dữ liệu: </a:t>
            </a:r>
            <a:r>
              <a:rPr b="0">
                <a:solidFill>
                  <a:srgbClr val="475569"/>
                </a:solidFill>
              </a:rPr>
              <a:t>Xử lý chuẩn xác các chuỗi thẻ rác, thiếu byte, sai định dạng Hex</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Kiểm Thử C: Unit Tests &amp; MMIO Event</a:t>
            </a:r>
          </a:p>
          <a:p>
            <a:pPr>
              <a:spcAft>
                <a:spcPts val="500"/>
              </a:spcAft>
              <a:defRPr sz="880" i="1">
                <a:solidFill>
                  <a:srgbClr val="94A3B8"/>
                </a:solidFill>
                <a:latin typeface="Segoe UI"/>
              </a:defRPr>
            </a:pPr>
            <a:r>
              <a:t>Mã nguồn: tb/step2_firmware/tb_firmware.c</a:t>
            </a:r>
          </a:p>
          <a:p>
            <a:pPr>
              <a:spcAft>
                <a:spcPts val="40"/>
              </a:spcAft>
              <a:defRPr sz="760" i="1">
                <a:solidFill>
                  <a:srgbClr val="64748B"/>
                </a:solidFill>
                <a:latin typeface="Consolas"/>
              </a:defRPr>
            </a:pPr>
            <a:r>
              <a:t>// 1. Kiểm thử in số không dùng bộ chia phần cứng</a:t>
            </a:r>
          </a:p>
          <a:p>
            <a:pPr>
              <a:spcAft>
                <a:spcPts val="40"/>
              </a:spcAft>
              <a:defRPr sz="760">
                <a:solidFill>
                  <a:srgbClr val="A78BFA"/>
                </a:solidFill>
                <a:latin typeface="Consolas"/>
              </a:defRPr>
            </a:pPr>
            <a:r>
              <a:t>test_case_begin("TC02 - Non-division number printing");</a:t>
            </a:r>
          </a:p>
          <a:p>
            <a:pPr>
              <a:spcAft>
                <a:spcPts val="40"/>
              </a:spcAft>
              <a:defRPr sz="760">
                <a:solidFill>
                  <a:srgbClr val="38BDF8"/>
                </a:solidFill>
                <a:latin typeface="Consolas"/>
              </a:defRPr>
            </a:pPr>
            <a:r>
              <a:t>uart_puthex32(0xDEADBEEF); // Dùng dịch bit &amp; trừ tuần tự</a:t>
            </a:r>
          </a:p>
          <a:p>
            <a:pPr>
              <a:spcAft>
                <a:spcPts val="40"/>
              </a:spcAft>
              <a:defRPr sz="760" b="1">
                <a:solidFill>
                  <a:srgbClr val="10B981"/>
                </a:solidFill>
                <a:latin typeface="Consolas"/>
              </a:defRPr>
            </a:pPr>
            <a:r>
              <a:t>TEST_ASSERT(strcmp(buf, "DEADBEEF") == 0, "Hex match");</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2. Kiểm thử đăng ký thẻ thủ công vào Flash</a:t>
            </a:r>
          </a:p>
          <a:p>
            <a:pPr>
              <a:spcAft>
                <a:spcPts val="40"/>
              </a:spcAft>
              <a:defRPr sz="760">
                <a:solidFill>
                  <a:srgbClr val="A78BFA"/>
                </a:solidFill>
                <a:latin typeface="Consolas"/>
              </a:defRPr>
            </a:pPr>
            <a:r>
              <a:t>test_case_begin("TC07 - Manual Tag Registration");</a:t>
            </a:r>
          </a:p>
          <a:p>
            <a:pPr>
              <a:spcAft>
                <a:spcPts val="40"/>
              </a:spcAft>
              <a:defRPr sz="760">
                <a:solidFill>
                  <a:srgbClr val="38BDF8"/>
                </a:solidFill>
                <a:latin typeface="Consolas"/>
              </a:defRPr>
            </a:pPr>
            <a:r>
              <a:t>host_send_string("N00007293F0\n"); // Gửi chuỗi 10 Hex</a:t>
            </a:r>
          </a:p>
          <a:p>
            <a:pPr>
              <a:spcAft>
                <a:spcPts val="40"/>
              </a:spcAft>
              <a:defRPr sz="760">
                <a:solidFill>
                  <a:srgbClr val="38BDF8"/>
                </a:solidFill>
                <a:latin typeface="Consolas"/>
              </a:defRPr>
            </a:pPr>
            <a:r>
              <a:t>firmware_run_cycles(10);</a:t>
            </a:r>
          </a:p>
          <a:p>
            <a:pPr>
              <a:spcAft>
                <a:spcPts val="40"/>
              </a:spcAft>
              <a:defRPr sz="760" b="1">
                <a:solidFill>
                  <a:srgbClr val="10B981"/>
                </a:solidFill>
                <a:latin typeface="Consolas"/>
              </a:defRPr>
            </a:pPr>
            <a:r>
              <a:t>TEST_ASSERT(strstr(buf, "OK:MANUAL_TAG_SAVED:SLOT:1") != NULL);</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3. Giả lập sự kiện quẹt thẻ từ ngoại vi MMIO</a:t>
            </a:r>
          </a:p>
          <a:p>
            <a:pPr>
              <a:spcAft>
                <a:spcPts val="40"/>
              </a:spcAft>
              <a:defRPr sz="760">
                <a:solidFill>
                  <a:srgbClr val="A78BFA"/>
                </a:solidFill>
                <a:latin typeface="Consolas"/>
              </a:defRPr>
            </a:pPr>
            <a:r>
              <a:t>test_case_begin("TC20 - Hardware MMIO Polling Integration");</a:t>
            </a:r>
          </a:p>
          <a:p>
            <a:pPr>
              <a:spcAft>
                <a:spcPts val="40"/>
              </a:spcAft>
              <a:defRPr sz="760">
                <a:solidFill>
                  <a:srgbClr val="38BDF8"/>
                </a:solidFill>
                <a:latin typeface="Consolas"/>
              </a:defRPr>
            </a:pPr>
            <a:r>
              <a:t>REG_RFID_STATUS = 0x01; // card_valid strobe</a:t>
            </a:r>
          </a:p>
          <a:p>
            <a:pPr>
              <a:spcAft>
                <a:spcPts val="40"/>
              </a:spcAft>
              <a:defRPr sz="760">
                <a:solidFill>
                  <a:srgbClr val="38BDF8"/>
                </a:solidFill>
                <a:latin typeface="Consolas"/>
              </a:defRPr>
            </a:pPr>
            <a:r>
              <a:t>REG_RFID_TAG_HI = 0x01;</a:t>
            </a:r>
          </a:p>
          <a:p>
            <a:pPr>
              <a:spcAft>
                <a:spcPts val="40"/>
              </a:spcAft>
              <a:defRPr sz="760">
                <a:solidFill>
                  <a:srgbClr val="38BDF8"/>
                </a:solidFill>
                <a:latin typeface="Consolas"/>
              </a:defRPr>
            </a:pPr>
            <a:r>
              <a:t>REG_RFID_TAG_LO = 0x0054DA65; // Whitelisted Master Card</a:t>
            </a:r>
          </a:p>
          <a:p>
            <a:pPr>
              <a:spcAft>
                <a:spcPts val="40"/>
              </a:spcAft>
              <a:defRPr sz="760">
                <a:solidFill>
                  <a:srgbClr val="A78BFA"/>
                </a:solidFill>
                <a:latin typeface="Consolas"/>
              </a:defRPr>
            </a:pPr>
            <a:r>
              <a:t>poll_rdm6300(); // Firmware tra cứu Flash</a:t>
            </a:r>
          </a:p>
          <a:p>
            <a:pPr>
              <a:spcAft>
                <a:spcPts val="40"/>
              </a:spcAft>
              <a:defRPr sz="760">
                <a:solidFill>
                  <a:srgbClr val="38BDF8"/>
                </a:solidFill>
                <a:latin typeface="Consolas"/>
              </a:defRPr>
            </a:pPr>
            <a:r>
              <a:t>host_read_line(buf, sizeof(buf));</a:t>
            </a:r>
          </a:p>
          <a:p>
            <a:pPr>
              <a:spcAft>
                <a:spcPts val="40"/>
              </a:spcAft>
              <a:defRPr sz="760" b="1">
                <a:solidFill>
                  <a:srgbClr val="10B981"/>
                </a:solidFill>
                <a:latin typeface="Consolas"/>
              </a:defRPr>
            </a:pPr>
            <a:r>
              <a:t>TEST_ASSERT(strstr(buf, "ACCESS:GRANTED:SLOT:0") != NULL);</a:t>
            </a:r>
          </a:p>
          <a:p>
            <a:pPr>
              <a:spcAft>
                <a:spcPts val="40"/>
              </a:spcAft>
              <a:defRPr sz="760" b="1">
                <a:solidFill>
                  <a:srgbClr val="10B981"/>
                </a:solidFill>
                <a:latin typeface="Consolas"/>
              </a:defRPr>
            </a:pPr>
            <a:r>
              <a:t>TEST_ASSERT(rdm_cooldown_cnt == 250000, "Debounce set");</a:t>
            </a:r>
          </a:p>
          <a:p>
            <a:pPr>
              <a:spcBef>
                <a:spcPts val="500"/>
              </a:spcBef>
              <a:defRPr sz="860" b="1">
                <a:solidFill>
                  <a:srgbClr val="10B981"/>
                </a:solidFill>
                <a:latin typeface="Consolas"/>
              </a:defRPr>
            </a:pPr>
            <a:r>
              <a:t>&gt;&gt;&gt; XÁC THỰC BƯỚC 2: 21/21 UNIT TESTS PASS (100% HOÀN HẢO) &lt;&lt;&lt;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3 CPU &amp; SRAM</a:t>
            </a:r>
          </a:p>
          <a:p>
            <a:pPr>
              <a:defRPr sz="1900" b="1">
                <a:solidFill>
                  <a:srgbClr val="0F172A"/>
                </a:solidFill>
                <a:latin typeface="Segoe UI"/>
              </a:defRPr>
            </a:pPr>
            <a:r>
              <a:t>3.8.2. Kiểm Thử Bước 3: Mô Phỏng Nhân CPU PicoRV32 &amp; 1KB Data 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14 / 22</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3</a:t>
            </a:r>
          </a:p>
          <a:p>
            <a:pPr>
              <a:spcAft>
                <a:spcPts val="200"/>
              </a:spcAft>
              <a:defRPr sz="919" b="1">
                <a:solidFill>
                  <a:srgbClr val="0F172A"/>
                </a:solidFill>
                <a:latin typeface="Segoe UI"/>
              </a:defRPr>
            </a:pPr>
            <a:r>
              <a:t>• Ghi byte độc lập (wstrb[3:0] Byte Strobes): </a:t>
            </a:r>
            <a:r>
              <a:rPr b="0">
                <a:solidFill>
                  <a:srgbClr val="475569"/>
                </a:solidFill>
              </a:rPr>
              <a:t>Kiểm tra ghi đè từng byte (byte 0, byte 2) trong từ nhớ 32-bit mà giữ nguyên vẹn giá trị của byte 1 và byte 3.</a:t>
            </a:r>
          </a:p>
          <a:p>
            <a:pPr>
              <a:spcAft>
                <a:spcPts val="200"/>
              </a:spcAft>
              <a:defRPr sz="919" b="1">
                <a:solidFill>
                  <a:srgbClr val="0F172A"/>
                </a:solidFill>
                <a:latin typeface="Segoe UI"/>
              </a:defRPr>
            </a:pPr>
            <a:r>
              <a:t>• Chu kỳ bắt tay Bus (valid/ready Handshake): </a:t>
            </a:r>
            <a:r>
              <a:rPr b="0">
                <a:solidFill>
                  <a:srgbClr val="475569"/>
                </a:solidFill>
              </a:rPr>
              <a:t>Xác minh giao thức bus: tín hiệu ready tích cực đúng 1 chu kỳ clock (20ns ở 50MHz) sau valid, và hạ ngay khi valid về 0.</a:t>
            </a:r>
          </a:p>
          <a:p>
            <a:pPr>
              <a:spcAft>
                <a:spcPts val="200"/>
              </a:spcAft>
              <a:defRPr sz="919" b="1">
                <a:solidFill>
                  <a:srgbClr val="0F172A"/>
                </a:solidFill>
                <a:latin typeface="Segoe UI"/>
              </a:defRPr>
            </a:pPr>
            <a:r>
              <a:t>• Biên đỉnh vùng nhớ (Top Boundary Word 255): </a:t>
            </a:r>
            <a:r>
              <a:rPr b="0">
                <a:solidFill>
                  <a:srgbClr val="475569"/>
                </a:solidFill>
              </a:rPr>
              <a:t>Đọc/ghi tại từ nhớ thứ 255 (địa chỉ 0x3FC), bảo đảm bộ giải mã 10-bit không xảy ra hiện tượng chồng lấn hoặc tràn địa chỉ.</a:t>
            </a:r>
          </a:p>
          <a:p>
            <a:pPr>
              <a:spcAft>
                <a:spcPts val="200"/>
              </a:spcAft>
              <a:defRPr sz="919" b="1">
                <a:solidFill>
                  <a:srgbClr val="0F172A"/>
                </a:solidFill>
                <a:latin typeface="Segoe UI"/>
              </a:defRPr>
            </a:pPr>
            <a:r>
              <a:t>• Tích hợp CPU PicoRV32: </a:t>
            </a:r>
            <a:r>
              <a:rPr b="0">
                <a:solidFill>
                  <a:srgbClr val="475569"/>
                </a:solidFill>
              </a:rPr>
              <a:t>Xác nhận CPU thực thi các lệnh đọc/ghi bộ nhớ (lw, sw, lb, sb) trên SRAM thông qua bus dữ liệu nội bộ.</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Mô Phỏng AMD Vivado xsim v2025.2</a:t>
            </a:r>
          </a:p>
          <a:p>
            <a:pPr>
              <a:spcAft>
                <a:spcPts val="150"/>
              </a:spcAft>
              <a:defRPr sz="900" b="1">
                <a:solidFill>
                  <a:srgbClr val="0F172A"/>
                </a:solidFill>
                <a:latin typeface="Segoe UI"/>
              </a:defRPr>
            </a:pPr>
            <a:r>
              <a:t>✔ Tỷ lệ thành công: </a:t>
            </a:r>
            <a:r>
              <a:rPr b="0">
                <a:solidFill>
                  <a:srgbClr val="475569"/>
                </a:solidFill>
              </a:rPr>
              <a:t>12/12 PASS (Python) + 7/7 Verilog Assertions PASS</a:t>
            </a:r>
          </a:p>
          <a:p>
            <a:pPr>
              <a:spcAft>
                <a:spcPts val="150"/>
              </a:spcAft>
              <a:defRPr sz="900" b="1">
                <a:solidFill>
                  <a:srgbClr val="0F172A"/>
                </a:solidFill>
                <a:latin typeface="Segoe UI"/>
              </a:defRPr>
            </a:pPr>
            <a:r>
              <a:t>✔ Tần số hoạt động: </a:t>
            </a:r>
            <a:r>
              <a:rPr b="0">
                <a:solidFill>
                  <a:srgbClr val="475569"/>
                </a:solidFill>
              </a:rPr>
              <a:t>50.0 MHz (Chu kỳ xung nhịp 20.0 ns)</a:t>
            </a:r>
          </a:p>
          <a:p>
            <a:pPr>
              <a:spcAft>
                <a:spcPts val="150"/>
              </a:spcAft>
              <a:defRPr sz="900" b="1">
                <a:solidFill>
                  <a:srgbClr val="0F172A"/>
                </a:solidFill>
                <a:latin typeface="Segoe UI"/>
              </a:defRPr>
            </a:pPr>
            <a:r>
              <a:t>✔ Độ trễ truy cập SRAM: </a:t>
            </a:r>
            <a:r>
              <a:rPr b="0">
                <a:solidFill>
                  <a:srgbClr val="475569"/>
                </a:solidFill>
              </a:rPr>
              <a:t>Đúng 1 chu kỳ clock (1-Cycle Latency Handshake)</a:t>
            </a:r>
          </a:p>
          <a:p>
            <a:pPr>
              <a:spcAft>
                <a:spcPts val="150"/>
              </a:spcAft>
              <a:defRPr sz="900" b="1">
                <a:solidFill>
                  <a:srgbClr val="0F172A"/>
                </a:solidFill>
                <a:latin typeface="Segoe UI"/>
              </a:defRPr>
            </a:pPr>
            <a:r>
              <a:t>✔ Tính toàn vẹn dữ liệu: </a:t>
            </a:r>
            <a:r>
              <a:rPr b="0">
                <a:solidFill>
                  <a:srgbClr val="475569"/>
                </a:solidFill>
              </a:rPr>
              <a:t>Bảo toàn 100% dữ liệu vùng ngăn xếp Stack (sp = 0x400) và .data</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Ghi Byte &amp; Bắt Tay Bus</a:t>
            </a:r>
          </a:p>
          <a:p>
            <a:pPr>
              <a:spcAft>
                <a:spcPts val="500"/>
              </a:spcAft>
              <a:defRPr sz="880" i="1">
                <a:solidFill>
                  <a:srgbClr val="94A3B8"/>
                </a:solidFill>
                <a:latin typeface="Segoe UI"/>
              </a:defRPr>
            </a:pPr>
            <a:r>
              <a:t>Mã nguồn: tb/step3_picorv32_sram/tb_data_sram.v</a:t>
            </a:r>
          </a:p>
          <a:p>
            <a:pPr>
              <a:spcAft>
                <a:spcPts val="40"/>
              </a:spcAft>
              <a:defRPr sz="760" i="1">
                <a:solidFill>
                  <a:srgbClr val="64748B"/>
                </a:solidFill>
                <a:latin typeface="Consolas"/>
              </a:defRPr>
            </a:pPr>
            <a:r>
              <a:t>// 1. Kiểm tra ghi đè từng byte bằng wstrb[3:0]</a:t>
            </a:r>
          </a:p>
          <a:p>
            <a:pPr>
              <a:spcAft>
                <a:spcPts val="40"/>
              </a:spcAft>
              <a:defRPr sz="760">
                <a:solidFill>
                  <a:srgbClr val="A78BFA"/>
                </a:solidFill>
                <a:latin typeface="Consolas"/>
              </a:defRPr>
            </a:pPr>
            <a:r>
              <a:t>$display("[TEST 2] Testing Byte-Wise Write Enables...");</a:t>
            </a:r>
          </a:p>
          <a:p>
            <a:pPr>
              <a:spcAft>
                <a:spcPts val="40"/>
              </a:spcAft>
              <a:defRPr sz="760">
                <a:solidFill>
                  <a:srgbClr val="38BDF8"/>
                </a:solidFill>
                <a:latin typeface="Consolas"/>
              </a:defRPr>
            </a:pPr>
            <a:r>
              <a:t>sram_write(10'h004, 32'h11223344, 4'b1111); // Nạp từ ban đầu</a:t>
            </a:r>
          </a:p>
          <a:p>
            <a:pPr>
              <a:spcAft>
                <a:spcPts val="40"/>
              </a:spcAft>
              <a:defRPr sz="760">
                <a:solidFill>
                  <a:srgbClr val="38BDF8"/>
                </a:solidFill>
                <a:latin typeface="Consolas"/>
              </a:defRPr>
            </a:pPr>
            <a:r>
              <a:t>sram_write(10'h004, 32'hAA00BB00, 4'b1010); // Ghi Byte 1 &amp; 3</a:t>
            </a:r>
          </a:p>
          <a:p>
            <a:pPr>
              <a:spcAft>
                <a:spcPts val="40"/>
              </a:spcAft>
              <a:defRPr sz="760">
                <a:solidFill>
                  <a:srgbClr val="38BDF8"/>
                </a:solidFill>
                <a:latin typeface="Consolas"/>
              </a:defRPr>
            </a:pPr>
            <a:r>
              <a:t>sram_read(10'h004, read_data);</a:t>
            </a:r>
          </a:p>
          <a:p>
            <a:pPr>
              <a:spcAft>
                <a:spcPts val="40"/>
              </a:spcAft>
              <a:defRPr sz="760">
                <a:solidFill>
                  <a:srgbClr val="38BDF8"/>
                </a:solidFill>
                <a:latin typeface="Consolas"/>
              </a:defRPr>
            </a:pPr>
            <a:r>
              <a:t>if (read_data === 32'hAA22BB44) begin</a:t>
            </a:r>
          </a:p>
          <a:p>
            <a:pPr>
              <a:spcAft>
                <a:spcPts val="40"/>
              </a:spcAft>
              <a:defRPr sz="760" b="1">
                <a:solidFill>
                  <a:srgbClr val="10B981"/>
                </a:solidFill>
                <a:latin typeface="Consolas"/>
              </a:defRPr>
            </a:pPr>
            <a:r>
              <a:t>    $display("  [PASS] Byte-Wise: Read 0x%08X", read_data);</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2. Kiểm tra chu kỳ bắt tay Bus valid/ready trong 1 clock</a:t>
            </a:r>
          </a:p>
          <a:p>
            <a:pPr>
              <a:spcAft>
                <a:spcPts val="40"/>
              </a:spcAft>
              <a:defRPr sz="760">
                <a:solidFill>
                  <a:srgbClr val="38BDF8"/>
                </a:solidFill>
                <a:latin typeface="Consolas"/>
              </a:defRPr>
            </a:pPr>
            <a:r>
              <a:t>@(posedge clk);</a:t>
            </a:r>
          </a:p>
          <a:p>
            <a:pPr>
              <a:spcAft>
                <a:spcPts val="40"/>
              </a:spcAft>
              <a:defRPr sz="760">
                <a:solidFill>
                  <a:srgbClr val="38BDF8"/>
                </a:solidFill>
                <a:latin typeface="Consolas"/>
              </a:defRPr>
            </a:pPr>
            <a:r>
              <a:t>valid &lt;= 1'b1; addr &lt;= 10'h008; wdata &lt;= 32'hCAFEBABE;</a:t>
            </a:r>
          </a:p>
          <a:p>
            <a:pPr>
              <a:spcAft>
                <a:spcPts val="40"/>
              </a:spcAft>
              <a:defRPr sz="760">
                <a:solidFill>
                  <a:srgbClr val="38BDF8"/>
                </a:solidFill>
                <a:latin typeface="Consolas"/>
              </a:defRPr>
            </a:pPr>
            <a:r>
              <a:t>wstrb &lt;= 4'b1111;</a:t>
            </a:r>
          </a:p>
          <a:p>
            <a:pPr>
              <a:spcAft>
                <a:spcPts val="40"/>
              </a:spcAft>
              <a:defRPr sz="760">
                <a:solidFill>
                  <a:srgbClr val="38BDF8"/>
                </a:solidFill>
                <a:latin typeface="Consolas"/>
              </a:defRPr>
            </a:pPr>
            <a:r>
              <a:t>@(posedge clk);</a:t>
            </a:r>
          </a:p>
          <a:p>
            <a:pPr>
              <a:spcAft>
                <a:spcPts val="40"/>
              </a:spcAft>
              <a:defRPr sz="760">
                <a:solidFill>
                  <a:srgbClr val="38BDF8"/>
                </a:solidFill>
                <a:latin typeface="Consolas"/>
              </a:defRPr>
            </a:pPr>
            <a:r>
              <a:t>if (ready === 1'b1) begin</a:t>
            </a:r>
          </a:p>
          <a:p>
            <a:pPr>
              <a:spcAft>
                <a:spcPts val="40"/>
              </a:spcAft>
              <a:defRPr sz="760" b="1">
                <a:solidFill>
                  <a:srgbClr val="10B981"/>
                </a:solidFill>
                <a:latin typeface="Consolas"/>
              </a:defRPr>
            </a:pPr>
            <a:r>
              <a:t>    $display("  [PASS] ready asserted in 1 clock cycle!");</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3. Kiểm tra đọc/ghi tại biên đỉnh bộ nhớ 1KB (Word 255)</a:t>
            </a:r>
          </a:p>
          <a:p>
            <a:pPr>
              <a:spcAft>
                <a:spcPts val="40"/>
              </a:spcAft>
              <a:defRPr sz="760">
                <a:solidFill>
                  <a:srgbClr val="38BDF8"/>
                </a:solidFill>
                <a:latin typeface="Consolas"/>
              </a:defRPr>
            </a:pPr>
            <a:r>
              <a:t>sram_write(10'h3FC, 32'hA5A55A5A, 4'b1111);</a:t>
            </a:r>
          </a:p>
          <a:p>
            <a:pPr>
              <a:spcAft>
                <a:spcPts val="40"/>
              </a:spcAft>
              <a:defRPr sz="760">
                <a:solidFill>
                  <a:srgbClr val="38BDF8"/>
                </a:solidFill>
                <a:latin typeface="Consolas"/>
              </a:defRPr>
            </a:pPr>
            <a:r>
              <a:t>sram_read(10'h3FC, read_data);</a:t>
            </a:r>
          </a:p>
          <a:p>
            <a:pPr>
              <a:spcAft>
                <a:spcPts val="40"/>
              </a:spcAft>
              <a:defRPr sz="760" b="1">
                <a:solidFill>
                  <a:srgbClr val="10B981"/>
                </a:solidFill>
                <a:latin typeface="Consolas"/>
              </a:defRPr>
            </a:pPr>
            <a:r>
              <a:t>assert(read_data === 32'hA5A55A5A);</a:t>
            </a:r>
          </a:p>
          <a:p>
            <a:pPr>
              <a:spcBef>
                <a:spcPts val="500"/>
              </a:spcBef>
              <a:defRPr sz="860" b="1">
                <a:solidFill>
                  <a:srgbClr val="10B981"/>
                </a:solidFill>
                <a:latin typeface="Consolas"/>
              </a:defRPr>
            </a:pPr>
            <a:r>
              <a:t>&gt;&gt;&gt; AMD Vivado xsim: 7/7 RTL CHECKS &amp; 12/12 PYTHON PASS &lt;&lt;&lt;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4 SPI FLASH</a:t>
            </a:r>
          </a:p>
          <a:p>
            <a:pPr>
              <a:defRPr sz="1900" b="1">
                <a:solidFill>
                  <a:srgbClr val="0F172A"/>
                </a:solidFill>
                <a:latin typeface="Segoe UI"/>
              </a:defRPr>
            </a:pPr>
            <a:r>
              <a:t>3.8.3. Kiểm Thử Bước 4: Mô Phỏng Bộ Điều Khiển Bộ Nhớ Ngoài SPI Flash</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15 / 22</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4</a:t>
            </a:r>
          </a:p>
          <a:p>
            <a:pPr>
              <a:spcAft>
                <a:spcPts val="200"/>
              </a:spcAft>
              <a:defRPr sz="919" b="1">
                <a:solidFill>
                  <a:srgbClr val="0F172A"/>
                </a:solidFill>
                <a:latin typeface="Segoe UI"/>
              </a:defRPr>
            </a:pPr>
            <a:r>
              <a:t>• Giao diện chuẩn SPI Mode 0: </a:t>
            </a:r>
            <a:r>
              <a:rPr b="0">
                <a:solidFill>
                  <a:srgbClr val="475569"/>
                </a:solidFill>
              </a:rPr>
              <a:t>Điều khiển 4 đường flash_csn, flash_sck, flash_mosi, flash_miso giao tiếp mô hình SPI Flash Spansion S25FL032P 32 Mbit.</a:t>
            </a:r>
          </a:p>
          <a:p>
            <a:pPr>
              <a:spcAft>
                <a:spcPts val="200"/>
              </a:spcAft>
              <a:defRPr sz="919" b="1">
                <a:solidFill>
                  <a:srgbClr val="0F172A"/>
                </a:solidFill>
                <a:latin typeface="Segoe UI"/>
              </a:defRPr>
            </a:pPr>
            <a:r>
              <a:t>• Đọc mã định danh JEDEC ID (0x9F): </a:t>
            </a:r>
            <a:r>
              <a:rPr b="0">
                <a:solidFill>
                  <a:srgbClr val="475569"/>
                </a:solidFill>
              </a:rPr>
              <a:t>Xác nhận phần cứng đọc chính xác Manufacturer ID 0x01 và Device ID 0x0215 qua thanh ghi dữ liệu.</a:t>
            </a:r>
          </a:p>
          <a:p>
            <a:pPr>
              <a:spcAft>
                <a:spcPts val="200"/>
              </a:spcAft>
              <a:defRPr sz="919" b="1">
                <a:solidFill>
                  <a:srgbClr val="0F172A"/>
                </a:solidFill>
                <a:latin typeface="Segoe UI"/>
              </a:defRPr>
            </a:pPr>
            <a:r>
              <a:t>• Lệnh ghi &amp; xóa Flash phần cứng: </a:t>
            </a:r>
            <a:r>
              <a:rPr b="0">
                <a:solidFill>
                  <a:srgbClr val="475569"/>
                </a:solidFill>
              </a:rPr>
              <a:t>Write Enable (0x06) bật cờ WEL; Sector Erase 64KB (0xD8) xóa Sector 48 (0x300000) về 0xFF; Page Program (0x02) nạp 256 byte.</a:t>
            </a:r>
          </a:p>
          <a:p>
            <a:pPr>
              <a:spcAft>
                <a:spcPts val="200"/>
              </a:spcAft>
              <a:defRPr sz="919" b="1">
                <a:solidFill>
                  <a:srgbClr val="0F172A"/>
                </a:solidFill>
                <a:latin typeface="Segoe UI"/>
              </a:defRPr>
            </a:pPr>
            <a:r>
              <a:t>• Cơ chế thực thi tại chỗ Flash XIP: </a:t>
            </a:r>
            <a:r>
              <a:rPr b="0">
                <a:solidFill>
                  <a:srgbClr val="475569"/>
                </a:solidFill>
              </a:rPr>
              <a:t>CPU đọc mã máy trực tiếp qua bus bộ nhớ ánh xạ mà không cần nạp trước vào RAM, reset tại 0x0025_0000.</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Mô Phỏng SPI Flash Controller</a:t>
            </a:r>
          </a:p>
          <a:p>
            <a:pPr>
              <a:spcAft>
                <a:spcPts val="150"/>
              </a:spcAft>
              <a:defRPr sz="900" b="1">
                <a:solidFill>
                  <a:srgbClr val="0F172A"/>
                </a:solidFill>
                <a:latin typeface="Segoe UI"/>
              </a:defRPr>
            </a:pPr>
            <a:r>
              <a:t>✔ Tỷ lệ thành công: </a:t>
            </a:r>
            <a:r>
              <a:rPr b="0">
                <a:solidFill>
                  <a:srgbClr val="475569"/>
                </a:solidFill>
              </a:rPr>
              <a:t>10/10 Test Cases PASS (100.0% Tuyệt đối)</a:t>
            </a:r>
          </a:p>
          <a:p>
            <a:pPr>
              <a:spcAft>
                <a:spcPts val="150"/>
              </a:spcAft>
              <a:defRPr sz="900" b="1">
                <a:solidFill>
                  <a:srgbClr val="0F172A"/>
                </a:solidFill>
                <a:latin typeface="Segoe UI"/>
              </a:defRPr>
            </a:pPr>
            <a:r>
              <a:t>✔ Tần số xung nhịp SPI: </a:t>
            </a:r>
            <a:r>
              <a:rPr b="0">
                <a:solidFill>
                  <a:srgbClr val="475569"/>
                </a:solidFill>
              </a:rPr>
              <a:t>25.0 MHz (Chia đôi từ Clock hệ thống 50.0 MHz)</a:t>
            </a:r>
          </a:p>
          <a:p>
            <a:pPr>
              <a:spcAft>
                <a:spcPts val="150"/>
              </a:spcAft>
              <a:defRPr sz="900" b="1">
                <a:solidFill>
                  <a:srgbClr val="0F172A"/>
                </a:solidFill>
                <a:latin typeface="Segoe UI"/>
              </a:defRPr>
            </a:pPr>
            <a:r>
              <a:t>✔ Quản lý cờ bận: </a:t>
            </a:r>
            <a:r>
              <a:rPr b="0">
                <a:solidFill>
                  <a:srgbClr val="475569"/>
                </a:solidFill>
              </a:rPr>
              <a:t>Tín hiệu flash_busy khóa bus an toàn trong suốt chu kỳ ghi/xóa</a:t>
            </a:r>
          </a:p>
          <a:p>
            <a:pPr>
              <a:spcAft>
                <a:spcPts val="150"/>
              </a:spcAft>
              <a:defRPr sz="900" b="1">
                <a:solidFill>
                  <a:srgbClr val="0F172A"/>
                </a:solidFill>
                <a:latin typeface="Segoe UI"/>
              </a:defRPr>
            </a:pPr>
            <a:r>
              <a:t>✔ Lưu trữ bền vững: </a:t>
            </a:r>
            <a:r>
              <a:rPr b="0">
                <a:solidFill>
                  <a:srgbClr val="475569"/>
                </a:solidFill>
              </a:rPr>
              <a:t>Dữ liệu được bảo toàn nguyên vẹn sau chu kỳ mô phỏng reset</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Lệnh SPI &amp; Thực Thi XIP</a:t>
            </a:r>
          </a:p>
          <a:p>
            <a:pPr>
              <a:spcAft>
                <a:spcPts val="500"/>
              </a:spcAft>
              <a:defRPr sz="880" i="1">
                <a:solidFill>
                  <a:srgbClr val="94A3B8"/>
                </a:solidFill>
                <a:latin typeface="Segoe UI"/>
              </a:defRPr>
            </a:pPr>
            <a:r>
              <a:t>Mã nguồn: tb/step4_spimemio_flash/tb_spi_flash.v</a:t>
            </a:r>
          </a:p>
          <a:p>
            <a:pPr>
              <a:spcAft>
                <a:spcPts val="40"/>
              </a:spcAft>
              <a:defRPr sz="760" i="1">
                <a:solidFill>
                  <a:srgbClr val="64748B"/>
                </a:solidFill>
                <a:latin typeface="Consolas"/>
              </a:defRPr>
            </a:pPr>
            <a:r>
              <a:t>// 1. Tác vụ đọc JEDEC ID chip Flash (Spansion S25FL032P)</a:t>
            </a:r>
          </a:p>
          <a:p>
            <a:pPr>
              <a:spcAft>
                <a:spcPts val="40"/>
              </a:spcAft>
              <a:defRPr sz="760">
                <a:solidFill>
                  <a:srgbClr val="A78BFA"/>
                </a:solidFill>
                <a:latin typeface="Consolas"/>
              </a:defRPr>
            </a:pPr>
            <a:r>
              <a:t>task flash_read_jedec(output [23:0] id);</a:t>
            </a:r>
          </a:p>
          <a:p>
            <a:pPr>
              <a:spcAft>
                <a:spcPts val="40"/>
              </a:spcAft>
              <a:defRPr sz="760">
                <a:solidFill>
                  <a:srgbClr val="38BDF8"/>
                </a:solidFill>
                <a:latin typeface="Consolas"/>
              </a:defRPr>
            </a:pPr>
            <a:r>
              <a:t>    begin</a:t>
            </a:r>
          </a:p>
          <a:p>
            <a:pPr>
              <a:spcAft>
                <a:spcPts val="40"/>
              </a:spcAft>
              <a:defRPr sz="760">
                <a:solidFill>
                  <a:srgbClr val="38BDF8"/>
                </a:solidFill>
                <a:latin typeface="Consolas"/>
              </a:defRPr>
            </a:pPr>
            <a:r>
              <a:t>        bus_write(REG_FLASH_CMD, 32'h0000_009F); // Phát RDID</a:t>
            </a:r>
          </a:p>
          <a:p>
            <a:pPr>
              <a:spcAft>
                <a:spcPts val="40"/>
              </a:spcAft>
              <a:defRPr sz="760">
                <a:solidFill>
                  <a:srgbClr val="38BDF8"/>
                </a:solidFill>
                <a:latin typeface="Consolas"/>
              </a:defRPr>
            </a:pPr>
            <a:r>
              <a:t>        while (flash_busy) @(posedge clk);        // Chờ SPI</a:t>
            </a:r>
          </a:p>
          <a:p>
            <a:pPr>
              <a:spcAft>
                <a:spcPts val="40"/>
              </a:spcAft>
              <a:defRPr sz="760">
                <a:solidFill>
                  <a:srgbClr val="38BDF8"/>
                </a:solidFill>
                <a:latin typeface="Consolas"/>
              </a:defRPr>
            </a:pPr>
            <a:r>
              <a:t>        bus_read(REG_FLASH_DAT, id);</a:t>
            </a:r>
          </a:p>
          <a:p>
            <a:pPr>
              <a:spcAft>
                <a:spcPts val="40"/>
              </a:spcAft>
              <a:defRPr sz="760">
                <a:solidFill>
                  <a:srgbClr val="38BDF8"/>
                </a:solidFill>
                <a:latin typeface="Consolas"/>
              </a:defRPr>
            </a:pPr>
            <a:r>
              <a:t>        if (id[23:16] == 8'h01) // Spansion ID</a:t>
            </a:r>
          </a:p>
          <a:p>
            <a:pPr>
              <a:spcAft>
                <a:spcPts val="40"/>
              </a:spcAft>
              <a:defRPr sz="760" b="1">
                <a:solidFill>
                  <a:srgbClr val="10B981"/>
                </a:solidFill>
                <a:latin typeface="Consolas"/>
              </a:defRPr>
            </a:pPr>
            <a:r>
              <a:t>            $display("  [PASS] JEDEC ID: 0x%06X (Valid Flash)", id);</a:t>
            </a:r>
          </a:p>
          <a:p>
            <a:pPr>
              <a:spcAft>
                <a:spcPts val="40"/>
              </a:spcAft>
              <a:defRPr sz="760">
                <a:solidFill>
                  <a:srgbClr val="38BDF8"/>
                </a:solidFill>
                <a:latin typeface="Consolas"/>
              </a:defRPr>
            </a:pPr>
            <a:r>
              <a:t>    end</a:t>
            </a:r>
          </a:p>
          <a:p>
            <a:pPr>
              <a:spcAft>
                <a:spcPts val="40"/>
              </a:spcAft>
              <a:defRPr sz="760">
                <a:solidFill>
                  <a:srgbClr val="A78BFA"/>
                </a:solidFill>
                <a:latin typeface="Consolas"/>
              </a:defRPr>
            </a:pPr>
            <a:r>
              <a:t>endtask</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2. Xóa khối Sector Erase 64KB (Sector 48 - 0x300000)</a:t>
            </a:r>
          </a:p>
          <a:p>
            <a:pPr>
              <a:spcAft>
                <a:spcPts val="40"/>
              </a:spcAft>
              <a:defRPr sz="760">
                <a:solidFill>
                  <a:srgbClr val="38BDF8"/>
                </a:solidFill>
                <a:latin typeface="Consolas"/>
              </a:defRPr>
            </a:pPr>
            <a:r>
              <a:t>bus_write(REG_FLASH_ADDR, 24'h30_0000);</a:t>
            </a:r>
          </a:p>
          <a:p>
            <a:pPr>
              <a:spcAft>
                <a:spcPts val="40"/>
              </a:spcAft>
              <a:defRPr sz="760">
                <a:solidFill>
                  <a:srgbClr val="38BDF8"/>
                </a:solidFill>
                <a:latin typeface="Consolas"/>
              </a:defRPr>
            </a:pPr>
            <a:r>
              <a:t>bus_write(REG_FLASH_CMD,  32'h0000_00D8); // Lệnh Sector Erase</a:t>
            </a:r>
          </a:p>
          <a:p>
            <a:pPr>
              <a:spcAft>
                <a:spcPts val="40"/>
              </a:spcAft>
              <a:defRPr sz="760">
                <a:solidFill>
                  <a:srgbClr val="38BDF8"/>
                </a:solidFill>
                <a:latin typeface="Consolas"/>
              </a:defRPr>
            </a:pPr>
            <a:r>
              <a:t>while (flash_busy) @(posedge clk);</a:t>
            </a:r>
          </a:p>
          <a:p>
            <a:pPr>
              <a:spcAft>
                <a:spcPts val="40"/>
              </a:spcAft>
              <a:defRPr sz="760" b="1">
                <a:solidFill>
                  <a:srgbClr val="10B981"/>
                </a:solidFill>
                <a:latin typeface="Consolas"/>
              </a:defRPr>
            </a:pPr>
            <a:r>
              <a:t>$display("  [PASS] Sector 48 erased to 0xFF successfully");</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3. Ghi trang Page Program 16-byte bản ghi thẻ RFID</a:t>
            </a:r>
          </a:p>
          <a:p>
            <a:pPr>
              <a:spcAft>
                <a:spcPts val="40"/>
              </a:spcAft>
              <a:defRPr sz="760">
                <a:solidFill>
                  <a:srgbClr val="38BDF8"/>
                </a:solidFill>
                <a:latin typeface="Consolas"/>
              </a:defRPr>
            </a:pPr>
            <a:r>
              <a:t>bus_write(REG_FLASH_DATA, 32'h52464944); // 'RFID' Magic</a:t>
            </a:r>
          </a:p>
          <a:p>
            <a:pPr>
              <a:spcAft>
                <a:spcPts val="40"/>
              </a:spcAft>
              <a:defRPr sz="760">
                <a:solidFill>
                  <a:srgbClr val="38BDF8"/>
                </a:solidFill>
                <a:latin typeface="Consolas"/>
              </a:defRPr>
            </a:pPr>
            <a:r>
              <a:t>bus_write(REG_FLASH_CMD,  32'h0000_0002); // Page Program</a:t>
            </a:r>
          </a:p>
          <a:p>
            <a:pPr>
              <a:spcAft>
                <a:spcPts val="40"/>
              </a:spcAft>
              <a:defRPr sz="760">
                <a:solidFill>
                  <a:srgbClr val="38BDF8"/>
                </a:solidFill>
                <a:latin typeface="Consolas"/>
              </a:defRPr>
            </a:pPr>
            <a:r>
              <a:t>while (flash_busy) @(posedge clk);</a:t>
            </a:r>
          </a:p>
          <a:p>
            <a:pPr>
              <a:spcAft>
                <a:spcPts val="40"/>
              </a:spcAft>
              <a:defRPr sz="760" b="1">
                <a:solidFill>
                  <a:srgbClr val="10B981"/>
                </a:solidFill>
                <a:latin typeface="Consolas"/>
              </a:defRPr>
            </a:pPr>
            <a:r>
              <a:t>$display("  [PASS] Page Program: 16-byte record written into Flash");</a:t>
            </a:r>
          </a:p>
          <a:p>
            <a:pPr>
              <a:spcBef>
                <a:spcPts val="500"/>
              </a:spcBef>
              <a:defRPr sz="860" b="1">
                <a:solidFill>
                  <a:srgbClr val="10B981"/>
                </a:solidFill>
                <a:latin typeface="Consolas"/>
              </a:defRPr>
            </a:pPr>
            <a:r>
              <a:t>&gt;&gt;&gt; XÁC THỰC BƯỚC 4: 10/10 SPI PROTOCOL PASS (100%) &lt;&lt;&lt;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5 RFID PIPELINE</a:t>
            </a:r>
          </a:p>
          <a:p>
            <a:pPr>
              <a:defRPr sz="1900" b="1">
                <a:solidFill>
                  <a:srgbClr val="0F172A"/>
                </a:solidFill>
                <a:latin typeface="Segoe UI"/>
              </a:defRPr>
            </a:pPr>
            <a:r>
              <a:t>3.8.4. Kiểm Thử Bước 5: Mô Phỏng Đường Ống Thu Nhận RFID 5 Tầng &amp; Cây XOR</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16 / 22</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5</a:t>
            </a:r>
          </a:p>
          <a:p>
            <a:pPr>
              <a:spcAft>
                <a:spcPts val="200"/>
              </a:spcAft>
              <a:defRPr sz="919" b="1">
                <a:solidFill>
                  <a:srgbClr val="0F172A"/>
                </a:solidFill>
                <a:latin typeface="Segoe UI"/>
              </a:defRPr>
            </a:pPr>
            <a:r>
              <a:t>• Tầng 1 (2-FF CDC Synchronizer): </a:t>
            </a:r>
            <a:r>
              <a:rPr b="0">
                <a:solidFill>
                  <a:srgbClr val="475569"/>
                </a:solidFill>
              </a:rPr>
              <a:t>Khử hiện tượng siêu bền bất định khi bắt tín hiệu UART 9600 bps bất đồng bộ từ RDM6300 vào miền clock 50MHz.</a:t>
            </a:r>
          </a:p>
          <a:p>
            <a:pPr>
              <a:spcAft>
                <a:spcPts val="200"/>
              </a:spcAft>
              <a:defRPr sz="919" b="1">
                <a:solidFill>
                  <a:srgbClr val="0F172A"/>
                </a:solidFill>
                <a:latin typeface="Segoe UI"/>
              </a:defRPr>
            </a:pPr>
            <a:r>
              <a:t>• Tầng 2 (Lọc đa số 3 điểm UART RX): </a:t>
            </a:r>
            <a:r>
              <a:rPr b="0">
                <a:solidFill>
                  <a:srgbClr val="475569"/>
                </a:solidFill>
              </a:rPr>
              <a:t>Bộ lấy mẫu 16x loại bỏ hoàn toàn các xung gai nhiễu điện từ &lt; 100ns từ cuộn cảm ăng-ten 125 kHz.</a:t>
            </a:r>
          </a:p>
          <a:p>
            <a:pPr>
              <a:spcAft>
                <a:spcPts val="200"/>
              </a:spcAft>
              <a:defRPr sz="919" b="1">
                <a:solidFill>
                  <a:srgbClr val="0F172A"/>
                </a:solidFill>
                <a:latin typeface="Segoe UI"/>
              </a:defRPr>
            </a:pPr>
            <a:r>
              <a:t>• Tầng 3 (Hàng đợi FIFO 16 byte): </a:t>
            </a:r>
            <a:r>
              <a:rPr b="0">
                <a:solidFill>
                  <a:srgbClr val="475569"/>
                </a:solidFill>
              </a:rPr>
              <a:t>Cách ly tốc độ thu dữ liệu và tốc độ CPU, chống rơi byte khi CPU bận ghi Flash.</a:t>
            </a:r>
          </a:p>
          <a:p>
            <a:pPr>
              <a:spcAft>
                <a:spcPts val="200"/>
              </a:spcAft>
              <a:defRPr sz="919" b="1">
                <a:solidFill>
                  <a:srgbClr val="0F172A"/>
                </a:solidFill>
                <a:latin typeface="Segoe UI"/>
              </a:defRPr>
            </a:pPr>
            <a:r>
              <a:t>• Tầng 4 &amp; 5 (FSM 14 Byte &amp; Cây XOR 20ns): </a:t>
            </a:r>
            <a:r>
              <a:rPr b="0">
                <a:solidFill>
                  <a:srgbClr val="475569"/>
                </a:solidFill>
              </a:rPr>
              <a:t>Nhận diện STX (0x02), 10 byte mã thẻ, 2 byte checksum, ETX (0x03). Tính Checksum XOR song song trong đúng 1 chu kỳ clock (20ns).</a:t>
            </a:r>
          </a:p>
          <a:p>
            <a:pPr>
              <a:spcAft>
                <a:spcPts val="200"/>
              </a:spcAft>
              <a:defRPr sz="919" b="1">
                <a:solidFill>
                  <a:srgbClr val="0F172A"/>
                </a:solidFill>
                <a:latin typeface="Segoe UI"/>
              </a:defRPr>
            </a:pPr>
            <a:r>
              <a:t>• Kiểm thử thẻ giả mạo (Negative Test): </a:t>
            </a:r>
            <a:r>
              <a:rPr b="0">
                <a:solidFill>
                  <a:srgbClr val="475569"/>
                </a:solidFill>
              </a:rPr>
              <a:t>Gửi khung thẻ bị sửa sai checksum -&gt; phần cứng phát hiện lỗi ngay, từ chối cấp cờ card_valid.</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Xác Minh AMD Vivado xsim v2025.2</a:t>
            </a:r>
          </a:p>
          <a:p>
            <a:pPr>
              <a:spcAft>
                <a:spcPts val="150"/>
              </a:spcAft>
              <a:defRPr sz="900" b="1">
                <a:solidFill>
                  <a:srgbClr val="0F172A"/>
                </a:solidFill>
                <a:latin typeface="Segoe UI"/>
              </a:defRPr>
            </a:pPr>
            <a:r>
              <a:t>✔ Tỷ lệ thành công: </a:t>
            </a:r>
            <a:r>
              <a:rPr b="0">
                <a:solidFill>
                  <a:srgbClr val="475569"/>
                </a:solidFill>
              </a:rPr>
              <a:t>12/12 PASS (100.0%) trên cả Vivado xsim và Python</a:t>
            </a:r>
          </a:p>
          <a:p>
            <a:pPr>
              <a:spcAft>
                <a:spcPts val="150"/>
              </a:spcAft>
              <a:defRPr sz="900" b="1">
                <a:solidFill>
                  <a:srgbClr val="0F172A"/>
                </a:solidFill>
                <a:latin typeface="Segoe UI"/>
              </a:defRPr>
            </a:pPr>
            <a:r>
              <a:t>✔ Độ trễ tính toán Checksum: </a:t>
            </a:r>
            <a:r>
              <a:rPr b="0">
                <a:solidFill>
                  <a:srgbClr val="475569"/>
                </a:solidFill>
              </a:rPr>
              <a:t>Đúng 1 chu kỳ xung nhịp (20.0 ns) ngay sau ETX</a:t>
            </a:r>
          </a:p>
          <a:p>
            <a:pPr>
              <a:spcAft>
                <a:spcPts val="150"/>
              </a:spcAft>
              <a:defRPr sz="900" b="1">
                <a:solidFill>
                  <a:srgbClr val="0F172A"/>
                </a:solidFill>
                <a:latin typeface="Segoe UI"/>
              </a:defRPr>
            </a:pPr>
            <a:r>
              <a:t>✔ Tỷ lệ loại trừ lỗi: </a:t>
            </a:r>
            <a:r>
              <a:rPr b="0">
                <a:solidFill>
                  <a:srgbClr val="475569"/>
                </a:solidFill>
              </a:rPr>
              <a:t>100% khung thẻ sai checksum bị triệt tiêu</a:t>
            </a:r>
          </a:p>
          <a:p>
            <a:pPr>
              <a:spcAft>
                <a:spcPts val="150"/>
              </a:spcAft>
              <a:defRPr sz="900" b="1">
                <a:solidFill>
                  <a:srgbClr val="0F172A"/>
                </a:solidFill>
                <a:latin typeface="Segoe UI"/>
              </a:defRPr>
            </a:pPr>
            <a:r>
              <a:t>✔ Tương thích chuẩn: </a:t>
            </a:r>
            <a:r>
              <a:rPr b="0">
                <a:solidFill>
                  <a:srgbClr val="475569"/>
                </a:solidFill>
              </a:rPr>
              <a:t>Khớp hoàn hảo định dạng thẻ EM4100 125 kHz công nghiệp</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Khung 14 Byte &amp; Cây XOR</a:t>
            </a:r>
          </a:p>
          <a:p>
            <a:pPr>
              <a:spcAft>
                <a:spcPts val="500"/>
              </a:spcAft>
              <a:defRPr sz="880" i="1">
                <a:solidFill>
                  <a:srgbClr val="94A3B8"/>
                </a:solidFill>
                <a:latin typeface="Segoe UI"/>
              </a:defRPr>
            </a:pPr>
            <a:r>
              <a:t>Mã nguồn: tb/step5_rdm6300_pipeline/tb_rdm6300_pipeline.v</a:t>
            </a:r>
          </a:p>
          <a:p>
            <a:pPr>
              <a:spcAft>
                <a:spcPts val="40"/>
              </a:spcAft>
              <a:defRPr sz="760" i="1">
                <a:solidFill>
                  <a:srgbClr val="64748B"/>
                </a:solidFill>
                <a:latin typeface="Consolas"/>
              </a:defRPr>
            </a:pPr>
            <a:r>
              <a:t>// 1. Kịch bản quẹt thẻ hợp lệ: 00007293F0 (Checksum XOR = 0x11)</a:t>
            </a:r>
          </a:p>
          <a:p>
            <a:pPr>
              <a:spcAft>
                <a:spcPts val="40"/>
              </a:spcAft>
              <a:defRPr sz="760">
                <a:solidFill>
                  <a:srgbClr val="A78BFA"/>
                </a:solidFill>
                <a:latin typeface="Consolas"/>
              </a:defRPr>
            </a:pPr>
            <a:r>
              <a:t>$display("[INFO] Transmitting valid RFID Card: 00007293F0...");</a:t>
            </a:r>
          </a:p>
          <a:p>
            <a:pPr>
              <a:spcAft>
                <a:spcPts val="40"/>
              </a:spcAft>
              <a:defRPr sz="760">
                <a:solidFill>
                  <a:srgbClr val="38BDF8"/>
                </a:solidFill>
                <a:latin typeface="Consolas"/>
              </a:defRPr>
            </a:pPr>
            <a:r>
              <a:t>send_rfid_byte(8'h02); // STX (Start of Text)</a:t>
            </a:r>
          </a:p>
          <a:p>
            <a:pPr>
              <a:spcAft>
                <a:spcPts val="40"/>
              </a:spcAft>
              <a:defRPr sz="760">
                <a:solidFill>
                  <a:srgbClr val="38BDF8"/>
                </a:solidFill>
                <a:latin typeface="Consolas"/>
              </a:defRPr>
            </a:pPr>
            <a:r>
              <a:t>send_rfid_string("00007293F0"); // 10 ký tự ASCII dữ liệu thẻ</a:t>
            </a:r>
          </a:p>
          <a:p>
            <a:pPr>
              <a:spcAft>
                <a:spcPts val="40"/>
              </a:spcAft>
              <a:defRPr sz="760">
                <a:solidFill>
                  <a:srgbClr val="38BDF8"/>
                </a:solidFill>
                <a:latin typeface="Consolas"/>
              </a:defRPr>
            </a:pPr>
            <a:r>
              <a:t>send_rfid_string("11");         // 2 ký tự Checksum XOR chuẩn</a:t>
            </a:r>
          </a:p>
          <a:p>
            <a:pPr>
              <a:spcAft>
                <a:spcPts val="40"/>
              </a:spcAft>
              <a:defRPr sz="760">
                <a:solidFill>
                  <a:srgbClr val="38BDF8"/>
                </a:solidFill>
                <a:latin typeface="Consolas"/>
              </a:defRPr>
            </a:pPr>
            <a:r>
              <a:t>send_rfid_byte(8'h03); // ETX (End of Text)</a:t>
            </a:r>
          </a:p>
          <a:p>
            <a:pPr>
              <a:spcAft>
                <a:spcPts val="40"/>
              </a:spcAft>
              <a:defRPr sz="760">
                <a:solidFill>
                  <a:srgbClr val="E2E8F0"/>
                </a:solidFill>
                <a:latin typeface="Consolas"/>
              </a:defRPr>
            </a:pPr>
            <a:endParaRPr/>
          </a:p>
          <a:p>
            <a:pPr>
              <a:spcAft>
                <a:spcPts val="40"/>
              </a:spcAft>
              <a:defRPr sz="760">
                <a:solidFill>
                  <a:srgbClr val="38BDF8"/>
                </a:solidFill>
                <a:latin typeface="Consolas"/>
              </a:defRPr>
            </a:pPr>
            <a:r>
              <a:t>@(posedge card_valid);</a:t>
            </a:r>
          </a:p>
          <a:p>
            <a:pPr>
              <a:spcAft>
                <a:spcPts val="40"/>
              </a:spcAft>
              <a:defRPr sz="760">
                <a:solidFill>
                  <a:srgbClr val="38BDF8"/>
                </a:solidFill>
                <a:latin typeface="Consolas"/>
              </a:defRPr>
            </a:pPr>
            <a:r>
              <a:t>if (tag_raw === 40'h00007293F0) begin</a:t>
            </a:r>
          </a:p>
          <a:p>
            <a:pPr>
              <a:spcAft>
                <a:spcPts val="40"/>
              </a:spcAft>
              <a:defRPr sz="760" b="1">
                <a:solidFill>
                  <a:srgbClr val="10B981"/>
                </a:solidFill>
                <a:latin typeface="Consolas"/>
              </a:defRPr>
            </a:pPr>
            <a:r>
              <a:t>    $display("  [PASS] TC01: Card valid asserted! Tag = %010X", tag_raw);</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2. Kịch bản thẻ giả mạo sai Checksum (Negative Test)</a:t>
            </a:r>
          </a:p>
          <a:p>
            <a:pPr>
              <a:spcAft>
                <a:spcPts val="40"/>
              </a:spcAft>
              <a:defRPr sz="760">
                <a:solidFill>
                  <a:srgbClr val="A78BFA"/>
                </a:solidFill>
                <a:latin typeface="Consolas"/>
              </a:defRPr>
            </a:pPr>
            <a:r>
              <a:t>$display("[INFO] Transmitting corrupted RFID Card (Bad Checksum)...");</a:t>
            </a:r>
          </a:p>
          <a:p>
            <a:pPr>
              <a:spcAft>
                <a:spcPts val="40"/>
              </a:spcAft>
              <a:defRPr sz="760">
                <a:solidFill>
                  <a:srgbClr val="38BDF8"/>
                </a:solidFill>
                <a:latin typeface="Consolas"/>
              </a:defRPr>
            </a:pPr>
            <a:r>
              <a:t>send_rfid_byte(8'h02); send_rfid_string("00007293F0");</a:t>
            </a:r>
          </a:p>
          <a:p>
            <a:pPr>
              <a:spcAft>
                <a:spcPts val="40"/>
              </a:spcAft>
              <a:defRPr sz="760">
                <a:solidFill>
                  <a:srgbClr val="38BDF8"/>
                </a:solidFill>
                <a:latin typeface="Consolas"/>
              </a:defRPr>
            </a:pPr>
            <a:r>
              <a:t>send_rfid_string("99"); // Sai Checksum (kỳ vọng 0x11)</a:t>
            </a:r>
          </a:p>
          <a:p>
            <a:pPr>
              <a:spcAft>
                <a:spcPts val="40"/>
              </a:spcAft>
              <a:defRPr sz="760">
                <a:solidFill>
                  <a:srgbClr val="38BDF8"/>
                </a:solidFill>
                <a:latin typeface="Consolas"/>
              </a:defRPr>
            </a:pPr>
            <a:r>
              <a:t>send_rfid_byte(8'h03);</a:t>
            </a:r>
          </a:p>
          <a:p>
            <a:pPr>
              <a:spcAft>
                <a:spcPts val="40"/>
              </a:spcAft>
              <a:defRPr sz="760">
                <a:solidFill>
                  <a:srgbClr val="38BDF8"/>
                </a:solidFill>
                <a:latin typeface="Consolas"/>
              </a:defRPr>
            </a:pPr>
            <a:r>
              <a:t>#100;</a:t>
            </a:r>
          </a:p>
          <a:p>
            <a:pPr>
              <a:spcAft>
                <a:spcPts val="40"/>
              </a:spcAft>
              <a:defRPr sz="760" b="1">
                <a:solidFill>
                  <a:srgbClr val="10B981"/>
                </a:solidFill>
                <a:latin typeface="Consolas"/>
              </a:defRPr>
            </a:pPr>
            <a:r>
              <a:t>assert(checksum_error === 1'b1 &amp;&amp; card_valid === 1'b0);</a:t>
            </a:r>
          </a:p>
          <a:p>
            <a:pPr>
              <a:spcAft>
                <a:spcPts val="40"/>
              </a:spcAft>
              <a:defRPr sz="760" b="1">
                <a:solidFill>
                  <a:srgbClr val="10B981"/>
                </a:solidFill>
                <a:latin typeface="Consolas"/>
              </a:defRPr>
            </a:pPr>
            <a:r>
              <a:t>$display("  [PASS] TC02: Hardware XOR Checksum detected mismatch!");</a:t>
            </a:r>
          </a:p>
          <a:p>
            <a:pPr>
              <a:spcBef>
                <a:spcPts val="500"/>
              </a:spcBef>
              <a:defRPr sz="860" b="1">
                <a:solidFill>
                  <a:srgbClr val="10B981"/>
                </a:solidFill>
                <a:latin typeface="Consolas"/>
              </a:defRPr>
            </a:pPr>
            <a:r>
              <a:t>&gt;&gt;&gt; AMD Vivado xsim: 12/12 PASS - CHU KỲ XOR = 20.0 ns &lt;&lt;&lt;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6 TOP SOC</a:t>
            </a:r>
          </a:p>
          <a:p>
            <a:pPr>
              <a:defRPr sz="1900" b="1">
                <a:solidFill>
                  <a:srgbClr val="0F172A"/>
                </a:solidFill>
                <a:latin typeface="Segoe UI"/>
              </a:defRPr>
            </a:pPr>
            <a:r>
              <a:t>3.8.5. Kiểm Thử Bước 6: Mô Phỏng Tích Hợp Toàn Diện Top SoC &amp; End-to-End</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17 / 22</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6 (Top SoC)</a:t>
            </a:r>
          </a:p>
          <a:p>
            <a:pPr>
              <a:spcAft>
                <a:spcPts val="200"/>
              </a:spcAft>
              <a:defRPr sz="919" b="1">
                <a:solidFill>
                  <a:srgbClr val="0F172A"/>
                </a:solidFill>
                <a:latin typeface="Segoe UI"/>
              </a:defRPr>
            </a:pPr>
            <a:r>
              <a:t>• Quy trình khởi động hệ thống (Full SoC Boot): </a:t>
            </a:r>
            <a:r>
              <a:rPr b="0">
                <a:solidFill>
                  <a:srgbClr val="475569"/>
                </a:solidFill>
              </a:rPr>
              <a:t>CPU PicoRV32 khởi động từ vector reset 0x0025_0000 trên SPI Flash, nạp firmware, thiết lập ngăn xếp sp = 0x400 trên 1KB SRAM.</a:t>
            </a:r>
          </a:p>
          <a:p>
            <a:pPr>
              <a:spcAft>
                <a:spcPts val="200"/>
              </a:spcAft>
              <a:defRPr sz="919" b="1">
                <a:solidFill>
                  <a:srgbClr val="0F172A"/>
                </a:solidFill>
                <a:latin typeface="Segoe UI"/>
              </a:defRPr>
            </a:pPr>
            <a:r>
              <a:t>• Xử lý ngắt quẹt thẻ thời gian thực: </a:t>
            </a:r>
            <a:r>
              <a:rPr b="0">
                <a:solidFill>
                  <a:srgbClr val="475569"/>
                </a:solidFill>
              </a:rPr>
              <a:t>Module RDM6300 giải mã thẻ xong tự động kích hoạt ngắt CPU; firmware truy vấn danh mục thẻ trong Flash.</a:t>
            </a:r>
          </a:p>
          <a:p>
            <a:pPr>
              <a:spcAft>
                <a:spcPts val="200"/>
              </a:spcAft>
              <a:defRPr sz="919" b="1">
                <a:solidFill>
                  <a:srgbClr val="0F172A"/>
                </a:solidFill>
                <a:latin typeface="Segoe UI"/>
              </a:defRPr>
            </a:pPr>
            <a:r>
              <a:t>• Logic kiểm soát ra vào Access Control: </a:t>
            </a:r>
            <a:r>
              <a:rPr b="0">
                <a:solidFill>
                  <a:srgbClr val="475569"/>
                </a:solidFill>
              </a:rPr>
              <a:t>Thẻ hợp lệ (trong Whitelist) -&gt; CPU xuất 'ACCESS:GRANTED', chớp LED xanh; Thẻ lạ -&gt; xuất 'ACCESS:DENIED', chớp LED đỏ.</a:t>
            </a:r>
          </a:p>
          <a:p>
            <a:pPr>
              <a:spcAft>
                <a:spcPts val="200"/>
              </a:spcAft>
              <a:defRPr sz="919" b="1">
                <a:solidFill>
                  <a:srgbClr val="0F172A"/>
                </a:solidFill>
                <a:latin typeface="Segoe UI"/>
              </a:defRPr>
            </a:pPr>
            <a:r>
              <a:t>• Ghi nhật ký bảo mật (Audit Log): </a:t>
            </a:r>
            <a:r>
              <a:rPr b="0">
                <a:solidFill>
                  <a:srgbClr val="475569"/>
                </a:solidFill>
              </a:rPr>
              <a:t>Tự động ghi 16 byte lịch sử vào Sector 49 của Flash.</a:t>
            </a:r>
          </a:p>
          <a:p>
            <a:pPr>
              <a:spcAft>
                <a:spcPts val="200"/>
              </a:spcAft>
              <a:defRPr sz="919" b="1">
                <a:solidFill>
                  <a:srgbClr val="0F172A"/>
                </a:solidFill>
                <a:latin typeface="Segoe UI"/>
              </a:defRPr>
            </a:pPr>
            <a:r>
              <a:t>• Giám sát bẫy CPU Trap: </a:t>
            </a:r>
            <a:r>
              <a:rPr b="0">
                <a:solidFill>
                  <a:srgbClr val="475569"/>
                </a:solidFill>
              </a:rPr>
              <a:t>Đảm bảo cpu_trap == 0 tuyệt đối qua 10 triệu chu kỳ xung nhịp mô phỏng.</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Kiểm Thử Tích Hợp Hệ Thống</a:t>
            </a:r>
          </a:p>
          <a:p>
            <a:pPr>
              <a:spcAft>
                <a:spcPts val="150"/>
              </a:spcAft>
              <a:defRPr sz="900" b="1">
                <a:solidFill>
                  <a:srgbClr val="0F172A"/>
                </a:solidFill>
                <a:latin typeface="Segoe UI"/>
              </a:defRPr>
            </a:pPr>
            <a:r>
              <a:t>✔ Tỷ lệ thành công: </a:t>
            </a:r>
            <a:r>
              <a:rPr b="0">
                <a:solidFill>
                  <a:srgbClr val="475569"/>
                </a:solidFill>
              </a:rPr>
              <a:t>8/8 Test Cases PASS (100.0% Tuyệt đối)</a:t>
            </a:r>
          </a:p>
          <a:p>
            <a:pPr>
              <a:spcAft>
                <a:spcPts val="150"/>
              </a:spcAft>
              <a:defRPr sz="900" b="1">
                <a:solidFill>
                  <a:srgbClr val="0F172A"/>
                </a:solidFill>
                <a:latin typeface="Segoe UI"/>
              </a:defRPr>
            </a:pPr>
            <a:r>
              <a:t>✔ An toàn vi xử lý: </a:t>
            </a:r>
            <a:r>
              <a:rPr b="0">
                <a:solidFill>
                  <a:srgbClr val="475569"/>
                </a:solidFill>
              </a:rPr>
              <a:t>cpu_trap == 0 (Không lỗi truy cập bộ nhớ hoặc chia cho 0)</a:t>
            </a:r>
          </a:p>
          <a:p>
            <a:pPr>
              <a:spcAft>
                <a:spcPts val="150"/>
              </a:spcAft>
              <a:defRPr sz="900" b="1">
                <a:solidFill>
                  <a:srgbClr val="0F172A"/>
                </a:solidFill>
                <a:latin typeface="Segoe UI"/>
              </a:defRPr>
            </a:pPr>
            <a:r>
              <a:t>✔ Tránh xung đột Bus: </a:t>
            </a:r>
            <a:r>
              <a:rPr b="0">
                <a:solidFill>
                  <a:srgbClr val="475569"/>
                </a:solidFill>
              </a:rPr>
              <a:t>Phân giải địa chỉ Flash XIP, SRAM, ngoại vi đạt 0 deadlock</a:t>
            </a:r>
          </a:p>
          <a:p>
            <a:pPr>
              <a:spcAft>
                <a:spcPts val="150"/>
              </a:spcAft>
              <a:defRPr sz="900" b="1">
                <a:solidFill>
                  <a:srgbClr val="0F172A"/>
                </a:solidFill>
                <a:latin typeface="Segoe UI"/>
              </a:defRPr>
            </a:pPr>
            <a:r>
              <a:t>✔ Sẵn sàng Tape-out: </a:t>
            </a:r>
            <a:r>
              <a:rPr b="0">
                <a:solidFill>
                  <a:srgbClr val="475569"/>
                </a:solidFill>
              </a:rPr>
              <a:t>Toàn bộ hệ thống hoạt động đồng bộ trước khi chuyển sang ASIC</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End-to-End SoC Stimulus</a:t>
            </a:r>
          </a:p>
          <a:p>
            <a:pPr>
              <a:spcAft>
                <a:spcPts val="500"/>
              </a:spcAft>
              <a:defRPr sz="880" i="1">
                <a:solidFill>
                  <a:srgbClr val="94A3B8"/>
                </a:solidFill>
                <a:latin typeface="Segoe UI"/>
              </a:defRPr>
            </a:pPr>
            <a:r>
              <a:t>Mã nguồn: tb/step6_top_soc_integration/tb_picorv32_rdm6300_flash.v</a:t>
            </a:r>
          </a:p>
          <a:p>
            <a:pPr>
              <a:spcAft>
                <a:spcPts val="40"/>
              </a:spcAft>
              <a:defRPr sz="760" i="1">
                <a:solidFill>
                  <a:srgbClr val="64748B"/>
                </a:solidFill>
                <a:latin typeface="Consolas"/>
              </a:defRPr>
            </a:pPr>
            <a:r>
              <a:t>// Kiểm thử kịch bản vận hành thực tế toàn diện trên Top SoC</a:t>
            </a:r>
          </a:p>
          <a:p>
            <a:pPr>
              <a:spcAft>
                <a:spcPts val="40"/>
              </a:spcAft>
              <a:defRPr sz="760">
                <a:solidFill>
                  <a:srgbClr val="38BDF8"/>
                </a:solidFill>
                <a:latin typeface="Consolas"/>
              </a:defRPr>
            </a:pPr>
            <a:r>
              <a:t>initial begin</a:t>
            </a:r>
          </a:p>
          <a:p>
            <a:pPr>
              <a:spcAft>
                <a:spcPts val="40"/>
              </a:spcAft>
              <a:defRPr sz="760">
                <a:solidFill>
                  <a:srgbClr val="38BDF8"/>
                </a:solidFill>
                <a:latin typeface="Consolas"/>
              </a:defRPr>
            </a:pPr>
            <a:r>
              <a:t>    rst_n = 0; #200; rst_n = 1;</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 1. Chờ PicoRV32 boot từ SPI Flash XIP &amp; khởi tạo UART</a:t>
            </a:r>
          </a:p>
          <a:p>
            <a:pPr>
              <a:spcAft>
                <a:spcPts val="40"/>
              </a:spcAft>
              <a:defRPr sz="760">
                <a:solidFill>
                  <a:srgbClr val="A78BFA"/>
                </a:solidFill>
                <a:latin typeface="Consolas"/>
              </a:defRPr>
            </a:pPr>
            <a:r>
              <a:t>    wait_uart_string("PicoRV32 RFID Access Controller Initialized");</a:t>
            </a:r>
          </a:p>
          <a:p>
            <a:pPr>
              <a:spcAft>
                <a:spcPts val="40"/>
              </a:spcAft>
              <a:defRPr sz="760" b="1">
                <a:solidFill>
                  <a:srgbClr val="10B981"/>
                </a:solidFill>
                <a:latin typeface="Consolas"/>
              </a:defRPr>
            </a:pPr>
            <a:r>
              <a:t>    $display("  [PASS] SoC Boot: CPU fetched code from Flash XIP");</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 2. Bơm gói tin quẹt thẻ RDM6300 vào cổng nối tiếp</a:t>
            </a:r>
          </a:p>
          <a:p>
            <a:pPr>
              <a:spcAft>
                <a:spcPts val="40"/>
              </a:spcAft>
              <a:defRPr sz="760">
                <a:solidFill>
                  <a:srgbClr val="A78BFA"/>
                </a:solidFill>
                <a:latin typeface="Consolas"/>
              </a:defRPr>
            </a:pPr>
            <a:r>
              <a:t>    $display("[INFO] Stimulating RFID Card Swipe: 00007293F0...");</a:t>
            </a:r>
          </a:p>
          <a:p>
            <a:pPr>
              <a:spcAft>
                <a:spcPts val="40"/>
              </a:spcAft>
              <a:defRPr sz="760">
                <a:solidFill>
                  <a:srgbClr val="38BDF8"/>
                </a:solidFill>
                <a:latin typeface="Consolas"/>
              </a:defRPr>
            </a:pPr>
            <a:r>
              <a:t>    send_rdm6300_packet("00007293F0"); // Thẻ trong Whitelist</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 3. Kiểm tra CPU xử lý ngắt, tra cứu Flash và cấp quyền</a:t>
            </a:r>
          </a:p>
          <a:p>
            <a:pPr>
              <a:spcAft>
                <a:spcPts val="40"/>
              </a:spcAft>
              <a:defRPr sz="760">
                <a:solidFill>
                  <a:srgbClr val="A78BFA"/>
                </a:solidFill>
                <a:latin typeface="Consolas"/>
              </a:defRPr>
            </a:pPr>
            <a:r>
              <a:t>    wait_uart_string("ACCESS:GRANTED:SLOT:0:00007293F0");</a:t>
            </a:r>
          </a:p>
          <a:p>
            <a:pPr>
              <a:spcAft>
                <a:spcPts val="40"/>
              </a:spcAft>
              <a:defRPr sz="760" b="1">
                <a:solidFill>
                  <a:srgbClr val="10B981"/>
                </a:solidFill>
                <a:latin typeface="Consolas"/>
              </a:defRPr>
            </a:pPr>
            <a:r>
              <a:t>    assert(cpu_trap === 1'b0); // Giám sát an toàn CPU</a:t>
            </a:r>
          </a:p>
          <a:p>
            <a:pPr>
              <a:spcAft>
                <a:spcPts val="40"/>
              </a:spcAft>
              <a:defRPr sz="760" b="1">
                <a:solidFill>
                  <a:srgbClr val="10B981"/>
                </a:solidFill>
                <a:latin typeface="Consolas"/>
              </a:defRPr>
            </a:pPr>
            <a:r>
              <a:t>    $display("  [PASS] ACCESS:GRANTED issued, cpu_trap == 0");</a:t>
            </a:r>
          </a:p>
          <a:p>
            <a:pPr>
              <a:spcAft>
                <a:spcPts val="40"/>
              </a:spcAft>
              <a:defRPr sz="760">
                <a:solidFill>
                  <a:srgbClr val="E2E8F0"/>
                </a:solidFill>
                <a:latin typeface="Consolas"/>
              </a:defRPr>
            </a:pPr>
            <a:endParaRPr/>
          </a:p>
          <a:p>
            <a:pPr>
              <a:spcAft>
                <a:spcPts val="40"/>
              </a:spcAft>
              <a:defRPr sz="760" i="1">
                <a:solidFill>
                  <a:srgbClr val="64748B"/>
                </a:solidFill>
                <a:latin typeface="Consolas"/>
              </a:defRPr>
            </a:pPr>
            <a:r>
              <a:t>    // 4. Kiểm tra tự động ghi bản ghi nhật ký vào Flash</a:t>
            </a:r>
          </a:p>
          <a:p>
            <a:pPr>
              <a:spcAft>
                <a:spcPts val="40"/>
              </a:spcAft>
              <a:defRPr sz="760">
                <a:solidFill>
                  <a:srgbClr val="A78BFA"/>
                </a:solidFill>
                <a:latin typeface="Consolas"/>
              </a:defRPr>
            </a:pPr>
            <a:r>
              <a:t>    wait_flash_write_done();</a:t>
            </a:r>
          </a:p>
          <a:p>
            <a:pPr>
              <a:spcAft>
                <a:spcPts val="40"/>
              </a:spcAft>
              <a:defRPr sz="760" b="1">
                <a:solidFill>
                  <a:srgbClr val="10B981"/>
                </a:solidFill>
                <a:latin typeface="Consolas"/>
              </a:defRPr>
            </a:pPr>
            <a:r>
              <a:t>    $display("  [PASS] Audit Log written into Flash Sector 49");</a:t>
            </a:r>
          </a:p>
          <a:p>
            <a:pPr>
              <a:spcAft>
                <a:spcPts val="40"/>
              </a:spcAft>
              <a:defRPr sz="760">
                <a:solidFill>
                  <a:srgbClr val="38BDF8"/>
                </a:solidFill>
                <a:latin typeface="Consolas"/>
              </a:defRPr>
            </a:pPr>
            <a:r>
              <a:t>end</a:t>
            </a:r>
          </a:p>
          <a:p>
            <a:pPr>
              <a:spcBef>
                <a:spcPts val="500"/>
              </a:spcBef>
              <a:defRPr sz="860" b="1">
                <a:solidFill>
                  <a:srgbClr val="10B981"/>
                </a:solidFill>
                <a:latin typeface="Consolas"/>
              </a:defRPr>
            </a:pPr>
            <a:r>
              <a:t>&gt;&gt;&gt; XÁC THỰC BƯỚC 6: 8/8 FULL-SYSTEM SOC PASS (100%) &lt;&lt;&lt;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4 | DEMO KIỂM CHỨNG THỰC NGHIỆM</a:t>
            </a:r>
          </a:p>
          <a:p>
            <a:pPr>
              <a:defRPr sz="1900" b="1">
                <a:solidFill>
                  <a:srgbClr val="0F172A"/>
                </a:solidFill>
                <a:latin typeface="Segoe UI"/>
              </a:defRPr>
            </a:pPr>
            <a:r>
              <a:t>Tạo Mẫu Phần Cứng &amp; Kiểm Chứng Thực Tế Trên Bo Mạch Basys 3</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18 / 22</a:t>
            </a:r>
          </a:p>
        </p:txBody>
      </p:sp>
      <p:sp>
        <p:nvSpPr>
          <p:cNvPr id="8" name="Rounded Rectangle 7"/>
          <p:cNvSpPr/>
          <p:nvPr/>
        </p:nvSpPr>
        <p:spPr>
          <a:xfrm>
            <a:off x="731520" y="1234440"/>
            <a:ext cx="3364992" cy="3154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2999232" cy="2788920"/>
          </a:xfrm>
          <a:prstGeom prst="rect">
            <a:avLst/>
          </a:prstGeom>
          <a:noFill/>
        </p:spPr>
        <p:txBody>
          <a:bodyPr wrap="square">
            <a:spAutoFit/>
          </a:bodyPr>
          <a:lstStyle/>
          <a:p>
            <a:pPr>
              <a:spcAft>
                <a:spcPts val="800"/>
              </a:spcAft>
              <a:defRPr sz="1350" b="1">
                <a:solidFill>
                  <a:srgbClr val="2563EB"/>
                </a:solidFill>
                <a:latin typeface="Segoe UI"/>
              </a:defRPr>
            </a:pPr>
            <a:r>
              <a:t>🎯 Vai Trò Tạo Mẫu (Prototyping)</a:t>
            </a:r>
          </a:p>
          <a:p>
            <a:pPr>
              <a:spcAft>
                <a:spcPts val="300"/>
              </a:spcAft>
              <a:defRPr sz="1000" b="1">
                <a:solidFill>
                  <a:srgbClr val="0F172A"/>
                </a:solidFill>
                <a:latin typeface="Segoe UI"/>
              </a:defRPr>
            </a:pPr>
            <a:r>
              <a:t>• Nền tảng kiểm chứng thật:</a:t>
            </a:r>
            <a:br/>
            <a:r>
              <a:rPr sz="950" b="0">
                <a:solidFill>
                  <a:srgbClr val="475569"/>
                </a:solidFill>
              </a:rPr>
              <a:t>  Basys 3 (XC7A35T) đóng vai trò demo và tạo mẫu phần cứng trước khi tiến hành ASIC.</a:t>
            </a:r>
          </a:p>
          <a:p>
            <a:pPr>
              <a:spcAft>
                <a:spcPts val="300"/>
              </a:spcAft>
              <a:defRPr sz="1000" b="1">
                <a:solidFill>
                  <a:srgbClr val="0F172A"/>
                </a:solidFill>
                <a:latin typeface="Segoe UI"/>
              </a:defRPr>
            </a:pPr>
            <a:r>
              <a:t>• Phát hiện lỗi sớm:</a:t>
            </a:r>
            <a:br/>
            <a:r>
              <a:rPr sz="950" b="0">
                <a:solidFill>
                  <a:srgbClr val="475569"/>
                </a:solidFill>
              </a:rPr>
              <a:t>  Xác thực CPU PicoRV32 với thẻ RFID thật và SPI Flash thật trong điều kiện nhiễu thực tế.</a:t>
            </a:r>
          </a:p>
          <a:p>
            <a:pPr>
              <a:spcAft>
                <a:spcPts val="300"/>
              </a:spcAft>
              <a:defRPr sz="1000" b="1">
                <a:solidFill>
                  <a:srgbClr val="0F172A"/>
                </a:solidFill>
                <a:latin typeface="Segoe UI"/>
              </a:defRPr>
            </a:pPr>
            <a:r>
              <a:t>• Giảm thiểu rủi ro băng đai:</a:t>
            </a:r>
            <a:br/>
            <a:r>
              <a:rPr sz="950" b="0">
                <a:solidFill>
                  <a:srgbClr val="475569"/>
                </a:solidFill>
              </a:rPr>
              <a:t>  Đảm bảo tính đúng đắn 100% trước khi gửi bản vẽ đi tape-out ở xưởng đúc.</a:t>
            </a:r>
          </a:p>
        </p:txBody>
      </p:sp>
      <p:sp>
        <p:nvSpPr>
          <p:cNvPr id="10" name="Rounded Rectangle 9"/>
          <p:cNvSpPr/>
          <p:nvPr/>
        </p:nvSpPr>
        <p:spPr>
          <a:xfrm>
            <a:off x="4407408" y="1234440"/>
            <a:ext cx="3364992" cy="3154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417320"/>
            <a:ext cx="2999232" cy="2788920"/>
          </a:xfrm>
          <a:prstGeom prst="rect">
            <a:avLst/>
          </a:prstGeom>
          <a:noFill/>
        </p:spPr>
        <p:txBody>
          <a:bodyPr wrap="square">
            <a:spAutoFit/>
          </a:bodyPr>
          <a:lstStyle/>
          <a:p>
            <a:pPr>
              <a:spcAft>
                <a:spcPts val="800"/>
              </a:spcAft>
              <a:defRPr sz="1350" b="1">
                <a:solidFill>
                  <a:srgbClr val="D97706"/>
                </a:solidFill>
                <a:latin typeface="Segoe UI"/>
              </a:defRPr>
            </a:pPr>
            <a:r>
              <a:t>⚙️ Giải Pháp Xilinx STARTUPE2</a:t>
            </a:r>
          </a:p>
          <a:p>
            <a:pPr>
              <a:spcAft>
                <a:spcPts val="300"/>
              </a:spcAft>
              <a:defRPr sz="1000" b="1">
                <a:solidFill>
                  <a:srgbClr val="0F172A"/>
                </a:solidFill>
                <a:latin typeface="Segoe UI"/>
              </a:defRPr>
            </a:pPr>
            <a:r>
              <a:t>• Vấn đề chân CCLK dùng chung:</a:t>
            </a:r>
            <a:br/>
            <a:r>
              <a:rPr sz="950" b="0">
                <a:solidFill>
                  <a:srgbClr val="475569"/>
                </a:solidFill>
              </a:rPr>
              <a:t>  Chân SCK SPI Flash nối cố định với mạch nạp bitstream của FPGA 7-Series.</a:t>
            </a:r>
          </a:p>
          <a:p>
            <a:pPr>
              <a:spcAft>
                <a:spcPts val="300"/>
              </a:spcAft>
              <a:defRPr sz="1000" b="1">
                <a:solidFill>
                  <a:srgbClr val="0F172A"/>
                </a:solidFill>
                <a:latin typeface="Segoe UI"/>
              </a:defRPr>
            </a:pPr>
            <a:r>
              <a:t>• Nguyên thủy STARTUPE2:</a:t>
            </a:r>
            <a:br/>
            <a:r>
              <a:rPr sz="950" b="0">
                <a:solidFill>
                  <a:srgbClr val="475569"/>
                </a:solidFill>
              </a:rPr>
              <a:t>  Top-level đưa xung SCK từ spimemio vào cổng USRCCLKO của STARTUPE2.</a:t>
            </a:r>
          </a:p>
          <a:p>
            <a:pPr>
              <a:spcAft>
                <a:spcPts val="300"/>
              </a:spcAft>
              <a:defRPr sz="1000" b="1">
                <a:solidFill>
                  <a:srgbClr val="0F172A"/>
                </a:solidFill>
                <a:latin typeface="Segoe UI"/>
              </a:defRPr>
            </a:pPr>
            <a:r>
              <a:t>• Làm chủ xung nhịp Flash:</a:t>
            </a:r>
            <a:br/>
            <a:r>
              <a:rPr sz="950" b="0">
                <a:solidFill>
                  <a:srgbClr val="475569"/>
                </a:solidFill>
              </a:rPr>
              <a:t>  Cho phép CPU tự do phát xung SCK giao tiếp Flash sau khi FPGA khởi động xong.</a:t>
            </a:r>
          </a:p>
        </p:txBody>
      </p:sp>
      <p:sp>
        <p:nvSpPr>
          <p:cNvPr id="12" name="Rounded Rectangle 11"/>
          <p:cNvSpPr/>
          <p:nvPr/>
        </p:nvSpPr>
        <p:spPr>
          <a:xfrm>
            <a:off x="8083296" y="1234440"/>
            <a:ext cx="3364992" cy="3154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6" y="1417320"/>
            <a:ext cx="2999232" cy="2788920"/>
          </a:xfrm>
          <a:prstGeom prst="rect">
            <a:avLst/>
          </a:prstGeom>
          <a:noFill/>
        </p:spPr>
        <p:txBody>
          <a:bodyPr wrap="square">
            <a:spAutoFit/>
          </a:bodyPr>
          <a:lstStyle/>
          <a:p>
            <a:pPr>
              <a:spcAft>
                <a:spcPts val="800"/>
              </a:spcAft>
              <a:defRPr sz="1350" b="1">
                <a:solidFill>
                  <a:srgbClr val="10B981"/>
                </a:solidFill>
                <a:latin typeface="Segoe UI"/>
              </a:defRPr>
            </a:pPr>
            <a:r>
              <a:t>✅ Kết Quả Thực Nghiệm</a:t>
            </a:r>
          </a:p>
          <a:p>
            <a:pPr>
              <a:spcAft>
                <a:spcPts val="300"/>
              </a:spcAft>
              <a:defRPr sz="1000" b="1">
                <a:solidFill>
                  <a:srgbClr val="0F172A"/>
                </a:solidFill>
                <a:latin typeface="Segoe UI"/>
              </a:defRPr>
            </a:pPr>
            <a:r>
              <a:t>• Ping Hardware thành công:</a:t>
            </a:r>
            <a:br/>
            <a:r>
              <a:rPr sz="950" b="0">
                <a:solidFill>
                  <a:srgbClr val="475569"/>
                </a:solidFill>
              </a:rPr>
              <a:t>  PicoRV32 phản hồi tức thì lệnh 'P' từ máy tính với chuỗi 'PONG:CPU_OK'.</a:t>
            </a:r>
          </a:p>
          <a:p>
            <a:pPr>
              <a:spcAft>
                <a:spcPts val="300"/>
              </a:spcAft>
              <a:defRPr sz="1000" b="1">
                <a:solidFill>
                  <a:srgbClr val="0F172A"/>
                </a:solidFill>
                <a:latin typeface="Segoe UI"/>
              </a:defRPr>
            </a:pPr>
            <a:r>
              <a:t>• Xác thực thẻ thật chính xác:</a:t>
            </a:r>
            <a:br/>
            <a:r>
              <a:rPr sz="950" b="0">
                <a:solidFill>
                  <a:srgbClr val="475569"/>
                </a:solidFill>
              </a:rPr>
              <a:t>  Quẹt thẻ EM4100 thật trên module RDM6300, LED[2] sáng, đối chiếu Whitelist &lt; 10 µs.</a:t>
            </a:r>
          </a:p>
          <a:p>
            <a:pPr>
              <a:spcAft>
                <a:spcPts val="300"/>
              </a:spcAft>
              <a:defRPr sz="1000" b="1">
                <a:solidFill>
                  <a:srgbClr val="0F172A"/>
                </a:solidFill>
                <a:latin typeface="Segoe UI"/>
              </a:defRPr>
            </a:pPr>
            <a:r>
              <a:t>• Lưu trữ nhật ký ổn định:</a:t>
            </a:r>
            <a:br/>
            <a:r>
              <a:rPr sz="950" b="0">
                <a:solidFill>
                  <a:srgbClr val="475569"/>
                </a:solidFill>
              </a:rPr>
              <a:t>  Ghi bản ghi SUCC/FAIL vào Flash Sector 49 và xuất trọn vẹn ra file CSV.</a:t>
            </a:r>
          </a:p>
        </p:txBody>
      </p:sp>
      <p:sp>
        <p:nvSpPr>
          <p:cNvPr id="14" name="Rounded Rectangle 13"/>
          <p:cNvSpPr/>
          <p:nvPr/>
        </p:nvSpPr>
        <p:spPr>
          <a:xfrm>
            <a:off x="731520" y="4553712"/>
            <a:ext cx="10728655" cy="1627632"/>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608576"/>
            <a:ext cx="10362895" cy="1508760"/>
          </a:xfrm>
          <a:prstGeom prst="rect">
            <a:avLst/>
          </a:prstGeom>
          <a:noFill/>
        </p:spPr>
        <p:txBody>
          <a:bodyPr wrap="square">
            <a:spAutoFit/>
          </a:bodyPr>
          <a:lstStyle/>
          <a:p>
            <a:pPr>
              <a:spcAft>
                <a:spcPts val="200"/>
              </a:spcAft>
              <a:defRPr sz="1000" b="1">
                <a:solidFill>
                  <a:srgbClr val="0EA5E9"/>
                </a:solidFill>
                <a:latin typeface="Consolas"/>
              </a:defRPr>
            </a:pPr>
            <a:r>
              <a:t>&gt;_ TRÍCH XUẤT NHẬT KÝ UART GIAO TIẾP THỰC TẾ TRÊN BO MẠCH BASYS 3 (9600-8-N-1):</a:t>
            </a:r>
          </a:p>
          <a:p>
            <a:pPr>
              <a:spcAft>
                <a:spcPts val="100"/>
              </a:spcAft>
              <a:defRPr sz="919">
                <a:solidFill>
                  <a:srgbClr val="10B981"/>
                </a:solidFill>
                <a:latin typeface="Consolas"/>
              </a:defRPr>
            </a:pPr>
            <a:r>
              <a:t>[HOST -&gt; SoC]    Gửi lệnh 'P' (Ping Hardware) -&gt; Phản hồi: 'PONG:CPU_OK' (Mạch số &amp; firmware sống 100%)</a:t>
            </a:r>
          </a:p>
          <a:p>
            <a:pPr>
              <a:spcAft>
                <a:spcPts val="100"/>
              </a:spcAft>
              <a:defRPr sz="919">
                <a:solidFill>
                  <a:srgbClr val="E2E8F0"/>
                </a:solidFill>
                <a:latin typeface="Consolas"/>
              </a:defRPr>
            </a:pPr>
            <a:r>
              <a:t>[RDM6300 -&gt; SoC] Quẹt thẻ thật 0007508976 -&gt; STX/ETX khớp -&gt; Checksum XOR: 0xF0 == 0xF0 -&gt; Bật strobe</a:t>
            </a:r>
          </a:p>
          <a:p>
            <a:pPr>
              <a:spcAft>
                <a:spcPts val="100"/>
              </a:spcAft>
              <a:defRPr sz="919">
                <a:solidFill>
                  <a:srgbClr val="10B981"/>
                </a:solidFill>
                <a:latin typeface="Consolas"/>
              </a:defRPr>
            </a:pPr>
            <a:r>
              <a:t>[PicoRV32 CPU]   Tra cứu Sector 48 (Flash) -&gt; TÌM THẤY THẺ TRONG WHITELIST -&gt; LED[2]=1 (CẤP QUYỀN RA VÀO)</a:t>
            </a:r>
          </a:p>
          <a:p>
            <a:pPr>
              <a:spcAft>
                <a:spcPts val="100"/>
              </a:spcAft>
              <a:defRPr sz="919">
                <a:solidFill>
                  <a:srgbClr val="10B981"/>
                </a:solidFill>
                <a:latin typeface="Consolas"/>
              </a:defRPr>
            </a:pPr>
            <a:r>
              <a:t>[SPI Flash NVM]  Ghi nhật ký vào Sector 49 -&gt; Xong sau 2.1ms -&gt; Host trích xuất báo cáo CSV hoàn hảo!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5 | HIỆN THỰC HÓA VI MẠCH ASIC</a:t>
            </a:r>
          </a:p>
          <a:p>
            <a:pPr>
              <a:defRPr sz="1900" b="1">
                <a:solidFill>
                  <a:srgbClr val="0F172A"/>
                </a:solidFill>
                <a:latin typeface="Segoe UI"/>
              </a:defRPr>
            </a:pPr>
            <a:r>
              <a:t>Thiết Kế Vật Lý Vi Mạch Trên OpenLane 2 &amp; OpenROAD (Sky130A)</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19 / 22</a:t>
            </a:r>
          </a:p>
        </p:txBody>
      </p:sp>
      <p:sp>
        <p:nvSpPr>
          <p:cNvPr id="8" name="Rounded Rectangle 7"/>
          <p:cNvSpPr/>
          <p:nvPr/>
        </p:nvSpPr>
        <p:spPr>
          <a:xfrm>
            <a:off x="731520" y="1234440"/>
            <a:ext cx="6675120" cy="4892040"/>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Openroad_1.png"/>
          <p:cNvPicPr>
            <a:picLocks noChangeAspect="1"/>
          </p:cNvPicPr>
          <p:nvPr/>
        </p:nvPicPr>
        <p:blipFill>
          <a:blip r:embed="rId2"/>
          <a:stretch>
            <a:fillRect/>
          </a:stretch>
        </p:blipFill>
        <p:spPr>
          <a:xfrm>
            <a:off x="822960" y="1325880"/>
            <a:ext cx="6492240" cy="4706631"/>
          </a:xfrm>
          <a:prstGeom prst="rect">
            <a:avLst/>
          </a:prstGeom>
        </p:spPr>
      </p:pic>
      <p:sp>
        <p:nvSpPr>
          <p:cNvPr id="10" name="Rounded Rectangle 9"/>
          <p:cNvSpPr/>
          <p:nvPr/>
        </p:nvSpPr>
        <p:spPr>
          <a:xfrm>
            <a:off x="7635240" y="1234440"/>
            <a:ext cx="3824935"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371600"/>
            <a:ext cx="3459175" cy="4572000"/>
          </a:xfrm>
          <a:prstGeom prst="rect">
            <a:avLst/>
          </a:prstGeom>
          <a:noFill/>
        </p:spPr>
        <p:txBody>
          <a:bodyPr wrap="square">
            <a:spAutoFit/>
          </a:bodyPr>
          <a:lstStyle/>
          <a:p>
            <a:pPr>
              <a:spcAft>
                <a:spcPts val="800"/>
              </a:spcAft>
              <a:defRPr sz="1400" b="1">
                <a:solidFill>
                  <a:srgbClr val="2563EB"/>
                </a:solidFill>
                <a:latin typeface="Segoe UI"/>
              </a:defRPr>
            </a:pPr>
            <a:r>
              <a:t>Thông Số Thiết Kế Vật Lý</a:t>
            </a:r>
          </a:p>
          <a:p>
            <a:pPr>
              <a:spcAft>
                <a:spcPts val="300"/>
              </a:spcAft>
              <a:defRPr sz="1050" b="1">
                <a:solidFill>
                  <a:srgbClr val="0F172A"/>
                </a:solidFill>
                <a:latin typeface="Segoe UI"/>
              </a:defRPr>
            </a:pPr>
            <a:r>
              <a:t>▸ Công nghệ chế tạo:</a:t>
            </a:r>
            <a:br/>
            <a:r>
              <a:rPr sz="1000" b="0">
                <a:solidFill>
                  <a:srgbClr val="475569"/>
                </a:solidFill>
              </a:rPr>
              <a:t>  SkyWater 130nm Standard Cells (sky130_fd_sc_hd).</a:t>
            </a:r>
          </a:p>
          <a:p>
            <a:pPr>
              <a:spcAft>
                <a:spcPts val="300"/>
              </a:spcAft>
              <a:defRPr sz="1050" b="1">
                <a:solidFill>
                  <a:srgbClr val="0F172A"/>
                </a:solidFill>
                <a:latin typeface="Segoe UI"/>
              </a:defRPr>
            </a:pPr>
            <a:r>
              <a:t>▸ Kích thước Die:</a:t>
            </a:r>
            <a:br/>
            <a:r>
              <a:rPr sz="1000" b="0">
                <a:solidFill>
                  <a:srgbClr val="475569"/>
                </a:solidFill>
              </a:rPr>
              <a:t>  1300 µm x 1300 µm (Diện tích: 1.69 mm²).</a:t>
            </a:r>
          </a:p>
          <a:p>
            <a:pPr>
              <a:spcAft>
                <a:spcPts val="300"/>
              </a:spcAft>
              <a:defRPr sz="1050" b="1">
                <a:solidFill>
                  <a:srgbClr val="0F172A"/>
                </a:solidFill>
                <a:latin typeface="Segoe UI"/>
              </a:defRPr>
            </a:pPr>
            <a:r>
              <a:t>▸ Kích thước Core:</a:t>
            </a:r>
            <a:br/>
            <a:r>
              <a:rPr sz="1000" b="0">
                <a:solidFill>
                  <a:srgbClr val="475569"/>
                </a:solidFill>
              </a:rPr>
              <a:t>  1270 µm x 1270 µm (Mật độ Core Utilization tối ưu).</a:t>
            </a:r>
          </a:p>
          <a:p>
            <a:pPr>
              <a:spcAft>
                <a:spcPts val="300"/>
              </a:spcAft>
              <a:defRPr sz="1050" b="1">
                <a:solidFill>
                  <a:srgbClr val="0F172A"/>
                </a:solidFill>
                <a:latin typeface="Segoe UI"/>
              </a:defRPr>
            </a:pPr>
            <a:r>
              <a:t>▸ Số lượng linh kiện:</a:t>
            </a:r>
            <a:br/>
            <a:r>
              <a:rPr sz="1000" b="0">
                <a:solidFill>
                  <a:srgbClr val="475569"/>
                </a:solidFill>
              </a:rPr>
              <a:t>  57,544 transistors / devices.</a:t>
            </a:r>
          </a:p>
          <a:p>
            <a:pPr>
              <a:spcAft>
                <a:spcPts val="300"/>
              </a:spcAft>
              <a:defRPr sz="1050" b="1">
                <a:solidFill>
                  <a:srgbClr val="0F172A"/>
                </a:solidFill>
                <a:latin typeface="Segoe UI"/>
              </a:defRPr>
            </a:pPr>
            <a:r>
              <a:t>▸ Số lượng dây kim loại:</a:t>
            </a:r>
            <a:br/>
            <a:r>
              <a:rPr sz="1000" b="0">
                <a:solidFill>
                  <a:srgbClr val="475569"/>
                </a:solidFill>
              </a:rPr>
              <a:t>  50,028 nets định tuyến đa lớp (met1 đến met5).</a:t>
            </a:r>
          </a:p>
          <a:p>
            <a:pPr>
              <a:spcAft>
                <a:spcPts val="300"/>
              </a:spcAft>
              <a:defRPr sz="1050" b="1">
                <a:solidFill>
                  <a:srgbClr val="0F172A"/>
                </a:solidFill>
                <a:latin typeface="Segoe UI"/>
              </a:defRPr>
            </a:pPr>
            <a:r>
              <a:t>▸ Mạng lưới nguồn PDN:</a:t>
            </a:r>
            <a:br/>
            <a:r>
              <a:rPr sz="1000" b="0">
                <a:solidFill>
                  <a:srgbClr val="475569"/>
                </a:solidFill>
              </a:rPr>
              <a:t>  Thanh kim loại Met4 và Met5 đan lưới, độ sụt áp tồi nhất chỉ 0.04% (0.739 mV).</a:t>
            </a:r>
          </a:p>
          <a:p>
            <a:pPr>
              <a:spcAft>
                <a:spcPts val="300"/>
              </a:spcAft>
              <a:defRPr sz="1050" b="1">
                <a:solidFill>
                  <a:srgbClr val="0F172A"/>
                </a:solidFill>
                <a:latin typeface="Segoe UI"/>
              </a:defRPr>
            </a:pPr>
            <a:r>
              <a:t>▸ Tần số mục tiêu:</a:t>
            </a:r>
            <a:br/>
            <a:r>
              <a:rPr sz="1000" b="0">
                <a:solidFill>
                  <a:srgbClr val="475569"/>
                </a:solidFill>
              </a:rPr>
              <a:t>  50.0 MHz (Chu kỳ xung nhịp CLK = 20.0 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5 | BÁO CÁO KIỂM ĐỊNH SIGN-OFF</a:t>
            </a:r>
          </a:p>
          <a:p>
            <a:pPr>
              <a:defRPr sz="1900" b="1">
                <a:solidFill>
                  <a:srgbClr val="0F172A"/>
                </a:solidFill>
                <a:latin typeface="Segoe UI"/>
              </a:defRPr>
            </a:pPr>
            <a:r>
              <a:t>Kết Quả Ký Duyệt Bán Dẫn Tuyệt Đối (Run RUN_2026-09-27_21-51-11)</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20 / 22</a:t>
            </a:r>
          </a:p>
        </p:txBody>
      </p:sp>
      <p:sp>
        <p:nvSpPr>
          <p:cNvPr id="8" name="Rounded Rectangle 7"/>
          <p:cNvSpPr/>
          <p:nvPr/>
        </p:nvSpPr>
        <p:spPr>
          <a:xfrm>
            <a:off x="731520" y="1234440"/>
            <a:ext cx="6035040" cy="4892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71600"/>
            <a:ext cx="5669280" cy="4572000"/>
          </a:xfrm>
          <a:prstGeom prst="rect">
            <a:avLst/>
          </a:prstGeom>
          <a:noFill/>
        </p:spPr>
        <p:txBody>
          <a:bodyPr wrap="square">
            <a:spAutoFit/>
          </a:bodyPr>
          <a:lstStyle/>
          <a:p>
            <a:pPr>
              <a:spcAft>
                <a:spcPts val="1000"/>
              </a:spcAft>
              <a:defRPr sz="1500" b="1">
                <a:solidFill>
                  <a:srgbClr val="10B981"/>
                </a:solidFill>
                <a:latin typeface="Segoe UI"/>
              </a:defRPr>
            </a:pPr>
            <a:r>
              <a:t>Bảng Điểm Ký Duyệt Tape-out (100% CLEAN)</a:t>
            </a:r>
          </a:p>
          <a:p>
            <a:pPr>
              <a:spcAft>
                <a:spcPts val="200"/>
              </a:spcAft>
              <a:defRPr sz="1000" b="1">
                <a:solidFill>
                  <a:srgbClr val="0F172A"/>
                </a:solidFill>
                <a:latin typeface="Segoe UI"/>
              </a:defRPr>
            </a:pPr>
            <a:r>
              <a:t>✅ Netgen LVS (Layout vs Schematic):</a:t>
            </a:r>
            <a:br/>
            <a:r>
              <a:rPr sz="950" b="0">
                <a:solidFill>
                  <a:srgbClr val="475569"/>
                </a:solidFill>
              </a:rPr>
              <a:t>    CLEAN 100% | 57,544 devices và 50,028 nets trùng khớp tuyệt đối, 0 mismatch, 0 lỗi nối dây.</a:t>
            </a:r>
          </a:p>
          <a:p>
            <a:pPr>
              <a:spcAft>
                <a:spcPts val="200"/>
              </a:spcAft>
              <a:defRPr sz="1000" b="1">
                <a:solidFill>
                  <a:srgbClr val="0F172A"/>
                </a:solidFill>
                <a:latin typeface="Segoe UI"/>
              </a:defRPr>
            </a:pPr>
            <a:r>
              <a:t>✅ Magic DRC &amp; KLayout DRC:</a:t>
            </a:r>
            <a:br/>
            <a:r>
              <a:rPr sz="950" b="0">
                <a:solidFill>
                  <a:srgbClr val="475569"/>
                </a:solidFill>
              </a:rPr>
              <a:t>    0 vi phạm hình học bán dẫn (0 violations).</a:t>
            </a:r>
          </a:p>
          <a:p>
            <a:pPr>
              <a:spcAft>
                <a:spcPts val="200"/>
              </a:spcAft>
              <a:defRPr sz="1000" b="1">
                <a:solidFill>
                  <a:srgbClr val="0F172A"/>
                </a:solidFill>
                <a:latin typeface="Segoe UI"/>
              </a:defRPr>
            </a:pPr>
            <a:r>
              <a:t>✅ Hiệu ứng Ăng-ten (Antenna Rules):</a:t>
            </a:r>
            <a:br/>
            <a:r>
              <a:rPr sz="950" b="0">
                <a:solidFill>
                  <a:srgbClr val="475569"/>
                </a:solidFill>
              </a:rPr>
              <a:t>    0 net vi phạm, 0 pin vi phạm trên tất cả các lớp kim loại sau khi chèn diode bảo vệ tự động.</a:t>
            </a:r>
          </a:p>
          <a:p>
            <a:pPr>
              <a:spcAft>
                <a:spcPts val="200"/>
              </a:spcAft>
              <a:defRPr sz="1000" b="1">
                <a:solidFill>
                  <a:srgbClr val="0F172A"/>
                </a:solidFill>
                <a:latin typeface="Segoe UI"/>
              </a:defRPr>
            </a:pPr>
            <a:r>
              <a:t>✅ Định thời tĩnh STA (Timing Sign-off):</a:t>
            </a:r>
            <a:br/>
            <a:r>
              <a:rPr sz="950" b="0">
                <a:solidFill>
                  <a:srgbClr val="475569"/>
                </a:solidFill>
              </a:rPr>
              <a:t>    ĐẠT MET TIMING trên toàn bộ 9 góc đo công nghệ (PVT Corners: nom, min, max, tt, ss, ff) ở tần số 50 MHz. Không có lỗi Setup, không có lỗi Hold.</a:t>
            </a:r>
          </a:p>
          <a:p>
            <a:pPr>
              <a:spcAft>
                <a:spcPts val="200"/>
              </a:spcAft>
              <a:defRPr sz="1000" b="1">
                <a:solidFill>
                  <a:srgbClr val="0F172A"/>
                </a:solidFill>
                <a:latin typeface="Segoe UI"/>
              </a:defRPr>
            </a:pPr>
            <a:r>
              <a:t>✅ Kiểm tra sụt áp (IR Drop Analysis):</a:t>
            </a:r>
            <a:br/>
            <a:r>
              <a:rPr sz="950" b="0">
                <a:solidFill>
                  <a:srgbClr val="475569"/>
                </a:solidFill>
              </a:rPr>
              <a:t>    Sụt áp nguồn danh định 1.8V xấu nhất chỉ 0.739 mV (tương đương 0.04%).</a:t>
            </a:r>
          </a:p>
        </p:txBody>
      </p:sp>
      <p:sp>
        <p:nvSpPr>
          <p:cNvPr id="10" name="Rounded Rectangle 9"/>
          <p:cNvSpPr/>
          <p:nvPr/>
        </p:nvSpPr>
        <p:spPr>
          <a:xfrm>
            <a:off x="914400" y="4681728"/>
            <a:ext cx="2743200" cy="59436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defRPr sz="850" b="1">
                <a:solidFill>
                  <a:srgbClr val="475569"/>
                </a:solidFill>
                <a:latin typeface="Segoe UI"/>
              </a:defRPr>
            </a:pPr>
            <a:r>
              <a:t>Khuôn Chip Die Size</a:t>
            </a:r>
          </a:p>
          <a:p>
            <a:pPr>
              <a:defRPr sz="1000" b="1">
                <a:solidFill>
                  <a:srgbClr val="2563EB"/>
                </a:solidFill>
                <a:latin typeface="Segoe UI"/>
              </a:defRPr>
            </a:pPr>
            <a:r>
              <a:t>1300 x 1300 µm (1.69 mm²)</a:t>
            </a:r>
          </a:p>
        </p:txBody>
      </p:sp>
      <p:sp>
        <p:nvSpPr>
          <p:cNvPr id="11" name="Rounded Rectangle 10"/>
          <p:cNvSpPr/>
          <p:nvPr/>
        </p:nvSpPr>
        <p:spPr>
          <a:xfrm>
            <a:off x="3794760" y="4681728"/>
            <a:ext cx="2743200" cy="594360"/>
          </a:xfrm>
          <a:prstGeom prst="round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defRPr sz="850" b="1">
                <a:solidFill>
                  <a:srgbClr val="475569"/>
                </a:solidFill>
                <a:latin typeface="Segoe UI"/>
              </a:defRPr>
            </a:pPr>
            <a:r>
              <a:t>Thiết Bị Netgen LVS</a:t>
            </a:r>
          </a:p>
          <a:p>
            <a:pPr>
              <a:defRPr sz="1000" b="1">
                <a:solidFill>
                  <a:srgbClr val="10B981"/>
                </a:solidFill>
                <a:latin typeface="Segoe UI"/>
              </a:defRPr>
            </a:pPr>
            <a:r>
              <a:t>57,544 Devs (0 Mismatch)</a:t>
            </a:r>
          </a:p>
        </p:txBody>
      </p:sp>
      <p:sp>
        <p:nvSpPr>
          <p:cNvPr id="12" name="Rounded Rectangle 11"/>
          <p:cNvSpPr/>
          <p:nvPr/>
        </p:nvSpPr>
        <p:spPr>
          <a:xfrm>
            <a:off x="914400" y="5321808"/>
            <a:ext cx="2743200" cy="594360"/>
          </a:xfrm>
          <a:prstGeom prst="roundRect">
            <a:avLst/>
          </a:prstGeom>
          <a:solidFill>
            <a:srgbClr val="F1F5F9"/>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defRPr sz="850" b="1">
                <a:solidFill>
                  <a:srgbClr val="475569"/>
                </a:solidFill>
                <a:latin typeface="Segoe UI"/>
              </a:defRPr>
            </a:pPr>
            <a:r>
              <a:t>Kiểm Tra DRC &amp; Antenna</a:t>
            </a:r>
          </a:p>
          <a:p>
            <a:pPr>
              <a:defRPr sz="1000" b="1">
                <a:solidFill>
                  <a:srgbClr val="7C3AED"/>
                </a:solidFill>
                <a:latin typeface="Segoe UI"/>
              </a:defRPr>
            </a:pPr>
            <a:r>
              <a:t>0 DRC | 0 Antenna</a:t>
            </a:r>
          </a:p>
        </p:txBody>
      </p:sp>
      <p:sp>
        <p:nvSpPr>
          <p:cNvPr id="13" name="Rounded Rectangle 12"/>
          <p:cNvSpPr/>
          <p:nvPr/>
        </p:nvSpPr>
        <p:spPr>
          <a:xfrm>
            <a:off x="3794760" y="5321808"/>
            <a:ext cx="2743200" cy="594360"/>
          </a:xfrm>
          <a:prstGeom prst="round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defRPr sz="850" b="1">
                <a:solidFill>
                  <a:srgbClr val="475569"/>
                </a:solidFill>
                <a:latin typeface="Segoe UI"/>
              </a:defRPr>
            </a:pPr>
            <a:r>
              <a:t>STA Timing 50.0 MHz</a:t>
            </a:r>
          </a:p>
          <a:p>
            <a:pPr>
              <a:defRPr sz="1000" b="1">
                <a:solidFill>
                  <a:srgbClr val="10B981"/>
                </a:solidFill>
                <a:latin typeface="Segoe UI"/>
              </a:defRPr>
            </a:pPr>
            <a:r>
              <a:t>MET TIMING (9/9 Corners)</a:t>
            </a:r>
          </a:p>
        </p:txBody>
      </p:sp>
      <p:sp>
        <p:nvSpPr>
          <p:cNvPr id="14" name="Rounded Rectangle 13"/>
          <p:cNvSpPr/>
          <p:nvPr/>
        </p:nvSpPr>
        <p:spPr>
          <a:xfrm>
            <a:off x="6995160" y="1234440"/>
            <a:ext cx="4465015"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ntennaLvsDrc.png"/>
          <p:cNvPicPr>
            <a:picLocks noChangeAspect="1"/>
          </p:cNvPicPr>
          <p:nvPr/>
        </p:nvPicPr>
        <p:blipFill>
          <a:blip r:embed="rId2"/>
          <a:stretch>
            <a:fillRect/>
          </a:stretch>
        </p:blipFill>
        <p:spPr>
          <a:xfrm>
            <a:off x="877828" y="3589020"/>
            <a:ext cx="5705852" cy="932688"/>
          </a:xfrm>
          <a:prstGeom prst="rect">
            <a:avLst/>
          </a:prstGeom>
        </p:spPr>
      </p:pic>
      <p:sp>
        <p:nvSpPr>
          <p:cNvPr id="16" name="TextBox 15"/>
          <p:cNvSpPr txBox="1"/>
          <p:nvPr/>
        </p:nvSpPr>
        <p:spPr>
          <a:xfrm>
            <a:off x="7178040" y="2926080"/>
            <a:ext cx="4099255" cy="3017520"/>
          </a:xfrm>
          <a:prstGeom prst="rect">
            <a:avLst/>
          </a:prstGeom>
          <a:noFill/>
        </p:spPr>
        <p:txBody>
          <a:bodyPr wrap="square">
            <a:spAutoFit/>
          </a:bodyPr>
          <a:lstStyle/>
          <a:p>
            <a:pPr>
              <a:spcAft>
                <a:spcPts val="600"/>
              </a:spcAft>
              <a:defRPr sz="1200" b="1">
                <a:solidFill>
                  <a:srgbClr val="2563EB"/>
                </a:solidFill>
                <a:latin typeface="Segoe UI"/>
              </a:defRPr>
            </a:pPr>
            <a:r>
              <a:t>STA 9 PVT CORNERS KÝ DUYỆT (50 MHz)</a:t>
            </a:r>
          </a:p>
          <a:p>
            <a:pPr>
              <a:spcAft>
                <a:spcPts val="200"/>
              </a:spcAft>
              <a:defRPr sz="1000" b="1">
                <a:solidFill>
                  <a:srgbClr val="0F172A"/>
                </a:solidFill>
                <a:latin typeface="Consolas"/>
              </a:defRPr>
            </a:pPr>
            <a:r>
              <a:t>• nom_tt_025C_1v80: </a:t>
            </a:r>
            <a:r>
              <a:rPr b="1">
                <a:solidFill>
                  <a:srgbClr val="10B981"/>
                </a:solidFill>
                <a:latin typeface="Segoe UI"/>
              </a:rPr>
              <a:t>MET TIMING ✅</a:t>
            </a:r>
          </a:p>
          <a:p>
            <a:pPr>
              <a:spcAft>
                <a:spcPts val="200"/>
              </a:spcAft>
              <a:defRPr sz="1000" b="1">
                <a:solidFill>
                  <a:srgbClr val="0F172A"/>
                </a:solidFill>
                <a:latin typeface="Consolas"/>
              </a:defRPr>
            </a:pPr>
            <a:r>
              <a:t>• nom_ss_100C_1v60: </a:t>
            </a:r>
            <a:r>
              <a:rPr b="1">
                <a:solidFill>
                  <a:srgbClr val="10B981"/>
                </a:solidFill>
                <a:latin typeface="Segoe UI"/>
              </a:rPr>
              <a:t>MET TIMING ✅</a:t>
            </a:r>
          </a:p>
          <a:p>
            <a:pPr>
              <a:spcAft>
                <a:spcPts val="200"/>
              </a:spcAft>
              <a:defRPr sz="1000" b="1">
                <a:solidFill>
                  <a:srgbClr val="0F172A"/>
                </a:solidFill>
                <a:latin typeface="Consolas"/>
              </a:defRPr>
            </a:pPr>
            <a:r>
              <a:t>• nom_ff_n40C_1v95: </a:t>
            </a:r>
            <a:r>
              <a:rPr b="1">
                <a:solidFill>
                  <a:srgbClr val="10B981"/>
                </a:solidFill>
                <a:latin typeface="Segoe UI"/>
              </a:rPr>
              <a:t>MET TIMING ✅</a:t>
            </a:r>
          </a:p>
          <a:p>
            <a:pPr>
              <a:spcAft>
                <a:spcPts val="200"/>
              </a:spcAft>
              <a:defRPr sz="1000" b="1">
                <a:solidFill>
                  <a:srgbClr val="0F172A"/>
                </a:solidFill>
                <a:latin typeface="Consolas"/>
              </a:defRPr>
            </a:pPr>
            <a:r>
              <a:t>• min_ss_100C_1v60: </a:t>
            </a:r>
            <a:r>
              <a:rPr b="1">
                <a:solidFill>
                  <a:srgbClr val="10B981"/>
                </a:solidFill>
                <a:latin typeface="Segoe UI"/>
              </a:rPr>
              <a:t>MET TIMING ✅</a:t>
            </a:r>
          </a:p>
          <a:p>
            <a:pPr>
              <a:spcAft>
                <a:spcPts val="200"/>
              </a:spcAft>
              <a:defRPr sz="1000" b="1">
                <a:solidFill>
                  <a:srgbClr val="0F172A"/>
                </a:solidFill>
                <a:latin typeface="Consolas"/>
              </a:defRPr>
            </a:pPr>
            <a:r>
              <a:t>• max_ff_n40C_1v95: </a:t>
            </a:r>
            <a:r>
              <a:rPr b="1">
                <a:solidFill>
                  <a:srgbClr val="10B981"/>
                </a:solidFill>
                <a:latin typeface="Segoe UI"/>
              </a:rPr>
              <a:t>MET TIMING ✅</a:t>
            </a:r>
          </a:p>
          <a:p>
            <a:br/>
            <a:r>
              <a:t>• Worst IR Drop: 0.04% (0.739 mV) — Mạng PDN cực kỳ vững chắc!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6 | ĐÁNH GIÁ KỸ THUẬT</a:t>
            </a:r>
          </a:p>
          <a:p>
            <a:pPr>
              <a:defRPr sz="1900" b="1">
                <a:solidFill>
                  <a:srgbClr val="0F172A"/>
                </a:solidFill>
                <a:latin typeface="Segoe UI"/>
              </a:defRPr>
            </a:pPr>
            <a:r>
              <a:t>Thảo Luận &amp; Đánh Giá Tối Ưu Hóa PPA (Power - Performance - Area)</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21 / 22</a:t>
            </a:r>
          </a:p>
        </p:txBody>
      </p:sp>
      <p:sp>
        <p:nvSpPr>
          <p:cNvPr id="8" name="Rounded Rectangle 7"/>
          <p:cNvSpPr/>
          <p:nvPr/>
        </p:nvSpPr>
        <p:spPr>
          <a:xfrm>
            <a:off x="731520" y="1234440"/>
            <a:ext cx="3364992" cy="3520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17320"/>
            <a:ext cx="2999232" cy="3154680"/>
          </a:xfrm>
          <a:prstGeom prst="rect">
            <a:avLst/>
          </a:prstGeom>
          <a:noFill/>
        </p:spPr>
        <p:txBody>
          <a:bodyPr wrap="square">
            <a:spAutoFit/>
          </a:bodyPr>
          <a:lstStyle/>
          <a:p>
            <a:pPr>
              <a:spcAft>
                <a:spcPts val="800"/>
              </a:spcAft>
              <a:defRPr sz="1350" b="1">
                <a:solidFill>
                  <a:srgbClr val="2563EB"/>
                </a:solidFill>
                <a:latin typeface="Segoe UI"/>
              </a:defRPr>
            </a:pPr>
            <a:r>
              <a:t>⚡ Tối Ưu Hiệu Năng (Performance)</a:t>
            </a:r>
          </a:p>
          <a:p>
            <a:pPr>
              <a:spcAft>
                <a:spcPts val="300"/>
              </a:spcAft>
              <a:defRPr sz="1000" b="1">
                <a:solidFill>
                  <a:srgbClr val="0F172A"/>
                </a:solidFill>
                <a:latin typeface="Segoe UI"/>
              </a:defRPr>
            </a:pPr>
            <a:r>
              <a:t>• Xử lý phần cứng 1 chu kỳ:</a:t>
            </a:r>
            <a:br/>
            <a:r>
              <a:rPr sz="950" b="0">
                <a:solidFill>
                  <a:srgbClr val="475569"/>
                </a:solidFill>
              </a:rPr>
              <a:t>  Giải mã khung ASCII và tính XOR Checksum hoàn tất trong 20ns mà không tốn lệnh CPU.</a:t>
            </a:r>
          </a:p>
          <a:p>
            <a:pPr>
              <a:spcAft>
                <a:spcPts val="300"/>
              </a:spcAft>
              <a:defRPr sz="1000" b="1">
                <a:solidFill>
                  <a:srgbClr val="0F172A"/>
                </a:solidFill>
                <a:latin typeface="Segoe UI"/>
              </a:defRPr>
            </a:pPr>
            <a:r>
              <a:t>• Bộ đệm FIFO phần cứng:</a:t>
            </a:r>
            <a:br/>
            <a:r>
              <a:rPr sz="950" b="0">
                <a:solidFill>
                  <a:srgbClr val="475569"/>
                </a:solidFill>
              </a:rPr>
              <a:t>  Cách ly tốc độ giữa máy tính và chu kỳ ghi Flash, chống nghẽn bus tuyệt đối.</a:t>
            </a:r>
          </a:p>
          <a:p>
            <a:pPr>
              <a:spcAft>
                <a:spcPts val="300"/>
              </a:spcAft>
              <a:defRPr sz="1000" b="1">
                <a:solidFill>
                  <a:srgbClr val="0F172A"/>
                </a:solidFill>
                <a:latin typeface="Segoe UI"/>
              </a:defRPr>
            </a:pPr>
            <a:r>
              <a:t>• Độ trễ xác thực siêu nhỏ:</a:t>
            </a:r>
            <a:br/>
            <a:r>
              <a:rPr sz="950" b="0">
                <a:solidFill>
                  <a:srgbClr val="475569"/>
                </a:solidFill>
              </a:rPr>
              <a:t>  Từ lúc quẹt thẻ đến khi nhận kết quả kiểm tra chỉ mất dưới 10 micro-giây.</a:t>
            </a:r>
          </a:p>
        </p:txBody>
      </p:sp>
      <p:sp>
        <p:nvSpPr>
          <p:cNvPr id="10" name="Rounded Rectangle 9"/>
          <p:cNvSpPr/>
          <p:nvPr/>
        </p:nvSpPr>
        <p:spPr>
          <a:xfrm>
            <a:off x="4407408" y="1234440"/>
            <a:ext cx="3364992" cy="3520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417320"/>
            <a:ext cx="2999232" cy="3154680"/>
          </a:xfrm>
          <a:prstGeom prst="rect">
            <a:avLst/>
          </a:prstGeom>
          <a:noFill/>
        </p:spPr>
        <p:txBody>
          <a:bodyPr wrap="square">
            <a:spAutoFit/>
          </a:bodyPr>
          <a:lstStyle/>
          <a:p>
            <a:pPr>
              <a:spcAft>
                <a:spcPts val="800"/>
              </a:spcAft>
              <a:defRPr sz="1350" b="1">
                <a:solidFill>
                  <a:srgbClr val="10B981"/>
                </a:solidFill>
                <a:latin typeface="Segoe UI"/>
              </a:defRPr>
            </a:pPr>
            <a:r>
              <a:t>📐 Tối Ưu Diện Tích &amp; Công Suất</a:t>
            </a:r>
          </a:p>
          <a:p>
            <a:pPr>
              <a:spcAft>
                <a:spcPts val="300"/>
              </a:spcAft>
              <a:defRPr sz="1000" b="1">
                <a:solidFill>
                  <a:srgbClr val="0F172A"/>
                </a:solidFill>
                <a:latin typeface="Segoe UI"/>
              </a:defRPr>
            </a:pPr>
            <a:r>
              <a:t>• 1KB Data SRAM tinh gọn:</a:t>
            </a:r>
            <a:br/>
            <a:r>
              <a:rPr sz="950" b="0">
                <a:solidFill>
                  <a:srgbClr val="475569"/>
                </a:solidFill>
              </a:rPr>
              <a:t>  Được đo ni đóng giày đúng nhu cầu lưu Stack Pointer (0x400) và biến, tiết kiệm diện tích.</a:t>
            </a:r>
          </a:p>
          <a:p>
            <a:pPr>
              <a:spcAft>
                <a:spcPts val="300"/>
              </a:spcAft>
              <a:defRPr sz="1000" b="1">
                <a:solidFill>
                  <a:srgbClr val="0F172A"/>
                </a:solidFill>
                <a:latin typeface="Segoe UI"/>
              </a:defRPr>
            </a:pPr>
            <a:r>
              <a:t>• Tận dụng Flash ngoài:</a:t>
            </a:r>
            <a:br/>
            <a:r>
              <a:rPr sz="950" b="0">
                <a:solidFill>
                  <a:srgbClr val="475569"/>
                </a:solidFill>
              </a:rPr>
              <a:t>  Lưu firmware XIP và cơ sở dữ liệu trên Flash SPI giúp khuôn chip chỉ tốn 1.69 mm².</a:t>
            </a:r>
          </a:p>
          <a:p>
            <a:pPr>
              <a:spcAft>
                <a:spcPts val="300"/>
              </a:spcAft>
              <a:defRPr sz="1000" b="1">
                <a:solidFill>
                  <a:srgbClr val="0F172A"/>
                </a:solidFill>
                <a:latin typeface="Segoe UI"/>
              </a:defRPr>
            </a:pPr>
            <a:r>
              <a:t>• Lưới nguồn PDN vững chắc:</a:t>
            </a:r>
            <a:br/>
            <a:r>
              <a:rPr sz="950" b="0">
                <a:solidFill>
                  <a:srgbClr val="475569"/>
                </a:solidFill>
              </a:rPr>
              <a:t>  Độ sụt áp chỉ 0.04% đảm bảo tiết kiệm điện năng và vận hành ổn định lâu dài.</a:t>
            </a:r>
          </a:p>
        </p:txBody>
      </p:sp>
      <p:sp>
        <p:nvSpPr>
          <p:cNvPr id="12" name="Rounded Rectangle 11"/>
          <p:cNvSpPr/>
          <p:nvPr/>
        </p:nvSpPr>
        <p:spPr>
          <a:xfrm>
            <a:off x="8083296" y="1234440"/>
            <a:ext cx="3364992" cy="35204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6" y="1417320"/>
            <a:ext cx="2999232" cy="3154680"/>
          </a:xfrm>
          <a:prstGeom prst="rect">
            <a:avLst/>
          </a:prstGeom>
          <a:noFill/>
        </p:spPr>
        <p:txBody>
          <a:bodyPr wrap="square">
            <a:spAutoFit/>
          </a:bodyPr>
          <a:lstStyle/>
          <a:p>
            <a:pPr>
              <a:spcAft>
                <a:spcPts val="800"/>
              </a:spcAft>
              <a:defRPr sz="1350" b="1">
                <a:solidFill>
                  <a:srgbClr val="7C3AED"/>
                </a:solidFill>
                <a:latin typeface="Segoe UI"/>
              </a:defRPr>
            </a:pPr>
            <a:r>
              <a:t>🚀 Định Hướng Nâng Cấp Tiếp Theo</a:t>
            </a:r>
          </a:p>
          <a:p>
            <a:pPr>
              <a:spcAft>
                <a:spcPts val="300"/>
              </a:spcAft>
              <a:defRPr sz="1000" b="1">
                <a:solidFill>
                  <a:srgbClr val="0F172A"/>
                </a:solidFill>
                <a:latin typeface="Segoe UI"/>
              </a:defRPr>
            </a:pPr>
            <a:r>
              <a:t>• Tích hợp macro OpenRAM:</a:t>
            </a:r>
            <a:br/>
            <a:r>
              <a:rPr sz="950" b="0">
                <a:solidFill>
                  <a:srgbClr val="475569"/>
                </a:solidFill>
              </a:rPr>
              <a:t>  Thay thế standard cell flip-flops bằng macro bộ nhớ nhúng OpenRAM giúp giảm 25-35% diện tích.</a:t>
            </a:r>
          </a:p>
          <a:p>
            <a:pPr>
              <a:spcAft>
                <a:spcPts val="300"/>
              </a:spcAft>
              <a:defRPr sz="1000" b="1">
                <a:solidFill>
                  <a:srgbClr val="0F172A"/>
                </a:solidFill>
                <a:latin typeface="Segoe UI"/>
              </a:defRPr>
            </a:pPr>
            <a:r>
              <a:t>• Nâng cấp Quad-SPI (QSPI):</a:t>
            </a:r>
            <a:br/>
            <a:r>
              <a:rPr sz="950" b="0">
                <a:solidFill>
                  <a:srgbClr val="475569"/>
                </a:solidFill>
              </a:rPr>
              <a:t>  Nâng giao tiếp Flash từ 1-bit lên 4-bit giúp tăng tốc độ đọc dữ liệu thẻ gấp 4 lần.</a:t>
            </a:r>
          </a:p>
          <a:p>
            <a:pPr>
              <a:spcAft>
                <a:spcPts val="300"/>
              </a:spcAft>
              <a:defRPr sz="1000" b="1">
                <a:solidFill>
                  <a:srgbClr val="0F172A"/>
                </a:solidFill>
                <a:latin typeface="Segoe UI"/>
              </a:defRPr>
            </a:pPr>
            <a:r>
              <a:t>• Mã hóa phần cứng AES-128:</a:t>
            </a:r>
            <a:br/>
            <a:r>
              <a:rPr sz="950" b="0">
                <a:solidFill>
                  <a:srgbClr val="475569"/>
                </a:solidFill>
              </a:rPr>
              <a:t>  Mã hóa cơ sở dữ liệu thẻ trước khi lưu vào Flash, chống đọc trộm dữ liệu trái phép.</a:t>
            </a:r>
          </a:p>
        </p:txBody>
      </p:sp>
      <p:sp>
        <p:nvSpPr>
          <p:cNvPr id="14" name="Rounded Rectangle 13"/>
          <p:cNvSpPr/>
          <p:nvPr/>
        </p:nvSpPr>
        <p:spPr>
          <a:xfrm>
            <a:off x="731520" y="4956048"/>
            <a:ext cx="10728655" cy="118872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5010912"/>
            <a:ext cx="10271455" cy="1051560"/>
          </a:xfrm>
          <a:prstGeom prst="rect">
            <a:avLst/>
          </a:prstGeom>
          <a:noFill/>
        </p:spPr>
        <p:txBody>
          <a:bodyPr wrap="square">
            <a:spAutoFit/>
          </a:bodyPr>
          <a:lstStyle/>
          <a:p>
            <a:pPr>
              <a:spcAft>
                <a:spcPts val="200"/>
              </a:spcAft>
              <a:defRPr sz="1100" b="1">
                <a:solidFill>
                  <a:srgbClr val="10B981"/>
                </a:solidFill>
                <a:latin typeface="Segoe UI"/>
              </a:defRPr>
            </a:pPr>
            <a:r>
              <a:t>💡 TỔNG KẾT ĐÁNH GIÁ CHỈ SỐ PPA TOÀN DIỆN:</a:t>
            </a:r>
          </a:p>
          <a:p>
            <a:pPr>
              <a:defRPr sz="950">
                <a:solidFill>
                  <a:srgbClr val="0F172A"/>
                </a:solidFill>
                <a:latin typeface="Segoe UI"/>
              </a:defRPr>
            </a:pPr>
            <a:r>
              <a:t>• Hiệu năng (Performance): Xác thực thẻ tức thì (&lt; 10 µs), giải mã phần cứng 1 chu kỳ clock song song không tốn tài nguyên CPU.</a:t>
            </a:r>
            <a:br/>
            <a:r>
              <a:t>• Diện tích &amp; Điện năng (Area &amp; Power): Khuôn chip tối giản 1.69 mm² nhờ kiến trúc Flash XIP &amp; SRAM 1KB, sụt áp chỉ 0.04% (0.739 mV).</a:t>
            </a:r>
            <a:br/>
            <a:r>
              <a:t>• Khả năng mở rộng: Sẵn sàng nâng cấp macro OpenRAM và bus Quad-SPI 4-bit.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731520"/>
            <a:ext cx="10728655" cy="5394960"/>
          </a:xfrm>
          <a:prstGeom prst="roundRect">
            <a:avLst/>
          </a:prstGeom>
          <a:solidFill>
            <a:srgbClr val="1C2541"/>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05840"/>
            <a:ext cx="9966960" cy="4754880"/>
          </a:xfrm>
          <a:prstGeom prst="rect">
            <a:avLst/>
          </a:prstGeom>
          <a:noFill/>
        </p:spPr>
        <p:txBody>
          <a:bodyPr wrap="square">
            <a:spAutoFit/>
          </a:bodyPr>
          <a:lstStyle/>
          <a:p>
            <a:pPr>
              <a:spcAft>
                <a:spcPts val="1400"/>
              </a:spcAft>
              <a:defRPr sz="2200" b="1">
                <a:solidFill>
                  <a:srgbClr val="10B981"/>
                </a:solidFill>
                <a:latin typeface="Segoe UI"/>
              </a:defRPr>
            </a:pPr>
            <a:r>
              <a:t>TỔNG KẾT ĐỒ ÁN &amp; THÀNH TỰU ĐẠT ĐƯỢC</a:t>
            </a:r>
          </a:p>
          <a:p>
            <a:pPr>
              <a:spcAft>
                <a:spcPts val="400"/>
              </a:spcAft>
              <a:defRPr sz="1300" b="1">
                <a:solidFill>
                  <a:srgbClr val="FFFFFF"/>
                </a:solidFill>
                <a:latin typeface="Segoe UI"/>
              </a:defRPr>
            </a:pPr>
            <a:r>
              <a:t>✔ Hoàn thành xuất sắc mục tiêu thiết kế SoC chuyên dụng: </a:t>
            </a:r>
            <a:r>
              <a:rPr sz="1200" b="0">
                <a:solidFill>
                  <a:srgbClr val="CBD5E1"/>
                </a:solidFill>
              </a:rPr>
              <a:t>Hiện thực hóa hệ thống kiểm soát ra vào độc lập (Offline Standalone), loại bỏ hoàn toàn rủi ro bảo mật và độ trễ mạng.</a:t>
            </a:r>
          </a:p>
          <a:p>
            <a:pPr>
              <a:spcAft>
                <a:spcPts val="400"/>
              </a:spcAft>
              <a:defRPr sz="1300" b="1">
                <a:solidFill>
                  <a:srgbClr val="FFFFFF"/>
                </a:solidFill>
                <a:latin typeface="Segoe UI"/>
              </a:defRPr>
            </a:pPr>
            <a:r>
              <a:t>✔ Kiểm chứng thực nghiệm 100% trên FPGA Basys 3: </a:t>
            </a:r>
            <a:r>
              <a:rPr sz="1200" b="0">
                <a:solidFill>
                  <a:srgbClr val="CBD5E1"/>
                </a:solidFill>
              </a:rPr>
              <a:t>Xác thực module RDM6300 thật, thẻ RFID thật, chip SPI Flash thật và phần mềm Host C hoạt động đồng bộ hoàn hảo.</a:t>
            </a:r>
          </a:p>
          <a:p>
            <a:pPr>
              <a:spcAft>
                <a:spcPts val="400"/>
              </a:spcAft>
              <a:defRPr sz="1300" b="1">
                <a:solidFill>
                  <a:srgbClr val="FFFFFF"/>
                </a:solidFill>
                <a:latin typeface="Segoe UI"/>
              </a:defRPr>
            </a:pPr>
            <a:r>
              <a:t>✔ Đạt chuẩn ký duyệt chế tạo bán dẫn (Full Tapeout Ready): </a:t>
            </a:r>
            <a:r>
              <a:rPr sz="1200" b="0">
                <a:solidFill>
                  <a:srgbClr val="CBD5E1"/>
                </a:solidFill>
              </a:rPr>
              <a:t>Lượt chạy OpenLane 2 đạt 0 lỗi DRC, 0 lỗi LVS (57,544 devices khớp 100%), 0 vi phạm Antenna, và MET TIMING ở cả 9 corners tần số 50 MHz.</a:t>
            </a:r>
          </a:p>
          <a:p>
            <a:pPr>
              <a:spcAft>
                <a:spcPts val="400"/>
              </a:spcAft>
              <a:defRPr sz="1300" b="1">
                <a:solidFill>
                  <a:srgbClr val="FFFFFF"/>
                </a:solidFill>
                <a:latin typeface="Segoe UI"/>
              </a:defRPr>
            </a:pPr>
            <a:r>
              <a:t>✔ Phương pháp thiết kế Software-First khoa học: </a:t>
            </a:r>
            <a:r>
              <a:rPr sz="1200" b="0">
                <a:solidFill>
                  <a:srgbClr val="CBD5E1"/>
                </a:solidFill>
              </a:rPr>
              <a:t>Định hình tập lệnh và chức năng phần mềm trước giúp tối ưu hóa tối đa diện tích silicon và thời gian phát triển.</a:t>
            </a:r>
          </a:p>
          <a:p>
            <a:pPr algn="ctr">
              <a:defRPr sz="2000" b="1">
                <a:solidFill>
                  <a:srgbClr val="0EA5E9"/>
                </a:solidFill>
                <a:latin typeface="Segoe UI"/>
              </a:defRPr>
            </a:pPr>
            <a:br/>
            <a:r>
              <a:t>CHÂN THÀNH CẢM ƠN QUÝ THẦY CÔ &amp; HỘI ĐỒNG BẢO VỆ!</a:t>
            </a:r>
            <a:b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8730</Words>
  <Application>Microsoft Office PowerPoint</Application>
  <PresentationFormat>Widescreen</PresentationFormat>
  <Paragraphs>488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HP DRAGONFLY G2</cp:lastModifiedBy>
  <cp:revision>2</cp:revision>
  <dcterms:created xsi:type="dcterms:W3CDTF">2013-01-27T09:14:16Z</dcterms:created>
  <dcterms:modified xsi:type="dcterms:W3CDTF">2026-09-29T08:50:07Z</dcterms:modified>
  <cp:category/>
</cp:coreProperties>
</file>