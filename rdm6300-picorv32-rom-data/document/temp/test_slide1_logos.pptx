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10728655" cy="5394960"/>
          </a:xfrm>
          <a:prstGeom prst="roundRect">
            <a:avLst/>
          </a:prstGeom>
          <a:solidFill>
            <a:srgbClr val="1C2541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960120"/>
            <a:ext cx="10271455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350" b="1">
                <a:solidFill>
                  <a:srgbClr val="0EA5E9"/>
                </a:solidFill>
                <a:latin typeface="Segoe UI"/>
              </a:defRPr>
            </a:pPr>
            <a:r>
              <a:t>FPT JETKING — CHIP DESIGN</a:t>
            </a:r>
          </a:p>
          <a:p>
            <a:pPr>
              <a:lnSpc>
                <a:spcPct val="125000"/>
              </a:lnSpc>
              <a:spcAft>
                <a:spcPts val="1400"/>
              </a:spcAft>
              <a:defRPr sz="2600" b="1">
                <a:solidFill>
                  <a:srgbClr val="FFFFFF"/>
                </a:solidFill>
                <a:latin typeface="Segoe UI"/>
              </a:defRPr>
            </a:pPr>
            <a:r>
              <a:t>THIẾT KẾ HỆ THỐNG SOC XỬ LÝ DỮ LIỆU THẺ RA VÀO RFID</a:t>
            </a:r>
            <a:br/>
            <a:r>
              <a:t>TỐI ƯU RTL TO GDSII TRÊN CHIP ASIC</a:t>
            </a:r>
          </a:p>
          <a:p>
            <a:pPr>
              <a:spcAft>
                <a:spcPts val="1800"/>
              </a:spcAft>
              <a:defRPr sz="1200">
                <a:solidFill>
                  <a:srgbClr val="CBD5E1"/>
                </a:solidFill>
                <a:latin typeface="Segoe UI"/>
              </a:defRPr>
            </a:pPr>
            <a:r>
              <a:t>Giao tiếp RFID RDM6300 | Lưu trữ Whitelist SPI Flash NVM | Tạo mẫu Basys 3 FPGA | Ký duyệt ASIC OpenLane 2 (Sky130)</a:t>
            </a:r>
          </a:p>
          <a:p>
            <a:pPr>
              <a:spcAft>
                <a:spcPts val="500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t>Học viên thực hiện :  Thái Tuấn Hiệp</a:t>
            </a:r>
          </a:p>
          <a:p>
            <a:pPr>
              <a:spcAft>
                <a:spcPts val="500"/>
              </a:spcAft>
              <a:defRPr sz="1250">
                <a:solidFill>
                  <a:srgbClr val="E2E8F0"/>
                </a:solidFill>
                <a:latin typeface="Segoe UI"/>
              </a:defRPr>
            </a:pPr>
            <a:r>
              <a:t>Giảng viên hướng dẫn :  ThS. Nguyễn Văn Đông</a:t>
            </a:r>
          </a:p>
          <a:p>
            <a:pPr>
              <a:defRPr sz="1150" i="1">
                <a:solidFill>
                  <a:srgbClr val="94A3B8"/>
                </a:solidFill>
                <a:latin typeface="Segoe UI"/>
              </a:defRPr>
            </a:pPr>
            <a:r>
              <a:t>Học kỳ :  SEM3  |  Chuyên ngành: Thiết kế Vi mạch Bán dẫn (Chip Design)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4892040"/>
            <a:ext cx="10271455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50" b="1">
                <a:solidFill>
                  <a:srgbClr val="0EA5E9"/>
                </a:solidFill>
                <a:latin typeface="Segoe UI"/>
              </a:defRPr>
            </a:pPr>
            <a:r>
              <a:t>CÔNG CỤ EDA &amp; HỆ SINH THÁI CÔNG NGHỆ VI MẠCH SỬ DỤNG TRONG ĐỒ ÁN:</a:t>
            </a:r>
          </a:p>
        </p:txBody>
      </p:sp>
      <p:pic>
        <p:nvPicPr>
          <p:cNvPr id="6" name="Picture 5" descr="badge_openla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5230368"/>
            <a:ext cx="1869159" cy="658368"/>
          </a:xfrm>
          <a:prstGeom prst="rect">
            <a:avLst/>
          </a:prstGeom>
        </p:spPr>
      </p:pic>
      <p:pic>
        <p:nvPicPr>
          <p:cNvPr id="7" name="Picture 6" descr="badge_vivad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5834" y="5230368"/>
            <a:ext cx="1816187" cy="658368"/>
          </a:xfrm>
          <a:prstGeom prst="rect">
            <a:avLst/>
          </a:prstGeom>
        </p:spPr>
      </p:pic>
      <p:pic>
        <p:nvPicPr>
          <p:cNvPr id="8" name="Picture 7" descr="badge_fpg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8576" y="5230368"/>
            <a:ext cx="1922131" cy="658368"/>
          </a:xfrm>
          <a:prstGeom prst="rect">
            <a:avLst/>
          </a:prstGeom>
        </p:spPr>
      </p:pic>
      <p:pic>
        <p:nvPicPr>
          <p:cNvPr id="9" name="Picture 8" descr="badge_riscv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57262" y="5230368"/>
            <a:ext cx="2883197" cy="658368"/>
          </a:xfrm>
          <a:prstGeom prst="rect">
            <a:avLst/>
          </a:prstGeom>
        </p:spPr>
      </p:pic>
      <p:pic>
        <p:nvPicPr>
          <p:cNvPr id="10" name="Picture 9" descr="badge_skywate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37015" y="5230368"/>
            <a:ext cx="2194560" cy="65836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