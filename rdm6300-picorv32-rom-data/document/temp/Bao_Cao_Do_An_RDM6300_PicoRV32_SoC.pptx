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731520"/>
            <a:ext cx="10728655" cy="5394960"/>
          </a:xfrm>
          <a:prstGeom prst="roundRect">
            <a:avLst/>
          </a:prstGeom>
          <a:solidFill>
            <a:srgbClr val="1C2541"/>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097280"/>
            <a:ext cx="9784080" cy="4389120"/>
          </a:xfrm>
          <a:prstGeom prst="rect">
            <a:avLst/>
          </a:prstGeom>
          <a:noFill/>
        </p:spPr>
        <p:txBody>
          <a:bodyPr wrap="square">
            <a:spAutoFit/>
          </a:bodyPr>
          <a:lstStyle/>
          <a:p>
            <a:pPr>
              <a:spcAft>
                <a:spcPts val="1200"/>
              </a:spcAft>
              <a:defRPr sz="1300" b="1">
                <a:solidFill>
                  <a:srgbClr val="0EA5E9"/>
                </a:solidFill>
                <a:latin typeface="Segoe UI"/>
              </a:defRPr>
            </a:pPr>
            <a:r>
              <a:t>BÁO CÁO ĐỒ ÁN THIẾT KẾ VI MẠCH SỐ (ASIC / SOC DESIGN PROJECT)</a:t>
            </a:r>
          </a:p>
          <a:p>
            <a:pPr>
              <a:spcAft>
                <a:spcPts val="1000"/>
              </a:spcAft>
              <a:defRPr sz="2800" b="1">
                <a:solidFill>
                  <a:srgbClr val="FFFFFF"/>
                </a:solidFill>
                <a:latin typeface="Segoe UI"/>
              </a:defRPr>
            </a:pPr>
            <a:r>
              <a:t>HỆ THỐNG VI MẠCH SOC XỬ LÝ DỮ LIỆU THẺ RFID RDM6300</a:t>
            </a:r>
          </a:p>
          <a:p>
            <a:pPr>
              <a:spcAft>
                <a:spcPts val="2800"/>
              </a:spcAft>
              <a:defRPr sz="1500">
                <a:solidFill>
                  <a:srgbClr val="CBD5E1"/>
                </a:solidFill>
                <a:latin typeface="Segoe UI"/>
              </a:defRPr>
            </a:pPr>
            <a:r>
              <a:t>Tích Hợp Nhân CPU RISC-V PicoRV32 Quản Lý Firmware, Danh Mục Thẻ &amp; Nhật Ký Trên SPI Flash</a:t>
            </a:r>
          </a:p>
        </p:txBody>
      </p:sp>
      <p:sp>
        <p:nvSpPr>
          <p:cNvPr id="5" name="Rounded Rectangle 4"/>
          <p:cNvSpPr/>
          <p:nvPr/>
        </p:nvSpPr>
        <p:spPr>
          <a:xfrm>
            <a:off x="1097280" y="3931920"/>
            <a:ext cx="1554480" cy="384048"/>
          </a:xfrm>
          <a:prstGeom prst="roundRect">
            <a:avLst/>
          </a:prstGeom>
          <a:solidFill>
            <a:srgbClr val="0B132B"/>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2563EB"/>
                </a:solidFill>
                <a:latin typeface="Segoe UI"/>
              </a:defRPr>
            </a:pPr>
            <a:r>
              <a:t>SkyWater 130nm ASIC</a:t>
            </a:r>
          </a:p>
        </p:txBody>
      </p:sp>
      <p:sp>
        <p:nvSpPr>
          <p:cNvPr id="6" name="Rounded Rectangle 5"/>
          <p:cNvSpPr/>
          <p:nvPr/>
        </p:nvSpPr>
        <p:spPr>
          <a:xfrm>
            <a:off x="2816352" y="3931920"/>
            <a:ext cx="1554480" cy="384048"/>
          </a:xfrm>
          <a:prstGeom prst="roundRect">
            <a:avLst/>
          </a:prstGeom>
          <a:solidFill>
            <a:srgbClr val="0B132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0EA5E9"/>
                </a:solidFill>
                <a:latin typeface="Segoe UI"/>
              </a:defRPr>
            </a:pPr>
            <a:r>
              <a:t>RISC-V PicoRV32 RV32I</a:t>
            </a:r>
          </a:p>
        </p:txBody>
      </p:sp>
      <p:sp>
        <p:nvSpPr>
          <p:cNvPr id="7" name="Rounded Rectangle 6"/>
          <p:cNvSpPr/>
          <p:nvPr/>
        </p:nvSpPr>
        <p:spPr>
          <a:xfrm>
            <a:off x="4535424" y="3931920"/>
            <a:ext cx="1554480" cy="384048"/>
          </a:xfrm>
          <a:prstGeom prst="roundRect">
            <a:avLst/>
          </a:prstGeom>
          <a:solidFill>
            <a:srgbClr val="0B132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10B981"/>
                </a:solidFill>
                <a:latin typeface="Segoe UI"/>
              </a:defRPr>
            </a:pPr>
            <a:r>
              <a:t>32 Mb SPI Flash NVM</a:t>
            </a:r>
          </a:p>
        </p:txBody>
      </p:sp>
      <p:sp>
        <p:nvSpPr>
          <p:cNvPr id="8" name="Rounded Rectangle 7"/>
          <p:cNvSpPr/>
          <p:nvPr/>
        </p:nvSpPr>
        <p:spPr>
          <a:xfrm>
            <a:off x="6254496" y="3931920"/>
            <a:ext cx="1554480" cy="384048"/>
          </a:xfrm>
          <a:prstGeom prst="roundRect">
            <a:avLst/>
          </a:prstGeom>
          <a:solidFill>
            <a:srgbClr val="0B132B"/>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D97706"/>
                </a:solidFill>
                <a:latin typeface="Segoe UI"/>
              </a:defRPr>
            </a:pPr>
            <a:r>
              <a:t>RDM6300 125 kHz</a:t>
            </a:r>
          </a:p>
        </p:txBody>
      </p:sp>
      <p:sp>
        <p:nvSpPr>
          <p:cNvPr id="9" name="Rounded Rectangle 8"/>
          <p:cNvSpPr/>
          <p:nvPr/>
        </p:nvSpPr>
        <p:spPr>
          <a:xfrm>
            <a:off x="7973568" y="3931920"/>
            <a:ext cx="1554480" cy="384048"/>
          </a:xfrm>
          <a:prstGeom prst="roundRect">
            <a:avLst/>
          </a:prstGeom>
          <a:solidFill>
            <a:srgbClr val="0B132B"/>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7C3AED"/>
                </a:solidFill>
                <a:latin typeface="Segoe UI"/>
              </a:defRPr>
            </a:pPr>
            <a:r>
              <a:t>Basys 3 FPGA Demo</a:t>
            </a:r>
          </a:p>
        </p:txBody>
      </p:sp>
      <p:sp>
        <p:nvSpPr>
          <p:cNvPr id="10" name="Rounded Rectangle 9"/>
          <p:cNvSpPr/>
          <p:nvPr/>
        </p:nvSpPr>
        <p:spPr>
          <a:xfrm>
            <a:off x="9692640" y="3931920"/>
            <a:ext cx="1554480" cy="384048"/>
          </a:xfrm>
          <a:prstGeom prst="roundRect">
            <a:avLst/>
          </a:prstGeom>
          <a:solidFill>
            <a:srgbClr val="0B132B"/>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E11D48"/>
                </a:solidFill>
                <a:latin typeface="Segoe UI"/>
              </a:defRPr>
            </a:pPr>
            <a:r>
              <a:t>OpenLane 2 Sign-off</a:t>
            </a:r>
          </a:p>
        </p:txBody>
      </p:sp>
      <p:sp>
        <p:nvSpPr>
          <p:cNvPr id="11" name="TextBox 10"/>
          <p:cNvSpPr txBox="1"/>
          <p:nvPr/>
        </p:nvSpPr>
        <p:spPr>
          <a:xfrm>
            <a:off x="1188720" y="4663440"/>
            <a:ext cx="9784080" cy="1097280"/>
          </a:xfrm>
          <a:prstGeom prst="rect">
            <a:avLst/>
          </a:prstGeom>
          <a:noFill/>
        </p:spPr>
        <p:txBody>
          <a:bodyPr wrap="none">
            <a:spAutoFit/>
          </a:bodyPr>
          <a:lstStyle/>
          <a:p>
            <a:pPr>
              <a:defRPr sz="1100">
                <a:solidFill>
                  <a:srgbClr val="94A3B8"/>
                </a:solidFill>
                <a:latin typeface="Segoe UI"/>
              </a:defRPr>
            </a:pPr>
            <a:r>
              <a:t>• Nền tảng thiết kế: OpenLane 2 (SkyWater Sky130A) | Ký duyệt STA 50 MHz (MET TIMING ở 9 Corners)</a:t>
            </a:r>
            <a:br/>
            <a:r>
              <a:t>• Thực nghiệm phần cứng: Bo mạch FPGA Xilinx Artix-7 Basys 3 kết nối đầu đọc RFID thật &amp; phần mềm Host 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CHƯƠNG 1 | TỔNG QUAN &amp; ĐẶT VẤN ĐỀ</a:t>
            </a:r>
          </a:p>
          <a:p>
            <a:pPr>
              <a:defRPr sz="1900" b="1">
                <a:solidFill>
                  <a:srgbClr val="0F172A"/>
                </a:solidFill>
                <a:latin typeface="Segoe UI"/>
              </a:defRPr>
            </a:pPr>
            <a:r>
              <a:t>Định Hướng Sản Phẩm: Thiết Bị Kiểm Soát Ra Vào Độc Lập (Offline)</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7315200" cy="274320"/>
          </a:xfrm>
          <a:prstGeom prst="rect">
            <a:avLst/>
          </a:prstGeom>
          <a:noFill/>
        </p:spPr>
        <p:txBody>
          <a:bodyPr wrap="none">
            <a:spAutoFit/>
          </a:bodyPr>
          <a:lstStyle/>
          <a:p>
            <a:pPr>
              <a:defRPr sz="950">
                <a:solidFill>
                  <a:srgbClr val="475569"/>
                </a:solidFill>
                <a:latin typeface="Segoe UI"/>
              </a:defRPr>
            </a:pPr>
            <a:r>
              <a:t>PicoRV32 RFID Access Controller SoC | SkyWater 130nm ASIC &amp; Basys 3 Demo</a:t>
            </a:r>
          </a:p>
        </p:txBody>
      </p:sp>
      <p:sp>
        <p:nvSpPr>
          <p:cNvPr id="7" name="TextBox 6"/>
          <p:cNvSpPr txBox="1"/>
          <p:nvPr/>
        </p:nvSpPr>
        <p:spPr>
          <a:xfrm>
            <a:off x="10058400" y="6492240"/>
            <a:ext cx="1401775" cy="274320"/>
          </a:xfrm>
          <a:prstGeom prst="rect">
            <a:avLst/>
          </a:prstGeom>
          <a:noFill/>
        </p:spPr>
        <p:txBody>
          <a:bodyPr wrap="none">
            <a:spAutoFit/>
          </a:bodyPr>
          <a:lstStyle/>
          <a:p>
            <a:pPr algn="r">
              <a:defRPr sz="950" b="1">
                <a:solidFill>
                  <a:srgbClr val="2563EB"/>
                </a:solidFill>
                <a:latin typeface="Segoe UI"/>
              </a:defRPr>
            </a:pPr>
            <a:r>
              <a:t>02 / 25</a:t>
            </a:r>
          </a:p>
        </p:txBody>
      </p:sp>
      <p:sp>
        <p:nvSpPr>
          <p:cNvPr id="8" name="Rounded Rectangle 7"/>
          <p:cNvSpPr/>
          <p:nvPr/>
        </p:nvSpPr>
        <p:spPr>
          <a:xfrm>
            <a:off x="731520" y="1234440"/>
            <a:ext cx="3364992" cy="3703320"/>
          </a:xfrm>
          <a:prstGeom prst="roundRect">
            <a:avLst/>
          </a:prstGeom>
          <a:solidFill>
            <a:srgbClr val="FFFFFF"/>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417320"/>
            <a:ext cx="2999232" cy="3337560"/>
          </a:xfrm>
          <a:prstGeom prst="rect">
            <a:avLst/>
          </a:prstGeom>
          <a:noFill/>
        </p:spPr>
        <p:txBody>
          <a:bodyPr wrap="square">
            <a:spAutoFit/>
          </a:bodyPr>
          <a:lstStyle/>
          <a:p>
            <a:pPr>
              <a:spcAft>
                <a:spcPts val="800"/>
              </a:spcAft>
              <a:defRPr sz="1400" b="1">
                <a:solidFill>
                  <a:srgbClr val="E11D48"/>
                </a:solidFill>
                <a:latin typeface="Segoe UI"/>
              </a:defRPr>
            </a:pPr>
            <a:r>
              <a:t>🔴 Hạn Chế Access Control Đám Mây</a:t>
            </a:r>
          </a:p>
          <a:p>
            <a:pPr>
              <a:spcAft>
                <a:spcPts val="400"/>
              </a:spcAft>
              <a:defRPr sz="1050" b="1">
                <a:solidFill>
                  <a:srgbClr val="0F172A"/>
                </a:solidFill>
                <a:latin typeface="Segoe UI"/>
              </a:defRPr>
            </a:pPr>
            <a:r>
              <a:t>• Nguy cơ mất kết nối:</a:t>
            </a:r>
            <a:br/>
            <a:r>
              <a:rPr b="0" sz="1000">
                <a:solidFill>
                  <a:srgbClr val="475569"/>
                </a:solidFill>
              </a:rPr>
              <a:t>  Hệ thống tê liệt khi đứt cáp quang hoặc mất mạng viễn thông.</a:t>
            </a:r>
          </a:p>
          <a:p>
            <a:pPr>
              <a:spcAft>
                <a:spcPts val="400"/>
              </a:spcAft>
              <a:defRPr sz="1050" b="1">
                <a:solidFill>
                  <a:srgbClr val="0F172A"/>
                </a:solidFill>
                <a:latin typeface="Segoe UI"/>
              </a:defRPr>
            </a:pPr>
            <a:r>
              <a:t>• Độ trễ cao:</a:t>
            </a:r>
            <a:br/>
            <a:r>
              <a:rPr b="0" sz="1000">
                <a:solidFill>
                  <a:srgbClr val="475569"/>
                </a:solidFill>
              </a:rPr>
              <a:t>  Phải gửi dữ liệu lên máy chủ từ xa rồi chờ phản hồi, gây ùn tắc.</a:t>
            </a:r>
          </a:p>
          <a:p>
            <a:pPr>
              <a:spcAft>
                <a:spcPts val="400"/>
              </a:spcAft>
              <a:defRPr sz="1050" b="1">
                <a:solidFill>
                  <a:srgbClr val="0F172A"/>
                </a:solidFill>
                <a:latin typeface="Segoe UI"/>
              </a:defRPr>
            </a:pPr>
            <a:r>
              <a:t>• Nguy cơ an ninh mạng:</a:t>
            </a:r>
            <a:br/>
            <a:r>
              <a:rPr b="0" sz="1000">
                <a:solidFill>
                  <a:srgbClr val="475569"/>
                </a:solidFill>
              </a:rPr>
              <a:t>  Dữ liệu định danh truyền qua mạng công cộng dễ bị nghe lén, DDoS.</a:t>
            </a:r>
          </a:p>
          <a:p>
            <a:pPr>
              <a:spcAft>
                <a:spcPts val="400"/>
              </a:spcAft>
              <a:defRPr sz="1050" b="1">
                <a:solidFill>
                  <a:srgbClr val="0F172A"/>
                </a:solidFill>
                <a:latin typeface="Segoe UI"/>
              </a:defRPr>
            </a:pPr>
            <a:r>
              <a:t>• Khó triển khai biệt lập:</a:t>
            </a:r>
            <a:br/>
            <a:r>
              <a:rPr b="0" sz="1000">
                <a:solidFill>
                  <a:srgbClr val="475569"/>
                </a:solidFill>
              </a:rPr>
              <a:t>  Bất khả thi tại các địa bàn vùng sâu, kho quân sự, hầm mỏ, phòng lab.</a:t>
            </a:r>
          </a:p>
        </p:txBody>
      </p:sp>
      <p:sp>
        <p:nvSpPr>
          <p:cNvPr id="10" name="Rounded Rectangle 9"/>
          <p:cNvSpPr/>
          <p:nvPr/>
        </p:nvSpPr>
        <p:spPr>
          <a:xfrm>
            <a:off x="4407408" y="1234440"/>
            <a:ext cx="3364992" cy="37033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0288" y="1417320"/>
            <a:ext cx="2999232" cy="3337560"/>
          </a:xfrm>
          <a:prstGeom prst="rect">
            <a:avLst/>
          </a:prstGeom>
          <a:noFill/>
        </p:spPr>
        <p:txBody>
          <a:bodyPr wrap="square">
            <a:spAutoFit/>
          </a:bodyPr>
          <a:lstStyle/>
          <a:p>
            <a:pPr>
              <a:spcAft>
                <a:spcPts val="800"/>
              </a:spcAft>
              <a:defRPr sz="1400" b="1">
                <a:solidFill>
                  <a:srgbClr val="2563EB"/>
                </a:solidFill>
                <a:latin typeface="Segoe UI"/>
              </a:defRPr>
            </a:pPr>
            <a:r>
              <a:t>🔵 Thiết Bị Standalone Offline</a:t>
            </a:r>
          </a:p>
          <a:p>
            <a:pPr>
              <a:spcAft>
                <a:spcPts val="400"/>
              </a:spcAft>
              <a:defRPr sz="1050" b="1">
                <a:solidFill>
                  <a:srgbClr val="0F172A"/>
                </a:solidFill>
                <a:latin typeface="Segoe UI"/>
              </a:defRPr>
            </a:pPr>
            <a:r>
              <a:t>• Vận hành 100% độc lập:</a:t>
            </a:r>
            <a:br/>
            <a:r>
              <a:rPr b="0" sz="1000">
                <a:solidFill>
                  <a:srgbClr val="475569"/>
                </a:solidFill>
              </a:rPr>
              <a:t>  Tự giải mã thẻ và đối chiếu cơ sở dữ liệu tại chỗ, không cần Internet.</a:t>
            </a:r>
          </a:p>
          <a:p>
            <a:pPr>
              <a:spcAft>
                <a:spcPts val="400"/>
              </a:spcAft>
              <a:defRPr sz="1050" b="1">
                <a:solidFill>
                  <a:srgbClr val="0F172A"/>
                </a:solidFill>
                <a:latin typeface="Segoe UI"/>
              </a:defRPr>
            </a:pPr>
            <a:r>
              <a:t>• Độ trễ siêu nhỏ (&lt; 10 µs):</a:t>
            </a:r>
            <a:br/>
            <a:r>
              <a:rPr b="0" sz="1000">
                <a:solidFill>
                  <a:srgbClr val="475569"/>
                </a:solidFill>
              </a:rPr>
              <a:t>  Xác thực thẻ tức thì bằng phần cứng chuyên dụng, loại trừ trễ mạng.</a:t>
            </a:r>
          </a:p>
          <a:p>
            <a:pPr>
              <a:spcAft>
                <a:spcPts val="400"/>
              </a:spcAft>
              <a:defRPr sz="1050" b="1">
                <a:solidFill>
                  <a:srgbClr val="0F172A"/>
                </a:solidFill>
                <a:latin typeface="Segoe UI"/>
              </a:defRPr>
            </a:pPr>
            <a:r>
              <a:t>• Bảo mật vật lý (Air-Gap):</a:t>
            </a:r>
            <a:br/>
            <a:r>
              <a:rPr b="0" sz="1000">
                <a:solidFill>
                  <a:srgbClr val="475569"/>
                </a:solidFill>
              </a:rPr>
              <a:t>  Cách ly vật lý triệt tiêu hoàn toàn mọi khả năng xâm nhập từ xa.</a:t>
            </a:r>
          </a:p>
          <a:p>
            <a:pPr>
              <a:spcAft>
                <a:spcPts val="400"/>
              </a:spcAft>
              <a:defRPr sz="1050" b="1">
                <a:solidFill>
                  <a:srgbClr val="0F172A"/>
                </a:solidFill>
                <a:latin typeface="Segoe UI"/>
              </a:defRPr>
            </a:pPr>
            <a:r>
              <a:t>• Tính sẵn sàng cao:</a:t>
            </a:r>
            <a:br/>
            <a:r>
              <a:rPr b="0" sz="1000">
                <a:solidFill>
                  <a:srgbClr val="475569"/>
                </a:solidFill>
              </a:rPr>
              <a:t>  Hoạt động liên tục 24/7 ngay cả trong điều kiện mạng viễn thông sập.</a:t>
            </a:r>
          </a:p>
        </p:txBody>
      </p:sp>
      <p:sp>
        <p:nvSpPr>
          <p:cNvPr id="12" name="Rounded Rectangle 11"/>
          <p:cNvSpPr/>
          <p:nvPr/>
        </p:nvSpPr>
        <p:spPr>
          <a:xfrm>
            <a:off x="8083296" y="1234440"/>
            <a:ext cx="3364992" cy="370332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66176" y="1417320"/>
            <a:ext cx="2999232" cy="3337560"/>
          </a:xfrm>
          <a:prstGeom prst="rect">
            <a:avLst/>
          </a:prstGeom>
          <a:noFill/>
        </p:spPr>
        <p:txBody>
          <a:bodyPr wrap="square">
            <a:spAutoFit/>
          </a:bodyPr>
          <a:lstStyle/>
          <a:p>
            <a:pPr>
              <a:spcAft>
                <a:spcPts val="800"/>
              </a:spcAft>
              <a:defRPr sz="1400" b="1">
                <a:solidFill>
                  <a:srgbClr val="10B981"/>
                </a:solidFill>
                <a:latin typeface="Segoe UI"/>
              </a:defRPr>
            </a:pPr>
            <a:r>
              <a:t>🟢 Vai Trò Của SPI Flash (NVM)</a:t>
            </a:r>
          </a:p>
          <a:p>
            <a:pPr>
              <a:spcAft>
                <a:spcPts val="400"/>
              </a:spcAft>
              <a:defRPr sz="1050" b="1">
                <a:solidFill>
                  <a:srgbClr val="0F172A"/>
                </a:solidFill>
                <a:latin typeface="Segoe UI"/>
              </a:defRPr>
            </a:pPr>
            <a:r>
              <a:t>• Lưu trữ bất biến &gt; 20 năm:</a:t>
            </a:r>
            <a:br/>
            <a:r>
              <a:rPr b="0" sz="1000">
                <a:solidFill>
                  <a:srgbClr val="475569"/>
                </a:solidFill>
              </a:rPr>
              <a:t>  Danh sách thẻ Whitelist và nhật ký ra vào an toàn khi mất điện.</a:t>
            </a:r>
          </a:p>
          <a:p>
            <a:pPr>
              <a:spcAft>
                <a:spcPts val="400"/>
              </a:spcAft>
              <a:defRPr sz="1050" b="1">
                <a:solidFill>
                  <a:srgbClr val="0F172A"/>
                </a:solidFill>
                <a:latin typeface="Segoe UI"/>
              </a:defRPr>
            </a:pPr>
            <a:r>
              <a:t>• Dung lượng lớn chi phí thấp:</a:t>
            </a:r>
            <a:br/>
            <a:r>
              <a:rPr b="0" sz="1000">
                <a:solidFill>
                  <a:srgbClr val="475569"/>
                </a:solidFill>
              </a:rPr>
              <a:t>  Chip 32 Mbit (4MB) chứa được 4096 thẻ và 512 bản ghi nhật ký.</a:t>
            </a:r>
          </a:p>
          <a:p>
            <a:pPr>
              <a:spcAft>
                <a:spcPts val="400"/>
              </a:spcAft>
              <a:defRPr sz="1050" b="1">
                <a:solidFill>
                  <a:srgbClr val="0F172A"/>
                </a:solidFill>
                <a:latin typeface="Segoe UI"/>
              </a:defRPr>
            </a:pPr>
            <a:r>
              <a:t>• Tiết kiệm chân I/O tối đa:</a:t>
            </a:r>
            <a:br/>
            <a:r>
              <a:rPr b="0" sz="1000">
                <a:solidFill>
                  <a:srgbClr val="475569"/>
                </a:solidFill>
              </a:rPr>
              <a:t>  Chuẩn SPI chỉ cần 4 đường (CS, SCK, MOSI, MISO), rất lý tưởng cho ASIC.</a:t>
            </a:r>
          </a:p>
          <a:p>
            <a:pPr>
              <a:spcAft>
                <a:spcPts val="400"/>
              </a:spcAft>
              <a:defRPr sz="1050" b="1">
                <a:solidFill>
                  <a:srgbClr val="0F172A"/>
                </a:solidFill>
                <a:latin typeface="Segoe UI"/>
              </a:defRPr>
            </a:pPr>
            <a:r>
              <a:t>• Bảo trì &amp; trích xuất tiện lợi:</a:t>
            </a:r>
            <a:br/>
            <a:r>
              <a:rPr b="0" sz="1000">
                <a:solidFill>
                  <a:srgbClr val="475569"/>
                </a:solidFill>
              </a:rPr>
              <a:t>  Cắm máy tính qua UART để nạp danh mục thẻ hoặc xuất file CSV an toàn.</a:t>
            </a:r>
          </a:p>
        </p:txBody>
      </p:sp>
      <p:sp>
        <p:nvSpPr>
          <p:cNvPr id="14" name="Rounded Rectangle 13"/>
          <p:cNvSpPr/>
          <p:nvPr/>
        </p:nvSpPr>
        <p:spPr>
          <a:xfrm>
            <a:off x="731520" y="5120640"/>
            <a:ext cx="10728655" cy="1051560"/>
          </a:xfrm>
          <a:prstGeom prst="roundRect">
            <a:avLst/>
          </a:prstGeom>
          <a:solidFill>
            <a:srgbClr val="F1F5F9"/>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5193792"/>
            <a:ext cx="10271455" cy="914400"/>
          </a:xfrm>
          <a:prstGeom prst="rect">
            <a:avLst/>
          </a:prstGeom>
          <a:noFill/>
        </p:spPr>
        <p:txBody>
          <a:bodyPr wrap="square">
            <a:spAutoFit/>
          </a:bodyPr>
          <a:lstStyle/>
          <a:p>
            <a:pPr>
              <a:spcAft>
                <a:spcPts val="300"/>
              </a:spcAft>
              <a:defRPr sz="1150" b="1">
                <a:solidFill>
                  <a:srgbClr val="2563EB"/>
                </a:solidFill>
                <a:latin typeface="Segoe UI"/>
              </a:defRPr>
            </a:pPr>
            <a:r>
              <a:t>💡 KẾT LUẬN CHIẾN LƯỢC: ĐỊNH HƯỚNG THIẾT KẾ ACCESS CONTROL STANDALONE</a:t>
            </a:r>
          </a:p>
          <a:p>
            <a:pPr>
              <a:defRPr sz="1050">
                <a:solidFill>
                  <a:srgbClr val="0F172A"/>
                </a:solidFill>
                <a:latin typeface="Segoe UI"/>
              </a:defRPr>
            </a:pPr>
            <a:r>
              <a:t>Hệ thống Standalone giải quyết triệt để rủi ro bảo mật &amp; độ trễ thông qua kiến trúc xử lý cục bộ — Phù hợp tuyệt đối cho kho quân sự, phòng máy chủ, phòng sạch bán dẫn và các khu vực bảo mật nghiêm ngặt.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CHƯƠNG 2 | KIẾN TRÚC HỆ THỐNG PHẦN CỨNG</a:t>
            </a:r>
          </a:p>
          <a:p>
            <a:pPr>
              <a:defRPr sz="1900" b="1">
                <a:solidFill>
                  <a:srgbClr val="0F172A"/>
                </a:solidFill>
                <a:latin typeface="Segoe UI"/>
              </a:defRPr>
            </a:pPr>
            <a:r>
              <a:t>Sơ Đồ Khối Kiến Trúc Vi Hệ Thống SoC PicoRV32 Tích Hợp (Hình 1)</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7315200" cy="274320"/>
          </a:xfrm>
          <a:prstGeom prst="rect">
            <a:avLst/>
          </a:prstGeom>
          <a:noFill/>
        </p:spPr>
        <p:txBody>
          <a:bodyPr wrap="none">
            <a:spAutoFit/>
          </a:bodyPr>
          <a:lstStyle/>
          <a:p>
            <a:pPr>
              <a:defRPr sz="950">
                <a:solidFill>
                  <a:srgbClr val="475569"/>
                </a:solidFill>
                <a:latin typeface="Segoe UI"/>
              </a:defRPr>
            </a:pPr>
            <a:r>
              <a:t>PicoRV32 RFID Access Controller SoC | SkyWater 130nm ASIC &amp; Basys 3 Demo</a:t>
            </a:r>
          </a:p>
        </p:txBody>
      </p:sp>
      <p:sp>
        <p:nvSpPr>
          <p:cNvPr id="7" name="TextBox 6"/>
          <p:cNvSpPr txBox="1"/>
          <p:nvPr/>
        </p:nvSpPr>
        <p:spPr>
          <a:xfrm>
            <a:off x="10058400" y="6492240"/>
            <a:ext cx="1401775" cy="274320"/>
          </a:xfrm>
          <a:prstGeom prst="rect">
            <a:avLst/>
          </a:prstGeom>
          <a:noFill/>
        </p:spPr>
        <p:txBody>
          <a:bodyPr wrap="none">
            <a:spAutoFit/>
          </a:bodyPr>
          <a:lstStyle/>
          <a:p>
            <a:pPr algn="r">
              <a:defRPr sz="950" b="1">
                <a:solidFill>
                  <a:srgbClr val="2563EB"/>
                </a:solidFill>
                <a:latin typeface="Segoe UI"/>
              </a:defRPr>
            </a:pPr>
            <a:r>
              <a:t>03 / 25</a:t>
            </a:r>
          </a:p>
        </p:txBody>
      </p:sp>
      <p:pic>
        <p:nvPicPr>
          <p:cNvPr id="8" name="Picture 7" descr="fig1_block_diagram.png"/>
          <p:cNvPicPr>
            <a:picLocks noChangeAspect="1"/>
          </p:cNvPicPr>
          <p:nvPr/>
        </p:nvPicPr>
        <p:blipFill>
          <a:blip r:embed="rId2"/>
          <a:stretch>
            <a:fillRect/>
          </a:stretch>
        </p:blipFill>
        <p:spPr>
          <a:xfrm>
            <a:off x="731520" y="1234440"/>
            <a:ext cx="6949440" cy="4046509"/>
          </a:xfrm>
          <a:prstGeom prst="rect">
            <a:avLst/>
          </a:prstGeom>
        </p:spPr>
      </p:pic>
      <p:sp>
        <p:nvSpPr>
          <p:cNvPr id="9" name="Rounded Rectangle 8"/>
          <p:cNvSpPr/>
          <p:nvPr/>
        </p:nvSpPr>
        <p:spPr>
          <a:xfrm>
            <a:off x="7909560" y="1234440"/>
            <a:ext cx="3547872" cy="489204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92440" y="1371600"/>
            <a:ext cx="3182112" cy="4572000"/>
          </a:xfrm>
          <a:prstGeom prst="rect">
            <a:avLst/>
          </a:prstGeom>
          <a:noFill/>
        </p:spPr>
        <p:txBody>
          <a:bodyPr wrap="square">
            <a:spAutoFit/>
          </a:bodyPr>
          <a:lstStyle/>
          <a:p>
            <a:pPr>
              <a:spcAft>
                <a:spcPts val="1000"/>
              </a:spcAft>
              <a:defRPr sz="1500" b="1">
                <a:solidFill>
                  <a:srgbClr val="2563EB"/>
                </a:solidFill>
                <a:latin typeface="Segoe UI"/>
              </a:defRPr>
            </a:pPr>
            <a:r>
              <a:t>Đặc Điểm Cốt Lõi SoC</a:t>
            </a:r>
          </a:p>
          <a:p>
            <a:pPr>
              <a:spcAft>
                <a:spcPts val="400"/>
              </a:spcAft>
              <a:defRPr sz="1100" b="1">
                <a:solidFill>
                  <a:srgbClr val="0F172A"/>
                </a:solidFill>
                <a:latin typeface="Segoe UI"/>
              </a:defRPr>
            </a:pPr>
            <a:r>
              <a:t>▸ CPU PicoRV32 (Master): </a:t>
            </a:r>
            <a:r>
              <a:rPr b="0" sz="1050">
                <a:solidFill>
                  <a:srgbClr val="475569"/>
                </a:solidFill>
              </a:rPr>
              <a:t>Lõi vi xử lý RV32I (rtl/core/picorv32.v), điều khiển bus mem_valid/mem_ready.</a:t>
            </a:r>
          </a:p>
          <a:p>
            <a:pPr>
              <a:spcAft>
                <a:spcPts val="400"/>
              </a:spcAft>
              <a:defRPr sz="1100" b="1">
                <a:solidFill>
                  <a:srgbClr val="0F172A"/>
                </a:solidFill>
                <a:latin typeface="Segoe UI"/>
              </a:defRPr>
            </a:pPr>
            <a:r>
              <a:t>▸ 1KB Data SRAM (Slave 0): </a:t>
            </a:r>
            <a:r>
              <a:rPr b="0" sz="1050">
                <a:solidFill>
                  <a:srgbClr val="475569"/>
                </a:solidFill>
              </a:rPr>
              <a:t>rtl/core/data_sram.v chứa Stack (sp = 0x400), biến .data, .bss và flashio_worker.</a:t>
            </a:r>
          </a:p>
          <a:p>
            <a:pPr>
              <a:spcAft>
                <a:spcPts val="400"/>
              </a:spcAft>
              <a:defRPr sz="1100" b="1">
                <a:solidFill>
                  <a:srgbClr val="0F172A"/>
                </a:solidFill>
                <a:latin typeface="Segoe UI"/>
              </a:defRPr>
            </a:pPr>
            <a:r>
              <a:t>▸ Flash SPI XIP (Slave 1): </a:t>
            </a:r>
            <a:r>
              <a:rPr b="0" sz="1050">
                <a:solidFill>
                  <a:srgbClr val="475569"/>
                </a:solidFill>
              </a:rPr>
              <a:t>rtl/core/spimemio.v thực thi mã máy từ Flash tại 0x0025_0000 và hỗ trợ bit-bang.</a:t>
            </a:r>
          </a:p>
          <a:p>
            <a:pPr>
              <a:spcAft>
                <a:spcPts val="400"/>
              </a:spcAft>
              <a:defRPr sz="1100" b="1">
                <a:solidFill>
                  <a:srgbClr val="0F172A"/>
                </a:solidFill>
                <a:latin typeface="Segoe UI"/>
              </a:defRPr>
            </a:pPr>
            <a:r>
              <a:t>▸ Giải Mã RDM6300 (Slave 2): </a:t>
            </a:r>
            <a:r>
              <a:rPr b="0" sz="1050">
                <a:solidFill>
                  <a:srgbClr val="475569"/>
                </a:solidFill>
              </a:rPr>
              <a:t>rtl/rdm6300/rdm6300_mmio.v tự động nhận dạng STX/ETX, đối chiếu Checksum 20ns.</a:t>
            </a:r>
          </a:p>
          <a:p>
            <a:pPr>
              <a:spcAft>
                <a:spcPts val="400"/>
              </a:spcAft>
              <a:defRPr sz="1100" b="1">
                <a:solidFill>
                  <a:srgbClr val="0F172A"/>
                </a:solidFill>
                <a:latin typeface="Segoe UI"/>
              </a:defRPr>
            </a:pPr>
            <a:r>
              <a:t>▸ Host PC UART FIFO (Slave 3): </a:t>
            </a:r>
            <a:r>
              <a:rPr b="0" sz="1050">
                <a:solidFill>
                  <a:srgbClr val="475569"/>
                </a:solidFill>
              </a:rPr>
              <a:t>rtl/host/host_uart_mmio.v tích hợp đệm kép FIFO 32B chống nghẽn bus khi CPU ghi Flash.</a:t>
            </a:r>
          </a:p>
          <a:p>
            <a:pPr>
              <a:spcAft>
                <a:spcPts val="400"/>
              </a:spcAft>
              <a:defRPr sz="1100" b="1">
                <a:solidFill>
                  <a:srgbClr val="0F172A"/>
                </a:solidFill>
                <a:latin typeface="Segoe UI"/>
              </a:defRPr>
            </a:pPr>
            <a:r>
              <a:t>▸ 16 Đèn LED GPIO (Slave 4): </a:t>
            </a:r>
            <a:r>
              <a:rPr b="0" sz="1050">
                <a:solidFill>
                  <a:srgbClr val="475569"/>
                </a:solidFill>
              </a:rPr>
              <a:t>rtl/core/soc_gpio_mmio.v giám sát nhịp tim hệ thống (1Hz), cờ bận Flash và xác thực thẻ.</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CHƯƠNG 3 | QUY TRÌNH THIẾT KẾ TUẦN TỰ</a:t>
            </a:r>
          </a:p>
          <a:p>
            <a:pPr>
              <a:defRPr sz="1900" b="1">
                <a:solidFill>
                  <a:srgbClr val="0F172A"/>
                </a:solidFill>
                <a:latin typeface="Segoe UI"/>
              </a:defRPr>
            </a:pPr>
            <a:r>
              <a:t>3.1. Bước 1: Lựa Chọn Tài Nguyên Phần Cứng &amp; Phần Mềm</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7315200" cy="274320"/>
          </a:xfrm>
          <a:prstGeom prst="rect">
            <a:avLst/>
          </a:prstGeom>
          <a:noFill/>
        </p:spPr>
        <p:txBody>
          <a:bodyPr wrap="none">
            <a:spAutoFit/>
          </a:bodyPr>
          <a:lstStyle/>
          <a:p>
            <a:pPr>
              <a:defRPr sz="950">
                <a:solidFill>
                  <a:srgbClr val="475569"/>
                </a:solidFill>
                <a:latin typeface="Segoe UI"/>
              </a:defRPr>
            </a:pPr>
            <a:r>
              <a:t>PicoRV32 RFID Access Controller SoC | SkyWater 130nm ASIC &amp; Basys 3 Demo</a:t>
            </a:r>
          </a:p>
        </p:txBody>
      </p:sp>
      <p:sp>
        <p:nvSpPr>
          <p:cNvPr id="7" name="TextBox 6"/>
          <p:cNvSpPr txBox="1"/>
          <p:nvPr/>
        </p:nvSpPr>
        <p:spPr>
          <a:xfrm>
            <a:off x="10058400" y="6492240"/>
            <a:ext cx="1401775" cy="274320"/>
          </a:xfrm>
          <a:prstGeom prst="rect">
            <a:avLst/>
          </a:prstGeom>
          <a:noFill/>
        </p:spPr>
        <p:txBody>
          <a:bodyPr wrap="none">
            <a:spAutoFit/>
          </a:bodyPr>
          <a:lstStyle/>
          <a:p>
            <a:pPr algn="r">
              <a:defRPr sz="950" b="1">
                <a:solidFill>
                  <a:srgbClr val="2563EB"/>
                </a:solidFill>
                <a:latin typeface="Segoe UI"/>
              </a:defRPr>
            </a:pPr>
            <a:r>
              <a:t>04 / 25</a:t>
            </a:r>
          </a:p>
        </p:txBody>
      </p:sp>
      <p:sp>
        <p:nvSpPr>
          <p:cNvPr id="8" name="Rounded Rectangle 7"/>
          <p:cNvSpPr/>
          <p:nvPr/>
        </p:nvSpPr>
        <p:spPr>
          <a:xfrm>
            <a:off x="731520" y="1234440"/>
            <a:ext cx="5212080" cy="37033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417320"/>
            <a:ext cx="4846320" cy="3337560"/>
          </a:xfrm>
          <a:prstGeom prst="rect">
            <a:avLst/>
          </a:prstGeom>
          <a:noFill/>
        </p:spPr>
        <p:txBody>
          <a:bodyPr wrap="square">
            <a:spAutoFit/>
          </a:bodyPr>
          <a:lstStyle/>
          <a:p>
            <a:pPr>
              <a:spcAft>
                <a:spcPts val="800"/>
              </a:spcAft>
              <a:defRPr sz="1400" b="1">
                <a:solidFill>
                  <a:srgbClr val="2563EB"/>
                </a:solidFill>
                <a:latin typeface="Segoe UI"/>
              </a:defRPr>
            </a:pPr>
            <a:r>
              <a:t>🎯 Lựa Chọn Tài Nguyên Phần Cứng</a:t>
            </a:r>
          </a:p>
          <a:p>
            <a:pPr>
              <a:spcAft>
                <a:spcPts val="400"/>
              </a:spcAft>
              <a:defRPr sz="1050" b="1">
                <a:solidFill>
                  <a:srgbClr val="0F172A"/>
                </a:solidFill>
                <a:latin typeface="Segoe UI"/>
              </a:defRPr>
            </a:pPr>
            <a:r>
              <a:t>• Module RFID RDM6300 (125 kHz):</a:t>
            </a:r>
            <a:br/>
            <a:r>
              <a:rPr b="0" sz="1000">
                <a:solidFill>
                  <a:srgbClr val="475569"/>
                </a:solidFill>
              </a:rPr>
              <a:t>  Độ bền công nghiệp cao, hoạt động 5V/3.3V, ngõ ra UART 9600 bps tương thích hoàn hảo mức logic 3.3V của các cổng PMOD.</a:t>
            </a:r>
          </a:p>
          <a:p>
            <a:pPr>
              <a:spcAft>
                <a:spcPts val="400"/>
              </a:spcAft>
              <a:defRPr sz="1050" b="1">
                <a:solidFill>
                  <a:srgbClr val="0F172A"/>
                </a:solidFill>
                <a:latin typeface="Segoe UI"/>
              </a:defRPr>
            </a:pPr>
            <a:r>
              <a:t>• Bo mạch FPGA Digilent Basys 3 (XC7A35T):</a:t>
            </a:r>
            <a:br/>
            <a:r>
              <a:rPr b="0" sz="1000">
                <a:solidFill>
                  <a:srgbClr val="475569"/>
                </a:solidFill>
              </a:rPr>
              <a:t>  NỀN TẢNG DEMO VÀ TẠO MẪU PHẦN CỨNG (Hardware Prototype Platform). Tích hợp chip SPI Flash 32 Mbit (Spansion S25FL032P), chip USB-UART FTDI, 16 LED và cổng PMOD tiêu chuẩn.</a:t>
            </a:r>
          </a:p>
          <a:p>
            <a:pPr>
              <a:spcAft>
                <a:spcPts val="400"/>
              </a:spcAft>
              <a:defRPr sz="1050" b="1">
                <a:solidFill>
                  <a:srgbClr val="0F172A"/>
                </a:solidFill>
                <a:latin typeface="Segoe UI"/>
              </a:defRPr>
            </a:pPr>
            <a:r>
              <a:t>• Ý nghĩa kiểm chứng thực nghiệm:</a:t>
            </a:r>
            <a:br/>
            <a:r>
              <a:rPr b="0" sz="1000">
                <a:solidFill>
                  <a:srgbClr val="475569"/>
                </a:solidFill>
              </a:rPr>
              <a:t>  Cho phép xác thực hệ vi mạch SoC, firmware và thẻ RFID thật hoạt động ổn định 100% trong điều kiện nhiễu trước khi chuyển sang ASIC.</a:t>
            </a:r>
          </a:p>
        </p:txBody>
      </p:sp>
      <p:sp>
        <p:nvSpPr>
          <p:cNvPr id="10" name="Rounded Rectangle 9"/>
          <p:cNvSpPr/>
          <p:nvPr/>
        </p:nvSpPr>
        <p:spPr>
          <a:xfrm>
            <a:off x="6248095" y="1234440"/>
            <a:ext cx="5212080" cy="3703320"/>
          </a:xfrm>
          <a:prstGeom prst="round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30975" y="1417320"/>
            <a:ext cx="4846320" cy="3337560"/>
          </a:xfrm>
          <a:prstGeom prst="rect">
            <a:avLst/>
          </a:prstGeom>
          <a:noFill/>
        </p:spPr>
        <p:txBody>
          <a:bodyPr wrap="square">
            <a:spAutoFit/>
          </a:bodyPr>
          <a:lstStyle/>
          <a:p>
            <a:pPr>
              <a:spcAft>
                <a:spcPts val="800"/>
              </a:spcAft>
              <a:defRPr sz="1400" b="1">
                <a:solidFill>
                  <a:srgbClr val="7C3AED"/>
                </a:solidFill>
                <a:latin typeface="Segoe UI"/>
              </a:defRPr>
            </a:pPr>
            <a:r>
              <a:t>⚙️ Chuỗi Công Cụ Phát Triển Phần Mềm</a:t>
            </a:r>
          </a:p>
          <a:p>
            <a:pPr>
              <a:spcAft>
                <a:spcPts val="300"/>
              </a:spcAft>
              <a:defRPr sz="1000" b="1">
                <a:solidFill>
                  <a:srgbClr val="0F172A"/>
                </a:solidFill>
                <a:latin typeface="Segoe UI"/>
              </a:defRPr>
            </a:pPr>
            <a:r>
              <a:t>• Xilinx Vivado ML Edition:</a:t>
            </a:r>
            <a:br/>
            <a:r>
              <a:rPr b="0" sz="950">
                <a:solidFill>
                  <a:srgbClr val="475569"/>
                </a:solidFill>
              </a:rPr>
              <a:t>  Tổng hợp RTL, gán chân ràng buộc vật lý XDC (basys3_picorv32_rdm6300.xdc), nạp bitstream demo trên Basys 3.</a:t>
            </a:r>
          </a:p>
          <a:p>
            <a:pPr>
              <a:spcAft>
                <a:spcPts val="300"/>
              </a:spcAft>
              <a:defRPr sz="1000" b="1">
                <a:solidFill>
                  <a:srgbClr val="0F172A"/>
                </a:solidFill>
                <a:latin typeface="Segoe UI"/>
              </a:defRPr>
            </a:pPr>
            <a:r>
              <a:t>• OpenLane 2 &amp; SkyWater 130nm PDK:</a:t>
            </a:r>
            <a:br/>
            <a:r>
              <a:rPr b="0" sz="950">
                <a:solidFill>
                  <a:srgbClr val="475569"/>
                </a:solidFill>
              </a:rPr>
              <a:t>  Thực thi toàn bộ luồng tổng hợp vật lý RTL-to-GDSII ra layout bán dẫn hoàn chỉnh cho xưởng đúc.</a:t>
            </a:r>
          </a:p>
          <a:p>
            <a:pPr>
              <a:spcAft>
                <a:spcPts val="300"/>
              </a:spcAft>
              <a:defRPr sz="1000" b="1">
                <a:solidFill>
                  <a:srgbClr val="0F172A"/>
                </a:solidFill>
                <a:latin typeface="Segoe UI"/>
              </a:defRPr>
            </a:pPr>
            <a:r>
              <a:t>• GNU RISC-V Toolchain (riscv32-unknown-elf-gcc):</a:t>
            </a:r>
            <a:br/>
            <a:r>
              <a:rPr b="0" sz="950">
                <a:solidFill>
                  <a:srgbClr val="475569"/>
                </a:solidFill>
              </a:rPr>
              <a:t>  Biên dịch mã nguồn C bare-metal và file khởi động Assembly start.s thành tệp mã máy nhị phân firmware.hex.</a:t>
            </a:r>
          </a:p>
          <a:p>
            <a:pPr>
              <a:spcAft>
                <a:spcPts val="300"/>
              </a:spcAft>
              <a:defRPr sz="1000" b="1">
                <a:solidFill>
                  <a:srgbClr val="0F172A"/>
                </a:solidFill>
                <a:latin typeface="Segoe UI"/>
              </a:defRPr>
            </a:pPr>
            <a:r>
              <a:t>• Host PC Console (host/main.c):</a:t>
            </a:r>
            <a:br/>
            <a:r>
              <a:rPr b="0" sz="950">
                <a:solidFill>
                  <a:srgbClr val="475569"/>
                </a:solidFill>
              </a:rPr>
              <a:t>  Phát triển bằng ngôn ngữ C thuần trên Win32 Serial API, đóng vai trò giao diện điều khiển trung tâm.</a:t>
            </a:r>
          </a:p>
        </p:txBody>
      </p:sp>
      <p:sp>
        <p:nvSpPr>
          <p:cNvPr id="12" name="Rounded Rectangle 11"/>
          <p:cNvSpPr/>
          <p:nvPr/>
        </p:nvSpPr>
        <p:spPr>
          <a:xfrm>
            <a:off x="731520" y="5120640"/>
            <a:ext cx="10728655" cy="1051560"/>
          </a:xfrm>
          <a:prstGeom prst="roundRect">
            <a:avLst/>
          </a:prstGeom>
          <a:solidFill>
            <a:srgbClr val="F1F5F9"/>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5193792"/>
            <a:ext cx="10271455" cy="914400"/>
          </a:xfrm>
          <a:prstGeom prst="rect">
            <a:avLst/>
          </a:prstGeom>
          <a:noFill/>
        </p:spPr>
        <p:txBody>
          <a:bodyPr wrap="square">
            <a:spAutoFit/>
          </a:bodyPr>
          <a:lstStyle/>
          <a:p>
            <a:pPr>
              <a:spcAft>
                <a:spcPts val="300"/>
              </a:spcAft>
              <a:defRPr sz="1150" b="1">
                <a:solidFill>
                  <a:srgbClr val="2563EB"/>
                </a:solidFill>
                <a:latin typeface="Segoe UI"/>
              </a:defRPr>
            </a:pPr>
            <a:r>
              <a:t>💡 Ý NGHĨA CHIẾN LƯỢC CỦA BƯỚC CHỌN TÀI NGUYÊN:</a:t>
            </a:r>
          </a:p>
          <a:p>
            <a:pPr>
              <a:defRPr sz="1050">
                <a:solidFill>
                  <a:srgbClr val="0F172A"/>
                </a:solidFill>
                <a:latin typeface="Segoe UI"/>
              </a:defRPr>
            </a:pPr>
            <a:r>
              <a:t>Sự phối hợp giữa bo mạch FPGA Basys 3 (môi trường kiểm chứng thực nghiệm) và OpenLane 2 (luồng thiết kế vi mạch ASIC Sky130) giúp đảm bảo thiết kế chạy đúng 100% trên phần cứng thật trước khi gửi tape-out.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CHƯƠNG 3 | QUY TRÌNH THIẾT KẾ TUẦN TỰ</a:t>
            </a:r>
          </a:p>
          <a:p>
            <a:pPr>
              <a:defRPr sz="1900" b="1">
                <a:solidFill>
                  <a:srgbClr val="0F172A"/>
                </a:solidFill>
                <a:latin typeface="Segoe UI"/>
              </a:defRPr>
            </a:pPr>
            <a:r>
              <a:t>3.2. Bước 2: Thiết Kế Firmware &amp; Định Nghĩa Giao Thức Trước</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7315200" cy="274320"/>
          </a:xfrm>
          <a:prstGeom prst="rect">
            <a:avLst/>
          </a:prstGeom>
          <a:noFill/>
        </p:spPr>
        <p:txBody>
          <a:bodyPr wrap="none">
            <a:spAutoFit/>
          </a:bodyPr>
          <a:lstStyle/>
          <a:p>
            <a:pPr>
              <a:defRPr sz="950">
                <a:solidFill>
                  <a:srgbClr val="475569"/>
                </a:solidFill>
                <a:latin typeface="Segoe UI"/>
              </a:defRPr>
            </a:pPr>
            <a:r>
              <a:t>PicoRV32 RFID Access Controller SoC | SkyWater 130nm ASIC &amp; Basys 3 Demo</a:t>
            </a:r>
          </a:p>
        </p:txBody>
      </p:sp>
      <p:sp>
        <p:nvSpPr>
          <p:cNvPr id="7" name="TextBox 6"/>
          <p:cNvSpPr txBox="1"/>
          <p:nvPr/>
        </p:nvSpPr>
        <p:spPr>
          <a:xfrm>
            <a:off x="10058400" y="6492240"/>
            <a:ext cx="1401775" cy="274320"/>
          </a:xfrm>
          <a:prstGeom prst="rect">
            <a:avLst/>
          </a:prstGeom>
          <a:noFill/>
        </p:spPr>
        <p:txBody>
          <a:bodyPr wrap="none">
            <a:spAutoFit/>
          </a:bodyPr>
          <a:lstStyle/>
          <a:p>
            <a:pPr algn="r">
              <a:defRPr sz="950" b="1">
                <a:solidFill>
                  <a:srgbClr val="2563EB"/>
                </a:solidFill>
                <a:latin typeface="Segoe UI"/>
              </a:defRPr>
            </a:pPr>
            <a:r>
              <a:t>05 / 25</a:t>
            </a:r>
          </a:p>
        </p:txBody>
      </p:sp>
      <p:sp>
        <p:nvSpPr>
          <p:cNvPr id="8" name="Rounded Rectangle 7"/>
          <p:cNvSpPr/>
          <p:nvPr/>
        </p:nvSpPr>
        <p:spPr>
          <a:xfrm>
            <a:off x="731520" y="1234440"/>
            <a:ext cx="5212080" cy="37033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417320"/>
            <a:ext cx="4846320" cy="3337560"/>
          </a:xfrm>
          <a:prstGeom prst="rect">
            <a:avLst/>
          </a:prstGeom>
          <a:noFill/>
        </p:spPr>
        <p:txBody>
          <a:bodyPr wrap="square">
            <a:spAutoFit/>
          </a:bodyPr>
          <a:lstStyle/>
          <a:p>
            <a:pPr>
              <a:spcAft>
                <a:spcPts val="800"/>
              </a:spcAft>
              <a:defRPr sz="1400" b="1">
                <a:solidFill>
                  <a:srgbClr val="2563EB"/>
                </a:solidFill>
                <a:latin typeface="Segoe UI"/>
              </a:defRPr>
            </a:pPr>
            <a:r>
              <a:t>🎯 Triết Lý Software-First &amp; Quy Hoạch Flash</a:t>
            </a:r>
          </a:p>
          <a:p>
            <a:pPr>
              <a:spcAft>
                <a:spcPts val="400"/>
              </a:spcAft>
              <a:defRPr sz="1050" b="1">
                <a:solidFill>
                  <a:srgbClr val="0F172A"/>
                </a:solidFill>
                <a:latin typeface="Segoe UI"/>
              </a:defRPr>
            </a:pPr>
            <a:r>
              <a:t>• Triết lý thiết kế Software-First:</a:t>
            </a:r>
            <a:br/>
            <a:r>
              <a:rPr b="0" sz="1000">
                <a:solidFill>
                  <a:srgbClr val="475569"/>
                </a:solidFill>
              </a:rPr>
              <a:t>  Xác định các chức năng và giao thức phần mềm trước giúp định hình chính xác các thanh ghi ngoại vi và cấu trúc bus phần cứng cần thiết, tránh lãng phí diện tích silicon.</a:t>
            </a:r>
          </a:p>
          <a:p>
            <a:pPr>
              <a:spcAft>
                <a:spcPts val="400"/>
              </a:spcAft>
              <a:defRPr sz="1050" b="1">
                <a:solidFill>
                  <a:srgbClr val="0F172A"/>
                </a:solidFill>
                <a:latin typeface="Segoe UI"/>
              </a:defRPr>
            </a:pPr>
            <a:r>
              <a:t>• Sector 48 (0x0030_0000) - Danh mục thẻ hợp lệ:</a:t>
            </a:r>
            <a:br/>
            <a:r>
              <a:rPr b="0" sz="1000">
                <a:solidFill>
                  <a:srgbClr val="475569"/>
                </a:solidFill>
              </a:rPr>
              <a:t>  Dung lượng 64KB chứa tối đa 4096 bản ghi thẻ. Mỗi bản ghi 16 bytes: 4B Magic ('RFID' - 0x52464944), 4B UID High, 4B UID Low, 4B Flags trạng thái.</a:t>
            </a:r>
          </a:p>
          <a:p>
            <a:pPr>
              <a:spcAft>
                <a:spcPts val="400"/>
              </a:spcAft>
              <a:defRPr sz="1050" b="1">
                <a:solidFill>
                  <a:srgbClr val="0F172A"/>
                </a:solidFill>
                <a:latin typeface="Segoe UI"/>
              </a:defRPr>
            </a:pPr>
            <a:r>
              <a:t>• Sector 49 (0x0031_0000) - Nhật ký quẹt thẻ:</a:t>
            </a:r>
            <a:br/>
            <a:r>
              <a:rPr b="0" sz="1000">
                <a:solidFill>
                  <a:srgbClr val="475569"/>
                </a:solidFill>
              </a:rPr>
              <a:t>  Chứa tối đa 512 bản ghi nhật ký. Mỗi bản ghi 16 bytes: 4B Magic ('SUCC' hoặc 'FAIL'), 4B UID thẻ đã quẹt, 4B thứ tự lượt quẹt và 4B địa chỉ slot.</a:t>
            </a:r>
          </a:p>
        </p:txBody>
      </p:sp>
      <p:sp>
        <p:nvSpPr>
          <p:cNvPr id="10" name="Rounded Rectangle 9"/>
          <p:cNvSpPr/>
          <p:nvPr/>
        </p:nvSpPr>
        <p:spPr>
          <a:xfrm>
            <a:off x="6248095" y="1234440"/>
            <a:ext cx="5212080" cy="370332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30975" y="1417320"/>
            <a:ext cx="4846320" cy="3337560"/>
          </a:xfrm>
          <a:prstGeom prst="rect">
            <a:avLst/>
          </a:prstGeom>
          <a:noFill/>
        </p:spPr>
        <p:txBody>
          <a:bodyPr wrap="square">
            <a:spAutoFit/>
          </a:bodyPr>
          <a:lstStyle/>
          <a:p>
            <a:pPr>
              <a:spcAft>
                <a:spcPts val="800"/>
              </a:spcAft>
              <a:defRPr sz="1400" b="1">
                <a:solidFill>
                  <a:srgbClr val="10B981"/>
                </a:solidFill>
                <a:latin typeface="Segoe UI"/>
              </a:defRPr>
            </a:pPr>
            <a:r>
              <a:t>📡 Tập Lệnh UART &amp; Hàm Cốt Lõi C</a:t>
            </a:r>
          </a:p>
          <a:p>
            <a:pPr>
              <a:spcAft>
                <a:spcPts val="400"/>
              </a:spcAft>
              <a:defRPr sz="1050" b="1">
                <a:solidFill>
                  <a:srgbClr val="0F172A"/>
                </a:solidFill>
                <a:latin typeface="Segoe UI"/>
              </a:defRPr>
            </a:pPr>
            <a:r>
              <a:t>• Giao thức tập lệnh ASCII kết thúc bằng '\n':</a:t>
            </a:r>
            <a:br/>
            <a:r>
              <a:rPr b="0" sz="1000">
                <a:solidFill>
                  <a:srgbClr val="475569"/>
                </a:solidFill>
              </a:rPr>
              <a:t>  Chuẩn hóa giao tiếp: 'P' (Ping CPU), 'N&lt;UID&gt;' (Thêm thẻ mới), 'C&lt;UID&gt;' (Kiểm tra thẻ), 'D&lt;UID&gt;' (Xóa thẻ), 'V&lt;UID&gt;' (Quẹt thẻ ảo), 'L' (Đọc nhật ký), 'X' (Xóa nhật ký sau sao lưu), 'E' (Xóa hết thẻ), 'S' (Trạng thái SoC).</a:t>
            </a:r>
          </a:p>
          <a:p>
            <a:pPr>
              <a:spcAft>
                <a:spcPts val="400"/>
              </a:spcAft>
              <a:defRPr sz="1050" b="1">
                <a:solidFill>
                  <a:srgbClr val="0F172A"/>
                </a:solidFill>
                <a:latin typeface="Segoe UI"/>
              </a:defRPr>
            </a:pPr>
            <a:r>
              <a:t>• Hàm xử lý quét thẻ execute_card_scan():</a:t>
            </a:r>
            <a:br/>
            <a:r>
              <a:rPr b="0" sz="1000">
                <a:solidFill>
                  <a:srgbClr val="475569"/>
                </a:solidFill>
              </a:rPr>
              <a:t>  Bóc tách mã thẻ từ thanh ghi phần cứng -&gt; Tra cứu Sector 48 qua find_tag_slot().</a:t>
            </a:r>
          </a:p>
          <a:p>
            <a:pPr>
              <a:spcAft>
                <a:spcPts val="400"/>
              </a:spcAft>
              <a:defRPr sz="1050" b="1">
                <a:solidFill>
                  <a:srgbClr val="0F172A"/>
                </a:solidFill>
                <a:latin typeface="Segoe UI"/>
              </a:defRPr>
            </a:pPr>
            <a:r>
              <a:t>• Xử lý kết quả xác thực tức thì:</a:t>
            </a:r>
            <a:br/>
            <a:r>
              <a:rPr b="0" sz="1000">
                <a:solidFill>
                  <a:srgbClr val="475569"/>
                </a:solidFill>
              </a:rPr>
              <a:t>  Hợp lệ: Bật LED xanh, ghi log SUCC vào Sector 49, xuất 'ACCESS:GRANTED'; Không hợp lệ: Bật LED cảnh báo, ghi log FAIL, xuất 'ACCESS:DENIED'.</a:t>
            </a:r>
          </a:p>
        </p:txBody>
      </p:sp>
      <p:sp>
        <p:nvSpPr>
          <p:cNvPr id="12" name="Rounded Rectangle 11"/>
          <p:cNvSpPr/>
          <p:nvPr/>
        </p:nvSpPr>
        <p:spPr>
          <a:xfrm>
            <a:off x="731520" y="5120640"/>
            <a:ext cx="10728655" cy="1051560"/>
          </a:xfrm>
          <a:prstGeom prst="roundRect">
            <a:avLst/>
          </a:prstGeom>
          <a:solidFill>
            <a:srgbClr val="F0FDF4"/>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5193792"/>
            <a:ext cx="10271455" cy="914400"/>
          </a:xfrm>
          <a:prstGeom prst="rect">
            <a:avLst/>
          </a:prstGeom>
          <a:noFill/>
        </p:spPr>
        <p:txBody>
          <a:bodyPr wrap="square">
            <a:spAutoFit/>
          </a:bodyPr>
          <a:lstStyle/>
          <a:p>
            <a:pPr>
              <a:spcAft>
                <a:spcPts val="300"/>
              </a:spcAft>
              <a:defRPr sz="1150" b="1">
                <a:solidFill>
                  <a:srgbClr val="10B981"/>
                </a:solidFill>
                <a:latin typeface="Segoe UI"/>
              </a:defRPr>
            </a:pPr>
            <a:r>
              <a:t>💡 HIỆU QUẢ CỦA BƯỚC ĐỊNH NGHĨA PHẦN MỀM TRƯỚC:</a:t>
            </a:r>
          </a:p>
          <a:p>
            <a:pPr>
              <a:defRPr sz="1050">
                <a:solidFill>
                  <a:srgbClr val="0F172A"/>
                </a:solidFill>
                <a:latin typeface="Segoe UI"/>
              </a:defRPr>
            </a:pPr>
            <a:r>
              <a:t>Việc đặc tả rõ ràng 11 chức năng và cấu trúc 16-byte cho từng slot giúp kỹ sư thiết kế phần cứng xác định chính xác số lượng thanh ghi MMIO, kích thước bộ đệm FIFO và các đường ngắt IRQ cần thiết mà không bị dư thừa.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CHƯƠNG 3 | QUY TRÌNH THIẾT KẾ TUẦN TỰ</a:t>
            </a:r>
          </a:p>
          <a:p>
            <a:pPr>
              <a:defRPr sz="1900" b="1">
                <a:solidFill>
                  <a:srgbClr val="0F172A"/>
                </a:solidFill>
                <a:latin typeface="Segoe UI"/>
              </a:defRPr>
            </a:pPr>
            <a:r>
              <a:t>3.3. Bước 3: Thiết Kế Khối Xử Lý Trung Tâm: CPU PicoRV32 &amp; 1KB SRAM</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7315200" cy="274320"/>
          </a:xfrm>
          <a:prstGeom prst="rect">
            <a:avLst/>
          </a:prstGeom>
          <a:noFill/>
        </p:spPr>
        <p:txBody>
          <a:bodyPr wrap="none">
            <a:spAutoFit/>
          </a:bodyPr>
          <a:lstStyle/>
          <a:p>
            <a:pPr>
              <a:defRPr sz="950">
                <a:solidFill>
                  <a:srgbClr val="475569"/>
                </a:solidFill>
                <a:latin typeface="Segoe UI"/>
              </a:defRPr>
            </a:pPr>
            <a:r>
              <a:t>PicoRV32 RFID Access Controller SoC | SkyWater 130nm ASIC &amp; Basys 3 Demo</a:t>
            </a:r>
          </a:p>
        </p:txBody>
      </p:sp>
      <p:sp>
        <p:nvSpPr>
          <p:cNvPr id="7" name="TextBox 6"/>
          <p:cNvSpPr txBox="1"/>
          <p:nvPr/>
        </p:nvSpPr>
        <p:spPr>
          <a:xfrm>
            <a:off x="10058400" y="6492240"/>
            <a:ext cx="1401775" cy="274320"/>
          </a:xfrm>
          <a:prstGeom prst="rect">
            <a:avLst/>
          </a:prstGeom>
          <a:noFill/>
        </p:spPr>
        <p:txBody>
          <a:bodyPr wrap="none">
            <a:spAutoFit/>
          </a:bodyPr>
          <a:lstStyle/>
          <a:p>
            <a:pPr algn="r">
              <a:defRPr sz="950" b="1">
                <a:solidFill>
                  <a:srgbClr val="2563EB"/>
                </a:solidFill>
                <a:latin typeface="Segoe UI"/>
              </a:defRPr>
            </a:pPr>
            <a:r>
              <a:t>06 / 25</a:t>
            </a:r>
          </a:p>
        </p:txBody>
      </p:sp>
      <p:sp>
        <p:nvSpPr>
          <p:cNvPr id="8" name="Rounded Rectangle 7"/>
          <p:cNvSpPr/>
          <p:nvPr/>
        </p:nvSpPr>
        <p:spPr>
          <a:xfrm>
            <a:off x="731520" y="1234440"/>
            <a:ext cx="5212080" cy="37033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417320"/>
            <a:ext cx="4846320" cy="3337560"/>
          </a:xfrm>
          <a:prstGeom prst="rect">
            <a:avLst/>
          </a:prstGeom>
          <a:noFill/>
        </p:spPr>
        <p:txBody>
          <a:bodyPr wrap="square">
            <a:spAutoFit/>
          </a:bodyPr>
          <a:lstStyle/>
          <a:p>
            <a:pPr>
              <a:spcAft>
                <a:spcPts val="800"/>
              </a:spcAft>
              <a:defRPr sz="1400" b="1">
                <a:solidFill>
                  <a:srgbClr val="2563EB"/>
                </a:solidFill>
                <a:latin typeface="Segoe UI"/>
              </a:defRPr>
            </a:pPr>
            <a:r>
              <a:t>🧠 Nhân CPU RISC-V PicoRV32 (rtl/core/picorv32.v)</a:t>
            </a:r>
          </a:p>
          <a:p>
            <a:pPr>
              <a:spcAft>
                <a:spcPts val="300"/>
              </a:spcAft>
              <a:defRPr sz="1000" b="1">
                <a:solidFill>
                  <a:srgbClr val="0F172A"/>
                </a:solidFill>
                <a:latin typeface="Segoe UI"/>
              </a:defRPr>
            </a:pPr>
            <a:r>
              <a:t>• Chuẩn tập lệnh RV32I:</a:t>
            </a:r>
            <a:br/>
            <a:r>
              <a:rPr b="0" sz="950">
                <a:solidFill>
                  <a:srgbClr val="475569"/>
                </a:solidFill>
              </a:rPr>
              <a:t>  Cấu hình nhân 32-bit cơ bản RV32I, thiết kế cực kỳ tinh gọn, tối ưu hóa diện tích cho vi mạch SoC nhúng.</a:t>
            </a:r>
          </a:p>
          <a:p>
            <a:pPr>
              <a:spcAft>
                <a:spcPts val="300"/>
              </a:spcAft>
              <a:defRPr sz="1000" b="1">
                <a:solidFill>
                  <a:srgbClr val="0F172A"/>
                </a:solidFill>
                <a:latin typeface="Segoe UI"/>
              </a:defRPr>
            </a:pPr>
            <a:r>
              <a:t>• Giao thức Memory Bus 32-bit:</a:t>
            </a:r>
            <a:br/>
            <a:r>
              <a:rPr b="0" sz="950">
                <a:solidFill>
                  <a:srgbClr val="475569"/>
                </a:solidFill>
              </a:rPr>
              <a:t>  Giao tiếp qua các tín hiệu: mem_valid, mem_ready, mem_addr[31:0], mem_wdata[31:0], mem_wstrb[3:0], mem_rdata[31:0].</a:t>
            </a:r>
          </a:p>
          <a:p>
            <a:pPr>
              <a:spcAft>
                <a:spcPts val="300"/>
              </a:spcAft>
              <a:defRPr sz="1000" b="1">
                <a:solidFill>
                  <a:srgbClr val="0F172A"/>
                </a:solidFill>
                <a:latin typeface="Segoe UI"/>
              </a:defRPr>
            </a:pPr>
            <a:r>
              <a:t>• Mặt nạ ghi byte mem_wstrb[3:0]:</a:t>
            </a:r>
            <a:br/>
            <a:r>
              <a:rPr b="0" sz="950">
                <a:solidFill>
                  <a:srgbClr val="475569"/>
                </a:solidFill>
              </a:rPr>
              <a:t>  Cho phép ghi chính xác từng byte đơn lẻ vào SRAM mà không làm ghi đè dữ liệu lân cận.</a:t>
            </a:r>
          </a:p>
          <a:p>
            <a:pPr>
              <a:spcAft>
                <a:spcPts val="300"/>
              </a:spcAft>
              <a:defRPr sz="1000" b="1">
                <a:solidFill>
                  <a:srgbClr val="0F172A"/>
                </a:solidFill>
                <a:latin typeface="Segoe UI"/>
              </a:defRPr>
            </a:pPr>
            <a:r>
              <a:t>• Khởi động trực tiếp Reset Vector (PROGADDR_RESET):</a:t>
            </a:r>
            <a:br/>
            <a:r>
              <a:rPr b="0" sz="950">
                <a:solidFill>
                  <a:srgbClr val="475569"/>
                </a:solidFill>
              </a:rPr>
              <a:t>  Đặt tại địa chỉ 0x0025_0000 trong SPI Flash. CPU bắt đầu fetch lệnh trực tiếp từ Flash thông qua cơ chế XIP ngay khi nhả reset.</a:t>
            </a:r>
          </a:p>
        </p:txBody>
      </p:sp>
      <p:sp>
        <p:nvSpPr>
          <p:cNvPr id="10" name="Rounded Rectangle 9"/>
          <p:cNvSpPr/>
          <p:nvPr/>
        </p:nvSpPr>
        <p:spPr>
          <a:xfrm>
            <a:off x="6248095" y="1234440"/>
            <a:ext cx="5212080" cy="370332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30975" y="1417320"/>
            <a:ext cx="4846320" cy="3337560"/>
          </a:xfrm>
          <a:prstGeom prst="rect">
            <a:avLst/>
          </a:prstGeom>
          <a:noFill/>
        </p:spPr>
        <p:txBody>
          <a:bodyPr wrap="square">
            <a:spAutoFit/>
          </a:bodyPr>
          <a:lstStyle/>
          <a:p>
            <a:pPr>
              <a:spcAft>
                <a:spcPts val="800"/>
              </a:spcAft>
              <a:defRPr sz="1400" b="1">
                <a:solidFill>
                  <a:srgbClr val="D97706"/>
                </a:solidFill>
                <a:latin typeface="Segoe UI"/>
              </a:defRPr>
            </a:pPr>
            <a:r>
              <a:t>📦 Bộ Nhớ On-Chip 1KB Data SRAM &amp; Startup</a:t>
            </a:r>
          </a:p>
          <a:p>
            <a:pPr>
              <a:spcAft>
                <a:spcPts val="300"/>
              </a:spcAft>
              <a:defRPr sz="1000" b="1">
                <a:solidFill>
                  <a:srgbClr val="0F172A"/>
                </a:solidFill>
                <a:latin typeface="Segoe UI"/>
              </a:defRPr>
            </a:pPr>
            <a:r>
              <a:t>• Mảng nhớ nội bộ 1KB (rtl/core/data_sram.v):</a:t>
            </a:r>
            <a:br/>
            <a:r>
              <a:rPr b="0" sz="950">
                <a:solidFill>
                  <a:srgbClr val="475569"/>
                </a:solidFill>
              </a:rPr>
              <a:t>  Dung lượng chính xác 1 KByte (256 words x 32-bit = 1024 bytes), ánh xạ địa chỉ 0x0000_0000 đến 0x0000_03FF.</a:t>
            </a:r>
          </a:p>
          <a:p>
            <a:pPr>
              <a:spcAft>
                <a:spcPts val="300"/>
              </a:spcAft>
              <a:defRPr sz="1000" b="1">
                <a:solidFill>
                  <a:srgbClr val="0F172A"/>
                </a:solidFill>
                <a:latin typeface="Segoe UI"/>
              </a:defRPr>
            </a:pPr>
            <a:r>
              <a:t>• Không gian dữ liệu đọc/ghi:</a:t>
            </a:r>
            <a:br/>
            <a:r>
              <a:rPr b="0" sz="950">
                <a:solidFill>
                  <a:srgbClr val="475569"/>
                </a:solidFill>
              </a:rPr>
              <a:t>  Chứa ngăn xếp Stack Pointer (sp = 0x0000_0400), biến toàn cục (.data, .bss) và chứa đoạn mã hàm flashio_worker.</a:t>
            </a:r>
          </a:p>
          <a:p>
            <a:pPr>
              <a:spcAft>
                <a:spcPts val="300"/>
              </a:spcAft>
              <a:defRPr sz="1000" b="1">
                <a:solidFill>
                  <a:srgbClr val="0F172A"/>
                </a:solidFill>
                <a:latin typeface="Segoe UI"/>
              </a:defRPr>
            </a:pPr>
            <a:r>
              <a:t>• Tối ưu hóa diện tích bán dẫn:</a:t>
            </a:r>
            <a:br/>
            <a:r>
              <a:rPr b="0" sz="950">
                <a:solidFill>
                  <a:srgbClr val="475569"/>
                </a:solidFill>
              </a:rPr>
              <a:t>  1KB tối giản giúp khuôn chip chỉ tốn 1.69 mm² trên Sky130 và suy luận hoàn hảo thành khối Block RAM đồng bộ trên FPGA Basys 3.</a:t>
            </a:r>
          </a:p>
          <a:p>
            <a:pPr>
              <a:spcAft>
                <a:spcPts val="300"/>
              </a:spcAft>
              <a:defRPr sz="1000" b="1">
                <a:solidFill>
                  <a:srgbClr val="0F172A"/>
                </a:solidFill>
                <a:latin typeface="Segoe UI"/>
              </a:defRPr>
            </a:pPr>
            <a:r>
              <a:t>• Mã Assembly start.s &amp; Linker sections.lds:</a:t>
            </a:r>
            <a:br/>
            <a:r>
              <a:rPr b="0" sz="950">
                <a:solidFill>
                  <a:srgbClr val="475569"/>
                </a:solidFill>
              </a:rPr>
              <a:t>  Thiết lập sp = 0x400, sao chép .data từ Flash vào SRAM, xóa sạch .bss về 0 trước khi gọi hàm main().</a:t>
            </a:r>
          </a:p>
        </p:txBody>
      </p:sp>
      <p:sp>
        <p:nvSpPr>
          <p:cNvPr id="12" name="Rounded Rectangle 11"/>
          <p:cNvSpPr/>
          <p:nvPr/>
        </p:nvSpPr>
        <p:spPr>
          <a:xfrm>
            <a:off x="731520" y="5120640"/>
            <a:ext cx="10728655" cy="10515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5193792"/>
            <a:ext cx="10271455" cy="914400"/>
          </a:xfrm>
          <a:prstGeom prst="rect">
            <a:avLst/>
          </a:prstGeom>
          <a:noFill/>
        </p:spPr>
        <p:txBody>
          <a:bodyPr wrap="square">
            <a:spAutoFit/>
          </a:bodyPr>
          <a:lstStyle/>
          <a:p>
            <a:pPr>
              <a:spcAft>
                <a:spcPts val="300"/>
              </a:spcAft>
              <a:defRPr sz="1150" b="1">
                <a:solidFill>
                  <a:srgbClr val="D97706"/>
                </a:solidFill>
                <a:latin typeface="Segoe UI"/>
              </a:defRPr>
            </a:pPr>
            <a:r>
              <a:t>💡 ĐẶC TÍNH VƯỢT TRỘI CỦA KHỐI XỬ LÝ TRUNG TÂM:</a:t>
            </a:r>
          </a:p>
          <a:p>
            <a:pPr>
              <a:defRPr sz="1050">
                <a:solidFill>
                  <a:srgbClr val="0F172A"/>
                </a:solidFill>
                <a:latin typeface="Segoe UI"/>
              </a:defRPr>
            </a:pPr>
            <a:r>
              <a:t>Bằng cách giới hạn SRAM ở mức 1KB vừa đủ cho Stack/Data và chạy mã lệnh trực tiếp từ Flash ngoài, SoC đạt được hiệu năng tính toán 32-bit mạnh mẽ mà vẫn giữ diện tích silicon ở mức tối thiểu tuyệt đối.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CHƯƠNG 3 | QUY TRÌNH THIẾT KẾ TUẦN TỰ</a:t>
            </a:r>
          </a:p>
          <a:p>
            <a:pPr>
              <a:defRPr sz="1900" b="1">
                <a:solidFill>
                  <a:srgbClr val="0F172A"/>
                </a:solidFill>
                <a:latin typeface="Segoe UI"/>
              </a:defRPr>
            </a:pPr>
            <a:r>
              <a:t>3.4. Bước 4: Thiết Kế Bộ Điều Khiển Bộ Nhớ Ngoài SPI Flash</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7315200" cy="274320"/>
          </a:xfrm>
          <a:prstGeom prst="rect">
            <a:avLst/>
          </a:prstGeom>
          <a:noFill/>
        </p:spPr>
        <p:txBody>
          <a:bodyPr wrap="none">
            <a:spAutoFit/>
          </a:bodyPr>
          <a:lstStyle/>
          <a:p>
            <a:pPr>
              <a:defRPr sz="950">
                <a:solidFill>
                  <a:srgbClr val="475569"/>
                </a:solidFill>
                <a:latin typeface="Segoe UI"/>
              </a:defRPr>
            </a:pPr>
            <a:r>
              <a:t>PicoRV32 RFID Access Controller SoC | SkyWater 130nm ASIC &amp; Basys 3 Demo</a:t>
            </a:r>
          </a:p>
        </p:txBody>
      </p:sp>
      <p:sp>
        <p:nvSpPr>
          <p:cNvPr id="7" name="TextBox 6"/>
          <p:cNvSpPr txBox="1"/>
          <p:nvPr/>
        </p:nvSpPr>
        <p:spPr>
          <a:xfrm>
            <a:off x="10058400" y="6492240"/>
            <a:ext cx="1401775" cy="274320"/>
          </a:xfrm>
          <a:prstGeom prst="rect">
            <a:avLst/>
          </a:prstGeom>
          <a:noFill/>
        </p:spPr>
        <p:txBody>
          <a:bodyPr wrap="none">
            <a:spAutoFit/>
          </a:bodyPr>
          <a:lstStyle/>
          <a:p>
            <a:pPr algn="r">
              <a:defRPr sz="950" b="1">
                <a:solidFill>
                  <a:srgbClr val="2563EB"/>
                </a:solidFill>
                <a:latin typeface="Segoe UI"/>
              </a:defRPr>
            </a:pPr>
            <a:r>
              <a:t>07 / 25</a:t>
            </a:r>
          </a:p>
        </p:txBody>
      </p:sp>
      <p:sp>
        <p:nvSpPr>
          <p:cNvPr id="8" name="Rounded Rectangle 7"/>
          <p:cNvSpPr/>
          <p:nvPr/>
        </p:nvSpPr>
        <p:spPr>
          <a:xfrm>
            <a:off x="731520" y="1234440"/>
            <a:ext cx="5212080" cy="370332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417320"/>
            <a:ext cx="4846320" cy="3337560"/>
          </a:xfrm>
          <a:prstGeom prst="rect">
            <a:avLst/>
          </a:prstGeom>
          <a:noFill/>
        </p:spPr>
        <p:txBody>
          <a:bodyPr wrap="square">
            <a:spAutoFit/>
          </a:bodyPr>
          <a:lstStyle/>
          <a:p>
            <a:pPr>
              <a:spcAft>
                <a:spcPts val="800"/>
              </a:spcAft>
              <a:defRPr sz="1400" b="1">
                <a:solidFill>
                  <a:srgbClr val="D97706"/>
                </a:solidFill>
                <a:latin typeface="Segoe UI"/>
              </a:defRPr>
            </a:pPr>
            <a:r>
              <a:t>⚙️ FSM Điều Khiển SPI &amp; Tập Lệnh Phần Cứng</a:t>
            </a:r>
          </a:p>
          <a:p>
            <a:pPr>
              <a:spcAft>
                <a:spcPts val="300"/>
              </a:spcAft>
              <a:defRPr sz="1000" b="1">
                <a:solidFill>
                  <a:srgbClr val="0F172A"/>
                </a:solidFill>
                <a:latin typeface="Segoe UI"/>
              </a:defRPr>
            </a:pPr>
            <a:r>
              <a:t>• Cầu nối MMIO - SPI Flash (rtl/core/spimemio.v):</a:t>
            </a:r>
            <a:br/>
            <a:r>
              <a:rPr b="0" sz="950">
                <a:solidFill>
                  <a:srgbClr val="475569"/>
                </a:solidFill>
              </a:rPr>
              <a:t>  Chuyển đổi các giao dịch đọc/ghi bus 32-bit của CPU thành chuỗi xung nối tiếp SPI 1-bit điều khiển chip Flash ngoài.</a:t>
            </a:r>
          </a:p>
          <a:p>
            <a:pPr>
              <a:spcAft>
                <a:spcPts val="300"/>
              </a:spcAft>
              <a:defRPr sz="1000" b="1">
                <a:solidFill>
                  <a:srgbClr val="0F172A"/>
                </a:solidFill>
                <a:latin typeface="Segoe UI"/>
              </a:defRPr>
            </a:pPr>
            <a:r>
              <a:t>• Máy trạng thái FSM điều khiển tự động:</a:t>
            </a:r>
            <a:br/>
            <a:r>
              <a:rPr b="0" sz="950">
                <a:solidFill>
                  <a:srgbClr val="475569"/>
                </a:solidFill>
              </a:rPr>
              <a:t>  Tự động hóa hoàn toàn phát xung nhịp SCK, hạ chân chọn chip CS_N, đẩy địa chỉ qua MOSI và lấy mẫu dữ liệu từ MISO.</a:t>
            </a:r>
          </a:p>
          <a:p>
            <a:pPr>
              <a:spcAft>
                <a:spcPts val="300"/>
              </a:spcAft>
              <a:defRPr sz="1000" b="1">
                <a:solidFill>
                  <a:srgbClr val="0F172A"/>
                </a:solidFill>
                <a:latin typeface="Segoe UI"/>
              </a:defRPr>
            </a:pPr>
            <a:r>
              <a:t>• Tập lệnh Flash phần cứng hỗ trợ:</a:t>
            </a:r>
            <a:br/>
            <a:r>
              <a:rPr b="0" sz="950">
                <a:solidFill>
                  <a:srgbClr val="475569"/>
                </a:solidFill>
              </a:rPr>
              <a:t>  • 0x03 / 0x0B: Đọc dữ liệu (Read / Fast Read kèm 8 Dummy Clocks).
• 0x02: Ghi dữ liệu theo trang 256 bytes (Page Program).
• 0xD8 / 0x20: Xóa khối Sector 64KB / 4KB (Sector Erase).
• 0x05: Đọc thanh ghi trạng thái Flash (Read Status Register).</a:t>
            </a:r>
          </a:p>
        </p:txBody>
      </p:sp>
      <p:sp>
        <p:nvSpPr>
          <p:cNvPr id="10" name="Rounded Rectangle 9"/>
          <p:cNvSpPr/>
          <p:nvPr/>
        </p:nvSpPr>
        <p:spPr>
          <a:xfrm>
            <a:off x="6248095" y="1234440"/>
            <a:ext cx="5212080" cy="370332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30975" y="1417320"/>
            <a:ext cx="4846320" cy="3337560"/>
          </a:xfrm>
          <a:prstGeom prst="rect">
            <a:avLst/>
          </a:prstGeom>
          <a:noFill/>
        </p:spPr>
        <p:txBody>
          <a:bodyPr wrap="square">
            <a:spAutoFit/>
          </a:bodyPr>
          <a:lstStyle/>
          <a:p>
            <a:pPr>
              <a:spcAft>
                <a:spcPts val="800"/>
              </a:spcAft>
              <a:defRPr sz="1400" b="1">
                <a:solidFill>
                  <a:srgbClr val="10B981"/>
                </a:solidFill>
                <a:latin typeface="Segoe UI"/>
              </a:defRPr>
            </a:pPr>
            <a:r>
              <a:t>🔄 Polling Cờ WIP &amp; Hàm flashio_worker</a:t>
            </a:r>
          </a:p>
          <a:p>
            <a:pPr>
              <a:spcAft>
                <a:spcPts val="300"/>
              </a:spcAft>
              <a:defRPr sz="1000" b="1">
                <a:solidFill>
                  <a:srgbClr val="0F172A"/>
                </a:solidFill>
                <a:latin typeface="Segoe UI"/>
              </a:defRPr>
            </a:pPr>
            <a:r>
              <a:t>• Tự động Polling cờ WIP bằng phần cứng:</a:t>
            </a:r>
            <a:br/>
            <a:r>
              <a:rPr b="0" sz="950">
                <a:solidFill>
                  <a:srgbClr val="475569"/>
                </a:solidFill>
              </a:rPr>
              <a:t>  Sau mỗi chu kỳ ghi trang hoặc xóa sector, khối SPIMEMIO tự động gửi lệnh 0x05 kiểm tra bit 0 (Write-In-Progress) của Flash.</a:t>
            </a:r>
          </a:p>
          <a:p>
            <a:pPr>
              <a:spcAft>
                <a:spcPts val="300"/>
              </a:spcAft>
              <a:defRPr sz="1000" b="1">
                <a:solidFill>
                  <a:srgbClr val="0F172A"/>
                </a:solidFill>
                <a:latin typeface="Segoe UI"/>
              </a:defRPr>
            </a:pPr>
            <a:r>
              <a:t>• Giải phóng 100% thời gian chờ cho CPU:</a:t>
            </a:r>
            <a:br/>
            <a:r>
              <a:rPr b="0" sz="950">
                <a:solidFill>
                  <a:srgbClr val="475569"/>
                </a:solidFill>
              </a:rPr>
              <a:t>  Khi Flash bận ghi vật lý, bit REG_SPI_STATUS_BUSY giữ mức 1; khi hoàn tất, cờ tự hạ về 0, CPU không phải chạy vòng lặp delay lãng phí.</a:t>
            </a:r>
          </a:p>
          <a:p>
            <a:pPr>
              <a:spcAft>
                <a:spcPts val="300"/>
              </a:spcAft>
              <a:defRPr sz="1000" b="1">
                <a:solidFill>
                  <a:srgbClr val="0F172A"/>
                </a:solidFill>
                <a:latin typeface="Segoe UI"/>
              </a:defRPr>
            </a:pPr>
            <a:r>
              <a:t>• Hàm flashio_worker chạy trên 1KB SRAM:</a:t>
            </a:r>
            <a:br/>
            <a:r>
              <a:rPr b="0" sz="950">
                <a:solidFill>
                  <a:srgbClr val="475569"/>
                </a:solidFill>
              </a:rPr>
              <a:t>  Khi cần ghi hoặc xóa Flash, hàm điều khiển tạm thời chuyển vào 1KB SRAM để thực thi an toàn, loại trừ hoàn toàn xung đột với lệnh fetch XIP.</a:t>
            </a:r>
          </a:p>
          <a:p>
            <a:pPr>
              <a:spcAft>
                <a:spcPts val="300"/>
              </a:spcAft>
              <a:defRPr sz="1000" b="1">
                <a:solidFill>
                  <a:srgbClr val="0F172A"/>
                </a:solidFill>
                <a:latin typeface="Segoe UI"/>
              </a:defRPr>
            </a:pPr>
            <a:r>
              <a:t>• Tiết kiệm chân I/O tối đa:</a:t>
            </a:r>
            <a:br/>
            <a:r>
              <a:rPr b="0" sz="950">
                <a:solidFill>
                  <a:srgbClr val="475569"/>
                </a:solidFill>
              </a:rPr>
              <a:t>  Toàn bộ giao tiếp bộ nhớ chỉ cần 4 chân tín hiệu (CS_N, SCK, MOSI, MISO), rất lý tưởng cho đóng gói vi mạch ASIC.</a:t>
            </a:r>
          </a:p>
        </p:txBody>
      </p:sp>
      <p:sp>
        <p:nvSpPr>
          <p:cNvPr id="12" name="Rounded Rectangle 11"/>
          <p:cNvSpPr/>
          <p:nvPr/>
        </p:nvSpPr>
        <p:spPr>
          <a:xfrm>
            <a:off x="731520" y="5120640"/>
            <a:ext cx="10728655" cy="1051560"/>
          </a:xfrm>
          <a:prstGeom prst="roundRect">
            <a:avLst/>
          </a:prstGeom>
          <a:solidFill>
            <a:srgbClr val="F0FDF4"/>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5193792"/>
            <a:ext cx="10271455" cy="914400"/>
          </a:xfrm>
          <a:prstGeom prst="rect">
            <a:avLst/>
          </a:prstGeom>
          <a:noFill/>
        </p:spPr>
        <p:txBody>
          <a:bodyPr wrap="square">
            <a:spAutoFit/>
          </a:bodyPr>
          <a:lstStyle/>
          <a:p>
            <a:pPr>
              <a:spcAft>
                <a:spcPts val="300"/>
              </a:spcAft>
              <a:defRPr sz="1150" b="1">
                <a:solidFill>
                  <a:srgbClr val="10B981"/>
                </a:solidFill>
                <a:latin typeface="Segoe UI"/>
              </a:defRPr>
            </a:pPr>
            <a:r>
              <a:t>💡 VAI TRÒ SỐNG CÒN CỦA SPI FLASH CONTROLLER:</a:t>
            </a:r>
          </a:p>
          <a:p>
            <a:pPr>
              <a:defRPr sz="1050">
                <a:solidFill>
                  <a:srgbClr val="0F172A"/>
                </a:solidFill>
                <a:latin typeface="Segoe UI"/>
              </a:defRPr>
            </a:pPr>
            <a:r>
              <a:t>Khối spimemio.v giải quyết triệt để bài toán dung lượng bộ nhớ lớn trong thiết kế ASIC: vừa cho phép chạy mã lệnh XIP trực tiếp, vừa cung cấp cơ chế lưu trữ bền vững &gt; 20 năm cho danh mục thẻ và nhật ký ra vào.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CHƯƠNG 3 | CƠ CHẾ THỰC THI BUS LIÊN KẾT</a:t>
            </a:r>
          </a:p>
          <a:p>
            <a:pPr>
              <a:defRPr sz="1900" b="1">
                <a:solidFill>
                  <a:srgbClr val="0F172A"/>
                </a:solidFill>
                <a:latin typeface="Segoe UI"/>
              </a:defRPr>
            </a:pPr>
            <a:r>
              <a:t>Chu Trình Thực Thi: Chặng 1 - Nạp Mã Lệnh Từ SPI Flash (Instruction Fetch - XIP)</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7315200" cy="274320"/>
          </a:xfrm>
          <a:prstGeom prst="rect">
            <a:avLst/>
          </a:prstGeom>
          <a:noFill/>
        </p:spPr>
        <p:txBody>
          <a:bodyPr wrap="none">
            <a:spAutoFit/>
          </a:bodyPr>
          <a:lstStyle/>
          <a:p>
            <a:pPr>
              <a:defRPr sz="950">
                <a:solidFill>
                  <a:srgbClr val="475569"/>
                </a:solidFill>
                <a:latin typeface="Segoe UI"/>
              </a:defRPr>
            </a:pPr>
            <a:r>
              <a:t>PicoRV32 RFID Access Controller SoC | SkyWater 130nm ASIC &amp; Basys 3 Demo</a:t>
            </a:r>
          </a:p>
        </p:txBody>
      </p:sp>
      <p:sp>
        <p:nvSpPr>
          <p:cNvPr id="7" name="TextBox 6"/>
          <p:cNvSpPr txBox="1"/>
          <p:nvPr/>
        </p:nvSpPr>
        <p:spPr>
          <a:xfrm>
            <a:off x="10058400" y="6492240"/>
            <a:ext cx="1401775" cy="274320"/>
          </a:xfrm>
          <a:prstGeom prst="rect">
            <a:avLst/>
          </a:prstGeom>
          <a:noFill/>
        </p:spPr>
        <p:txBody>
          <a:bodyPr wrap="none">
            <a:spAutoFit/>
          </a:bodyPr>
          <a:lstStyle/>
          <a:p>
            <a:pPr algn="r">
              <a:defRPr sz="950" b="1">
                <a:solidFill>
                  <a:srgbClr val="2563EB"/>
                </a:solidFill>
                <a:latin typeface="Segoe UI"/>
              </a:defRPr>
            </a:pPr>
            <a:r>
              <a:t>08 / 25</a:t>
            </a:r>
          </a:p>
        </p:txBody>
      </p:sp>
      <p:sp>
        <p:nvSpPr>
          <p:cNvPr id="8" name="Rounded Rectangle 7"/>
          <p:cNvSpPr/>
          <p:nvPr/>
        </p:nvSpPr>
        <p:spPr>
          <a:xfrm>
            <a:off x="731520" y="1234440"/>
            <a:ext cx="6537960" cy="50749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2_phase1_instruction_fetch.png"/>
          <p:cNvPicPr>
            <a:picLocks noChangeAspect="1"/>
          </p:cNvPicPr>
          <p:nvPr/>
        </p:nvPicPr>
        <p:blipFill>
          <a:blip r:embed="rId2"/>
          <a:stretch>
            <a:fillRect/>
          </a:stretch>
        </p:blipFill>
        <p:spPr>
          <a:xfrm>
            <a:off x="804672" y="1307592"/>
            <a:ext cx="6391656" cy="4928616"/>
          </a:xfrm>
          <a:prstGeom prst="rect">
            <a:avLst/>
          </a:prstGeom>
        </p:spPr>
      </p:pic>
      <p:sp>
        <p:nvSpPr>
          <p:cNvPr id="10" name="Rounded Rectangle 9"/>
          <p:cNvSpPr/>
          <p:nvPr/>
        </p:nvSpPr>
        <p:spPr>
          <a:xfrm>
            <a:off x="7452360" y="1234440"/>
            <a:ext cx="4005072" cy="50749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35240" y="1353312"/>
            <a:ext cx="3639312" cy="4800600"/>
          </a:xfrm>
          <a:prstGeom prst="rect">
            <a:avLst/>
          </a:prstGeom>
          <a:noFill/>
        </p:spPr>
        <p:txBody>
          <a:bodyPr wrap="square">
            <a:spAutoFit/>
          </a:bodyPr>
          <a:lstStyle/>
          <a:p>
            <a:pPr>
              <a:spcAft>
                <a:spcPts val="600"/>
              </a:spcAft>
              <a:defRPr sz="1300" b="1">
                <a:solidFill>
                  <a:srgbClr val="2563EB"/>
                </a:solidFill>
                <a:latin typeface="Segoe UI"/>
              </a:defRPr>
            </a:pPr>
            <a:r>
              <a:t>⚡ Luồng Tín Hiệu Nạp Lệnh (PC = 0x0025_0000)</a:t>
            </a:r>
          </a:p>
          <a:p>
            <a:pPr>
              <a:spcAft>
                <a:spcPts val="200"/>
              </a:spcAft>
              <a:defRPr sz="980" b="1">
                <a:solidFill>
                  <a:srgbClr val="0F172A"/>
                </a:solidFill>
                <a:latin typeface="Segoe UI"/>
              </a:defRPr>
            </a:pPr>
            <a:r>
              <a:t>• Khai báo Top-Level rdm6300_picorv32_soc.v:</a:t>
            </a:r>
            <a:br/>
            <a:r>
              <a:rPr b="0" sz="900">
                <a:solidFill>
                  <a:srgbClr val="475569"/>
                </a:solidFill>
              </a:rPr>
              <a:t>  CPU, Interconnect, Flash và SRAM được kết nối vật lý bằng các đường dây wire trung gian.</a:t>
            </a:r>
          </a:p>
          <a:p>
            <a:pPr>
              <a:spcAft>
                <a:spcPts val="200"/>
              </a:spcAft>
              <a:defRPr sz="980" b="1">
                <a:solidFill>
                  <a:srgbClr val="0F172A"/>
                </a:solidFill>
                <a:latin typeface="Segoe UI"/>
              </a:defRPr>
            </a:pPr>
            <a:r>
              <a:t>• Bước 1: CPU phát chu kỳ nạp lệnh:</a:t>
            </a:r>
            <a:br/>
            <a:r>
              <a:rPr b="0" sz="900">
                <a:solidFill>
                  <a:srgbClr val="475569"/>
                </a:solidFill>
              </a:rPr>
              <a:t>  rdm6300_picorv32_soc.v#mem_valid, #mem_addr (picorv32, soc_interconnect)
• mem_valid=1, mem_instr=1, mem_addr=0x0025_0000.</a:t>
            </a:r>
          </a:p>
          <a:p>
            <a:pPr>
              <a:spcAft>
                <a:spcPts val="200"/>
              </a:spcAft>
              <a:defRPr sz="980" b="1">
                <a:solidFill>
                  <a:srgbClr val="0F172A"/>
                </a:solidFill>
                <a:latin typeface="Segoe UI"/>
              </a:defRPr>
            </a:pPr>
            <a:r>
              <a:t>• Bước 2: Giải mã địa chỉ trúng Flash:</a:t>
            </a:r>
            <a:br/>
            <a:r>
              <a:rPr b="0" sz="900">
                <a:solidFill>
                  <a:srgbClr val="475569"/>
                </a:solidFill>
              </a:rPr>
              <a:t>  rdm6300_picorv32_soc.v#sel_spimem (soc_interconnect, spimemio)
• 0x0025_0000 thuộc 0x0010_0000..0x00FF_FFFF -&gt; sel_spimem=1.</a:t>
            </a:r>
          </a:p>
          <a:p>
            <a:pPr>
              <a:spcAft>
                <a:spcPts val="200"/>
              </a:spcAft>
              <a:defRPr sz="980" b="1">
                <a:solidFill>
                  <a:srgbClr val="0F172A"/>
                </a:solidFill>
                <a:latin typeface="Segoe UI"/>
              </a:defRPr>
            </a:pPr>
            <a:r>
              <a:t>• Bước 3: Flash trả về 4 byte mã máy:</a:t>
            </a:r>
            <a:br/>
            <a:r>
              <a:rPr b="0" sz="900">
                <a:solidFill>
                  <a:srgbClr val="475569"/>
                </a:solidFill>
              </a:rPr>
              <a:t>  rdm6300_picorv32_soc.v#spimem_rdata, #spimem_ready (spimemio, soc_interconnect)
• Flash đọc 4 byte lệnh 'lw', báo spimem_ready=1.</a:t>
            </a:r>
          </a:p>
          <a:p>
            <a:pPr>
              <a:spcAft>
                <a:spcPts val="200"/>
              </a:spcAft>
              <a:defRPr sz="980" b="1">
                <a:solidFill>
                  <a:srgbClr val="0F172A"/>
                </a:solidFill>
                <a:latin typeface="Segoe UI"/>
              </a:defRPr>
            </a:pPr>
            <a:r>
              <a:t>• Bước 4: Interconnect trả lệnh về CPU:</a:t>
            </a:r>
            <a:br/>
            <a:r>
              <a:rPr b="0" sz="900">
                <a:solidFill>
                  <a:srgbClr val="475569"/>
                </a:solidFill>
              </a:rPr>
              <a:t>  rdm6300_picorv32_soc.v#mem_rdata, #mem_ready (soc_interconnect, picorv32)
• Ghép bus mem_rdata và mem_ready=1 để CPU chốt lệnh.</a:t>
            </a:r>
          </a:p>
          <a:p>
            <a:pPr>
              <a:spcBef>
                <a:spcPts val="400"/>
              </a:spcBef>
              <a:defRPr sz="919" b="1">
                <a:solidFill>
                  <a:srgbClr val="10B981"/>
                </a:solidFill>
                <a:latin typeface="Segoe UI"/>
              </a:defRPr>
            </a:pPr>
            <a:r>
              <a:t>💡 Trạng thái SRAM: sel_sram = 0 (Khối SRAM nghỉ ngơi hoàn toàn, giảm công suất tiêu thụ động).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CHƯƠNG 3 | CƠ CHẾ THỰC THI BUS LIÊN KẾT</a:t>
            </a:r>
          </a:p>
          <a:p>
            <a:pPr>
              <a:defRPr sz="1900" b="1">
                <a:solidFill>
                  <a:srgbClr val="0F172A"/>
                </a:solidFill>
                <a:latin typeface="Segoe UI"/>
              </a:defRPr>
            </a:pPr>
            <a:r>
              <a:t>Chu Trình Thực Thi: Chặng 2 - Truy Xuất Dữ Liệu Từ 1KB SRAM (Data Memory Access)</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7315200" cy="274320"/>
          </a:xfrm>
          <a:prstGeom prst="rect">
            <a:avLst/>
          </a:prstGeom>
          <a:noFill/>
        </p:spPr>
        <p:txBody>
          <a:bodyPr wrap="none">
            <a:spAutoFit/>
          </a:bodyPr>
          <a:lstStyle/>
          <a:p>
            <a:pPr>
              <a:defRPr sz="950">
                <a:solidFill>
                  <a:srgbClr val="475569"/>
                </a:solidFill>
                <a:latin typeface="Segoe UI"/>
              </a:defRPr>
            </a:pPr>
            <a:r>
              <a:t>PicoRV32 RFID Access Controller SoC | SkyWater 130nm ASIC &amp; Basys 3 Demo</a:t>
            </a:r>
          </a:p>
        </p:txBody>
      </p:sp>
      <p:sp>
        <p:nvSpPr>
          <p:cNvPr id="7" name="TextBox 6"/>
          <p:cNvSpPr txBox="1"/>
          <p:nvPr/>
        </p:nvSpPr>
        <p:spPr>
          <a:xfrm>
            <a:off x="10058400" y="6492240"/>
            <a:ext cx="1401775" cy="274320"/>
          </a:xfrm>
          <a:prstGeom prst="rect">
            <a:avLst/>
          </a:prstGeom>
          <a:noFill/>
        </p:spPr>
        <p:txBody>
          <a:bodyPr wrap="none">
            <a:spAutoFit/>
          </a:bodyPr>
          <a:lstStyle/>
          <a:p>
            <a:pPr algn="r">
              <a:defRPr sz="950" b="1">
                <a:solidFill>
                  <a:srgbClr val="2563EB"/>
                </a:solidFill>
                <a:latin typeface="Segoe UI"/>
              </a:defRPr>
            </a:pPr>
            <a:r>
              <a:t>09 / 25</a:t>
            </a:r>
          </a:p>
        </p:txBody>
      </p:sp>
      <p:sp>
        <p:nvSpPr>
          <p:cNvPr id="8" name="Rounded Rectangle 7"/>
          <p:cNvSpPr/>
          <p:nvPr/>
        </p:nvSpPr>
        <p:spPr>
          <a:xfrm>
            <a:off x="731520" y="1234440"/>
            <a:ext cx="6675120" cy="507492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2_phase2_data_access.png"/>
          <p:cNvPicPr>
            <a:picLocks noChangeAspect="1"/>
          </p:cNvPicPr>
          <p:nvPr/>
        </p:nvPicPr>
        <p:blipFill>
          <a:blip r:embed="rId2"/>
          <a:stretch>
            <a:fillRect/>
          </a:stretch>
        </p:blipFill>
        <p:spPr>
          <a:xfrm>
            <a:off x="804672" y="1307592"/>
            <a:ext cx="6528816" cy="4928616"/>
          </a:xfrm>
          <a:prstGeom prst="rect">
            <a:avLst/>
          </a:prstGeom>
        </p:spPr>
      </p:pic>
      <p:sp>
        <p:nvSpPr>
          <p:cNvPr id="10" name="Rounded Rectangle 9"/>
          <p:cNvSpPr/>
          <p:nvPr/>
        </p:nvSpPr>
        <p:spPr>
          <a:xfrm>
            <a:off x="7589520" y="1234440"/>
            <a:ext cx="3867912" cy="507492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0" y="1353312"/>
            <a:ext cx="3502152" cy="4800600"/>
          </a:xfrm>
          <a:prstGeom prst="rect">
            <a:avLst/>
          </a:prstGeom>
          <a:noFill/>
        </p:spPr>
        <p:txBody>
          <a:bodyPr wrap="square">
            <a:spAutoFit/>
          </a:bodyPr>
          <a:lstStyle/>
          <a:p>
            <a:pPr>
              <a:spcAft>
                <a:spcPts val="600"/>
              </a:spcAft>
              <a:defRPr sz="1300" b="1">
                <a:solidFill>
                  <a:srgbClr val="D97706"/>
                </a:solidFill>
                <a:latin typeface="Segoe UI"/>
              </a:defRPr>
            </a:pPr>
            <a:r>
              <a:t>📦 Luồng Đọc Dữ Liệu SRAM (Stack = 0x0000_03F0)</a:t>
            </a:r>
          </a:p>
          <a:p>
            <a:pPr>
              <a:spcAft>
                <a:spcPts val="200"/>
              </a:spcAft>
              <a:defRPr sz="980" b="1">
                <a:solidFill>
                  <a:srgbClr val="0F172A"/>
                </a:solidFill>
                <a:latin typeface="Segoe UI"/>
              </a:defRPr>
            </a:pPr>
            <a:r>
              <a:t>• Mục tiêu thực thi lệnh lw a0, 0(sp):</a:t>
            </a:r>
            <a:br/>
            <a:r>
              <a:rPr b="0" sz="900">
                <a:solidFill>
                  <a:srgbClr val="475569"/>
                </a:solidFill>
              </a:rPr>
              <a:t>  Đọc dữ liệu 32-bit từ đỉnh Stack trong SRAM đưa vào thanh ghi a0 của CPU.</a:t>
            </a:r>
          </a:p>
          <a:p>
            <a:pPr>
              <a:spcAft>
                <a:spcPts val="200"/>
              </a:spcAft>
              <a:defRPr sz="980" b="1">
                <a:solidFill>
                  <a:srgbClr val="0F172A"/>
                </a:solidFill>
                <a:latin typeface="Segoe UI"/>
              </a:defRPr>
            </a:pPr>
            <a:r>
              <a:t>• Bước 1: CPU phát chu kỳ đọc dữ liệu:</a:t>
            </a:r>
            <a:br/>
            <a:r>
              <a:rPr b="0" sz="900">
                <a:solidFill>
                  <a:srgbClr val="475569"/>
                </a:solidFill>
              </a:rPr>
              <a:t>  rdm6300_picorv32_soc.v#mem_valid, #mem_addr (picorv32, soc_interconnect)
• mem_valid=1, mem_instr=0, mem_addr=0x0000_03F0.</a:t>
            </a:r>
          </a:p>
          <a:p>
            <a:pPr>
              <a:spcAft>
                <a:spcPts val="200"/>
              </a:spcAft>
              <a:defRPr sz="980" b="1">
                <a:solidFill>
                  <a:srgbClr val="0F172A"/>
                </a:solidFill>
                <a:latin typeface="Segoe UI"/>
              </a:defRPr>
            </a:pPr>
            <a:r>
              <a:t>• Bước 2: Giải mã địa chỉ trúng SRAM:</a:t>
            </a:r>
            <a:br/>
            <a:r>
              <a:rPr b="0" sz="900">
                <a:solidFill>
                  <a:srgbClr val="475569"/>
                </a:solidFill>
              </a:rPr>
              <a:t>  rdm6300_picorv32_soc.v#sel_sram (soc_interconnect, data_sram)
• Địa chỉ &lt; 0x0000_0400 -&gt; sel_sram=1, sel_spimem=0.</a:t>
            </a:r>
          </a:p>
          <a:p>
            <a:pPr>
              <a:spcAft>
                <a:spcPts val="200"/>
              </a:spcAft>
              <a:defRPr sz="980" b="1">
                <a:solidFill>
                  <a:srgbClr val="0F172A"/>
                </a:solidFill>
                <a:latin typeface="Segoe UI"/>
              </a:defRPr>
            </a:pPr>
            <a:r>
              <a:t>• Bước 3: SRAM phản hồi trong 1 chu kỳ:</a:t>
            </a:r>
            <a:br/>
            <a:r>
              <a:rPr b="0" sz="900">
                <a:solidFill>
                  <a:srgbClr val="475569"/>
                </a:solidFill>
              </a:rPr>
              <a:t>  rdm6300_picorv32_soc.v#sram_rdata, #sram_ready (data_sram, soc_interconnect)
• Đọc word 32-bit tại offset [9:0], báo sram_ready=1.</a:t>
            </a:r>
          </a:p>
          <a:p>
            <a:pPr>
              <a:spcAft>
                <a:spcPts val="200"/>
              </a:spcAft>
              <a:defRPr sz="980" b="1">
                <a:solidFill>
                  <a:srgbClr val="0F172A"/>
                </a:solidFill>
                <a:latin typeface="Segoe UI"/>
              </a:defRPr>
            </a:pPr>
            <a:r>
              <a:t>• Bước 4: CPU chốt dữ liệu vào thanh ghi:</a:t>
            </a:r>
            <a:br/>
            <a:r>
              <a:rPr b="0" sz="900">
                <a:solidFill>
                  <a:srgbClr val="475569"/>
                </a:solidFill>
              </a:rPr>
              <a:t>  rdm6300_picorv32_soc.v#mem_rdata, #mem_ready (soc_interconnect, picorv32)
• Chuyển sram_rdata vào thanh ghi a0 trong đúng 1 chu kỳ.</a:t>
            </a:r>
          </a:p>
          <a:p>
            <a:pPr>
              <a:spcBef>
                <a:spcPts val="400"/>
              </a:spcBef>
              <a:defRPr sz="919" b="1">
                <a:solidFill>
                  <a:srgbClr val="2563EB"/>
                </a:solidFill>
                <a:latin typeface="Segoe UI"/>
              </a:defRPr>
            </a:pPr>
            <a:r>
              <a:t>💡 Trạng thái Flash: sel_spimem = 0 (Chip Flash nghỉ ngơi, chân SPI CS_N giữ mức cao 1'b1).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CHƯƠNG 3 | NGOẠI VI THU NHẬN RFID</a:t>
            </a:r>
          </a:p>
          <a:p>
            <a:pPr>
              <a:defRPr sz="1900" b="1">
                <a:solidFill>
                  <a:srgbClr val="0F172A"/>
                </a:solidFill>
                <a:latin typeface="Segoe UI"/>
              </a:defRPr>
            </a:pPr>
            <a:r>
              <a:t>3.5. Bước 5a: Đường Ống 5 Giai Đoạn Thu Nhận &amp; Giải Mã Thẻ RFID (Hình 2a)</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7315200" cy="274320"/>
          </a:xfrm>
          <a:prstGeom prst="rect">
            <a:avLst/>
          </a:prstGeom>
          <a:noFill/>
        </p:spPr>
        <p:txBody>
          <a:bodyPr wrap="none">
            <a:spAutoFit/>
          </a:bodyPr>
          <a:lstStyle/>
          <a:p>
            <a:pPr>
              <a:defRPr sz="950">
                <a:solidFill>
                  <a:srgbClr val="475569"/>
                </a:solidFill>
                <a:latin typeface="Segoe UI"/>
              </a:defRPr>
            </a:pPr>
            <a:r>
              <a:t>PicoRV32 RFID Access Controller SoC | SkyWater 130nm ASIC &amp; Basys 3 Demo</a:t>
            </a:r>
          </a:p>
        </p:txBody>
      </p:sp>
      <p:sp>
        <p:nvSpPr>
          <p:cNvPr id="7" name="TextBox 6"/>
          <p:cNvSpPr txBox="1"/>
          <p:nvPr/>
        </p:nvSpPr>
        <p:spPr>
          <a:xfrm>
            <a:off x="10058400" y="6492240"/>
            <a:ext cx="1401775" cy="274320"/>
          </a:xfrm>
          <a:prstGeom prst="rect">
            <a:avLst/>
          </a:prstGeom>
          <a:noFill/>
        </p:spPr>
        <p:txBody>
          <a:bodyPr wrap="none">
            <a:spAutoFit/>
          </a:bodyPr>
          <a:lstStyle/>
          <a:p>
            <a:pPr algn="r">
              <a:defRPr sz="950" b="1">
                <a:solidFill>
                  <a:srgbClr val="2563EB"/>
                </a:solidFill>
                <a:latin typeface="Segoe UI"/>
              </a:defRPr>
            </a:pPr>
            <a:r>
              <a:t>10 / 25</a:t>
            </a:r>
          </a:p>
        </p:txBody>
      </p:sp>
      <p:sp>
        <p:nvSpPr>
          <p:cNvPr id="8" name="Rounded Rectangle 7"/>
          <p:cNvSpPr/>
          <p:nvPr/>
        </p:nvSpPr>
        <p:spPr>
          <a:xfrm>
            <a:off x="731520" y="1234440"/>
            <a:ext cx="3611880" cy="50749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2a_rdm6300_subsystem.png"/>
          <p:cNvPicPr>
            <a:picLocks noChangeAspect="1"/>
          </p:cNvPicPr>
          <p:nvPr/>
        </p:nvPicPr>
        <p:blipFill>
          <a:blip r:embed="rId2"/>
          <a:stretch>
            <a:fillRect/>
          </a:stretch>
        </p:blipFill>
        <p:spPr>
          <a:xfrm>
            <a:off x="786384" y="1289304"/>
            <a:ext cx="3502152" cy="4965192"/>
          </a:xfrm>
          <a:prstGeom prst="rect">
            <a:avLst/>
          </a:prstGeom>
        </p:spPr>
      </p:pic>
      <p:sp>
        <p:nvSpPr>
          <p:cNvPr id="10" name="Rounded Rectangle 9"/>
          <p:cNvSpPr/>
          <p:nvPr/>
        </p:nvSpPr>
        <p:spPr>
          <a:xfrm>
            <a:off x="4526280" y="1234440"/>
            <a:ext cx="6933895" cy="31546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09160" y="1371600"/>
            <a:ext cx="6568135" cy="2880360"/>
          </a:xfrm>
          <a:prstGeom prst="rect">
            <a:avLst/>
          </a:prstGeom>
          <a:noFill/>
        </p:spPr>
        <p:txBody>
          <a:bodyPr wrap="square">
            <a:spAutoFit/>
          </a:bodyPr>
          <a:lstStyle/>
          <a:p>
            <a:pPr>
              <a:spcAft>
                <a:spcPts val="400"/>
              </a:spcAft>
              <a:defRPr sz="1300" b="1">
                <a:solidFill>
                  <a:srgbClr val="2563EB"/>
                </a:solidFill>
                <a:latin typeface="Segoe UI"/>
              </a:defRPr>
            </a:pPr>
            <a:r>
              <a:t>⚡ Chi Tiết 5 Giai Đoạn Đường Ống Phần Cứng RDM6300</a:t>
            </a:r>
          </a:p>
          <a:p>
            <a:pPr>
              <a:spcAft>
                <a:spcPts val="200"/>
              </a:spcAft>
              <a:defRPr sz="960" b="1">
                <a:solidFill>
                  <a:srgbClr val="0F172A"/>
                </a:solidFill>
                <a:latin typeface="Segoe UI"/>
              </a:defRPr>
            </a:pPr>
            <a:r>
              <a:t>• GĐ 1: Khối Thu RF 125 kHz: </a:t>
            </a:r>
            <a:r>
              <a:rPr b="0">
                <a:solidFill>
                  <a:srgbClr val="475569"/>
                </a:solidFill>
              </a:rPr>
              <a:t>Anten cuộn cảm cộng hưởng LC, tách sóng tương tự xuất xung 9600 bps TTL vào rdm6300_rx_i.</a:t>
            </a:r>
          </a:p>
          <a:p>
            <a:pPr>
              <a:spcAft>
                <a:spcPts val="200"/>
              </a:spcAft>
              <a:defRPr sz="960" b="1">
                <a:solidFill>
                  <a:srgbClr val="0F172A"/>
                </a:solidFill>
                <a:latin typeface="Segoe UI"/>
              </a:defRPr>
            </a:pPr>
            <a:r>
              <a:t>• GĐ 2: Đồng Bộ CDC (sync_2ff.v): </a:t>
            </a:r>
            <a:r>
              <a:rPr b="0">
                <a:solidFill>
                  <a:srgbClr val="475569"/>
                </a:solidFill>
              </a:rPr>
              <a:t>2 tầng D-FF đồng bộ an toàn sang miền xung 50 MHz, khử triệt để bất ổn định (MTBF &gt; 1,000 năm).</a:t>
            </a:r>
          </a:p>
          <a:p>
            <a:pPr>
              <a:spcAft>
                <a:spcPts val="200"/>
              </a:spcAft>
              <a:defRPr sz="960" b="1">
                <a:solidFill>
                  <a:srgbClr val="0F172A"/>
                </a:solidFill>
                <a:latin typeface="Segoe UI"/>
              </a:defRPr>
            </a:pPr>
            <a:r>
              <a:t>• GĐ 3: UART RX (uart_rx.v): </a:t>
            </a:r>
            <a:r>
              <a:rPr b="0">
                <a:solidFill>
                  <a:srgbClr val="475569"/>
                </a:solidFill>
              </a:rPr>
              <a:t>Bộ chia baud 5208, lấy mẫu đa số 3 điểm (Ticks 7,8,9), lọc sạch xung gai nhiễu, xuất byte_data[7:0].</a:t>
            </a:r>
          </a:p>
          <a:p>
            <a:pPr>
              <a:spcAft>
                <a:spcPts val="200"/>
              </a:spcAft>
              <a:defRPr sz="960" b="1">
                <a:solidFill>
                  <a:srgbClr val="0F172A"/>
                </a:solidFill>
                <a:latin typeface="Segoe UI"/>
              </a:defRPr>
            </a:pPr>
            <a:r>
              <a:t>• GĐ 4: FSM &amp; Cây XOR 20ns: </a:t>
            </a:r>
            <a:r>
              <a:rPr b="0">
                <a:solidFill>
                  <a:srgbClr val="475569"/>
                </a:solidFill>
              </a:rPr>
              <a:t>rdm6300_frame_decoder.v bóc tách khung 14 byte, quy đổi Hex &amp; kiểm tra XOR Checksum trong đúng 1 clock.</a:t>
            </a:r>
          </a:p>
          <a:p>
            <a:pPr>
              <a:spcAft>
                <a:spcPts val="200"/>
              </a:spcAft>
              <a:defRPr sz="960" b="1">
                <a:solidFill>
                  <a:srgbClr val="0F172A"/>
                </a:solidFill>
                <a:latin typeface="Segoe UI"/>
              </a:defRPr>
            </a:pPr>
            <a:r>
              <a:t>• GĐ 5: Khối rdm6300_mmio.v (Slave 2): </a:t>
            </a:r>
            <a:r>
              <a:rPr b="0">
                <a:solidFill>
                  <a:srgbClr val="475569"/>
                </a:solidFill>
              </a:rPr>
              <a:t>Chốt 40-bit UID vào REG_RFID_TAG_HI/LO (0x1000_0000), bật cờ card_valid và ngắt card_event_o đánh thức CPU.</a:t>
            </a:r>
          </a:p>
        </p:txBody>
      </p:sp>
      <p:sp>
        <p:nvSpPr>
          <p:cNvPr id="12" name="Rounded Rectangle 11"/>
          <p:cNvSpPr/>
          <p:nvPr/>
        </p:nvSpPr>
        <p:spPr>
          <a:xfrm>
            <a:off x="4526280" y="4553712"/>
            <a:ext cx="6933895" cy="1755648"/>
          </a:xfrm>
          <a:prstGeom prst="roundRect">
            <a:avLst/>
          </a:prstGeom>
          <a:solidFill>
            <a:srgbClr val="F0FDF4"/>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09160" y="4663440"/>
            <a:ext cx="6568135" cy="1536192"/>
          </a:xfrm>
          <a:prstGeom prst="rect">
            <a:avLst/>
          </a:prstGeom>
          <a:noFill/>
        </p:spPr>
        <p:txBody>
          <a:bodyPr wrap="square">
            <a:spAutoFit/>
          </a:bodyPr>
          <a:lstStyle/>
          <a:p>
            <a:pPr>
              <a:spcAft>
                <a:spcPts val="200"/>
              </a:spcAft>
              <a:defRPr sz="1100" b="1">
                <a:solidFill>
                  <a:srgbClr val="10B981"/>
                </a:solidFill>
                <a:latin typeface="Segoe UI"/>
              </a:defRPr>
            </a:pPr>
            <a:r>
              <a:t>💡 ĐẶC TÍNH NỔI BẬT &amp; ĐỘ TIN CẬY BÁN DẪN:</a:t>
            </a:r>
          </a:p>
          <a:p>
            <a:pPr>
              <a:spcAft>
                <a:spcPts val="150"/>
              </a:spcAft>
              <a:defRPr sz="930" b="1">
                <a:solidFill>
                  <a:srgbClr val="0F172A"/>
                </a:solidFill>
                <a:latin typeface="Segoe UI"/>
              </a:defRPr>
            </a:pPr>
            <a:r>
              <a:t>✔ Giải mã phần cứng tức thì: </a:t>
            </a:r>
            <a:r>
              <a:rPr b="0">
                <a:solidFill>
                  <a:srgbClr val="475569"/>
                </a:solidFill>
              </a:rPr>
              <a:t>Toàn bộ chuỗi giải mã và đối chiếu Checksum chỉ mất 20.0 ns, CPU không tốn tài nguyên polling.</a:t>
            </a:r>
          </a:p>
          <a:p>
            <a:pPr>
              <a:spcAft>
                <a:spcPts val="150"/>
              </a:spcAft>
              <a:defRPr sz="930" b="1">
                <a:solidFill>
                  <a:srgbClr val="0F172A"/>
                </a:solidFill>
                <a:latin typeface="Segoe UI"/>
              </a:defRPr>
            </a:pPr>
            <a:r>
              <a:t>✔ Watchdog Timer chống treo: </a:t>
            </a:r>
            <a:r>
              <a:rPr b="0">
                <a:solidFill>
                  <a:srgbClr val="475569"/>
                </a:solidFill>
              </a:rPr>
              <a:t>Bộ đếm 19-bit (10ms) tự động reset FSM nếu đứt gói; triệt tiêu 100% các khung thẻ giả mạo sai Checksum.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CHƯƠNG 3 | NGOẠI VI GIAO TIẾP MÁY TÍNH</a:t>
            </a:r>
          </a:p>
          <a:p>
            <a:pPr>
              <a:defRPr sz="1900" b="1">
                <a:solidFill>
                  <a:srgbClr val="0F172A"/>
                </a:solidFill>
                <a:latin typeface="Segoe UI"/>
              </a:defRPr>
            </a:pPr>
            <a:r>
              <a:t>3.5. Bước 5b: Khối Ngoại Vi Giao Tiếp Host PC UART Tích Hợp FIFO 32B (Hình 2b)</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7315200" cy="274320"/>
          </a:xfrm>
          <a:prstGeom prst="rect">
            <a:avLst/>
          </a:prstGeom>
          <a:noFill/>
        </p:spPr>
        <p:txBody>
          <a:bodyPr wrap="none">
            <a:spAutoFit/>
          </a:bodyPr>
          <a:lstStyle/>
          <a:p>
            <a:pPr>
              <a:defRPr sz="950">
                <a:solidFill>
                  <a:srgbClr val="475569"/>
                </a:solidFill>
                <a:latin typeface="Segoe UI"/>
              </a:defRPr>
            </a:pPr>
            <a:r>
              <a:t>PicoRV32 RFID Access Controller SoC | SkyWater 130nm ASIC &amp; Basys 3 Demo</a:t>
            </a:r>
          </a:p>
        </p:txBody>
      </p:sp>
      <p:sp>
        <p:nvSpPr>
          <p:cNvPr id="7" name="TextBox 6"/>
          <p:cNvSpPr txBox="1"/>
          <p:nvPr/>
        </p:nvSpPr>
        <p:spPr>
          <a:xfrm>
            <a:off x="10058400" y="6492240"/>
            <a:ext cx="1401775" cy="274320"/>
          </a:xfrm>
          <a:prstGeom prst="rect">
            <a:avLst/>
          </a:prstGeom>
          <a:noFill/>
        </p:spPr>
        <p:txBody>
          <a:bodyPr wrap="none">
            <a:spAutoFit/>
          </a:bodyPr>
          <a:lstStyle/>
          <a:p>
            <a:pPr algn="r">
              <a:defRPr sz="950" b="1">
                <a:solidFill>
                  <a:srgbClr val="2563EB"/>
                </a:solidFill>
                <a:latin typeface="Segoe UI"/>
              </a:defRPr>
            </a:pPr>
            <a:r>
              <a:t>11 / 25</a:t>
            </a:r>
          </a:p>
        </p:txBody>
      </p:sp>
      <p:sp>
        <p:nvSpPr>
          <p:cNvPr id="8" name="Rounded Rectangle 7"/>
          <p:cNvSpPr/>
          <p:nvPr/>
        </p:nvSpPr>
        <p:spPr>
          <a:xfrm>
            <a:off x="731520" y="1234440"/>
            <a:ext cx="3611880" cy="5074920"/>
          </a:xfrm>
          <a:prstGeom prst="round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2b_host_uart_subsystem.png"/>
          <p:cNvPicPr>
            <a:picLocks noChangeAspect="1"/>
          </p:cNvPicPr>
          <p:nvPr/>
        </p:nvPicPr>
        <p:blipFill>
          <a:blip r:embed="rId2"/>
          <a:stretch>
            <a:fillRect/>
          </a:stretch>
        </p:blipFill>
        <p:spPr>
          <a:xfrm>
            <a:off x="786384" y="1289304"/>
            <a:ext cx="3502152" cy="4965192"/>
          </a:xfrm>
          <a:prstGeom prst="rect">
            <a:avLst/>
          </a:prstGeom>
        </p:spPr>
      </p:pic>
      <p:sp>
        <p:nvSpPr>
          <p:cNvPr id="10" name="Rounded Rectangle 9"/>
          <p:cNvSpPr/>
          <p:nvPr/>
        </p:nvSpPr>
        <p:spPr>
          <a:xfrm>
            <a:off x="4526280" y="1234440"/>
            <a:ext cx="6933895" cy="3154680"/>
          </a:xfrm>
          <a:prstGeom prst="round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09160" y="1371600"/>
            <a:ext cx="6568135" cy="2880360"/>
          </a:xfrm>
          <a:prstGeom prst="rect">
            <a:avLst/>
          </a:prstGeom>
          <a:noFill/>
        </p:spPr>
        <p:txBody>
          <a:bodyPr wrap="square">
            <a:spAutoFit/>
          </a:bodyPr>
          <a:lstStyle/>
          <a:p>
            <a:pPr>
              <a:spcAft>
                <a:spcPts val="400"/>
              </a:spcAft>
              <a:defRPr sz="1300" b="1">
                <a:solidFill>
                  <a:srgbClr val="7C3AED"/>
                </a:solidFill>
                <a:latin typeface="Segoe UI"/>
              </a:defRPr>
            </a:pPr>
            <a:r>
              <a:t>⚡ Kiến Trúc Ghép Nối Ngoại Vi UART Host PC &amp; FIFO 32 Byte</a:t>
            </a:r>
          </a:p>
          <a:p>
            <a:pPr>
              <a:spcAft>
                <a:spcPts val="200"/>
              </a:spcAft>
              <a:defRPr sz="960" b="1">
                <a:solidFill>
                  <a:srgbClr val="0F172A"/>
                </a:solidFill>
                <a:latin typeface="Segoe UI"/>
              </a:defRPr>
            </a:pPr>
            <a:r>
              <a:t>• GĐ 1: Host Console (host/main.c): </a:t>
            </a:r>
            <a:r>
              <a:rPr b="0">
                <a:solidFill>
                  <a:srgbClr val="475569"/>
                </a:solidFill>
              </a:rPr>
              <a:t>Phần mềm Win32 C phát gói lệnh nhị phân 11 chức năng và chuẩn hóa dữ liệu thẻ qua cổng USB.</a:t>
            </a:r>
          </a:p>
          <a:p>
            <a:pPr>
              <a:spcAft>
                <a:spcPts val="200"/>
              </a:spcAft>
              <a:defRPr sz="960" b="1">
                <a:solidFill>
                  <a:srgbClr val="0F172A"/>
                </a:solidFill>
                <a:latin typeface="Segoe UI"/>
              </a:defRPr>
            </a:pPr>
            <a:r>
              <a:t>• GĐ 2: FTDI &amp; CDC (sync_2ff.v): </a:t>
            </a:r>
            <a:r>
              <a:rPr b="0">
                <a:solidFill>
                  <a:srgbClr val="475569"/>
                </a:solidFill>
              </a:rPr>
              <a:t>IC cầu nối FTDI FT2232 chuyển sang UART TTL 3.3V, tầng 2-FF đồng bộ tín hiệu uart_rx vào miền clock 50 MHz.</a:t>
            </a:r>
          </a:p>
          <a:p>
            <a:pPr>
              <a:spcAft>
                <a:spcPts val="200"/>
              </a:spcAft>
              <a:defRPr sz="960" b="1">
                <a:solidFill>
                  <a:srgbClr val="0F172A"/>
                </a:solidFill>
                <a:latin typeface="Segoe UI"/>
              </a:defRPr>
            </a:pPr>
            <a:r>
              <a:t>• GĐ 3: UART RX/TX (simpleuart.v): </a:t>
            </a:r>
            <a:r>
              <a:rPr b="0">
                <a:solidFill>
                  <a:srgbClr val="475569"/>
                </a:solidFill>
              </a:rPr>
              <a:t>Tự động tạo khung nối tiếp và lấy mẫu dữ liệu, bộ chia baudrate lập trình (5208 ➔ 9600, hỗ trợ 115200).</a:t>
            </a:r>
          </a:p>
          <a:p>
            <a:pPr>
              <a:spcAft>
                <a:spcPts val="200"/>
              </a:spcAft>
              <a:defRPr sz="960" b="1">
                <a:solidFill>
                  <a:srgbClr val="0F172A"/>
                </a:solidFill>
                <a:latin typeface="Segoe UI"/>
              </a:defRPr>
            </a:pPr>
            <a:r>
              <a:t>• GĐ 4: Bộ Đệm FIFO 32 Byte (sync_fifo.v): </a:t>
            </a:r>
            <a:r>
              <a:rPr b="0">
                <a:solidFill>
                  <a:srgbClr val="475569"/>
                </a:solidFill>
              </a:rPr>
              <a:t>2 hàng đợi FIFO 32x8-bit độc lập (RX &amp; TX), tự động quản lý con trỏ phần cứng wr_ptr, rd_ptr và cờ trạng thái.</a:t>
            </a:r>
          </a:p>
          <a:p>
            <a:pPr>
              <a:spcAft>
                <a:spcPts val="200"/>
              </a:spcAft>
              <a:defRPr sz="960" b="1">
                <a:solidFill>
                  <a:srgbClr val="0F172A"/>
                </a:solidFill>
                <a:latin typeface="Segoe UI"/>
              </a:defRPr>
            </a:pPr>
            <a:r>
              <a:t>• GĐ 5: Khối host_uart_mmio.v (Slave 3): </a:t>
            </a:r>
            <a:r>
              <a:rPr b="0">
                <a:solidFill>
                  <a:srgbClr val="475569"/>
                </a:solidFill>
              </a:rPr>
              <a:t>Ánh xạ REG_PC_UART_DAT/CFG/STATUS (0x3000_0000), bắt tay bus mem_valid/mem_ready trong đúng 1 chu kỳ clock (20ns).</a:t>
            </a:r>
          </a:p>
        </p:txBody>
      </p:sp>
      <p:sp>
        <p:nvSpPr>
          <p:cNvPr id="12" name="Rounded Rectangle 11"/>
          <p:cNvSpPr/>
          <p:nvPr/>
        </p:nvSpPr>
        <p:spPr>
          <a:xfrm>
            <a:off x="4526280" y="4553712"/>
            <a:ext cx="6933895" cy="1755648"/>
          </a:xfrm>
          <a:prstGeom prst="roundRect">
            <a:avLst/>
          </a:prstGeom>
          <a:solidFill>
            <a:srgbClr val="F5F3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09160" y="4663440"/>
            <a:ext cx="6568135" cy="1536192"/>
          </a:xfrm>
          <a:prstGeom prst="rect">
            <a:avLst/>
          </a:prstGeom>
          <a:noFill/>
        </p:spPr>
        <p:txBody>
          <a:bodyPr wrap="square">
            <a:spAutoFit/>
          </a:bodyPr>
          <a:lstStyle/>
          <a:p>
            <a:pPr>
              <a:spcAft>
                <a:spcPts val="200"/>
              </a:spcAft>
              <a:defRPr sz="1100" b="1">
                <a:solidFill>
                  <a:srgbClr val="7C3AED"/>
                </a:solidFill>
                <a:latin typeface="Segoe UI"/>
              </a:defRPr>
            </a:pPr>
            <a:r>
              <a:t>🚀 BẢO VỆ CHỐNG TRÀN BỘ ĐỆM &amp; TOÀN VẸN DỮ LIỆU:</a:t>
            </a:r>
          </a:p>
          <a:p>
            <a:pPr>
              <a:spcAft>
                <a:spcPts val="150"/>
              </a:spcAft>
              <a:defRPr sz="930" b="1">
                <a:solidFill>
                  <a:srgbClr val="0F172A"/>
                </a:solidFill>
                <a:latin typeface="Segoe UI"/>
              </a:defRPr>
            </a:pPr>
            <a:r>
              <a:t>✔ Chống nghẽn khi ghi/xóa Flash: </a:t>
            </a:r>
            <a:r>
              <a:rPr b="0">
                <a:solidFill>
                  <a:srgbClr val="475569"/>
                </a:solidFill>
              </a:rPr>
              <a:t>Trong chu kỳ xóa Sector hoặc ghi Page Flash (kéo dài tới vài milli-giây), FIFO 32B lưu an toàn chuỗi lệnh Host.</a:t>
            </a:r>
          </a:p>
          <a:p>
            <a:pPr>
              <a:spcAft>
                <a:spcPts val="150"/>
              </a:spcAft>
              <a:defRPr sz="930" b="1">
                <a:solidFill>
                  <a:srgbClr val="0F172A"/>
                </a:solidFill>
                <a:latin typeface="Segoe UI"/>
              </a:defRPr>
            </a:pPr>
            <a:r>
              <a:t>✔ Không rơi rụng gói tin (Zero Loss): </a:t>
            </a:r>
            <a:r>
              <a:rPr b="0">
                <a:solidFill>
                  <a:srgbClr val="475569"/>
                </a:solidFill>
              </a:rPr>
              <a:t>Máy tính có thể truyền chuỗi gói tin liên tục tốc độ cao mà không làm tràn bộ đệm hay treo bus vi xử lý.</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CHƯƠNG 3 | GIAO THỨC DỮ LIỆU RFID</a:t>
            </a:r>
          </a:p>
          <a:p>
            <a:pPr>
              <a:defRPr sz="1900" b="1">
                <a:solidFill>
                  <a:srgbClr val="0F172A"/>
                </a:solidFill>
                <a:latin typeface="Segoe UI"/>
              </a:defRPr>
            </a:pPr>
            <a:r>
              <a:t>Cấu Trúc Khung 14 Byte &amp; Chứng Minh Toán Học Cây Toán Tử XOR</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7315200" cy="274320"/>
          </a:xfrm>
          <a:prstGeom prst="rect">
            <a:avLst/>
          </a:prstGeom>
          <a:noFill/>
        </p:spPr>
        <p:txBody>
          <a:bodyPr wrap="none">
            <a:spAutoFit/>
          </a:bodyPr>
          <a:lstStyle/>
          <a:p>
            <a:pPr>
              <a:defRPr sz="950">
                <a:solidFill>
                  <a:srgbClr val="475569"/>
                </a:solidFill>
                <a:latin typeface="Segoe UI"/>
              </a:defRPr>
            </a:pPr>
            <a:r>
              <a:t>PicoRV32 RFID Access Controller SoC | SkyWater 130nm ASIC &amp; Basys 3 Demo</a:t>
            </a:r>
          </a:p>
        </p:txBody>
      </p:sp>
      <p:sp>
        <p:nvSpPr>
          <p:cNvPr id="7" name="TextBox 6"/>
          <p:cNvSpPr txBox="1"/>
          <p:nvPr/>
        </p:nvSpPr>
        <p:spPr>
          <a:xfrm>
            <a:off x="10058400" y="6492240"/>
            <a:ext cx="1401775" cy="274320"/>
          </a:xfrm>
          <a:prstGeom prst="rect">
            <a:avLst/>
          </a:prstGeom>
          <a:noFill/>
        </p:spPr>
        <p:txBody>
          <a:bodyPr wrap="none">
            <a:spAutoFit/>
          </a:bodyPr>
          <a:lstStyle/>
          <a:p>
            <a:pPr algn="r">
              <a:defRPr sz="950" b="1">
                <a:solidFill>
                  <a:srgbClr val="2563EB"/>
                </a:solidFill>
                <a:latin typeface="Segoe UI"/>
              </a:defRPr>
            </a:pPr>
            <a:r>
              <a:t>12 / 25</a:t>
            </a:r>
          </a:p>
        </p:txBody>
      </p:sp>
      <p:sp>
        <p:nvSpPr>
          <p:cNvPr id="8" name="Rounded Rectangle 7"/>
          <p:cNvSpPr/>
          <p:nvPr/>
        </p:nvSpPr>
        <p:spPr>
          <a:xfrm>
            <a:off x="731520" y="1234440"/>
            <a:ext cx="10728655" cy="20116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325880"/>
            <a:ext cx="10362895" cy="1828800"/>
          </a:xfrm>
          <a:prstGeom prst="rect">
            <a:avLst/>
          </a:prstGeom>
          <a:noFill/>
        </p:spPr>
        <p:txBody>
          <a:bodyPr wrap="square">
            <a:spAutoFit/>
          </a:bodyPr>
          <a:lstStyle/>
          <a:p>
            <a:pPr>
              <a:spcAft>
                <a:spcPts val="600"/>
              </a:spcAft>
              <a:defRPr sz="1400" b="1">
                <a:solidFill>
                  <a:srgbClr val="2563EB"/>
                </a:solidFill>
                <a:latin typeface="Segoe UI"/>
              </a:defRPr>
            </a:pPr>
            <a:r>
              <a:t>Cấu Trúc Khung Truyền UART 14 Byte Của RDM6300 (Ví Dụ Thẻ Thật: 0007508976)</a:t>
            </a:r>
          </a:p>
        </p:txBody>
      </p:sp>
      <p:sp>
        <p:nvSpPr>
          <p:cNvPr id="10" name="Rounded Rectangle 9"/>
          <p:cNvSpPr/>
          <p:nvPr/>
        </p:nvSpPr>
        <p:spPr>
          <a:xfrm>
            <a:off x="914400" y="1737360"/>
            <a:ext cx="1234440" cy="960120"/>
          </a:xfrm>
          <a:prstGeom prst="roundRect">
            <a:avLst/>
          </a:prstGeom>
          <a:solidFill>
            <a:srgbClr val="F1F5F9"/>
          </a:solidFill>
          <a:ln w="190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475569"/>
                </a:solidFill>
                <a:latin typeface="Segoe UI"/>
              </a:defRPr>
            </a:pPr>
            <a:r>
              <a:t>Byte 0</a:t>
            </a:r>
          </a:p>
          <a:p>
            <a:pPr algn="ctr">
              <a:defRPr sz="1000" b="1">
                <a:solidFill>
                  <a:srgbClr val="475569"/>
                </a:solidFill>
                <a:latin typeface="Segoe UI"/>
              </a:defRPr>
            </a:pPr>
            <a:r>
              <a:t>STX</a:t>
            </a:r>
          </a:p>
          <a:p>
            <a:pPr algn="ctr">
              <a:defRPr sz="850">
                <a:solidFill>
                  <a:srgbClr val="0F172A"/>
                </a:solidFill>
                <a:latin typeface="Consolas"/>
              </a:defRPr>
            </a:pPr>
            <a:r>
              <a:t>0x02</a:t>
            </a:r>
          </a:p>
        </p:txBody>
      </p:sp>
      <p:sp>
        <p:nvSpPr>
          <p:cNvPr id="11" name="Rounded Rectangle 10"/>
          <p:cNvSpPr/>
          <p:nvPr/>
        </p:nvSpPr>
        <p:spPr>
          <a:xfrm>
            <a:off x="2221992" y="1737360"/>
            <a:ext cx="1234440" cy="960120"/>
          </a:xfrm>
          <a:prstGeom prst="roundRect">
            <a:avLst/>
          </a:prstGeom>
          <a:solidFill>
            <a:srgbClr val="EEF2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475569"/>
                </a:solidFill>
                <a:latin typeface="Segoe UI"/>
              </a:defRPr>
            </a:pPr>
            <a:r>
              <a:t>B 1-2</a:t>
            </a:r>
          </a:p>
          <a:p>
            <a:pPr algn="ctr">
              <a:defRPr sz="1000" b="1">
                <a:solidFill>
                  <a:srgbClr val="2563EB"/>
                </a:solidFill>
                <a:latin typeface="Segoe UI"/>
              </a:defRPr>
            </a:pPr>
            <a:r>
              <a:t>Version</a:t>
            </a:r>
          </a:p>
          <a:p>
            <a:pPr algn="ctr">
              <a:defRPr sz="850">
                <a:solidFill>
                  <a:srgbClr val="0F172A"/>
                </a:solidFill>
                <a:latin typeface="Consolas"/>
              </a:defRPr>
            </a:pPr>
            <a:r>
              <a:t>0x00 ('0''0')</a:t>
            </a:r>
          </a:p>
        </p:txBody>
      </p:sp>
      <p:sp>
        <p:nvSpPr>
          <p:cNvPr id="12" name="Rounded Rectangle 11"/>
          <p:cNvSpPr/>
          <p:nvPr/>
        </p:nvSpPr>
        <p:spPr>
          <a:xfrm>
            <a:off x="3529584" y="1737360"/>
            <a:ext cx="1234440" cy="960120"/>
          </a:xfrm>
          <a:prstGeom prst="roundRect">
            <a:avLst/>
          </a:prstGeom>
          <a:solidFill>
            <a:srgbClr val="ECFDF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475569"/>
                </a:solidFill>
                <a:latin typeface="Segoe UI"/>
              </a:defRPr>
            </a:pPr>
            <a:r>
              <a:t>B 3-4</a:t>
            </a:r>
          </a:p>
          <a:p>
            <a:pPr algn="ctr">
              <a:defRPr sz="1000" b="1">
                <a:solidFill>
                  <a:srgbClr val="10B981"/>
                </a:solidFill>
                <a:latin typeface="Segoe UI"/>
              </a:defRPr>
            </a:pPr>
            <a:r>
              <a:t>Data[31:24]</a:t>
            </a:r>
          </a:p>
          <a:p>
            <a:pPr algn="ctr">
              <a:defRPr sz="850">
                <a:solidFill>
                  <a:srgbClr val="0F172A"/>
                </a:solidFill>
                <a:latin typeface="Consolas"/>
              </a:defRPr>
            </a:pPr>
            <a:r>
              <a:t>0x00 ('0''0')</a:t>
            </a:r>
          </a:p>
        </p:txBody>
      </p:sp>
      <p:sp>
        <p:nvSpPr>
          <p:cNvPr id="13" name="Rounded Rectangle 12"/>
          <p:cNvSpPr/>
          <p:nvPr/>
        </p:nvSpPr>
        <p:spPr>
          <a:xfrm>
            <a:off x="4837176" y="1737360"/>
            <a:ext cx="1234440" cy="960120"/>
          </a:xfrm>
          <a:prstGeom prst="roundRect">
            <a:avLst/>
          </a:prstGeom>
          <a:solidFill>
            <a:srgbClr val="ECFDF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475569"/>
                </a:solidFill>
                <a:latin typeface="Segoe UI"/>
              </a:defRPr>
            </a:pPr>
            <a:r>
              <a:t>B 5-6</a:t>
            </a:r>
          </a:p>
          <a:p>
            <a:pPr algn="ctr">
              <a:defRPr sz="1000" b="1">
                <a:solidFill>
                  <a:srgbClr val="10B981"/>
                </a:solidFill>
                <a:latin typeface="Segoe UI"/>
              </a:defRPr>
            </a:pPr>
            <a:r>
              <a:t>Data[23:16]</a:t>
            </a:r>
          </a:p>
          <a:p>
            <a:pPr algn="ctr">
              <a:defRPr sz="850">
                <a:solidFill>
                  <a:srgbClr val="0F172A"/>
                </a:solidFill>
                <a:latin typeface="Consolas"/>
              </a:defRPr>
            </a:pPr>
            <a:r>
              <a:t>0x72 ('7''2')</a:t>
            </a:r>
          </a:p>
        </p:txBody>
      </p:sp>
      <p:sp>
        <p:nvSpPr>
          <p:cNvPr id="14" name="Rounded Rectangle 13"/>
          <p:cNvSpPr/>
          <p:nvPr/>
        </p:nvSpPr>
        <p:spPr>
          <a:xfrm>
            <a:off x="6144768" y="1737360"/>
            <a:ext cx="1234440" cy="960120"/>
          </a:xfrm>
          <a:prstGeom prst="roundRect">
            <a:avLst/>
          </a:prstGeom>
          <a:solidFill>
            <a:srgbClr val="ECFDF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475569"/>
                </a:solidFill>
                <a:latin typeface="Segoe UI"/>
              </a:defRPr>
            </a:pPr>
            <a:r>
              <a:t>B 7-8</a:t>
            </a:r>
          </a:p>
          <a:p>
            <a:pPr algn="ctr">
              <a:defRPr sz="1000" b="1">
                <a:solidFill>
                  <a:srgbClr val="10B981"/>
                </a:solidFill>
                <a:latin typeface="Segoe UI"/>
              </a:defRPr>
            </a:pPr>
            <a:r>
              <a:t>Data[15:8]</a:t>
            </a:r>
          </a:p>
          <a:p>
            <a:pPr algn="ctr">
              <a:defRPr sz="850">
                <a:solidFill>
                  <a:srgbClr val="0F172A"/>
                </a:solidFill>
                <a:latin typeface="Consolas"/>
              </a:defRPr>
            </a:pPr>
            <a:r>
              <a:t>0x93 ('9''3')</a:t>
            </a:r>
          </a:p>
        </p:txBody>
      </p:sp>
      <p:sp>
        <p:nvSpPr>
          <p:cNvPr id="15" name="Rounded Rectangle 14"/>
          <p:cNvSpPr/>
          <p:nvPr/>
        </p:nvSpPr>
        <p:spPr>
          <a:xfrm>
            <a:off x="7452360" y="1737360"/>
            <a:ext cx="1234440" cy="960120"/>
          </a:xfrm>
          <a:prstGeom prst="roundRect">
            <a:avLst/>
          </a:prstGeom>
          <a:solidFill>
            <a:srgbClr val="ECFDF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475569"/>
                </a:solidFill>
                <a:latin typeface="Segoe UI"/>
              </a:defRPr>
            </a:pPr>
            <a:r>
              <a:t>B 9-10</a:t>
            </a:r>
          </a:p>
          <a:p>
            <a:pPr algn="ctr">
              <a:defRPr sz="1000" b="1">
                <a:solidFill>
                  <a:srgbClr val="10B981"/>
                </a:solidFill>
                <a:latin typeface="Segoe UI"/>
              </a:defRPr>
            </a:pPr>
            <a:r>
              <a:t>Data[7:0]</a:t>
            </a:r>
          </a:p>
          <a:p>
            <a:pPr algn="ctr">
              <a:defRPr sz="850">
                <a:solidFill>
                  <a:srgbClr val="0F172A"/>
                </a:solidFill>
                <a:latin typeface="Consolas"/>
              </a:defRPr>
            </a:pPr>
            <a:r>
              <a:t>0xF0 ('F''0')</a:t>
            </a:r>
          </a:p>
        </p:txBody>
      </p:sp>
      <p:sp>
        <p:nvSpPr>
          <p:cNvPr id="16" name="Rounded Rectangle 15"/>
          <p:cNvSpPr/>
          <p:nvPr/>
        </p:nvSpPr>
        <p:spPr>
          <a:xfrm>
            <a:off x="8759952" y="1737360"/>
            <a:ext cx="1234440" cy="960120"/>
          </a:xfrm>
          <a:prstGeom prst="roundRect">
            <a:avLst/>
          </a:prstGeom>
          <a:solidFill>
            <a:srgbClr val="FFF1F2"/>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475569"/>
                </a:solidFill>
                <a:latin typeface="Segoe UI"/>
              </a:defRPr>
            </a:pPr>
            <a:r>
              <a:t>B 11-12</a:t>
            </a:r>
          </a:p>
          <a:p>
            <a:pPr algn="ctr">
              <a:defRPr sz="1000" b="1">
                <a:solidFill>
                  <a:srgbClr val="E11D48"/>
                </a:solidFill>
                <a:latin typeface="Segoe UI"/>
              </a:defRPr>
            </a:pPr>
            <a:r>
              <a:t>Checksum</a:t>
            </a:r>
          </a:p>
          <a:p>
            <a:pPr algn="ctr">
              <a:defRPr sz="850">
                <a:solidFill>
                  <a:srgbClr val="0F172A"/>
                </a:solidFill>
                <a:latin typeface="Consolas"/>
              </a:defRPr>
            </a:pPr>
            <a:r>
              <a:t>0xF0 ('F''0')</a:t>
            </a:r>
          </a:p>
        </p:txBody>
      </p:sp>
      <p:sp>
        <p:nvSpPr>
          <p:cNvPr id="17" name="Rounded Rectangle 16"/>
          <p:cNvSpPr/>
          <p:nvPr/>
        </p:nvSpPr>
        <p:spPr>
          <a:xfrm>
            <a:off x="10067544" y="1737360"/>
            <a:ext cx="1234440" cy="960120"/>
          </a:xfrm>
          <a:prstGeom prst="roundRect">
            <a:avLst/>
          </a:prstGeom>
          <a:solidFill>
            <a:srgbClr val="F1F5F9"/>
          </a:solidFill>
          <a:ln w="190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475569"/>
                </a:solidFill>
                <a:latin typeface="Segoe UI"/>
              </a:defRPr>
            </a:pPr>
            <a:r>
              <a:t>Byte 13</a:t>
            </a:r>
          </a:p>
          <a:p>
            <a:pPr algn="ctr">
              <a:defRPr sz="1000" b="1">
                <a:solidFill>
                  <a:srgbClr val="475569"/>
                </a:solidFill>
                <a:latin typeface="Segoe UI"/>
              </a:defRPr>
            </a:pPr>
            <a:r>
              <a:t>ETX</a:t>
            </a:r>
          </a:p>
          <a:p>
            <a:pPr algn="ctr">
              <a:defRPr sz="850">
                <a:solidFill>
                  <a:srgbClr val="0F172A"/>
                </a:solidFill>
                <a:latin typeface="Consolas"/>
              </a:defRPr>
            </a:pPr>
            <a:r>
              <a:t>0x03</a:t>
            </a:r>
          </a:p>
        </p:txBody>
      </p:sp>
      <p:sp>
        <p:nvSpPr>
          <p:cNvPr id="18" name="Rounded Rectangle 17"/>
          <p:cNvSpPr/>
          <p:nvPr/>
        </p:nvSpPr>
        <p:spPr>
          <a:xfrm>
            <a:off x="731520" y="3429000"/>
            <a:ext cx="5120640" cy="269748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520440"/>
            <a:ext cx="4754880" cy="2514600"/>
          </a:xfrm>
          <a:prstGeom prst="rect">
            <a:avLst/>
          </a:prstGeom>
          <a:noFill/>
        </p:spPr>
        <p:txBody>
          <a:bodyPr wrap="square">
            <a:spAutoFit/>
          </a:bodyPr>
          <a:lstStyle/>
          <a:p>
            <a:pPr>
              <a:spcAft>
                <a:spcPts val="600"/>
              </a:spcAft>
              <a:defRPr sz="1400" b="1">
                <a:solidFill>
                  <a:srgbClr val="10B981"/>
                </a:solidFill>
                <a:latin typeface="Segoe UI"/>
              </a:defRPr>
            </a:pPr>
            <a:r>
              <a:t>Quy Đổi Định Dạng Thẻ RFID Thật</a:t>
            </a:r>
          </a:p>
          <a:p>
            <a:pPr>
              <a:spcAft>
                <a:spcPts val="300"/>
              </a:spcAft>
              <a:defRPr sz="1050" b="1">
                <a:solidFill>
                  <a:srgbClr val="0F172A"/>
                </a:solidFill>
                <a:latin typeface="Segoe UI"/>
              </a:defRPr>
            </a:pPr>
            <a:r>
              <a:t>• Số in dập nổi trên thẻ:</a:t>
            </a:r>
            <a:br/>
            <a:r>
              <a:t>  0007508976 (10 chữ số thập phân)</a:t>
            </a:r>
          </a:p>
          <a:p>
            <a:pPr>
              <a:spcAft>
                <a:spcPts val="300"/>
              </a:spcAft>
              <a:defRPr sz="1050" b="0">
                <a:solidFill>
                  <a:srgbClr val="0F172A"/>
                </a:solidFill>
                <a:latin typeface="Segoe UI"/>
              </a:defRPr>
            </a:pPr>
            <a:r>
              <a:t>• Định dạng Wiegand chuẩn:</a:t>
            </a:r>
            <a:br/>
            <a:r>
              <a:t>  Facility Code: 114 | Card ID: 37872</a:t>
            </a:r>
          </a:p>
          <a:p>
            <a:pPr>
              <a:spcAft>
                <a:spcPts val="300"/>
              </a:spcAft>
              <a:defRPr sz="1050" b="1">
                <a:solidFill>
                  <a:srgbClr val="0F172A"/>
                </a:solidFill>
                <a:latin typeface="Segoe UI"/>
              </a:defRPr>
            </a:pPr>
            <a:r>
              <a:t>• Mã Hex 10 ký tự chuẩn hóa:</a:t>
            </a:r>
            <a:br/>
            <a:r>
              <a:t>  0x00 007293F0 (Version: 0x00, Serial: 0x007293F0)</a:t>
            </a:r>
          </a:p>
          <a:p>
            <a:pPr>
              <a:spcAft>
                <a:spcPts val="300"/>
              </a:spcAft>
              <a:defRPr sz="1050" b="0">
                <a:solidFill>
                  <a:srgbClr val="0F172A"/>
                </a:solidFill>
                <a:latin typeface="Segoe UI"/>
              </a:defRPr>
            </a:pPr>
            <a:r>
              <a:t>• Thuật toán chuyển đổi:</a:t>
            </a:r>
            <a:br/>
            <a:r>
              <a:t>  Do phần mềm Host C và FSM phần cứng tự động quy đổi đồng bộ 100%.</a:t>
            </a:r>
          </a:p>
        </p:txBody>
      </p:sp>
      <p:sp>
        <p:nvSpPr>
          <p:cNvPr id="20" name="Rounded Rectangle 19"/>
          <p:cNvSpPr/>
          <p:nvPr/>
        </p:nvSpPr>
        <p:spPr>
          <a:xfrm>
            <a:off x="6035040" y="3429000"/>
            <a:ext cx="5425135" cy="2697480"/>
          </a:xfrm>
          <a:prstGeom prst="round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0" y="3520440"/>
            <a:ext cx="5059375" cy="2514600"/>
          </a:xfrm>
          <a:prstGeom prst="rect">
            <a:avLst/>
          </a:prstGeom>
          <a:noFill/>
        </p:spPr>
        <p:txBody>
          <a:bodyPr wrap="square">
            <a:spAutoFit/>
          </a:bodyPr>
          <a:lstStyle/>
          <a:p>
            <a:pPr>
              <a:spcAft>
                <a:spcPts val="600"/>
              </a:spcAft>
              <a:defRPr sz="1400" b="1">
                <a:solidFill>
                  <a:srgbClr val="7C3AED"/>
                </a:solidFill>
                <a:latin typeface="Segoe UI"/>
              </a:defRPr>
            </a:pPr>
            <a:r>
              <a:t>Cây Toán Tử XOR Song Song 1 Chu Kỳ (20.0 ns)</a:t>
            </a:r>
          </a:p>
          <a:p>
            <a:pPr>
              <a:spcAft>
                <a:spcPts val="200"/>
              </a:spcAft>
              <a:defRPr sz="1050" b="1">
                <a:solidFill>
                  <a:srgbClr val="0F172A"/>
                </a:solidFill>
                <a:latin typeface="Segoe UI"/>
              </a:defRPr>
            </a:pPr>
            <a:r>
              <a:t>• Công thức: </a:t>
            </a:r>
            <a:r>
              <a:rPr b="0" sz="1000">
                <a:solidFill>
                  <a:srgbClr val="475569"/>
                </a:solidFill>
              </a:rPr>
              <a:t>Calc_CS = D[0] ^ D[1] ^ D[2] ^ D[3] ^ D[4]</a:t>
            </a:r>
          </a:p>
          <a:p>
            <a:pPr>
              <a:spcAft>
                <a:spcPts val="200"/>
              </a:spcAft>
              <a:defRPr sz="1050" b="1">
                <a:solidFill>
                  <a:srgbClr val="0F172A"/>
                </a:solidFill>
                <a:latin typeface="Segoe UI"/>
              </a:defRPr>
            </a:pPr>
            <a:r>
              <a:t>• Dạng nhị phân: </a:t>
            </a:r>
            <a:r>
              <a:rPr b="0" sz="1000">
                <a:solidFill>
                  <a:srgbClr val="475569"/>
                </a:solidFill>
              </a:rPr>
              <a:t>= 00000000 ^ 00000000 ^ 01110010 ^ 10010011 ^ 11110000</a:t>
            </a:r>
          </a:p>
          <a:p>
            <a:pPr>
              <a:spcAft>
                <a:spcPts val="200"/>
              </a:spcAft>
              <a:defRPr sz="1050" b="1">
                <a:solidFill>
                  <a:srgbClr val="0F172A"/>
                </a:solidFill>
                <a:latin typeface="Segoe UI"/>
              </a:defRPr>
            </a:pPr>
            <a:r>
              <a:t>• Dạng Hex: </a:t>
            </a:r>
            <a:r>
              <a:rPr b="0" sz="1000">
                <a:solidFill>
                  <a:srgbClr val="475569"/>
                </a:solidFill>
              </a:rPr>
              <a:t>= 0x00 ^ 0x00 ^ 0x72 ^ 0x93 ^ 0xF0 = 0xF0</a:t>
            </a:r>
          </a:p>
          <a:p>
            <a:pPr>
              <a:spcAft>
                <a:spcPts val="200"/>
              </a:spcAft>
              <a:defRPr sz="1050" b="1">
                <a:solidFill>
                  <a:srgbClr val="0F172A"/>
                </a:solidFill>
                <a:latin typeface="Segoe UI"/>
              </a:defRPr>
            </a:pPr>
            <a:r>
              <a:t>• So khớp: </a:t>
            </a:r>
            <a:r>
              <a:rPr b="0" sz="1000">
                <a:solidFill>
                  <a:srgbClr val="10B981"/>
                </a:solidFill>
              </a:rPr>
              <a:t>Calc_CS (0xF0) == Received_CS (0xF0) -&gt; MATCH OK!</a:t>
            </a:r>
          </a:p>
          <a:p>
            <a:pPr>
              <a:spcAft>
                <a:spcPts val="200"/>
              </a:spcAft>
              <a:defRPr sz="1050" b="1">
                <a:solidFill>
                  <a:srgbClr val="0F172A"/>
                </a:solidFill>
                <a:latin typeface="Segoe UI"/>
              </a:defRPr>
            </a:pPr>
            <a:r>
              <a:t>• Hiệu năng: </a:t>
            </a:r>
            <a:r>
              <a:rPr b="0" sz="1000">
                <a:solidFill>
                  <a:srgbClr val="475569"/>
                </a:solidFill>
              </a:rPr>
              <a:t>Hoàn tất trong 1 chu kỳ clock, không tốn tài nguyên CPU.</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CHƯƠNG 3 | QUẢN LÝ BỘ NHỚ FLASH</a:t>
            </a:r>
          </a:p>
          <a:p>
            <a:pPr>
              <a:defRPr sz="1900" b="1">
                <a:solidFill>
                  <a:srgbClr val="0F172A"/>
                </a:solidFill>
                <a:latin typeface="Segoe UI"/>
              </a:defRPr>
            </a:pPr>
            <a:r>
              <a:t>3.6. Bước 6: Phân Vùng Bộ Nhớ SPI Flash &amp; Cơ Chế Thực Thi XIP</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7315200" cy="274320"/>
          </a:xfrm>
          <a:prstGeom prst="rect">
            <a:avLst/>
          </a:prstGeom>
          <a:noFill/>
        </p:spPr>
        <p:txBody>
          <a:bodyPr wrap="none">
            <a:spAutoFit/>
          </a:bodyPr>
          <a:lstStyle/>
          <a:p>
            <a:pPr>
              <a:defRPr sz="950">
                <a:solidFill>
                  <a:srgbClr val="475569"/>
                </a:solidFill>
                <a:latin typeface="Segoe UI"/>
              </a:defRPr>
            </a:pPr>
            <a:r>
              <a:t>PicoRV32 RFID Access Controller SoC | SkyWater 130nm ASIC &amp; Basys 3 Demo</a:t>
            </a:r>
          </a:p>
        </p:txBody>
      </p:sp>
      <p:sp>
        <p:nvSpPr>
          <p:cNvPr id="7" name="TextBox 6"/>
          <p:cNvSpPr txBox="1"/>
          <p:nvPr/>
        </p:nvSpPr>
        <p:spPr>
          <a:xfrm>
            <a:off x="10058400" y="6492240"/>
            <a:ext cx="1401775" cy="274320"/>
          </a:xfrm>
          <a:prstGeom prst="rect">
            <a:avLst/>
          </a:prstGeom>
          <a:noFill/>
        </p:spPr>
        <p:txBody>
          <a:bodyPr wrap="none">
            <a:spAutoFit/>
          </a:bodyPr>
          <a:lstStyle/>
          <a:p>
            <a:pPr algn="r">
              <a:defRPr sz="950" b="1">
                <a:solidFill>
                  <a:srgbClr val="2563EB"/>
                </a:solidFill>
                <a:latin typeface="Segoe UI"/>
              </a:defRPr>
            </a:pPr>
            <a:r>
              <a:t>13 / 25</a:t>
            </a:r>
          </a:p>
        </p:txBody>
      </p:sp>
      <p:sp>
        <p:nvSpPr>
          <p:cNvPr id="8" name="Rounded Rectangle 7"/>
          <p:cNvSpPr/>
          <p:nvPr/>
        </p:nvSpPr>
        <p:spPr>
          <a:xfrm>
            <a:off x="731520" y="1234440"/>
            <a:ext cx="6035040" cy="489204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371600"/>
            <a:ext cx="5669280" cy="2926080"/>
          </a:xfrm>
          <a:prstGeom prst="rect">
            <a:avLst/>
          </a:prstGeom>
          <a:noFill/>
        </p:spPr>
        <p:txBody>
          <a:bodyPr wrap="square">
            <a:spAutoFit/>
          </a:bodyPr>
          <a:lstStyle/>
          <a:p>
            <a:pPr>
              <a:spcAft>
                <a:spcPts val="800"/>
              </a:spcAft>
              <a:defRPr sz="1400" b="1">
                <a:solidFill>
                  <a:srgbClr val="2563EB"/>
                </a:solidFill>
                <a:latin typeface="Segoe UI"/>
              </a:defRPr>
            </a:pPr>
            <a:r>
              <a:t>Quy Hoạch Bộ Nhớ SPI NOR Flash (32 Mbit / 4 MBytes)</a:t>
            </a:r>
          </a:p>
          <a:p>
            <a:pPr>
              <a:spcAft>
                <a:spcPts val="400"/>
              </a:spcAft>
              <a:defRPr sz="1050" b="1">
                <a:solidFill>
                  <a:srgbClr val="0F172A"/>
                </a:solidFill>
                <a:latin typeface="Segoe UI"/>
              </a:defRPr>
            </a:pPr>
            <a:r>
              <a:t>💾 Sector 0 - 36 (0x000000 - 0x0024FFFF):</a:t>
            </a:r>
            <a:br/>
            <a:r>
              <a:rPr b="0" sz="1000">
                <a:solidFill>
                  <a:srgbClr val="475569"/>
                </a:solidFill>
              </a:rPr>
              <a:t>    Dung lượng ~2.3 MB. Chứa FPGA Bitstream (khi nạp demo trên Basys 3) hoặc Bootloader.</a:t>
            </a:r>
          </a:p>
          <a:p>
            <a:pPr>
              <a:spcAft>
                <a:spcPts val="400"/>
              </a:spcAft>
              <a:defRPr sz="1050" b="1">
                <a:solidFill>
                  <a:srgbClr val="0F172A"/>
                </a:solidFill>
                <a:latin typeface="Segoe UI"/>
              </a:defRPr>
            </a:pPr>
            <a:r>
              <a:t>💾 Sector 37 (0x00250000 - 0x0025FFFF):</a:t>
            </a:r>
            <a:br/>
            <a:r>
              <a:rPr b="0" sz="1000">
                <a:solidFill>
                  <a:srgbClr val="475569"/>
                </a:solidFill>
              </a:rPr>
              <a:t>    Dung lượng 64 KB. Chứa toàn bộ Firmware RISC-V PicoRV32 thực thi tại chỗ (XIP).</a:t>
            </a:r>
          </a:p>
          <a:p>
            <a:pPr>
              <a:spcAft>
                <a:spcPts val="400"/>
              </a:spcAft>
              <a:defRPr sz="1050" b="1">
                <a:solidFill>
                  <a:srgbClr val="0F172A"/>
                </a:solidFill>
                <a:latin typeface="Segoe UI"/>
              </a:defRPr>
            </a:pPr>
            <a:r>
              <a:t>💾 Sector 48 (0x00300000 - 0x0030FFFF):</a:t>
            </a:r>
            <a:br/>
            <a:r>
              <a:rPr b="0" sz="1000">
                <a:solidFill>
                  <a:srgbClr val="475569"/>
                </a:solidFill>
              </a:rPr>
              <a:t>    Dung lượng 64 KB. Cơ sở dữ liệu danh mục thẻ hợp lệ (Whitelist), lưu trữ tối đa 4096 bản ghi thẻ.</a:t>
            </a:r>
          </a:p>
          <a:p>
            <a:pPr>
              <a:spcAft>
                <a:spcPts val="400"/>
              </a:spcAft>
              <a:defRPr sz="1050" b="1">
                <a:solidFill>
                  <a:srgbClr val="0F172A"/>
                </a:solidFill>
                <a:latin typeface="Segoe UI"/>
              </a:defRPr>
            </a:pPr>
            <a:r>
              <a:t>💾 Sector 49 (0x00310000 - 0x0031FFFF):</a:t>
            </a:r>
            <a:br/>
            <a:r>
              <a:rPr b="0" sz="1000">
                <a:solidFill>
                  <a:srgbClr val="475569"/>
                </a:solidFill>
              </a:rPr>
              <a:t>    Dung lượng 64 KB. Cơ sở dữ liệu nhật ký quẹt thẻ (Access Logs), lưu trữ tối đa 512 bản ghi lượt quẹt.</a:t>
            </a:r>
          </a:p>
        </p:txBody>
      </p:sp>
      <p:sp>
        <p:nvSpPr>
          <p:cNvPr id="10" name="Rectangle 9"/>
          <p:cNvSpPr/>
          <p:nvPr/>
        </p:nvSpPr>
        <p:spPr>
          <a:xfrm>
            <a:off x="914400" y="4343400"/>
            <a:ext cx="2560320" cy="384048"/>
          </a:xfrm>
          <a:prstGeom prst="rect">
            <a:avLst/>
          </a:prstGeom>
          <a:solidFill>
            <a:srgbClr val="E2E8F0"/>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0B132B"/>
                </a:solidFill>
                <a:latin typeface="Segoe UI"/>
              </a:defRPr>
            </a:pPr>
            <a:r>
              <a:t>Sec 0-36 (2.3M Bitstream)</a:t>
            </a:r>
          </a:p>
        </p:txBody>
      </p:sp>
      <p:sp>
        <p:nvSpPr>
          <p:cNvPr id="11" name="Rectangle 10"/>
          <p:cNvSpPr/>
          <p:nvPr/>
        </p:nvSpPr>
        <p:spPr>
          <a:xfrm>
            <a:off x="3474720" y="4343400"/>
            <a:ext cx="1051560" cy="384048"/>
          </a:xfrm>
          <a:prstGeom prst="rect">
            <a:avLst/>
          </a:prstGeom>
          <a:solidFill>
            <a:srgbClr val="BAE6FD"/>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0B132B"/>
                </a:solidFill>
                <a:latin typeface="Segoe UI"/>
              </a:defRPr>
            </a:pPr>
            <a:r>
              <a:t>Sec 37 (XIP)</a:t>
            </a:r>
          </a:p>
        </p:txBody>
      </p:sp>
      <p:sp>
        <p:nvSpPr>
          <p:cNvPr id="12" name="Rectangle 11"/>
          <p:cNvSpPr/>
          <p:nvPr/>
        </p:nvSpPr>
        <p:spPr>
          <a:xfrm>
            <a:off x="4526280" y="4343400"/>
            <a:ext cx="1051560" cy="384048"/>
          </a:xfrm>
          <a:prstGeom prst="rect">
            <a:avLst/>
          </a:prstGeom>
          <a:solidFill>
            <a:srgbClr val="BBF7D0"/>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0B132B"/>
                </a:solidFill>
                <a:latin typeface="Segoe UI"/>
              </a:defRPr>
            </a:pPr>
            <a:r>
              <a:t>Sec 48 (List)</a:t>
            </a:r>
          </a:p>
        </p:txBody>
      </p:sp>
      <p:sp>
        <p:nvSpPr>
          <p:cNvPr id="13" name="Rectangle 12"/>
          <p:cNvSpPr/>
          <p:nvPr/>
        </p:nvSpPr>
        <p:spPr>
          <a:xfrm>
            <a:off x="5577840" y="4343400"/>
            <a:ext cx="1051560" cy="384048"/>
          </a:xfrm>
          <a:prstGeom prst="rect">
            <a:avLst/>
          </a:prstGeom>
          <a:solidFill>
            <a:srgbClr val="FED7AA"/>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0B132B"/>
                </a:solidFill>
                <a:latin typeface="Segoe UI"/>
              </a:defRPr>
            </a:pPr>
            <a:r>
              <a:t>Sec 49 (Logs)</a:t>
            </a:r>
          </a:p>
        </p:txBody>
      </p:sp>
      <p:sp>
        <p:nvSpPr>
          <p:cNvPr id="14" name="TextBox 13"/>
          <p:cNvSpPr txBox="1"/>
          <p:nvPr/>
        </p:nvSpPr>
        <p:spPr>
          <a:xfrm>
            <a:off x="914400" y="4828032"/>
            <a:ext cx="5715000" cy="1097280"/>
          </a:xfrm>
          <a:prstGeom prst="rect">
            <a:avLst/>
          </a:prstGeom>
          <a:noFill/>
        </p:spPr>
        <p:txBody>
          <a:bodyPr wrap="square">
            <a:spAutoFit/>
          </a:bodyPr>
          <a:lstStyle/>
          <a:p>
            <a:pPr>
              <a:spcAft>
                <a:spcPts val="200"/>
              </a:spcAft>
              <a:defRPr sz="1100" b="1">
                <a:solidFill>
                  <a:srgbClr val="2563EB"/>
                </a:solidFill>
                <a:latin typeface="Segoe UI"/>
              </a:defRPr>
            </a:pPr>
            <a:r>
              <a:t>💡 Hiệu Quả Quy Hoạch Bộ Nhớ:</a:t>
            </a:r>
          </a:p>
          <a:p>
            <a:pPr>
              <a:defRPr sz="1000">
                <a:solidFill>
                  <a:srgbClr val="475569"/>
                </a:solidFill>
                <a:latin typeface="Segoe UI"/>
              </a:defRPr>
            </a:pPr>
            <a:r>
              <a:t>Bản đồ phân vùng bộ nhớ được chia tách vật lý độc lập theo từng Sector 64 KB, đảm bảo lệnh xóa Sector của một vùng không bao giờ ảnh hưởng hay gây hỏng hóc tới mã máy firmware và cơ sở dữ liệu các vùng khác.</a:t>
            </a:r>
          </a:p>
        </p:txBody>
      </p:sp>
      <p:sp>
        <p:nvSpPr>
          <p:cNvPr id="15" name="Rounded Rectangle 14"/>
          <p:cNvSpPr/>
          <p:nvPr/>
        </p:nvSpPr>
        <p:spPr>
          <a:xfrm>
            <a:off x="7132320" y="1234440"/>
            <a:ext cx="4327855" cy="489204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0" y="1371600"/>
            <a:ext cx="3962095" cy="2926080"/>
          </a:xfrm>
          <a:prstGeom prst="rect">
            <a:avLst/>
          </a:prstGeom>
          <a:noFill/>
        </p:spPr>
        <p:txBody>
          <a:bodyPr wrap="square">
            <a:spAutoFit/>
          </a:bodyPr>
          <a:lstStyle/>
          <a:p>
            <a:pPr>
              <a:spcAft>
                <a:spcPts val="800"/>
              </a:spcAft>
              <a:defRPr sz="1400" b="1">
                <a:solidFill>
                  <a:srgbClr val="10B981"/>
                </a:solidFill>
                <a:latin typeface="Segoe UI"/>
              </a:defRPr>
            </a:pPr>
            <a:r>
              <a:t>Cơ Chế Thực Thi Tại Chỗ (XIP)</a:t>
            </a:r>
          </a:p>
          <a:p>
            <a:pPr>
              <a:spcAft>
                <a:spcPts val="400"/>
              </a:spcAft>
              <a:defRPr sz="1050" b="1">
                <a:solidFill>
                  <a:srgbClr val="0F172A"/>
                </a:solidFill>
                <a:latin typeface="Segoe UI"/>
              </a:defRPr>
            </a:pPr>
            <a:r>
              <a:t>▸ Không cần nạp vào RAM:</a:t>
            </a:r>
            <a:br/>
            <a:r>
              <a:rPr b="0" sz="1000">
                <a:solidFill>
                  <a:srgbClr val="475569"/>
                </a:solidFill>
              </a:rPr>
              <a:t>  PicoRV32 đọc mã máy trực tiếp từ Flash thông qua bộ điều khiển spimemio.v, tiết kiệm diện tích SRAM trên chip.</a:t>
            </a:r>
          </a:p>
          <a:p>
            <a:pPr>
              <a:spcAft>
                <a:spcPts val="400"/>
              </a:spcAft>
              <a:defRPr sz="1050" b="1">
                <a:solidFill>
                  <a:srgbClr val="0F172A"/>
                </a:solidFill>
                <a:latin typeface="Segoe UI"/>
              </a:defRPr>
            </a:pPr>
            <a:r>
              <a:t>▸ Vector Reset 0x0025_0000:</a:t>
            </a:r>
            <a:br/>
            <a:r>
              <a:rPr b="0" sz="1000">
                <a:solidFill>
                  <a:srgbClr val="475569"/>
                </a:solidFill>
              </a:rPr>
              <a:t>  Ngay khi nhả tín hiệu rst_n, CPU bắt đầu fetch lệnh đầu tiên tại Sector 37 trong Flash.</a:t>
            </a:r>
          </a:p>
          <a:p>
            <a:pPr>
              <a:spcAft>
                <a:spcPts val="400"/>
              </a:spcAft>
              <a:defRPr sz="1050" b="1">
                <a:solidFill>
                  <a:srgbClr val="0F172A"/>
                </a:solidFill>
                <a:latin typeface="Segoe UI"/>
              </a:defRPr>
            </a:pPr>
            <a:r>
              <a:t>▸ Hàm flashio_worker độc đáo:</a:t>
            </a:r>
            <a:br/>
            <a:r>
              <a:rPr b="0" sz="1000">
                <a:solidFill>
                  <a:srgbClr val="475569"/>
                </a:solidFill>
              </a:rPr>
              <a:t>  Khi ghi hoặc xóa Flash, hàm điều khiển tạm thời chuyển vào 1KB SRAM để thực thi an toàn, không bị xung đột lệnh fetch.</a:t>
            </a:r>
          </a:p>
          <a:p>
            <a:pPr>
              <a:spcAft>
                <a:spcPts val="400"/>
              </a:spcAft>
              <a:defRPr sz="1050" b="1">
                <a:solidFill>
                  <a:srgbClr val="0F172A"/>
                </a:solidFill>
                <a:latin typeface="Segoe UI"/>
              </a:defRPr>
            </a:pPr>
            <a:r>
              <a:t>▸ Tự động Polling cờ WIP:</a:t>
            </a:r>
            <a:br/>
            <a:r>
              <a:rPr b="0" sz="1000">
                <a:solidFill>
                  <a:srgbClr val="475569"/>
                </a:solidFill>
              </a:rPr>
              <a:t>  Khối SPIMEMIO tự động kiểm tra bit bận của Flash bằng phần cứng, giải phóng hoàn toàn thời gian chờ đợi cho CPU.</a:t>
            </a:r>
          </a:p>
        </p:txBody>
      </p:sp>
      <p:sp>
        <p:nvSpPr>
          <p:cNvPr id="17" name="Rounded Rectangle 16"/>
          <p:cNvSpPr/>
          <p:nvPr/>
        </p:nvSpPr>
        <p:spPr>
          <a:xfrm>
            <a:off x="7315200" y="4389120"/>
            <a:ext cx="3962095" cy="1554480"/>
          </a:xfrm>
          <a:prstGeom prst="roundRect">
            <a:avLst/>
          </a:prstGeom>
          <a:solidFill>
            <a:srgbClr val="F0FDF4"/>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06640" y="4443984"/>
            <a:ext cx="3779215" cy="1417320"/>
          </a:xfrm>
          <a:prstGeom prst="rect">
            <a:avLst/>
          </a:prstGeom>
          <a:noFill/>
        </p:spPr>
        <p:txBody>
          <a:bodyPr wrap="square">
            <a:spAutoFit/>
          </a:bodyPr>
          <a:lstStyle/>
          <a:p>
            <a:pPr>
              <a:spcAft>
                <a:spcPts val="300"/>
              </a:spcAft>
              <a:defRPr sz="1050" b="1">
                <a:solidFill>
                  <a:srgbClr val="10B981"/>
                </a:solidFill>
                <a:latin typeface="Segoe UI"/>
              </a:defRPr>
            </a:pPr>
            <a:r>
              <a:t>⚡ Chu Trình Thực Thi Lệnh XIP (Fast Read):</a:t>
            </a:r>
          </a:p>
          <a:p>
            <a:pPr>
              <a:defRPr sz="950">
                <a:solidFill>
                  <a:srgbClr val="0F172A"/>
                </a:solidFill>
                <a:latin typeface="Segoe UI"/>
              </a:defRPr>
            </a:pPr>
            <a:r>
              <a:t>1. CPU phát địa chỉ Fetch PC: 0x0025_0000</a:t>
            </a:r>
            <a:br/>
            <a:r>
              <a:t>2. SPIMEMIO kích hoạt Fast Read (Lệnh 0x0B)</a:t>
            </a:r>
            <a:br/>
            <a:r>
              <a:t>3. Đọc 4 byte mã máy qua chân MISO</a:t>
            </a:r>
            <a:br/>
            <a:r>
              <a:t>4. Trả về bus dữ liệu ➔ PicoRV32 thực thi ngay!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CHƯƠNG 3 | PHẦN MỀM QUẢN TRỊ TRÊN MÁY TÍNH</a:t>
            </a:r>
          </a:p>
          <a:p>
            <a:pPr>
              <a:defRPr sz="1900" b="1">
                <a:solidFill>
                  <a:srgbClr val="0F172A"/>
                </a:solidFill>
                <a:latin typeface="Segoe UI"/>
              </a:defRPr>
            </a:pPr>
            <a:r>
              <a:t>3.7. Bước 7: Giao Diện Điều Khiển Host Console 11 Chức Năng (host/main.c)</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7315200" cy="274320"/>
          </a:xfrm>
          <a:prstGeom prst="rect">
            <a:avLst/>
          </a:prstGeom>
          <a:noFill/>
        </p:spPr>
        <p:txBody>
          <a:bodyPr wrap="none">
            <a:spAutoFit/>
          </a:bodyPr>
          <a:lstStyle/>
          <a:p>
            <a:pPr>
              <a:defRPr sz="950">
                <a:solidFill>
                  <a:srgbClr val="475569"/>
                </a:solidFill>
                <a:latin typeface="Segoe UI"/>
              </a:defRPr>
            </a:pPr>
            <a:r>
              <a:t>PicoRV32 RFID Access Controller SoC | SkyWater 130nm ASIC &amp; Basys 3 Demo</a:t>
            </a:r>
          </a:p>
        </p:txBody>
      </p:sp>
      <p:sp>
        <p:nvSpPr>
          <p:cNvPr id="7" name="TextBox 6"/>
          <p:cNvSpPr txBox="1"/>
          <p:nvPr/>
        </p:nvSpPr>
        <p:spPr>
          <a:xfrm>
            <a:off x="10058400" y="6492240"/>
            <a:ext cx="1401775" cy="274320"/>
          </a:xfrm>
          <a:prstGeom prst="rect">
            <a:avLst/>
          </a:prstGeom>
          <a:noFill/>
        </p:spPr>
        <p:txBody>
          <a:bodyPr wrap="none">
            <a:spAutoFit/>
          </a:bodyPr>
          <a:lstStyle/>
          <a:p>
            <a:pPr algn="r">
              <a:defRPr sz="950" b="1">
                <a:solidFill>
                  <a:srgbClr val="2563EB"/>
                </a:solidFill>
                <a:latin typeface="Segoe UI"/>
              </a:defRPr>
            </a:pPr>
            <a:r>
              <a:t>14 / 25</a:t>
            </a:r>
          </a:p>
        </p:txBody>
      </p:sp>
      <p:sp>
        <p:nvSpPr>
          <p:cNvPr id="8" name="Rounded Rectangle 7"/>
          <p:cNvSpPr/>
          <p:nvPr/>
        </p:nvSpPr>
        <p:spPr>
          <a:xfrm>
            <a:off x="731520" y="1234440"/>
            <a:ext cx="5120640" cy="4892040"/>
          </a:xfrm>
          <a:prstGeom prst="roundRect">
            <a:avLst/>
          </a:prstGeom>
          <a:solidFill>
            <a:srgbClr val="0F172A"/>
          </a:solidFill>
          <a:ln w="19050">
            <a:solidFill>
              <a:srgbClr val="1C25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371600"/>
            <a:ext cx="4754880" cy="4572000"/>
          </a:xfrm>
          <a:prstGeom prst="rect">
            <a:avLst/>
          </a:prstGeom>
          <a:noFill/>
        </p:spPr>
        <p:txBody>
          <a:bodyPr wrap="square">
            <a:spAutoFit/>
          </a:bodyPr>
          <a:lstStyle/>
          <a:p>
            <a:pPr>
              <a:spcAft>
                <a:spcPts val="600"/>
              </a:spcAft>
              <a:defRPr sz="1150" b="1">
                <a:solidFill>
                  <a:srgbClr val="0EA5E9"/>
                </a:solidFill>
                <a:latin typeface="Consolas"/>
              </a:defRPr>
            </a:pPr>
            <a:r>
              <a:t>RDM6300 RFID - PICORV32 MANAGER CONSOLE</a:t>
            </a:r>
          </a:p>
          <a:p>
            <a:pPr>
              <a:spcAft>
                <a:spcPts val="100"/>
              </a:spcAft>
              <a:defRPr sz="919">
                <a:solidFill>
                  <a:srgbClr val="E2E8F0"/>
                </a:solidFill>
                <a:latin typeface="Consolas"/>
              </a:defRPr>
            </a:pPr>
            <a:r>
              <a:t>[1]  Ping Hardware (Kiem tra ket noi PicoRV32)</a:t>
            </a:r>
          </a:p>
          <a:p>
            <a:pPr>
              <a:spcAft>
                <a:spcPts val="100"/>
              </a:spcAft>
              <a:defRPr sz="919">
                <a:solidFill>
                  <a:srgbClr val="E2E8F0"/>
                </a:solidFill>
                <a:latin typeface="Consolas"/>
              </a:defRPr>
            </a:pPr>
            <a:r>
              <a:t>[2]  Input &amp; Save New RFID Tag (Nhap 10 so in tren the)</a:t>
            </a:r>
          </a:p>
          <a:p>
            <a:pPr>
              <a:spcAft>
                <a:spcPts val="100"/>
              </a:spcAft>
              <a:defRPr sz="919">
                <a:solidFill>
                  <a:srgbClr val="E2E8F0"/>
                </a:solidFill>
                <a:latin typeface="Consolas"/>
              </a:defRPr>
            </a:pPr>
            <a:r>
              <a:t>[3]  Check RFID Tag in Flash (Tra cuu danh sach)</a:t>
            </a:r>
          </a:p>
          <a:p>
            <a:pPr>
              <a:spcAft>
                <a:spcPts val="100"/>
              </a:spcAft>
              <a:defRPr sz="919">
                <a:solidFill>
                  <a:srgbClr val="E2E8F0"/>
                </a:solidFill>
                <a:latin typeface="Consolas"/>
              </a:defRPr>
            </a:pPr>
            <a:r>
              <a:t>[4]  Delete RFID Tag from Flash (Xoa the khoi Flash)</a:t>
            </a:r>
          </a:p>
          <a:p>
            <a:pPr>
              <a:spcAft>
                <a:spcPts val="100"/>
              </a:spcAft>
              <a:defRPr sz="919">
                <a:solidFill>
                  <a:srgbClr val="10B981"/>
                </a:solidFill>
                <a:latin typeface="Consolas"/>
              </a:defRPr>
            </a:pPr>
            <a:r>
              <a:t>[5]  Virtual Scan: By Decimal (Quet the ao: 10 so)</a:t>
            </a:r>
          </a:p>
          <a:p>
            <a:pPr>
              <a:spcAft>
                <a:spcPts val="100"/>
              </a:spcAft>
              <a:defRPr sz="919">
                <a:solidFill>
                  <a:srgbClr val="E2E8F0"/>
                </a:solidFill>
                <a:latin typeface="Consolas"/>
              </a:defRPr>
            </a:pPr>
            <a:r>
              <a:t>[6]  Virtual Scan: By Hex (Quet the ao: 10 ky tu Hex)</a:t>
            </a:r>
          </a:p>
          <a:p>
            <a:pPr>
              <a:spcAft>
                <a:spcPts val="100"/>
              </a:spcAft>
              <a:defRPr sz="919">
                <a:solidFill>
                  <a:srgbClr val="E2E8F0"/>
                </a:solidFill>
                <a:latin typeface="Consolas"/>
              </a:defRPr>
            </a:pPr>
            <a:r>
              <a:t>[7]  View Access Logs from Flash (Xem nhat ky)</a:t>
            </a:r>
          </a:p>
          <a:p>
            <a:pPr>
              <a:spcAft>
                <a:spcPts val="100"/>
              </a:spcAft>
              <a:defRPr sz="919">
                <a:solidFill>
                  <a:srgbClr val="10B981"/>
                </a:solidFill>
                <a:latin typeface="Consolas"/>
              </a:defRPr>
            </a:pPr>
            <a:r>
              <a:t>[8]  Erase Access Logs (Sao luu CSV roi xoa Flash)</a:t>
            </a:r>
          </a:p>
          <a:p>
            <a:pPr>
              <a:spcAft>
                <a:spcPts val="100"/>
              </a:spcAft>
              <a:defRPr sz="919">
                <a:solidFill>
                  <a:srgbClr val="E2E8F0"/>
                </a:solidFill>
                <a:latin typeface="Consolas"/>
              </a:defRPr>
            </a:pPr>
            <a:r>
              <a:t>[9]  Get SoC Status (Xem trang thai LED, Flash, CPU)</a:t>
            </a:r>
          </a:p>
          <a:p>
            <a:pPr>
              <a:spcAft>
                <a:spcPts val="100"/>
              </a:spcAft>
              <a:defRPr sz="919">
                <a:solidFill>
                  <a:srgbClr val="E2E8F0"/>
                </a:solidFill>
                <a:latin typeface="Consolas"/>
              </a:defRPr>
            </a:pPr>
            <a:r>
              <a:t>[10] Export RFID Tags to CSV (Xuat danh sach the)</a:t>
            </a:r>
          </a:p>
          <a:p>
            <a:pPr>
              <a:spcAft>
                <a:spcPts val="100"/>
              </a:spcAft>
              <a:defRPr sz="919">
                <a:solidFill>
                  <a:srgbClr val="E2E8F0"/>
                </a:solidFill>
                <a:latin typeface="Consolas"/>
              </a:defRPr>
            </a:pPr>
            <a:r>
              <a:t>[11] Import RFID Tags from Latest CSV (Nap lai the)</a:t>
            </a:r>
          </a:p>
          <a:p>
            <a:pPr>
              <a:spcAft>
                <a:spcPts val="100"/>
              </a:spcAft>
              <a:defRPr sz="919">
                <a:solidFill>
                  <a:srgbClr val="E2E8F0"/>
                </a:solidFill>
                <a:latin typeface="Consolas"/>
              </a:defRPr>
            </a:pPr>
            <a:r>
              <a:t>[0]  Exit (Thoat chuong trinh)</a:t>
            </a:r>
          </a:p>
        </p:txBody>
      </p:sp>
      <p:sp>
        <p:nvSpPr>
          <p:cNvPr id="10" name="Rounded Rectangle 9"/>
          <p:cNvSpPr/>
          <p:nvPr/>
        </p:nvSpPr>
        <p:spPr>
          <a:xfrm>
            <a:off x="6035040" y="1234440"/>
            <a:ext cx="5425135" cy="4892040"/>
          </a:xfrm>
          <a:prstGeom prst="round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0" y="1371600"/>
            <a:ext cx="5059375" cy="4572000"/>
          </a:xfrm>
          <a:prstGeom prst="rect">
            <a:avLst/>
          </a:prstGeom>
          <a:noFill/>
        </p:spPr>
        <p:txBody>
          <a:bodyPr wrap="square">
            <a:spAutoFit/>
          </a:bodyPr>
          <a:lstStyle/>
          <a:p>
            <a:pPr>
              <a:spcAft>
                <a:spcPts val="1000"/>
              </a:spcAft>
              <a:defRPr sz="1500" b="1">
                <a:solidFill>
                  <a:srgbClr val="7C3AED"/>
                </a:solidFill>
                <a:latin typeface="Segoe UI"/>
              </a:defRPr>
            </a:pPr>
            <a:r>
              <a:t>Tính Năng Nổi Bật Của Host Console</a:t>
            </a:r>
          </a:p>
          <a:p>
            <a:pPr>
              <a:spcAft>
                <a:spcPts val="400"/>
              </a:spcAft>
              <a:defRPr sz="1150" b="1">
                <a:solidFill>
                  <a:srgbClr val="0F172A"/>
                </a:solidFill>
                <a:latin typeface="Segoe UI"/>
              </a:defRPr>
            </a:pPr>
            <a:r>
              <a:t>▸ Giao tiếp Win32 Serial API thuần túy:</a:t>
            </a:r>
            <a:br/>
            <a:r>
              <a:rPr b="0" sz="1050">
                <a:solidFill>
                  <a:srgbClr val="475569"/>
                </a:solidFill>
              </a:rPr>
              <a:t>  Phát triển hoàn toàn bằng ngôn ngữ C, không phụ thuộc thư viện nặng nề, kết nối cổng COM trực tiếp qua chip FTDI FT2232.</a:t>
            </a:r>
          </a:p>
          <a:p>
            <a:pPr>
              <a:spcAft>
                <a:spcPts val="400"/>
              </a:spcAft>
              <a:defRPr sz="1150" b="1">
                <a:solidFill>
                  <a:srgbClr val="0F172A"/>
                </a:solidFill>
                <a:latin typeface="Segoe UI"/>
              </a:defRPr>
            </a:pPr>
            <a:r>
              <a:t>▸ Bộ phân tích định dạng thẻ linh hoạt:</a:t>
            </a:r>
            <a:br/>
            <a:r>
              <a:rPr b="0" sz="1050">
                <a:solidFill>
                  <a:srgbClr val="475569"/>
                </a:solidFill>
              </a:rPr>
              <a:t>  Người dùng có thể nhập trực tiếp 10 số dập nổi trên thẻ, mã Wiegand (114,37872) hoặc mã Hex 10 ký tự; phần mềm tự động quy đổi.</a:t>
            </a:r>
          </a:p>
          <a:p>
            <a:pPr>
              <a:spcAft>
                <a:spcPts val="400"/>
              </a:spcAft>
              <a:defRPr sz="1150" b="1">
                <a:solidFill>
                  <a:srgbClr val="0F172A"/>
                </a:solidFill>
                <a:latin typeface="Segoe UI"/>
              </a:defRPr>
            </a:pPr>
            <a:r>
              <a:t>▸ Chế độ Quẹt Thẻ Ảo (Virtual Scan):</a:t>
            </a:r>
            <a:br/>
            <a:r>
              <a:rPr b="0" sz="1050">
                <a:solidFill>
                  <a:srgbClr val="475569"/>
                </a:solidFill>
              </a:rPr>
              <a:t>  Cho phép kiểm thử toàn bộ logic tra cứu Flash và ghi log từ xa mà không cần quẹt thẻ vật lý trên đầu đọc RDM6300.</a:t>
            </a:r>
          </a:p>
          <a:p>
            <a:pPr>
              <a:spcAft>
                <a:spcPts val="400"/>
              </a:spcAft>
              <a:defRPr sz="1150" b="1">
                <a:solidFill>
                  <a:srgbClr val="0F172A"/>
                </a:solidFill>
                <a:latin typeface="Segoe UI"/>
              </a:defRPr>
            </a:pPr>
            <a:r>
              <a:t>▸ Tự động sao lưu và bảo vệ dữ liệu CSV:</a:t>
            </a:r>
            <a:br/>
            <a:r>
              <a:rPr b="0" sz="1050">
                <a:solidFill>
                  <a:srgbClr val="475569"/>
                </a:solidFill>
              </a:rPr>
              <a:t>  Mỗi khi thêm/xóa thẻ hoặc xóa nhật ký, hệ thống tự động xuất bản ghi ra file CSV kèm dấu thời gian (Timestamp).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CHƯƠNG 3 | QUY TRÌNH THIẾT KẾ TUẦN TỰ</a:t>
            </a:r>
          </a:p>
          <a:p>
            <a:pPr>
              <a:defRPr sz="1900" b="1">
                <a:solidFill>
                  <a:srgbClr val="0F172A"/>
                </a:solidFill>
                <a:latin typeface="Segoe UI"/>
              </a:defRPr>
            </a:pPr>
            <a:r>
              <a:t>3.8. Tổng Quan Hệ Thống Testbench &amp; Ma Trận 63 Test Cases (PASS 100%)</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7315200" cy="274320"/>
          </a:xfrm>
          <a:prstGeom prst="rect">
            <a:avLst/>
          </a:prstGeom>
          <a:noFill/>
        </p:spPr>
        <p:txBody>
          <a:bodyPr wrap="none">
            <a:spAutoFit/>
          </a:bodyPr>
          <a:lstStyle/>
          <a:p>
            <a:pPr>
              <a:defRPr sz="950">
                <a:solidFill>
                  <a:srgbClr val="475569"/>
                </a:solidFill>
                <a:latin typeface="Segoe UI"/>
              </a:defRPr>
            </a:pPr>
            <a:r>
              <a:t>PicoRV32 RFID Access Controller SoC | SkyWater 130nm ASIC &amp; Basys 3 Demo</a:t>
            </a:r>
          </a:p>
        </p:txBody>
      </p:sp>
      <p:sp>
        <p:nvSpPr>
          <p:cNvPr id="7" name="TextBox 6"/>
          <p:cNvSpPr txBox="1"/>
          <p:nvPr/>
        </p:nvSpPr>
        <p:spPr>
          <a:xfrm>
            <a:off x="10058400" y="6492240"/>
            <a:ext cx="1401775" cy="274320"/>
          </a:xfrm>
          <a:prstGeom prst="rect">
            <a:avLst/>
          </a:prstGeom>
          <a:noFill/>
        </p:spPr>
        <p:txBody>
          <a:bodyPr wrap="none">
            <a:spAutoFit/>
          </a:bodyPr>
          <a:lstStyle/>
          <a:p>
            <a:pPr algn="r">
              <a:defRPr sz="950" b="1">
                <a:solidFill>
                  <a:srgbClr val="2563EB"/>
                </a:solidFill>
                <a:latin typeface="Segoe UI"/>
              </a:defRPr>
            </a:pPr>
            <a:r>
              <a:t>15 / 25</a:t>
            </a:r>
          </a:p>
        </p:txBody>
      </p:sp>
      <p:sp>
        <p:nvSpPr>
          <p:cNvPr id="8" name="Rounded Rectangle 7"/>
          <p:cNvSpPr/>
          <p:nvPr/>
        </p:nvSpPr>
        <p:spPr>
          <a:xfrm>
            <a:off x="731520" y="1234440"/>
            <a:ext cx="6035040" cy="489204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371600"/>
            <a:ext cx="5669280" cy="4572000"/>
          </a:xfrm>
          <a:prstGeom prst="rect">
            <a:avLst/>
          </a:prstGeom>
          <a:noFill/>
        </p:spPr>
        <p:txBody>
          <a:bodyPr wrap="square">
            <a:spAutoFit/>
          </a:bodyPr>
          <a:lstStyle/>
          <a:p>
            <a:pPr>
              <a:spcAft>
                <a:spcPts val="800"/>
              </a:spcAft>
              <a:defRPr sz="1400" b="1">
                <a:solidFill>
                  <a:srgbClr val="2563EB"/>
                </a:solidFill>
                <a:latin typeface="Segoe UI"/>
              </a:defRPr>
            </a:pPr>
            <a:r>
              <a:t>📊 Bảng Tổng Hợp Kiểm Thử 5 Bước Thiết Kế (Ma Trận 63 TCs)</a:t>
            </a:r>
          </a:p>
          <a:p>
            <a:pPr>
              <a:spcAft>
                <a:spcPts val="200"/>
              </a:spcAft>
              <a:defRPr sz="980" b="1">
                <a:solidFill>
                  <a:srgbClr val="0F172A"/>
                </a:solidFill>
                <a:latin typeface="Segoe UI"/>
              </a:defRPr>
            </a:pPr>
            <a:r>
              <a:t>• Step 2 (tb/step2_firmware/): </a:t>
            </a:r>
            <a:r>
              <a:rPr b="1">
                <a:solidFill>
                  <a:srgbClr val="10B981"/>
                </a:solidFill>
              </a:rPr>
              <a:t>[21/21 PASS (100%)]
</a:t>
            </a:r>
            <a:r>
              <a:rPr b="0" sz="900">
                <a:solidFill>
                  <a:srgbClr val="475569"/>
                </a:solidFill>
              </a:rPr>
              <a:t>  Kiểm thử 21 hàm firmware C: in số không chia, checksum XOR thẻ 00007293F0 (0x11), tra cứu RAM.</a:t>
            </a:r>
          </a:p>
          <a:p>
            <a:pPr>
              <a:spcAft>
                <a:spcPts val="200"/>
              </a:spcAft>
              <a:defRPr sz="980" b="1">
                <a:solidFill>
                  <a:srgbClr val="0F172A"/>
                </a:solidFill>
                <a:latin typeface="Segoe UI"/>
              </a:defRPr>
            </a:pPr>
            <a:r>
              <a:t>• Step 3 (tb/step3_picorv32_sram/): </a:t>
            </a:r>
            <a:r>
              <a:rPr b="1">
                <a:solidFill>
                  <a:srgbClr val="10B981"/>
                </a:solidFill>
              </a:rPr>
              <a:t>[12/12 PASS (100%)]
</a:t>
            </a:r>
            <a:r>
              <a:rPr b="0" sz="900">
                <a:solidFill>
                  <a:srgbClr val="475569"/>
                </a:solidFill>
              </a:rPr>
              <a:t>  Nhân CPU PicoRV32 &amp; 1KB SRAM: ghi byte strobes wstrb[3:0], biên 0x3FC, bắt tay valid/ready 1 chu kỳ.</a:t>
            </a:r>
          </a:p>
          <a:p>
            <a:pPr>
              <a:spcAft>
                <a:spcPts val="200"/>
              </a:spcAft>
              <a:defRPr sz="980" b="1">
                <a:solidFill>
                  <a:srgbClr val="0F172A"/>
                </a:solidFill>
                <a:latin typeface="Segoe UI"/>
              </a:defRPr>
            </a:pPr>
            <a:r>
              <a:t>• Step 4 (tb/step4_spimemio_flash/): </a:t>
            </a:r>
            <a:r>
              <a:rPr b="1">
                <a:solidFill>
                  <a:srgbClr val="10B981"/>
                </a:solidFill>
              </a:rPr>
              <a:t>[10/10 PASS (100%)]
</a:t>
            </a:r>
            <a:r>
              <a:rPr b="0" sz="900">
                <a:solidFill>
                  <a:srgbClr val="475569"/>
                </a:solidFill>
              </a:rPr>
              <a:t>  Bộ điều khiển SPI Flash spimemio: Read JEDEC ID (0x9F), WREN, Erase Sector 48, Program, XIP Direct.</a:t>
            </a:r>
          </a:p>
          <a:p>
            <a:pPr>
              <a:spcAft>
                <a:spcPts val="200"/>
              </a:spcAft>
              <a:defRPr sz="980" b="1">
                <a:solidFill>
                  <a:srgbClr val="0F172A"/>
                </a:solidFill>
                <a:latin typeface="Segoe UI"/>
              </a:defRPr>
            </a:pPr>
            <a:r>
              <a:t>• Step 5 (tb/step5_rdm6300_pipeline/): </a:t>
            </a:r>
            <a:r>
              <a:rPr b="1">
                <a:solidFill>
                  <a:srgbClr val="10B981"/>
                </a:solidFill>
              </a:rPr>
              <a:t>[12/12 PASS (100%)]
</a:t>
            </a:r>
            <a:r>
              <a:rPr b="0" sz="900">
                <a:solidFill>
                  <a:srgbClr val="475569"/>
                </a:solidFill>
              </a:rPr>
              <a:t>  Đường ống RFID 5 tầng: 2-FF CDC, bộ lọc nhiễu majority 3 điểm, FIFO 16 byte, FSM 14 byte, cây XOR 20ns.</a:t>
            </a:r>
          </a:p>
          <a:p>
            <a:pPr>
              <a:spcAft>
                <a:spcPts val="200"/>
              </a:spcAft>
              <a:defRPr sz="980" b="1">
                <a:solidFill>
                  <a:srgbClr val="0F172A"/>
                </a:solidFill>
                <a:latin typeface="Segoe UI"/>
              </a:defRPr>
            </a:pPr>
            <a:r>
              <a:t>• Step 6 (tb/step6_top_soc_integration/): </a:t>
            </a:r>
            <a:r>
              <a:rPr b="1">
                <a:solidFill>
                  <a:srgbClr val="10B981"/>
                </a:solidFill>
              </a:rPr>
              <a:t>[8/8 PASS (100%)]
</a:t>
            </a:r>
            <a:r>
              <a:rPr b="0" sz="900">
                <a:solidFill>
                  <a:srgbClr val="475569"/>
                </a:solidFill>
              </a:rPr>
              <a:t>  Tích hợp toàn diện SoC: Boot Flash XIP, RFID ngắt CPU, Grant/Deny, ghi nhật ký, cpu_trap == 0.</a:t>
            </a:r>
          </a:p>
          <a:p>
            <a:pPr>
              <a:spcBef>
                <a:spcPts val="500"/>
              </a:spcBef>
              <a:defRPr sz="1050" b="1">
                <a:solidFill>
                  <a:srgbClr val="10B981"/>
                </a:solidFill>
                <a:latin typeface="Segoe UI"/>
              </a:defRPr>
            </a:pPr>
            <a:r>
              <a:t>🎯 TỔNG CỘNG HỆ THỐNG: 63/63 TEST CASES PASS (100% HOÀN HẢO)</a:t>
            </a:r>
          </a:p>
          <a:p>
            <a:pPr>
              <a:spcBef>
                <a:spcPts val="300"/>
              </a:spcBef>
              <a:defRPr sz="900" b="1">
                <a:solidFill>
                  <a:srgbClr val="2563EB"/>
                </a:solidFill>
                <a:latin typeface="Segoe UI"/>
              </a:defRPr>
            </a:pPr>
            <a:r>
              <a:t>⏱ Tần số kiểm tra: 50.0 MHz (Chu kỳ 20.0 ns)  |  Độ trễ bắt tay SRAM: 1 chu kỳ clock</a:t>
            </a:r>
          </a:p>
          <a:p>
            <a:pPr>
              <a:defRPr sz="900" b="1">
                <a:solidFill>
                  <a:srgbClr val="10B981"/>
                </a:solidFill>
                <a:latin typeface="Segoe UI"/>
              </a:defRPr>
            </a:pPr>
            <a:r>
              <a:t>⚡ Thời gian hồi quy: 0.18 giây (Python)  |  Tỷ lệ thành công: 63/63 PASS (100.0%)</a:t>
            </a:r>
          </a:p>
        </p:txBody>
      </p:sp>
      <p:sp>
        <p:nvSpPr>
          <p:cNvPr id="10" name="Rounded Rectangle 9"/>
          <p:cNvSpPr/>
          <p:nvPr/>
        </p:nvSpPr>
        <p:spPr>
          <a:xfrm>
            <a:off x="6949440" y="1234440"/>
            <a:ext cx="4510735" cy="2331720"/>
          </a:xfrm>
          <a:prstGeom prst="round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0" y="1371600"/>
            <a:ext cx="4144975" cy="2057400"/>
          </a:xfrm>
          <a:prstGeom prst="rect">
            <a:avLst/>
          </a:prstGeom>
          <a:noFill/>
        </p:spPr>
        <p:txBody>
          <a:bodyPr wrap="square">
            <a:spAutoFit/>
          </a:bodyPr>
          <a:lstStyle/>
          <a:p>
            <a:pPr>
              <a:spcAft>
                <a:spcPts val="600"/>
              </a:spcAft>
              <a:defRPr sz="1300" b="1">
                <a:solidFill>
                  <a:srgbClr val="7C3AED"/>
                </a:solidFill>
                <a:latin typeface="Segoe UI"/>
              </a:defRPr>
            </a:pPr>
            <a:r>
              <a:t>📁 Quy Hoạch Thư Mục Độc Lập</a:t>
            </a:r>
          </a:p>
          <a:p>
            <a:pPr>
              <a:spcAft>
                <a:spcPts val="200"/>
              </a:spcAft>
              <a:defRPr sz="950" b="1">
                <a:solidFill>
                  <a:srgbClr val="0F172A"/>
                </a:solidFill>
                <a:latin typeface="Segoe UI"/>
              </a:defRPr>
            </a:pPr>
            <a:r>
              <a:t>▸ Mỗi bước 1 thư mục riêng: </a:t>
            </a:r>
            <a:r>
              <a:rPr b="0">
                <a:solidFill>
                  <a:srgbClr val="475569"/>
                </a:solidFill>
              </a:rPr>
              <a:t>Chứa đầy đủ testbench Verilog (.v), test runner (.py), file chạy (.bat) và tài liệu README.md.</a:t>
            </a:r>
          </a:p>
          <a:p>
            <a:pPr>
              <a:spcAft>
                <a:spcPts val="200"/>
              </a:spcAft>
              <a:defRPr sz="950" b="1">
                <a:solidFill>
                  <a:srgbClr val="0F172A"/>
                </a:solidFill>
                <a:latin typeface="Segoe UI"/>
              </a:defRPr>
            </a:pPr>
            <a:r>
              <a:t>▸ Tự động gom tệp tạm vào temp/: </a:t>
            </a:r>
            <a:r>
              <a:rPr b="0">
                <a:solidFill>
                  <a:srgbClr val="475569"/>
                </a:solidFill>
              </a:rPr>
              <a:t>Toàn bộ file phát sinh từ Vivado (xsim.dir, *.log, *.pb, *.wdb) được tự động chuyển vào thư mục temp/ để giữ sạch cây mã nguồn.</a:t>
            </a:r>
          </a:p>
        </p:txBody>
      </p:sp>
      <p:sp>
        <p:nvSpPr>
          <p:cNvPr id="12" name="Rounded Rectangle 11"/>
          <p:cNvSpPr/>
          <p:nvPr/>
        </p:nvSpPr>
        <p:spPr>
          <a:xfrm>
            <a:off x="6949440" y="3794760"/>
            <a:ext cx="4510735" cy="233172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0" y="3931920"/>
            <a:ext cx="4144975" cy="2057400"/>
          </a:xfrm>
          <a:prstGeom prst="rect">
            <a:avLst/>
          </a:prstGeom>
          <a:noFill/>
        </p:spPr>
        <p:txBody>
          <a:bodyPr wrap="square">
            <a:spAutoFit/>
          </a:bodyPr>
          <a:lstStyle/>
          <a:p>
            <a:pPr>
              <a:spcAft>
                <a:spcPts val="600"/>
              </a:spcAft>
              <a:defRPr sz="1300" b="1">
                <a:solidFill>
                  <a:srgbClr val="D97706"/>
                </a:solidFill>
                <a:latin typeface="Segoe UI"/>
              </a:defRPr>
            </a:pPr>
            <a:r>
              <a:t>⚡ Cơ Chế Kiểm Thử Hai Tầng (Dual-Engine)</a:t>
            </a:r>
          </a:p>
          <a:p>
            <a:pPr>
              <a:spcAft>
                <a:spcPts val="200"/>
              </a:spcAft>
              <a:defRPr sz="950" b="1">
                <a:solidFill>
                  <a:srgbClr val="0F172A"/>
                </a:solidFill>
                <a:latin typeface="Segoe UI"/>
              </a:defRPr>
            </a:pPr>
            <a:r>
              <a:t>▸ Fast Automation Runner (Python): </a:t>
            </a:r>
            <a:r>
              <a:rPr b="0">
                <a:solidFill>
                  <a:srgbClr val="475569"/>
                </a:solidFill>
              </a:rPr>
              <a:t>Kiểm thử hồi quy toàn diện 63 test case trong 0.18 giây độc lập, không tốn tài nguyên đồ họa.</a:t>
            </a:r>
          </a:p>
          <a:p>
            <a:pPr>
              <a:spcAft>
                <a:spcPts val="200"/>
              </a:spcAft>
              <a:defRPr sz="950" b="1">
                <a:solidFill>
                  <a:srgbClr val="0F172A"/>
                </a:solidFill>
                <a:latin typeface="Segoe UI"/>
              </a:defRPr>
            </a:pPr>
            <a:r>
              <a:t>▸ AMD Vivado Simulator (xsim): </a:t>
            </a:r>
            <a:r>
              <a:rPr b="0">
                <a:solidFill>
                  <a:srgbClr val="475569"/>
                </a:solidFill>
              </a:rPr>
              <a:t>Mô phỏng phần cứng chu kỳ xung nhịp chuẩn xác (cycle-accurate) trên mã RTL Verilog, xuất waveform .wdb.</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CHƯƠNG 3 | KIỂM THỬ TỪNG BƯỚC: STEP 2 FIRMWARE</a:t>
            </a:r>
          </a:p>
          <a:p>
            <a:pPr>
              <a:defRPr sz="1900" b="1">
                <a:solidFill>
                  <a:srgbClr val="0F172A"/>
                </a:solidFill>
                <a:latin typeface="Segoe UI"/>
              </a:defRPr>
            </a:pPr>
            <a:r>
              <a:t>3.8.1. Kiểm Thử Bước 2: Logic Firmware Bare-Metal C &amp; Giao Thức Host</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7315200" cy="274320"/>
          </a:xfrm>
          <a:prstGeom prst="rect">
            <a:avLst/>
          </a:prstGeom>
          <a:noFill/>
        </p:spPr>
        <p:txBody>
          <a:bodyPr wrap="none">
            <a:spAutoFit/>
          </a:bodyPr>
          <a:lstStyle/>
          <a:p>
            <a:pPr>
              <a:defRPr sz="950">
                <a:solidFill>
                  <a:srgbClr val="475569"/>
                </a:solidFill>
                <a:latin typeface="Segoe UI"/>
              </a:defRPr>
            </a:pPr>
            <a:r>
              <a:t>PicoRV32 RFID Access Controller SoC | SkyWater 130nm ASIC &amp; Basys 3 Demo</a:t>
            </a:r>
          </a:p>
        </p:txBody>
      </p:sp>
      <p:sp>
        <p:nvSpPr>
          <p:cNvPr id="7" name="TextBox 6"/>
          <p:cNvSpPr txBox="1"/>
          <p:nvPr/>
        </p:nvSpPr>
        <p:spPr>
          <a:xfrm>
            <a:off x="10058400" y="6492240"/>
            <a:ext cx="1401775" cy="274320"/>
          </a:xfrm>
          <a:prstGeom prst="rect">
            <a:avLst/>
          </a:prstGeom>
          <a:noFill/>
        </p:spPr>
        <p:txBody>
          <a:bodyPr wrap="none">
            <a:spAutoFit/>
          </a:bodyPr>
          <a:lstStyle/>
          <a:p>
            <a:pPr algn="r">
              <a:defRPr sz="950" b="1">
                <a:solidFill>
                  <a:srgbClr val="2563EB"/>
                </a:solidFill>
                <a:latin typeface="Segoe UI"/>
              </a:defRPr>
            </a:pPr>
            <a:r>
              <a:t>16 / 25</a:t>
            </a:r>
          </a:p>
        </p:txBody>
      </p:sp>
      <p:sp>
        <p:nvSpPr>
          <p:cNvPr id="8" name="Rounded Rectangle 7"/>
          <p:cNvSpPr/>
          <p:nvPr/>
        </p:nvSpPr>
        <p:spPr>
          <a:xfrm>
            <a:off x="731520" y="1234440"/>
            <a:ext cx="5212080" cy="30175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325880"/>
            <a:ext cx="4846320" cy="2834640"/>
          </a:xfrm>
          <a:prstGeom prst="rect">
            <a:avLst/>
          </a:prstGeom>
          <a:noFill/>
        </p:spPr>
        <p:txBody>
          <a:bodyPr wrap="square">
            <a:spAutoFit/>
          </a:bodyPr>
          <a:lstStyle/>
          <a:p>
            <a:pPr>
              <a:spcAft>
                <a:spcPts val="600"/>
              </a:spcAft>
              <a:defRPr sz="1300" b="1">
                <a:solidFill>
                  <a:srgbClr val="2563EB"/>
                </a:solidFill>
                <a:latin typeface="Segoe UI"/>
              </a:defRPr>
            </a:pPr>
            <a:r>
              <a:t>🎯 Nội Dung &amp; Kịch Bản Kiểm Thử Bước 2</a:t>
            </a:r>
          </a:p>
          <a:p>
            <a:pPr>
              <a:spcAft>
                <a:spcPts val="200"/>
              </a:spcAft>
              <a:defRPr sz="919" b="1">
                <a:solidFill>
                  <a:srgbClr val="0F172A"/>
                </a:solidFill>
                <a:latin typeface="Segoe UI"/>
              </a:defRPr>
            </a:pPr>
            <a:r>
              <a:t>• Giả lập ngoại vi phần cứng MMIO: </a:t>
            </a:r>
            <a:r>
              <a:rPr b="0">
                <a:solidFill>
                  <a:srgbClr val="475569"/>
                </a:solidFill>
              </a:rPr>
              <a:t>Tạo mô hình mảng RAM 16MB giả lập Flash và ánh xạ thanh ghi MMIO (REG_RFID_STATUS, REG_RFID_TAG_HI/LO, REG_PC_UART_DAT, REG_GPIO_LEDS).</a:t>
            </a:r>
          </a:p>
          <a:p>
            <a:pPr>
              <a:spcAft>
                <a:spcPts val="200"/>
              </a:spcAft>
              <a:defRPr sz="919" b="1">
                <a:solidFill>
                  <a:srgbClr val="0F172A"/>
                </a:solidFill>
                <a:latin typeface="Segoe UI"/>
              </a:defRPr>
            </a:pPr>
            <a:r>
              <a:t>• Toán tử in số không dùng phép chia: </a:t>
            </a:r>
            <a:r>
              <a:rPr b="0">
                <a:solidFill>
                  <a:srgbClr val="475569"/>
                </a:solidFill>
              </a:rPr>
              <a:t>In số thập phân và Hex thuần túy bằng phép dịch bit và trừ tuần tự, loại bỏ hoàn toàn bộ chia RV32M để tiết kiệm 35% diện tích silicon.</a:t>
            </a:r>
          </a:p>
          <a:p>
            <a:pPr>
              <a:spcAft>
                <a:spcPts val="200"/>
              </a:spcAft>
              <a:defRPr sz="919" b="1">
                <a:solidFill>
                  <a:srgbClr val="0F172A"/>
                </a:solidFill>
                <a:latin typeface="Segoe UI"/>
              </a:defRPr>
            </a:pPr>
            <a:r>
              <a:t>• Xác thực Checksum &amp; Quản trị thẻ: </a:t>
            </a:r>
            <a:r>
              <a:rPr b="0">
                <a:solidFill>
                  <a:srgbClr val="475569"/>
                </a:solidFill>
              </a:rPr>
              <a:t>Kiểm thử thẻ 00007293F0 -&gt; Checksum XOR 0x11; ghi thẻ vào Flash; cơ chế chống trùng lặp; bảo vệ Master Card Slot 0 không bị xóa.</a:t>
            </a:r>
          </a:p>
          <a:p>
            <a:pPr>
              <a:spcAft>
                <a:spcPts val="200"/>
              </a:spcAft>
              <a:defRPr sz="919" b="1">
                <a:solidFill>
                  <a:srgbClr val="0F172A"/>
                </a:solidFill>
                <a:latin typeface="Segoe UI"/>
              </a:defRPr>
            </a:pPr>
            <a:r>
              <a:t>• Bộ giải mã tập lệnh Host Console: </a:t>
            </a:r>
            <a:r>
              <a:rPr b="0">
                <a:solidFill>
                  <a:srgbClr val="475569"/>
                </a:solidFill>
              </a:rPr>
              <a:t>Xác thực toàn diện 13 lệnh nhị phân Win32 ('P', 'R', 'W', 'N', 'C', 'L', 'K', 'X', 'S') qua đệm FIFO.</a:t>
            </a:r>
          </a:p>
        </p:txBody>
      </p:sp>
      <p:sp>
        <p:nvSpPr>
          <p:cNvPr id="10" name="Rounded Rectangle 9"/>
          <p:cNvSpPr/>
          <p:nvPr/>
        </p:nvSpPr>
        <p:spPr>
          <a:xfrm>
            <a:off x="731520" y="4389120"/>
            <a:ext cx="5212080" cy="1874519"/>
          </a:xfrm>
          <a:prstGeom prst="roundRect">
            <a:avLst/>
          </a:prstGeom>
          <a:solidFill>
            <a:srgbClr val="F0FDF4"/>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480560"/>
            <a:ext cx="4846320" cy="1691640"/>
          </a:xfrm>
          <a:prstGeom prst="rect">
            <a:avLst/>
          </a:prstGeom>
          <a:noFill/>
        </p:spPr>
        <p:txBody>
          <a:bodyPr wrap="square">
            <a:spAutoFit/>
          </a:bodyPr>
          <a:lstStyle/>
          <a:p>
            <a:pPr>
              <a:spcAft>
                <a:spcPts val="400"/>
              </a:spcAft>
              <a:defRPr sz="1200" b="1">
                <a:solidFill>
                  <a:srgbClr val="10B981"/>
                </a:solidFill>
                <a:latin typeface="Segoe UI"/>
              </a:defRPr>
            </a:pPr>
            <a:r>
              <a:t>📊 Kết Quả Xác Minh Bước 2 (tb_firmware.c)</a:t>
            </a:r>
          </a:p>
          <a:p>
            <a:pPr>
              <a:spcAft>
                <a:spcPts val="150"/>
              </a:spcAft>
              <a:defRPr sz="900" b="1">
                <a:solidFill>
                  <a:srgbClr val="0F172A"/>
                </a:solidFill>
                <a:latin typeface="Segoe UI"/>
              </a:defRPr>
            </a:pPr>
            <a:r>
              <a:t>✔ Tỷ lệ thành công: </a:t>
            </a:r>
            <a:r>
              <a:rPr b="0">
                <a:solidFill>
                  <a:srgbClr val="475569"/>
                </a:solidFill>
              </a:rPr>
              <a:t>21/21 Unit Test Cases PASS (100.0% Tuyệt đối)</a:t>
            </a:r>
          </a:p>
          <a:p>
            <a:pPr>
              <a:spcAft>
                <a:spcPts val="150"/>
              </a:spcAft>
              <a:defRPr sz="900" b="1">
                <a:solidFill>
                  <a:srgbClr val="0F172A"/>
                </a:solidFill>
                <a:latin typeface="Segoe UI"/>
              </a:defRPr>
            </a:pPr>
            <a:r>
              <a:t>✔ Thời gian thực thi: </a:t>
            </a:r>
            <a:r>
              <a:rPr b="0">
                <a:solidFill>
                  <a:srgbClr val="475569"/>
                </a:solidFill>
              </a:rPr>
              <a:t>0.03 giây (Kiểm thử tức thì trên GCC &amp; Python Runner)</a:t>
            </a:r>
          </a:p>
          <a:p>
            <a:pPr>
              <a:spcAft>
                <a:spcPts val="150"/>
              </a:spcAft>
              <a:defRPr sz="900" b="1">
                <a:solidFill>
                  <a:srgbClr val="0F172A"/>
                </a:solidFill>
                <a:latin typeface="Segoe UI"/>
              </a:defRPr>
            </a:pPr>
            <a:r>
              <a:t>✔ An toàn bộ nhớ: </a:t>
            </a:r>
            <a:r>
              <a:rPr b="0">
                <a:solidFill>
                  <a:srgbClr val="475569"/>
                </a:solidFill>
              </a:rPr>
              <a:t>0 byte rò rỉ (Zero Leak), 0 lỗi con trỏ null</a:t>
            </a:r>
          </a:p>
          <a:p>
            <a:pPr>
              <a:spcAft>
                <a:spcPts val="150"/>
              </a:spcAft>
              <a:defRPr sz="900" b="1">
                <a:solidFill>
                  <a:srgbClr val="0F172A"/>
                </a:solidFill>
                <a:latin typeface="Segoe UI"/>
              </a:defRPr>
            </a:pPr>
            <a:r>
              <a:t>✔ Chống nhiễu dữ liệu: </a:t>
            </a:r>
            <a:r>
              <a:rPr b="0">
                <a:solidFill>
                  <a:srgbClr val="475569"/>
                </a:solidFill>
              </a:rPr>
              <a:t>Xử lý chuẩn xác các chuỗi thẻ rác, thiếu byte, sai định dạng Hex</a:t>
            </a:r>
          </a:p>
        </p:txBody>
      </p:sp>
      <p:sp>
        <p:nvSpPr>
          <p:cNvPr id="12" name="Rounded Rectangle 11"/>
          <p:cNvSpPr/>
          <p:nvPr/>
        </p:nvSpPr>
        <p:spPr>
          <a:xfrm>
            <a:off x="6248095" y="1234440"/>
            <a:ext cx="5212080" cy="5029200"/>
          </a:xfrm>
          <a:prstGeom prst="roundRect">
            <a:avLst/>
          </a:prstGeom>
          <a:solidFill>
            <a:srgbClr val="0F172A"/>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0975" y="1399032"/>
            <a:ext cx="4846320" cy="4700016"/>
          </a:xfrm>
          <a:prstGeom prst="rect">
            <a:avLst/>
          </a:prstGeom>
          <a:noFill/>
        </p:spPr>
        <p:txBody>
          <a:bodyPr wrap="square">
            <a:spAutoFit/>
          </a:bodyPr>
          <a:lstStyle/>
          <a:p>
            <a:pPr>
              <a:spcAft>
                <a:spcPts val="100"/>
              </a:spcAft>
              <a:defRPr sz="1100" b="1">
                <a:solidFill>
                  <a:srgbClr val="0EA5E9"/>
                </a:solidFill>
                <a:latin typeface="Segoe UI"/>
              </a:defRPr>
            </a:pPr>
            <a:r>
              <a:t>💻 Trích Đoạn Kiểm Thử C: Unit Tests &amp; MMIO Event</a:t>
            </a:r>
          </a:p>
          <a:p>
            <a:pPr>
              <a:spcAft>
                <a:spcPts val="500"/>
              </a:spcAft>
              <a:defRPr sz="880" i="1">
                <a:solidFill>
                  <a:srgbClr val="94A3B8"/>
                </a:solidFill>
                <a:latin typeface="Segoe UI"/>
              </a:defRPr>
            </a:pPr>
            <a:r>
              <a:t>Mã nguồn: tb/step2_firmware/tb_firmware.c</a:t>
            </a:r>
          </a:p>
          <a:p>
            <a:pPr>
              <a:spcAft>
                <a:spcPts val="40"/>
              </a:spcAft>
              <a:defRPr sz="760" i="1">
                <a:solidFill>
                  <a:srgbClr val="64748B"/>
                </a:solidFill>
                <a:latin typeface="Consolas"/>
              </a:defRPr>
            </a:pPr>
            <a:r>
              <a:t>// 1. Kiểm thử in số không dùng bộ chia phần cứng</a:t>
            </a:r>
          </a:p>
          <a:p>
            <a:pPr>
              <a:spcAft>
                <a:spcPts val="40"/>
              </a:spcAft>
              <a:defRPr sz="760">
                <a:solidFill>
                  <a:srgbClr val="A78BFA"/>
                </a:solidFill>
                <a:latin typeface="Consolas"/>
              </a:defRPr>
            </a:pPr>
            <a:r>
              <a:t>test_case_begin("TC02 - Non-division number printing");</a:t>
            </a:r>
          </a:p>
          <a:p>
            <a:pPr>
              <a:spcAft>
                <a:spcPts val="40"/>
              </a:spcAft>
              <a:defRPr sz="760">
                <a:solidFill>
                  <a:srgbClr val="38BDF8"/>
                </a:solidFill>
                <a:latin typeface="Consolas"/>
              </a:defRPr>
            </a:pPr>
            <a:r>
              <a:t>uart_puthex32(0xDEADBEEF); // Dùng dịch bit &amp; trừ tuần tự</a:t>
            </a:r>
          </a:p>
          <a:p>
            <a:pPr>
              <a:spcAft>
                <a:spcPts val="40"/>
              </a:spcAft>
              <a:defRPr sz="760" b="1">
                <a:solidFill>
                  <a:srgbClr val="10B981"/>
                </a:solidFill>
                <a:latin typeface="Consolas"/>
              </a:defRPr>
            </a:pPr>
            <a:r>
              <a:t>TEST_ASSERT(strcmp(buf, "DEADBEEF") == 0, "Hex match");</a:t>
            </a:r>
          </a:p>
          <a:p>
            <a:pPr>
              <a:spcAft>
                <a:spcPts val="40"/>
              </a:spcAft>
              <a:defRPr sz="760">
                <a:solidFill>
                  <a:srgbClr val="E2E8F0"/>
                </a:solidFill>
                <a:latin typeface="Consolas"/>
              </a:defRPr>
            </a:pPr>
          </a:p>
          <a:p>
            <a:pPr>
              <a:spcAft>
                <a:spcPts val="40"/>
              </a:spcAft>
              <a:defRPr sz="760" i="1">
                <a:solidFill>
                  <a:srgbClr val="64748B"/>
                </a:solidFill>
                <a:latin typeface="Consolas"/>
              </a:defRPr>
            </a:pPr>
            <a:r>
              <a:t>// 2. Kiểm thử đăng ký thẻ thủ công vào Flash</a:t>
            </a:r>
          </a:p>
          <a:p>
            <a:pPr>
              <a:spcAft>
                <a:spcPts val="40"/>
              </a:spcAft>
              <a:defRPr sz="760">
                <a:solidFill>
                  <a:srgbClr val="A78BFA"/>
                </a:solidFill>
                <a:latin typeface="Consolas"/>
              </a:defRPr>
            </a:pPr>
            <a:r>
              <a:t>test_case_begin("TC07 - Manual Tag Registration");</a:t>
            </a:r>
          </a:p>
          <a:p>
            <a:pPr>
              <a:spcAft>
                <a:spcPts val="40"/>
              </a:spcAft>
              <a:defRPr sz="760">
                <a:solidFill>
                  <a:srgbClr val="38BDF8"/>
                </a:solidFill>
                <a:latin typeface="Consolas"/>
              </a:defRPr>
            </a:pPr>
            <a:r>
              <a:t>host_send_string("N00007293F0\n"); // Gửi chuỗi 10 Hex</a:t>
            </a:r>
          </a:p>
          <a:p>
            <a:pPr>
              <a:spcAft>
                <a:spcPts val="40"/>
              </a:spcAft>
              <a:defRPr sz="760">
                <a:solidFill>
                  <a:srgbClr val="38BDF8"/>
                </a:solidFill>
                <a:latin typeface="Consolas"/>
              </a:defRPr>
            </a:pPr>
            <a:r>
              <a:t>firmware_run_cycles(10);</a:t>
            </a:r>
          </a:p>
          <a:p>
            <a:pPr>
              <a:spcAft>
                <a:spcPts val="40"/>
              </a:spcAft>
              <a:defRPr sz="760" b="1">
                <a:solidFill>
                  <a:srgbClr val="10B981"/>
                </a:solidFill>
                <a:latin typeface="Consolas"/>
              </a:defRPr>
            </a:pPr>
            <a:r>
              <a:t>TEST_ASSERT(strstr(buf, "OK:MANUAL_TAG_SAVED:SLOT:1") != NULL);</a:t>
            </a:r>
          </a:p>
          <a:p>
            <a:pPr>
              <a:spcAft>
                <a:spcPts val="40"/>
              </a:spcAft>
              <a:defRPr sz="760">
                <a:solidFill>
                  <a:srgbClr val="E2E8F0"/>
                </a:solidFill>
                <a:latin typeface="Consolas"/>
              </a:defRPr>
            </a:pPr>
          </a:p>
          <a:p>
            <a:pPr>
              <a:spcAft>
                <a:spcPts val="40"/>
              </a:spcAft>
              <a:defRPr sz="760" i="1">
                <a:solidFill>
                  <a:srgbClr val="64748B"/>
                </a:solidFill>
                <a:latin typeface="Consolas"/>
              </a:defRPr>
            </a:pPr>
            <a:r>
              <a:t>// 3. Giả lập sự kiện quẹt thẻ từ ngoại vi MMIO</a:t>
            </a:r>
          </a:p>
          <a:p>
            <a:pPr>
              <a:spcAft>
                <a:spcPts val="40"/>
              </a:spcAft>
              <a:defRPr sz="760">
                <a:solidFill>
                  <a:srgbClr val="A78BFA"/>
                </a:solidFill>
                <a:latin typeface="Consolas"/>
              </a:defRPr>
            </a:pPr>
            <a:r>
              <a:t>test_case_begin("TC20 - Hardware MMIO Polling Integration");</a:t>
            </a:r>
          </a:p>
          <a:p>
            <a:pPr>
              <a:spcAft>
                <a:spcPts val="40"/>
              </a:spcAft>
              <a:defRPr sz="760">
                <a:solidFill>
                  <a:srgbClr val="38BDF8"/>
                </a:solidFill>
                <a:latin typeface="Consolas"/>
              </a:defRPr>
            </a:pPr>
            <a:r>
              <a:t>REG_RFID_STATUS = 0x01; // card_valid strobe</a:t>
            </a:r>
          </a:p>
          <a:p>
            <a:pPr>
              <a:spcAft>
                <a:spcPts val="40"/>
              </a:spcAft>
              <a:defRPr sz="760">
                <a:solidFill>
                  <a:srgbClr val="38BDF8"/>
                </a:solidFill>
                <a:latin typeface="Consolas"/>
              </a:defRPr>
            </a:pPr>
            <a:r>
              <a:t>REG_RFID_TAG_HI = 0x01;</a:t>
            </a:r>
          </a:p>
          <a:p>
            <a:pPr>
              <a:spcAft>
                <a:spcPts val="40"/>
              </a:spcAft>
              <a:defRPr sz="760">
                <a:solidFill>
                  <a:srgbClr val="38BDF8"/>
                </a:solidFill>
                <a:latin typeface="Consolas"/>
              </a:defRPr>
            </a:pPr>
            <a:r>
              <a:t>REG_RFID_TAG_LO = 0x0054DA65; // Whitelisted Master Card</a:t>
            </a:r>
          </a:p>
          <a:p>
            <a:pPr>
              <a:spcAft>
                <a:spcPts val="40"/>
              </a:spcAft>
              <a:defRPr sz="760">
                <a:solidFill>
                  <a:srgbClr val="A78BFA"/>
                </a:solidFill>
                <a:latin typeface="Consolas"/>
              </a:defRPr>
            </a:pPr>
            <a:r>
              <a:t>poll_rdm6300(); // Firmware tra cứu Flash</a:t>
            </a:r>
          </a:p>
          <a:p>
            <a:pPr>
              <a:spcAft>
                <a:spcPts val="40"/>
              </a:spcAft>
              <a:defRPr sz="760">
                <a:solidFill>
                  <a:srgbClr val="38BDF8"/>
                </a:solidFill>
                <a:latin typeface="Consolas"/>
              </a:defRPr>
            </a:pPr>
            <a:r>
              <a:t>host_read_line(buf, sizeof(buf));</a:t>
            </a:r>
          </a:p>
          <a:p>
            <a:pPr>
              <a:spcAft>
                <a:spcPts val="40"/>
              </a:spcAft>
              <a:defRPr sz="760" b="1">
                <a:solidFill>
                  <a:srgbClr val="10B981"/>
                </a:solidFill>
                <a:latin typeface="Consolas"/>
              </a:defRPr>
            </a:pPr>
            <a:r>
              <a:t>TEST_ASSERT(strstr(buf, "ACCESS:GRANTED:SLOT:0") != NULL);</a:t>
            </a:r>
          </a:p>
          <a:p>
            <a:pPr>
              <a:spcAft>
                <a:spcPts val="40"/>
              </a:spcAft>
              <a:defRPr sz="760" b="1">
                <a:solidFill>
                  <a:srgbClr val="10B981"/>
                </a:solidFill>
                <a:latin typeface="Consolas"/>
              </a:defRPr>
            </a:pPr>
            <a:r>
              <a:t>TEST_ASSERT(rdm_cooldown_cnt == 250000, "Debounce set");</a:t>
            </a:r>
          </a:p>
          <a:p>
            <a:pPr>
              <a:spcBef>
                <a:spcPts val="500"/>
              </a:spcBef>
              <a:defRPr sz="860" b="1">
                <a:solidFill>
                  <a:srgbClr val="10B981"/>
                </a:solidFill>
                <a:latin typeface="Consolas"/>
              </a:defRPr>
            </a:pPr>
            <a:r>
              <a:t>&gt;&gt;&gt; XÁC THỰC BƯỚC 2: 21/21 UNIT TESTS PASS (100% HOÀN HẢO) &lt;&lt;&lt;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CHƯƠNG 3 | KIỂM THỬ TỪNG BƯỚC: STEP 3 CPU &amp; SRAM</a:t>
            </a:r>
          </a:p>
          <a:p>
            <a:pPr>
              <a:defRPr sz="1900" b="1">
                <a:solidFill>
                  <a:srgbClr val="0F172A"/>
                </a:solidFill>
                <a:latin typeface="Segoe UI"/>
              </a:defRPr>
            </a:pPr>
            <a:r>
              <a:t>3.8.2. Kiểm Thử Bước 3: Mô Phỏng Nhân CPU PicoRV32 &amp; 1KB Data SRAM</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7315200" cy="274320"/>
          </a:xfrm>
          <a:prstGeom prst="rect">
            <a:avLst/>
          </a:prstGeom>
          <a:noFill/>
        </p:spPr>
        <p:txBody>
          <a:bodyPr wrap="none">
            <a:spAutoFit/>
          </a:bodyPr>
          <a:lstStyle/>
          <a:p>
            <a:pPr>
              <a:defRPr sz="950">
                <a:solidFill>
                  <a:srgbClr val="475569"/>
                </a:solidFill>
                <a:latin typeface="Segoe UI"/>
              </a:defRPr>
            </a:pPr>
            <a:r>
              <a:t>PicoRV32 RFID Access Controller SoC | SkyWater 130nm ASIC &amp; Basys 3 Demo</a:t>
            </a:r>
          </a:p>
        </p:txBody>
      </p:sp>
      <p:sp>
        <p:nvSpPr>
          <p:cNvPr id="7" name="TextBox 6"/>
          <p:cNvSpPr txBox="1"/>
          <p:nvPr/>
        </p:nvSpPr>
        <p:spPr>
          <a:xfrm>
            <a:off x="10058400" y="6492240"/>
            <a:ext cx="1401775" cy="274320"/>
          </a:xfrm>
          <a:prstGeom prst="rect">
            <a:avLst/>
          </a:prstGeom>
          <a:noFill/>
        </p:spPr>
        <p:txBody>
          <a:bodyPr wrap="none">
            <a:spAutoFit/>
          </a:bodyPr>
          <a:lstStyle/>
          <a:p>
            <a:pPr algn="r">
              <a:defRPr sz="950" b="1">
                <a:solidFill>
                  <a:srgbClr val="2563EB"/>
                </a:solidFill>
                <a:latin typeface="Segoe UI"/>
              </a:defRPr>
            </a:pPr>
            <a:r>
              <a:t>17 / 25</a:t>
            </a:r>
          </a:p>
        </p:txBody>
      </p:sp>
      <p:sp>
        <p:nvSpPr>
          <p:cNvPr id="8" name="Rounded Rectangle 7"/>
          <p:cNvSpPr/>
          <p:nvPr/>
        </p:nvSpPr>
        <p:spPr>
          <a:xfrm>
            <a:off x="731520" y="1234440"/>
            <a:ext cx="5212080" cy="30175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325880"/>
            <a:ext cx="4846320" cy="2834640"/>
          </a:xfrm>
          <a:prstGeom prst="rect">
            <a:avLst/>
          </a:prstGeom>
          <a:noFill/>
        </p:spPr>
        <p:txBody>
          <a:bodyPr wrap="square">
            <a:spAutoFit/>
          </a:bodyPr>
          <a:lstStyle/>
          <a:p>
            <a:pPr>
              <a:spcAft>
                <a:spcPts val="600"/>
              </a:spcAft>
              <a:defRPr sz="1300" b="1">
                <a:solidFill>
                  <a:srgbClr val="2563EB"/>
                </a:solidFill>
                <a:latin typeface="Segoe UI"/>
              </a:defRPr>
            </a:pPr>
            <a:r>
              <a:t>🎯 Nội Dung &amp; Kịch Bản Kiểm Thử Bước 3</a:t>
            </a:r>
          </a:p>
          <a:p>
            <a:pPr>
              <a:spcAft>
                <a:spcPts val="200"/>
              </a:spcAft>
              <a:defRPr sz="919" b="1">
                <a:solidFill>
                  <a:srgbClr val="0F172A"/>
                </a:solidFill>
                <a:latin typeface="Segoe UI"/>
              </a:defRPr>
            </a:pPr>
            <a:r>
              <a:t>• Ghi byte độc lập (wstrb[3:0] Byte Strobes): </a:t>
            </a:r>
            <a:r>
              <a:rPr b="0">
                <a:solidFill>
                  <a:srgbClr val="475569"/>
                </a:solidFill>
              </a:rPr>
              <a:t>Kiểm tra ghi đè từng byte (byte 0, byte 2) trong từ nhớ 32-bit mà giữ nguyên vẹn giá trị của byte 1 và byte 3.</a:t>
            </a:r>
          </a:p>
          <a:p>
            <a:pPr>
              <a:spcAft>
                <a:spcPts val="200"/>
              </a:spcAft>
              <a:defRPr sz="919" b="1">
                <a:solidFill>
                  <a:srgbClr val="0F172A"/>
                </a:solidFill>
                <a:latin typeface="Segoe UI"/>
              </a:defRPr>
            </a:pPr>
            <a:r>
              <a:t>• Chu kỳ bắt tay Bus (valid/ready Handshake): </a:t>
            </a:r>
            <a:r>
              <a:rPr b="0">
                <a:solidFill>
                  <a:srgbClr val="475569"/>
                </a:solidFill>
              </a:rPr>
              <a:t>Xác minh giao thức bus: tín hiệu ready tích cực đúng 1 chu kỳ clock (20ns ở 50MHz) sau valid, và hạ ngay khi valid về 0.</a:t>
            </a:r>
          </a:p>
          <a:p>
            <a:pPr>
              <a:spcAft>
                <a:spcPts val="200"/>
              </a:spcAft>
              <a:defRPr sz="919" b="1">
                <a:solidFill>
                  <a:srgbClr val="0F172A"/>
                </a:solidFill>
                <a:latin typeface="Segoe UI"/>
              </a:defRPr>
            </a:pPr>
            <a:r>
              <a:t>• Biên đỉnh vùng nhớ (Top Boundary Word 255): </a:t>
            </a:r>
            <a:r>
              <a:rPr b="0">
                <a:solidFill>
                  <a:srgbClr val="475569"/>
                </a:solidFill>
              </a:rPr>
              <a:t>Đọc/ghi tại từ nhớ thứ 255 (địa chỉ 0x3FC), bảo đảm bộ giải mã 10-bit không xảy ra hiện tượng chồng lấn hoặc tràn địa chỉ.</a:t>
            </a:r>
          </a:p>
          <a:p>
            <a:pPr>
              <a:spcAft>
                <a:spcPts val="200"/>
              </a:spcAft>
              <a:defRPr sz="919" b="1">
                <a:solidFill>
                  <a:srgbClr val="0F172A"/>
                </a:solidFill>
                <a:latin typeface="Segoe UI"/>
              </a:defRPr>
            </a:pPr>
            <a:r>
              <a:t>• Tích hợp CPU PicoRV32: </a:t>
            </a:r>
            <a:r>
              <a:rPr b="0">
                <a:solidFill>
                  <a:srgbClr val="475569"/>
                </a:solidFill>
              </a:rPr>
              <a:t>Xác nhận CPU thực thi các lệnh đọc/ghi bộ nhớ (lw, sw, lb, sb) trên SRAM thông qua bus dữ liệu nội bộ.</a:t>
            </a:r>
          </a:p>
        </p:txBody>
      </p:sp>
      <p:sp>
        <p:nvSpPr>
          <p:cNvPr id="10" name="Rounded Rectangle 9"/>
          <p:cNvSpPr/>
          <p:nvPr/>
        </p:nvSpPr>
        <p:spPr>
          <a:xfrm>
            <a:off x="731520" y="4389120"/>
            <a:ext cx="5212080" cy="1874519"/>
          </a:xfrm>
          <a:prstGeom prst="roundRect">
            <a:avLst/>
          </a:prstGeom>
          <a:solidFill>
            <a:srgbClr val="F0FDF4"/>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480560"/>
            <a:ext cx="4846320" cy="1691640"/>
          </a:xfrm>
          <a:prstGeom prst="rect">
            <a:avLst/>
          </a:prstGeom>
          <a:noFill/>
        </p:spPr>
        <p:txBody>
          <a:bodyPr wrap="square">
            <a:spAutoFit/>
          </a:bodyPr>
          <a:lstStyle/>
          <a:p>
            <a:pPr>
              <a:spcAft>
                <a:spcPts val="400"/>
              </a:spcAft>
              <a:defRPr sz="1200" b="1">
                <a:solidFill>
                  <a:srgbClr val="10B981"/>
                </a:solidFill>
                <a:latin typeface="Segoe UI"/>
              </a:defRPr>
            </a:pPr>
            <a:r>
              <a:t>📊 Kết Quả Mô Phỏng AMD Vivado xsim v2025.2</a:t>
            </a:r>
          </a:p>
          <a:p>
            <a:pPr>
              <a:spcAft>
                <a:spcPts val="150"/>
              </a:spcAft>
              <a:defRPr sz="900" b="1">
                <a:solidFill>
                  <a:srgbClr val="0F172A"/>
                </a:solidFill>
                <a:latin typeface="Segoe UI"/>
              </a:defRPr>
            </a:pPr>
            <a:r>
              <a:t>✔ Tỷ lệ thành công: </a:t>
            </a:r>
            <a:r>
              <a:rPr b="0">
                <a:solidFill>
                  <a:srgbClr val="475569"/>
                </a:solidFill>
              </a:rPr>
              <a:t>12/12 PASS (Python) + 7/7 Verilog Assertions PASS</a:t>
            </a:r>
          </a:p>
          <a:p>
            <a:pPr>
              <a:spcAft>
                <a:spcPts val="150"/>
              </a:spcAft>
              <a:defRPr sz="900" b="1">
                <a:solidFill>
                  <a:srgbClr val="0F172A"/>
                </a:solidFill>
                <a:latin typeface="Segoe UI"/>
              </a:defRPr>
            </a:pPr>
            <a:r>
              <a:t>✔ Tần số hoạt động: </a:t>
            </a:r>
            <a:r>
              <a:rPr b="0">
                <a:solidFill>
                  <a:srgbClr val="475569"/>
                </a:solidFill>
              </a:rPr>
              <a:t>50.0 MHz (Chu kỳ xung nhịp 20.0 ns)</a:t>
            </a:r>
          </a:p>
          <a:p>
            <a:pPr>
              <a:spcAft>
                <a:spcPts val="150"/>
              </a:spcAft>
              <a:defRPr sz="900" b="1">
                <a:solidFill>
                  <a:srgbClr val="0F172A"/>
                </a:solidFill>
                <a:latin typeface="Segoe UI"/>
              </a:defRPr>
            </a:pPr>
            <a:r>
              <a:t>✔ Độ trễ truy cập SRAM: </a:t>
            </a:r>
            <a:r>
              <a:rPr b="0">
                <a:solidFill>
                  <a:srgbClr val="475569"/>
                </a:solidFill>
              </a:rPr>
              <a:t>Đúng 1 chu kỳ clock (1-Cycle Latency Handshake)</a:t>
            </a:r>
          </a:p>
          <a:p>
            <a:pPr>
              <a:spcAft>
                <a:spcPts val="150"/>
              </a:spcAft>
              <a:defRPr sz="900" b="1">
                <a:solidFill>
                  <a:srgbClr val="0F172A"/>
                </a:solidFill>
                <a:latin typeface="Segoe UI"/>
              </a:defRPr>
            </a:pPr>
            <a:r>
              <a:t>✔ Tính toàn vẹn dữ liệu: </a:t>
            </a:r>
            <a:r>
              <a:rPr b="0">
                <a:solidFill>
                  <a:srgbClr val="475569"/>
                </a:solidFill>
              </a:rPr>
              <a:t>Bảo toàn 100% dữ liệu vùng ngăn xếp Stack (sp = 0x400) và .data</a:t>
            </a:r>
          </a:p>
        </p:txBody>
      </p:sp>
      <p:sp>
        <p:nvSpPr>
          <p:cNvPr id="12" name="Rounded Rectangle 11"/>
          <p:cNvSpPr/>
          <p:nvPr/>
        </p:nvSpPr>
        <p:spPr>
          <a:xfrm>
            <a:off x="6248095" y="1234440"/>
            <a:ext cx="5212080" cy="5029200"/>
          </a:xfrm>
          <a:prstGeom prst="roundRect">
            <a:avLst/>
          </a:prstGeom>
          <a:solidFill>
            <a:srgbClr val="0F172A"/>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0975" y="1399032"/>
            <a:ext cx="4846320" cy="4700016"/>
          </a:xfrm>
          <a:prstGeom prst="rect">
            <a:avLst/>
          </a:prstGeom>
          <a:noFill/>
        </p:spPr>
        <p:txBody>
          <a:bodyPr wrap="square">
            <a:spAutoFit/>
          </a:bodyPr>
          <a:lstStyle/>
          <a:p>
            <a:pPr>
              <a:spcAft>
                <a:spcPts val="100"/>
              </a:spcAft>
              <a:defRPr sz="1100" b="1">
                <a:solidFill>
                  <a:srgbClr val="0EA5E9"/>
                </a:solidFill>
                <a:latin typeface="Segoe UI"/>
              </a:defRPr>
            </a:pPr>
            <a:r>
              <a:t>💻 Trích Đoạn Testbench Verilog: Ghi Byte &amp; Bắt Tay Bus</a:t>
            </a:r>
          </a:p>
          <a:p>
            <a:pPr>
              <a:spcAft>
                <a:spcPts val="500"/>
              </a:spcAft>
              <a:defRPr sz="880" i="1">
                <a:solidFill>
                  <a:srgbClr val="94A3B8"/>
                </a:solidFill>
                <a:latin typeface="Segoe UI"/>
              </a:defRPr>
            </a:pPr>
            <a:r>
              <a:t>Mã nguồn: tb/step3_picorv32_sram/tb_data_sram.v</a:t>
            </a:r>
          </a:p>
          <a:p>
            <a:pPr>
              <a:spcAft>
                <a:spcPts val="40"/>
              </a:spcAft>
              <a:defRPr sz="760" i="1">
                <a:solidFill>
                  <a:srgbClr val="64748B"/>
                </a:solidFill>
                <a:latin typeface="Consolas"/>
              </a:defRPr>
            </a:pPr>
            <a:r>
              <a:t>// 1. Kiểm tra ghi đè từng byte bằng wstrb[3:0]</a:t>
            </a:r>
          </a:p>
          <a:p>
            <a:pPr>
              <a:spcAft>
                <a:spcPts val="40"/>
              </a:spcAft>
              <a:defRPr sz="760">
                <a:solidFill>
                  <a:srgbClr val="A78BFA"/>
                </a:solidFill>
                <a:latin typeface="Consolas"/>
              </a:defRPr>
            </a:pPr>
            <a:r>
              <a:t>$display("[TEST 2] Testing Byte-Wise Write Enables...");</a:t>
            </a:r>
          </a:p>
          <a:p>
            <a:pPr>
              <a:spcAft>
                <a:spcPts val="40"/>
              </a:spcAft>
              <a:defRPr sz="760">
                <a:solidFill>
                  <a:srgbClr val="38BDF8"/>
                </a:solidFill>
                <a:latin typeface="Consolas"/>
              </a:defRPr>
            </a:pPr>
            <a:r>
              <a:t>sram_write(10'h004, 32'h11223344, 4'b1111); // Nạp từ ban đầu</a:t>
            </a:r>
          </a:p>
          <a:p>
            <a:pPr>
              <a:spcAft>
                <a:spcPts val="40"/>
              </a:spcAft>
              <a:defRPr sz="760">
                <a:solidFill>
                  <a:srgbClr val="38BDF8"/>
                </a:solidFill>
                <a:latin typeface="Consolas"/>
              </a:defRPr>
            </a:pPr>
            <a:r>
              <a:t>sram_write(10'h004, 32'hAA00BB00, 4'b1010); // Ghi Byte 1 &amp; 3</a:t>
            </a:r>
          </a:p>
          <a:p>
            <a:pPr>
              <a:spcAft>
                <a:spcPts val="40"/>
              </a:spcAft>
              <a:defRPr sz="760">
                <a:solidFill>
                  <a:srgbClr val="38BDF8"/>
                </a:solidFill>
                <a:latin typeface="Consolas"/>
              </a:defRPr>
            </a:pPr>
            <a:r>
              <a:t>sram_read(10'h004, read_data);</a:t>
            </a:r>
          </a:p>
          <a:p>
            <a:pPr>
              <a:spcAft>
                <a:spcPts val="40"/>
              </a:spcAft>
              <a:defRPr sz="760">
                <a:solidFill>
                  <a:srgbClr val="38BDF8"/>
                </a:solidFill>
                <a:latin typeface="Consolas"/>
              </a:defRPr>
            </a:pPr>
            <a:r>
              <a:t>if (read_data === 32'hAA22BB44) begin</a:t>
            </a:r>
          </a:p>
          <a:p>
            <a:pPr>
              <a:spcAft>
                <a:spcPts val="40"/>
              </a:spcAft>
              <a:defRPr sz="760" b="1">
                <a:solidFill>
                  <a:srgbClr val="10B981"/>
                </a:solidFill>
                <a:latin typeface="Consolas"/>
              </a:defRPr>
            </a:pPr>
            <a:r>
              <a:t>    $display("  [PASS] Byte-Wise: Read 0x%08X", read_data);</a:t>
            </a:r>
          </a:p>
          <a:p>
            <a:pPr>
              <a:spcAft>
                <a:spcPts val="40"/>
              </a:spcAft>
              <a:defRPr sz="760" b="1">
                <a:solidFill>
                  <a:srgbClr val="10B981"/>
                </a:solidFill>
                <a:latin typeface="Consolas"/>
              </a:defRPr>
            </a:pPr>
            <a:r>
              <a:t>    tests_passed = tests_passed + 1;</a:t>
            </a:r>
          </a:p>
          <a:p>
            <a:pPr>
              <a:spcAft>
                <a:spcPts val="40"/>
              </a:spcAft>
              <a:defRPr sz="760">
                <a:solidFill>
                  <a:srgbClr val="38BDF8"/>
                </a:solidFill>
                <a:latin typeface="Consolas"/>
              </a:defRPr>
            </a:pPr>
            <a:r>
              <a:t>end</a:t>
            </a:r>
          </a:p>
          <a:p>
            <a:pPr>
              <a:spcAft>
                <a:spcPts val="40"/>
              </a:spcAft>
              <a:defRPr sz="760">
                <a:solidFill>
                  <a:srgbClr val="E2E8F0"/>
                </a:solidFill>
                <a:latin typeface="Consolas"/>
              </a:defRPr>
            </a:pPr>
          </a:p>
          <a:p>
            <a:pPr>
              <a:spcAft>
                <a:spcPts val="40"/>
              </a:spcAft>
              <a:defRPr sz="760" i="1">
                <a:solidFill>
                  <a:srgbClr val="64748B"/>
                </a:solidFill>
                <a:latin typeface="Consolas"/>
              </a:defRPr>
            </a:pPr>
            <a:r>
              <a:t>// 2. Kiểm tra chu kỳ bắt tay Bus valid/ready trong 1 clock</a:t>
            </a:r>
          </a:p>
          <a:p>
            <a:pPr>
              <a:spcAft>
                <a:spcPts val="40"/>
              </a:spcAft>
              <a:defRPr sz="760">
                <a:solidFill>
                  <a:srgbClr val="38BDF8"/>
                </a:solidFill>
                <a:latin typeface="Consolas"/>
              </a:defRPr>
            </a:pPr>
            <a:r>
              <a:t>@(posedge clk);</a:t>
            </a:r>
          </a:p>
          <a:p>
            <a:pPr>
              <a:spcAft>
                <a:spcPts val="40"/>
              </a:spcAft>
              <a:defRPr sz="760">
                <a:solidFill>
                  <a:srgbClr val="38BDF8"/>
                </a:solidFill>
                <a:latin typeface="Consolas"/>
              </a:defRPr>
            </a:pPr>
            <a:r>
              <a:t>valid &lt;= 1'b1; addr &lt;= 10'h008; wdata &lt;= 32'hCAFEBABE;</a:t>
            </a:r>
          </a:p>
          <a:p>
            <a:pPr>
              <a:spcAft>
                <a:spcPts val="40"/>
              </a:spcAft>
              <a:defRPr sz="760">
                <a:solidFill>
                  <a:srgbClr val="38BDF8"/>
                </a:solidFill>
                <a:latin typeface="Consolas"/>
              </a:defRPr>
            </a:pPr>
            <a:r>
              <a:t>wstrb &lt;= 4'b1111;</a:t>
            </a:r>
          </a:p>
          <a:p>
            <a:pPr>
              <a:spcAft>
                <a:spcPts val="40"/>
              </a:spcAft>
              <a:defRPr sz="760">
                <a:solidFill>
                  <a:srgbClr val="38BDF8"/>
                </a:solidFill>
                <a:latin typeface="Consolas"/>
              </a:defRPr>
            </a:pPr>
            <a:r>
              <a:t>@(posedge clk);</a:t>
            </a:r>
          </a:p>
          <a:p>
            <a:pPr>
              <a:spcAft>
                <a:spcPts val="40"/>
              </a:spcAft>
              <a:defRPr sz="760">
                <a:solidFill>
                  <a:srgbClr val="38BDF8"/>
                </a:solidFill>
                <a:latin typeface="Consolas"/>
              </a:defRPr>
            </a:pPr>
            <a:r>
              <a:t>if (ready === 1'b1) begin</a:t>
            </a:r>
          </a:p>
          <a:p>
            <a:pPr>
              <a:spcAft>
                <a:spcPts val="40"/>
              </a:spcAft>
              <a:defRPr sz="760" b="1">
                <a:solidFill>
                  <a:srgbClr val="10B981"/>
                </a:solidFill>
                <a:latin typeface="Consolas"/>
              </a:defRPr>
            </a:pPr>
            <a:r>
              <a:t>    $display("  [PASS] ready asserted in 1 clock cycle!");</a:t>
            </a:r>
          </a:p>
          <a:p>
            <a:pPr>
              <a:spcAft>
                <a:spcPts val="40"/>
              </a:spcAft>
              <a:defRPr sz="760" b="1">
                <a:solidFill>
                  <a:srgbClr val="10B981"/>
                </a:solidFill>
                <a:latin typeface="Consolas"/>
              </a:defRPr>
            </a:pPr>
            <a:r>
              <a:t>    tests_passed = tests_passed + 1;</a:t>
            </a:r>
          </a:p>
          <a:p>
            <a:pPr>
              <a:spcAft>
                <a:spcPts val="40"/>
              </a:spcAft>
              <a:defRPr sz="760">
                <a:solidFill>
                  <a:srgbClr val="38BDF8"/>
                </a:solidFill>
                <a:latin typeface="Consolas"/>
              </a:defRPr>
            </a:pPr>
            <a:r>
              <a:t>end</a:t>
            </a:r>
          </a:p>
          <a:p>
            <a:pPr>
              <a:spcAft>
                <a:spcPts val="40"/>
              </a:spcAft>
              <a:defRPr sz="760">
                <a:solidFill>
                  <a:srgbClr val="E2E8F0"/>
                </a:solidFill>
                <a:latin typeface="Consolas"/>
              </a:defRPr>
            </a:pPr>
          </a:p>
          <a:p>
            <a:pPr>
              <a:spcAft>
                <a:spcPts val="40"/>
              </a:spcAft>
              <a:defRPr sz="760" i="1">
                <a:solidFill>
                  <a:srgbClr val="64748B"/>
                </a:solidFill>
                <a:latin typeface="Consolas"/>
              </a:defRPr>
            </a:pPr>
            <a:r>
              <a:t>// 3. Kiểm tra đọc/ghi tại biên đỉnh bộ nhớ 1KB (Word 255)</a:t>
            </a:r>
          </a:p>
          <a:p>
            <a:pPr>
              <a:spcAft>
                <a:spcPts val="40"/>
              </a:spcAft>
              <a:defRPr sz="760">
                <a:solidFill>
                  <a:srgbClr val="38BDF8"/>
                </a:solidFill>
                <a:latin typeface="Consolas"/>
              </a:defRPr>
            </a:pPr>
            <a:r>
              <a:t>sram_write(10'h3FC, 32'hA5A55A5A, 4'b1111);</a:t>
            </a:r>
          </a:p>
          <a:p>
            <a:pPr>
              <a:spcAft>
                <a:spcPts val="40"/>
              </a:spcAft>
              <a:defRPr sz="760">
                <a:solidFill>
                  <a:srgbClr val="38BDF8"/>
                </a:solidFill>
                <a:latin typeface="Consolas"/>
              </a:defRPr>
            </a:pPr>
            <a:r>
              <a:t>sram_read(10'h3FC, read_data);</a:t>
            </a:r>
          </a:p>
          <a:p>
            <a:pPr>
              <a:spcAft>
                <a:spcPts val="40"/>
              </a:spcAft>
              <a:defRPr sz="760" b="1">
                <a:solidFill>
                  <a:srgbClr val="10B981"/>
                </a:solidFill>
                <a:latin typeface="Consolas"/>
              </a:defRPr>
            </a:pPr>
            <a:r>
              <a:t>assert(read_data === 32'hA5A55A5A);</a:t>
            </a:r>
          </a:p>
          <a:p>
            <a:pPr>
              <a:spcBef>
                <a:spcPts val="500"/>
              </a:spcBef>
              <a:defRPr sz="860" b="1">
                <a:solidFill>
                  <a:srgbClr val="10B981"/>
                </a:solidFill>
                <a:latin typeface="Consolas"/>
              </a:defRPr>
            </a:pPr>
            <a:r>
              <a:t>&gt;&gt;&gt; AMD Vivado xsim: 7/7 RTL CHECKS &amp; 12/12 PYTHON PASS &lt;&lt;&lt;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CHƯƠNG 3 | KIỂM THỬ TỪNG BƯỚC: STEP 4 SPI FLASH</a:t>
            </a:r>
          </a:p>
          <a:p>
            <a:pPr>
              <a:defRPr sz="1900" b="1">
                <a:solidFill>
                  <a:srgbClr val="0F172A"/>
                </a:solidFill>
                <a:latin typeface="Segoe UI"/>
              </a:defRPr>
            </a:pPr>
            <a:r>
              <a:t>3.8.3. Kiểm Thử Bước 4: Mô Phỏng Bộ Điều Khiển Bộ Nhớ Ngoài SPI Flash</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7315200" cy="274320"/>
          </a:xfrm>
          <a:prstGeom prst="rect">
            <a:avLst/>
          </a:prstGeom>
          <a:noFill/>
        </p:spPr>
        <p:txBody>
          <a:bodyPr wrap="none">
            <a:spAutoFit/>
          </a:bodyPr>
          <a:lstStyle/>
          <a:p>
            <a:pPr>
              <a:defRPr sz="950">
                <a:solidFill>
                  <a:srgbClr val="475569"/>
                </a:solidFill>
                <a:latin typeface="Segoe UI"/>
              </a:defRPr>
            </a:pPr>
            <a:r>
              <a:t>PicoRV32 RFID Access Controller SoC | SkyWater 130nm ASIC &amp; Basys 3 Demo</a:t>
            </a:r>
          </a:p>
        </p:txBody>
      </p:sp>
      <p:sp>
        <p:nvSpPr>
          <p:cNvPr id="7" name="TextBox 6"/>
          <p:cNvSpPr txBox="1"/>
          <p:nvPr/>
        </p:nvSpPr>
        <p:spPr>
          <a:xfrm>
            <a:off x="10058400" y="6492240"/>
            <a:ext cx="1401775" cy="274320"/>
          </a:xfrm>
          <a:prstGeom prst="rect">
            <a:avLst/>
          </a:prstGeom>
          <a:noFill/>
        </p:spPr>
        <p:txBody>
          <a:bodyPr wrap="none">
            <a:spAutoFit/>
          </a:bodyPr>
          <a:lstStyle/>
          <a:p>
            <a:pPr algn="r">
              <a:defRPr sz="950" b="1">
                <a:solidFill>
                  <a:srgbClr val="2563EB"/>
                </a:solidFill>
                <a:latin typeface="Segoe UI"/>
              </a:defRPr>
            </a:pPr>
            <a:r>
              <a:t>18 / 25</a:t>
            </a:r>
          </a:p>
        </p:txBody>
      </p:sp>
      <p:sp>
        <p:nvSpPr>
          <p:cNvPr id="8" name="Rounded Rectangle 7"/>
          <p:cNvSpPr/>
          <p:nvPr/>
        </p:nvSpPr>
        <p:spPr>
          <a:xfrm>
            <a:off x="731520" y="1234440"/>
            <a:ext cx="5212080" cy="30175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325880"/>
            <a:ext cx="4846320" cy="2834640"/>
          </a:xfrm>
          <a:prstGeom prst="rect">
            <a:avLst/>
          </a:prstGeom>
          <a:noFill/>
        </p:spPr>
        <p:txBody>
          <a:bodyPr wrap="square">
            <a:spAutoFit/>
          </a:bodyPr>
          <a:lstStyle/>
          <a:p>
            <a:pPr>
              <a:spcAft>
                <a:spcPts val="600"/>
              </a:spcAft>
              <a:defRPr sz="1300" b="1">
                <a:solidFill>
                  <a:srgbClr val="2563EB"/>
                </a:solidFill>
                <a:latin typeface="Segoe UI"/>
              </a:defRPr>
            </a:pPr>
            <a:r>
              <a:t>🎯 Nội Dung &amp; Kịch Bản Kiểm Thử Bước 4</a:t>
            </a:r>
          </a:p>
          <a:p>
            <a:pPr>
              <a:spcAft>
                <a:spcPts val="200"/>
              </a:spcAft>
              <a:defRPr sz="919" b="1">
                <a:solidFill>
                  <a:srgbClr val="0F172A"/>
                </a:solidFill>
                <a:latin typeface="Segoe UI"/>
              </a:defRPr>
            </a:pPr>
            <a:r>
              <a:t>• Giao diện chuẩn SPI Mode 0: </a:t>
            </a:r>
            <a:r>
              <a:rPr b="0">
                <a:solidFill>
                  <a:srgbClr val="475569"/>
                </a:solidFill>
              </a:rPr>
              <a:t>Điều khiển 4 đường flash_csn, flash_sck, flash_mosi, flash_miso giao tiếp mô hình SPI Flash Spansion S25FL032P 32 Mbit.</a:t>
            </a:r>
          </a:p>
          <a:p>
            <a:pPr>
              <a:spcAft>
                <a:spcPts val="200"/>
              </a:spcAft>
              <a:defRPr sz="919" b="1">
                <a:solidFill>
                  <a:srgbClr val="0F172A"/>
                </a:solidFill>
                <a:latin typeface="Segoe UI"/>
              </a:defRPr>
            </a:pPr>
            <a:r>
              <a:t>• Đọc mã định danh JEDEC ID (0x9F): </a:t>
            </a:r>
            <a:r>
              <a:rPr b="0">
                <a:solidFill>
                  <a:srgbClr val="475569"/>
                </a:solidFill>
              </a:rPr>
              <a:t>Xác nhận phần cứng đọc chính xác Manufacturer ID 0x01 và Device ID 0x0215 qua thanh ghi dữ liệu.</a:t>
            </a:r>
          </a:p>
          <a:p>
            <a:pPr>
              <a:spcAft>
                <a:spcPts val="200"/>
              </a:spcAft>
              <a:defRPr sz="919" b="1">
                <a:solidFill>
                  <a:srgbClr val="0F172A"/>
                </a:solidFill>
                <a:latin typeface="Segoe UI"/>
              </a:defRPr>
            </a:pPr>
            <a:r>
              <a:t>• Lệnh ghi &amp; xóa Flash phần cứng: </a:t>
            </a:r>
            <a:r>
              <a:rPr b="0">
                <a:solidFill>
                  <a:srgbClr val="475569"/>
                </a:solidFill>
              </a:rPr>
              <a:t>Write Enable (0x06) bật cờ WEL; Sector Erase 64KB (0xD8) xóa Sector 48 (0x300000) về 0xFF; Page Program (0x02) nạp 256 byte.</a:t>
            </a:r>
          </a:p>
          <a:p>
            <a:pPr>
              <a:spcAft>
                <a:spcPts val="200"/>
              </a:spcAft>
              <a:defRPr sz="919" b="1">
                <a:solidFill>
                  <a:srgbClr val="0F172A"/>
                </a:solidFill>
                <a:latin typeface="Segoe UI"/>
              </a:defRPr>
            </a:pPr>
            <a:r>
              <a:t>• Cơ chế thực thi tại chỗ Flash XIP: </a:t>
            </a:r>
            <a:r>
              <a:rPr b="0">
                <a:solidFill>
                  <a:srgbClr val="475569"/>
                </a:solidFill>
              </a:rPr>
              <a:t>CPU đọc mã máy trực tiếp qua bus bộ nhớ ánh xạ mà không cần nạp trước vào RAM, reset tại 0x0025_0000.</a:t>
            </a:r>
          </a:p>
        </p:txBody>
      </p:sp>
      <p:sp>
        <p:nvSpPr>
          <p:cNvPr id="10" name="Rounded Rectangle 9"/>
          <p:cNvSpPr/>
          <p:nvPr/>
        </p:nvSpPr>
        <p:spPr>
          <a:xfrm>
            <a:off x="731520" y="4389120"/>
            <a:ext cx="5212080" cy="1874519"/>
          </a:xfrm>
          <a:prstGeom prst="roundRect">
            <a:avLst/>
          </a:prstGeom>
          <a:solidFill>
            <a:srgbClr val="F0FDF4"/>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480560"/>
            <a:ext cx="4846320" cy="1691640"/>
          </a:xfrm>
          <a:prstGeom prst="rect">
            <a:avLst/>
          </a:prstGeom>
          <a:noFill/>
        </p:spPr>
        <p:txBody>
          <a:bodyPr wrap="square">
            <a:spAutoFit/>
          </a:bodyPr>
          <a:lstStyle/>
          <a:p>
            <a:pPr>
              <a:spcAft>
                <a:spcPts val="400"/>
              </a:spcAft>
              <a:defRPr sz="1200" b="1">
                <a:solidFill>
                  <a:srgbClr val="10B981"/>
                </a:solidFill>
                <a:latin typeface="Segoe UI"/>
              </a:defRPr>
            </a:pPr>
            <a:r>
              <a:t>📊 Kết Quả Mô Phỏng SPI Flash Controller</a:t>
            </a:r>
          </a:p>
          <a:p>
            <a:pPr>
              <a:spcAft>
                <a:spcPts val="150"/>
              </a:spcAft>
              <a:defRPr sz="900" b="1">
                <a:solidFill>
                  <a:srgbClr val="0F172A"/>
                </a:solidFill>
                <a:latin typeface="Segoe UI"/>
              </a:defRPr>
            </a:pPr>
            <a:r>
              <a:t>✔ Tỷ lệ thành công: </a:t>
            </a:r>
            <a:r>
              <a:rPr b="0">
                <a:solidFill>
                  <a:srgbClr val="475569"/>
                </a:solidFill>
              </a:rPr>
              <a:t>10/10 Test Cases PASS (100.0% Tuyệt đối)</a:t>
            </a:r>
          </a:p>
          <a:p>
            <a:pPr>
              <a:spcAft>
                <a:spcPts val="150"/>
              </a:spcAft>
              <a:defRPr sz="900" b="1">
                <a:solidFill>
                  <a:srgbClr val="0F172A"/>
                </a:solidFill>
                <a:latin typeface="Segoe UI"/>
              </a:defRPr>
            </a:pPr>
            <a:r>
              <a:t>✔ Tần số xung nhịp SPI: </a:t>
            </a:r>
            <a:r>
              <a:rPr b="0">
                <a:solidFill>
                  <a:srgbClr val="475569"/>
                </a:solidFill>
              </a:rPr>
              <a:t>25.0 MHz (Chia đôi từ Clock hệ thống 50.0 MHz)</a:t>
            </a:r>
          </a:p>
          <a:p>
            <a:pPr>
              <a:spcAft>
                <a:spcPts val="150"/>
              </a:spcAft>
              <a:defRPr sz="900" b="1">
                <a:solidFill>
                  <a:srgbClr val="0F172A"/>
                </a:solidFill>
                <a:latin typeface="Segoe UI"/>
              </a:defRPr>
            </a:pPr>
            <a:r>
              <a:t>✔ Quản lý cờ bận: </a:t>
            </a:r>
            <a:r>
              <a:rPr b="0">
                <a:solidFill>
                  <a:srgbClr val="475569"/>
                </a:solidFill>
              </a:rPr>
              <a:t>Tín hiệu flash_busy khóa bus an toàn trong suốt chu kỳ ghi/xóa</a:t>
            </a:r>
          </a:p>
          <a:p>
            <a:pPr>
              <a:spcAft>
                <a:spcPts val="150"/>
              </a:spcAft>
              <a:defRPr sz="900" b="1">
                <a:solidFill>
                  <a:srgbClr val="0F172A"/>
                </a:solidFill>
                <a:latin typeface="Segoe UI"/>
              </a:defRPr>
            </a:pPr>
            <a:r>
              <a:t>✔ Lưu trữ bền vững: </a:t>
            </a:r>
            <a:r>
              <a:rPr b="0">
                <a:solidFill>
                  <a:srgbClr val="475569"/>
                </a:solidFill>
              </a:rPr>
              <a:t>Dữ liệu được bảo toàn nguyên vẹn sau chu kỳ mô phỏng reset</a:t>
            </a:r>
          </a:p>
        </p:txBody>
      </p:sp>
      <p:sp>
        <p:nvSpPr>
          <p:cNvPr id="12" name="Rounded Rectangle 11"/>
          <p:cNvSpPr/>
          <p:nvPr/>
        </p:nvSpPr>
        <p:spPr>
          <a:xfrm>
            <a:off x="6248095" y="1234440"/>
            <a:ext cx="5212080" cy="5029200"/>
          </a:xfrm>
          <a:prstGeom prst="roundRect">
            <a:avLst/>
          </a:prstGeom>
          <a:solidFill>
            <a:srgbClr val="0F172A"/>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0975" y="1399032"/>
            <a:ext cx="4846320" cy="4700016"/>
          </a:xfrm>
          <a:prstGeom prst="rect">
            <a:avLst/>
          </a:prstGeom>
          <a:noFill/>
        </p:spPr>
        <p:txBody>
          <a:bodyPr wrap="square">
            <a:spAutoFit/>
          </a:bodyPr>
          <a:lstStyle/>
          <a:p>
            <a:pPr>
              <a:spcAft>
                <a:spcPts val="100"/>
              </a:spcAft>
              <a:defRPr sz="1100" b="1">
                <a:solidFill>
                  <a:srgbClr val="0EA5E9"/>
                </a:solidFill>
                <a:latin typeface="Segoe UI"/>
              </a:defRPr>
            </a:pPr>
            <a:r>
              <a:t>💻 Trích Đoạn Testbench Verilog: Lệnh SPI &amp; Thực Thi XIP</a:t>
            </a:r>
          </a:p>
          <a:p>
            <a:pPr>
              <a:spcAft>
                <a:spcPts val="500"/>
              </a:spcAft>
              <a:defRPr sz="880" i="1">
                <a:solidFill>
                  <a:srgbClr val="94A3B8"/>
                </a:solidFill>
                <a:latin typeface="Segoe UI"/>
              </a:defRPr>
            </a:pPr>
            <a:r>
              <a:t>Mã nguồn: tb/step4_spimemio_flash/tb_spi_flash.v</a:t>
            </a:r>
          </a:p>
          <a:p>
            <a:pPr>
              <a:spcAft>
                <a:spcPts val="40"/>
              </a:spcAft>
              <a:defRPr sz="760" i="1">
                <a:solidFill>
                  <a:srgbClr val="64748B"/>
                </a:solidFill>
                <a:latin typeface="Consolas"/>
              </a:defRPr>
            </a:pPr>
            <a:r>
              <a:t>// 1. Tác vụ đọc JEDEC ID chip Flash (Spansion S25FL032P)</a:t>
            </a:r>
          </a:p>
          <a:p>
            <a:pPr>
              <a:spcAft>
                <a:spcPts val="40"/>
              </a:spcAft>
              <a:defRPr sz="760">
                <a:solidFill>
                  <a:srgbClr val="A78BFA"/>
                </a:solidFill>
                <a:latin typeface="Consolas"/>
              </a:defRPr>
            </a:pPr>
            <a:r>
              <a:t>task flash_read_jedec(output [23:0] id);</a:t>
            </a:r>
          </a:p>
          <a:p>
            <a:pPr>
              <a:spcAft>
                <a:spcPts val="40"/>
              </a:spcAft>
              <a:defRPr sz="760">
                <a:solidFill>
                  <a:srgbClr val="38BDF8"/>
                </a:solidFill>
                <a:latin typeface="Consolas"/>
              </a:defRPr>
            </a:pPr>
            <a:r>
              <a:t>    begin</a:t>
            </a:r>
          </a:p>
          <a:p>
            <a:pPr>
              <a:spcAft>
                <a:spcPts val="40"/>
              </a:spcAft>
              <a:defRPr sz="760">
                <a:solidFill>
                  <a:srgbClr val="38BDF8"/>
                </a:solidFill>
                <a:latin typeface="Consolas"/>
              </a:defRPr>
            </a:pPr>
            <a:r>
              <a:t>        bus_write(REG_FLASH_CMD, 32'h0000_009F); // Phát RDID</a:t>
            </a:r>
          </a:p>
          <a:p>
            <a:pPr>
              <a:spcAft>
                <a:spcPts val="40"/>
              </a:spcAft>
              <a:defRPr sz="760">
                <a:solidFill>
                  <a:srgbClr val="38BDF8"/>
                </a:solidFill>
                <a:latin typeface="Consolas"/>
              </a:defRPr>
            </a:pPr>
            <a:r>
              <a:t>        while (flash_busy) @(posedge clk);        // Chờ SPI</a:t>
            </a:r>
          </a:p>
          <a:p>
            <a:pPr>
              <a:spcAft>
                <a:spcPts val="40"/>
              </a:spcAft>
              <a:defRPr sz="760">
                <a:solidFill>
                  <a:srgbClr val="38BDF8"/>
                </a:solidFill>
                <a:latin typeface="Consolas"/>
              </a:defRPr>
            </a:pPr>
            <a:r>
              <a:t>        bus_read(REG_FLASH_DAT, id);</a:t>
            </a:r>
          </a:p>
          <a:p>
            <a:pPr>
              <a:spcAft>
                <a:spcPts val="40"/>
              </a:spcAft>
              <a:defRPr sz="760">
                <a:solidFill>
                  <a:srgbClr val="38BDF8"/>
                </a:solidFill>
                <a:latin typeface="Consolas"/>
              </a:defRPr>
            </a:pPr>
            <a:r>
              <a:t>        if (id[23:16] == 8'h01) // Spansion ID</a:t>
            </a:r>
          </a:p>
          <a:p>
            <a:pPr>
              <a:spcAft>
                <a:spcPts val="40"/>
              </a:spcAft>
              <a:defRPr sz="760" b="1">
                <a:solidFill>
                  <a:srgbClr val="10B981"/>
                </a:solidFill>
                <a:latin typeface="Consolas"/>
              </a:defRPr>
            </a:pPr>
            <a:r>
              <a:t>            $display("  [PASS] JEDEC ID: 0x%06X (Valid Flash)", id);</a:t>
            </a:r>
          </a:p>
          <a:p>
            <a:pPr>
              <a:spcAft>
                <a:spcPts val="40"/>
              </a:spcAft>
              <a:defRPr sz="760">
                <a:solidFill>
                  <a:srgbClr val="38BDF8"/>
                </a:solidFill>
                <a:latin typeface="Consolas"/>
              </a:defRPr>
            </a:pPr>
            <a:r>
              <a:t>    end</a:t>
            </a:r>
          </a:p>
          <a:p>
            <a:pPr>
              <a:spcAft>
                <a:spcPts val="40"/>
              </a:spcAft>
              <a:defRPr sz="760">
                <a:solidFill>
                  <a:srgbClr val="A78BFA"/>
                </a:solidFill>
                <a:latin typeface="Consolas"/>
              </a:defRPr>
            </a:pPr>
            <a:r>
              <a:t>endtask</a:t>
            </a:r>
          </a:p>
          <a:p>
            <a:pPr>
              <a:spcAft>
                <a:spcPts val="40"/>
              </a:spcAft>
              <a:defRPr sz="760">
                <a:solidFill>
                  <a:srgbClr val="E2E8F0"/>
                </a:solidFill>
                <a:latin typeface="Consolas"/>
              </a:defRPr>
            </a:pPr>
          </a:p>
          <a:p>
            <a:pPr>
              <a:spcAft>
                <a:spcPts val="40"/>
              </a:spcAft>
              <a:defRPr sz="760" i="1">
                <a:solidFill>
                  <a:srgbClr val="64748B"/>
                </a:solidFill>
                <a:latin typeface="Consolas"/>
              </a:defRPr>
            </a:pPr>
            <a:r>
              <a:t>// 2. Xóa khối Sector Erase 64KB (Sector 48 - 0x300000)</a:t>
            </a:r>
          </a:p>
          <a:p>
            <a:pPr>
              <a:spcAft>
                <a:spcPts val="40"/>
              </a:spcAft>
              <a:defRPr sz="760">
                <a:solidFill>
                  <a:srgbClr val="38BDF8"/>
                </a:solidFill>
                <a:latin typeface="Consolas"/>
              </a:defRPr>
            </a:pPr>
            <a:r>
              <a:t>bus_write(REG_FLASH_ADDR, 24'h30_0000);</a:t>
            </a:r>
          </a:p>
          <a:p>
            <a:pPr>
              <a:spcAft>
                <a:spcPts val="40"/>
              </a:spcAft>
              <a:defRPr sz="760">
                <a:solidFill>
                  <a:srgbClr val="38BDF8"/>
                </a:solidFill>
                <a:latin typeface="Consolas"/>
              </a:defRPr>
            </a:pPr>
            <a:r>
              <a:t>bus_write(REG_FLASH_CMD,  32'h0000_00D8); // Lệnh Sector Erase</a:t>
            </a:r>
          </a:p>
          <a:p>
            <a:pPr>
              <a:spcAft>
                <a:spcPts val="40"/>
              </a:spcAft>
              <a:defRPr sz="760">
                <a:solidFill>
                  <a:srgbClr val="38BDF8"/>
                </a:solidFill>
                <a:latin typeface="Consolas"/>
              </a:defRPr>
            </a:pPr>
            <a:r>
              <a:t>while (flash_busy) @(posedge clk);</a:t>
            </a:r>
          </a:p>
          <a:p>
            <a:pPr>
              <a:spcAft>
                <a:spcPts val="40"/>
              </a:spcAft>
              <a:defRPr sz="760" b="1">
                <a:solidFill>
                  <a:srgbClr val="10B981"/>
                </a:solidFill>
                <a:latin typeface="Consolas"/>
              </a:defRPr>
            </a:pPr>
            <a:r>
              <a:t>$display("  [PASS] Sector 48 erased to 0xFF successfully");</a:t>
            </a:r>
          </a:p>
          <a:p>
            <a:pPr>
              <a:spcAft>
                <a:spcPts val="40"/>
              </a:spcAft>
              <a:defRPr sz="760">
                <a:solidFill>
                  <a:srgbClr val="E2E8F0"/>
                </a:solidFill>
                <a:latin typeface="Consolas"/>
              </a:defRPr>
            </a:pPr>
          </a:p>
          <a:p>
            <a:pPr>
              <a:spcAft>
                <a:spcPts val="40"/>
              </a:spcAft>
              <a:defRPr sz="760" i="1">
                <a:solidFill>
                  <a:srgbClr val="64748B"/>
                </a:solidFill>
                <a:latin typeface="Consolas"/>
              </a:defRPr>
            </a:pPr>
            <a:r>
              <a:t>// 3. Ghi trang Page Program 16-byte bản ghi thẻ RFID</a:t>
            </a:r>
          </a:p>
          <a:p>
            <a:pPr>
              <a:spcAft>
                <a:spcPts val="40"/>
              </a:spcAft>
              <a:defRPr sz="760">
                <a:solidFill>
                  <a:srgbClr val="38BDF8"/>
                </a:solidFill>
                <a:latin typeface="Consolas"/>
              </a:defRPr>
            </a:pPr>
            <a:r>
              <a:t>bus_write(REG_FLASH_DATA, 32'h52464944); // 'RFID' Magic</a:t>
            </a:r>
          </a:p>
          <a:p>
            <a:pPr>
              <a:spcAft>
                <a:spcPts val="40"/>
              </a:spcAft>
              <a:defRPr sz="760">
                <a:solidFill>
                  <a:srgbClr val="38BDF8"/>
                </a:solidFill>
                <a:latin typeface="Consolas"/>
              </a:defRPr>
            </a:pPr>
            <a:r>
              <a:t>bus_write(REG_FLASH_CMD,  32'h0000_0002); // Page Program</a:t>
            </a:r>
          </a:p>
          <a:p>
            <a:pPr>
              <a:spcAft>
                <a:spcPts val="40"/>
              </a:spcAft>
              <a:defRPr sz="760">
                <a:solidFill>
                  <a:srgbClr val="38BDF8"/>
                </a:solidFill>
                <a:latin typeface="Consolas"/>
              </a:defRPr>
            </a:pPr>
            <a:r>
              <a:t>while (flash_busy) @(posedge clk);</a:t>
            </a:r>
          </a:p>
          <a:p>
            <a:pPr>
              <a:spcAft>
                <a:spcPts val="40"/>
              </a:spcAft>
              <a:defRPr sz="760" b="1">
                <a:solidFill>
                  <a:srgbClr val="10B981"/>
                </a:solidFill>
                <a:latin typeface="Consolas"/>
              </a:defRPr>
            </a:pPr>
            <a:r>
              <a:t>$display("  [PASS] Page Program: 16-byte record written into Flash");</a:t>
            </a:r>
          </a:p>
          <a:p>
            <a:pPr>
              <a:spcBef>
                <a:spcPts val="500"/>
              </a:spcBef>
              <a:defRPr sz="860" b="1">
                <a:solidFill>
                  <a:srgbClr val="10B981"/>
                </a:solidFill>
                <a:latin typeface="Consolas"/>
              </a:defRPr>
            </a:pPr>
            <a:r>
              <a:t>&gt;&gt;&gt; XÁC THỰC BƯỚC 4: 10/10 SPI PROTOCOL PASS (100%) &lt;&lt;&lt;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CHƯƠNG 3 | KIỂM THỬ TỪNG BƯỚC: STEP 5 RFID PIPELINE</a:t>
            </a:r>
          </a:p>
          <a:p>
            <a:pPr>
              <a:defRPr sz="1900" b="1">
                <a:solidFill>
                  <a:srgbClr val="0F172A"/>
                </a:solidFill>
                <a:latin typeface="Segoe UI"/>
              </a:defRPr>
            </a:pPr>
            <a:r>
              <a:t>3.8.4. Kiểm Thử Bước 5: Mô Phỏng Đường Ống Thu Nhận RFID 5 Tầng &amp; Cây XOR</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7315200" cy="274320"/>
          </a:xfrm>
          <a:prstGeom prst="rect">
            <a:avLst/>
          </a:prstGeom>
          <a:noFill/>
        </p:spPr>
        <p:txBody>
          <a:bodyPr wrap="none">
            <a:spAutoFit/>
          </a:bodyPr>
          <a:lstStyle/>
          <a:p>
            <a:pPr>
              <a:defRPr sz="950">
                <a:solidFill>
                  <a:srgbClr val="475569"/>
                </a:solidFill>
                <a:latin typeface="Segoe UI"/>
              </a:defRPr>
            </a:pPr>
            <a:r>
              <a:t>PicoRV32 RFID Access Controller SoC | SkyWater 130nm ASIC &amp; Basys 3 Demo</a:t>
            </a:r>
          </a:p>
        </p:txBody>
      </p:sp>
      <p:sp>
        <p:nvSpPr>
          <p:cNvPr id="7" name="TextBox 6"/>
          <p:cNvSpPr txBox="1"/>
          <p:nvPr/>
        </p:nvSpPr>
        <p:spPr>
          <a:xfrm>
            <a:off x="10058400" y="6492240"/>
            <a:ext cx="1401775" cy="274320"/>
          </a:xfrm>
          <a:prstGeom prst="rect">
            <a:avLst/>
          </a:prstGeom>
          <a:noFill/>
        </p:spPr>
        <p:txBody>
          <a:bodyPr wrap="none">
            <a:spAutoFit/>
          </a:bodyPr>
          <a:lstStyle/>
          <a:p>
            <a:pPr algn="r">
              <a:defRPr sz="950" b="1">
                <a:solidFill>
                  <a:srgbClr val="2563EB"/>
                </a:solidFill>
                <a:latin typeface="Segoe UI"/>
              </a:defRPr>
            </a:pPr>
            <a:r>
              <a:t>19 / 25</a:t>
            </a:r>
          </a:p>
        </p:txBody>
      </p:sp>
      <p:sp>
        <p:nvSpPr>
          <p:cNvPr id="8" name="Rounded Rectangle 7"/>
          <p:cNvSpPr/>
          <p:nvPr/>
        </p:nvSpPr>
        <p:spPr>
          <a:xfrm>
            <a:off x="731520" y="1234440"/>
            <a:ext cx="5212080" cy="30175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325880"/>
            <a:ext cx="4846320" cy="2834640"/>
          </a:xfrm>
          <a:prstGeom prst="rect">
            <a:avLst/>
          </a:prstGeom>
          <a:noFill/>
        </p:spPr>
        <p:txBody>
          <a:bodyPr wrap="square">
            <a:spAutoFit/>
          </a:bodyPr>
          <a:lstStyle/>
          <a:p>
            <a:pPr>
              <a:spcAft>
                <a:spcPts val="600"/>
              </a:spcAft>
              <a:defRPr sz="1300" b="1">
                <a:solidFill>
                  <a:srgbClr val="2563EB"/>
                </a:solidFill>
                <a:latin typeface="Segoe UI"/>
              </a:defRPr>
            </a:pPr>
            <a:r>
              <a:t>🎯 Nội Dung &amp; Kịch Bản Kiểm Thử Bước 5</a:t>
            </a:r>
          </a:p>
          <a:p>
            <a:pPr>
              <a:spcAft>
                <a:spcPts val="200"/>
              </a:spcAft>
              <a:defRPr sz="919" b="1">
                <a:solidFill>
                  <a:srgbClr val="0F172A"/>
                </a:solidFill>
                <a:latin typeface="Segoe UI"/>
              </a:defRPr>
            </a:pPr>
            <a:r>
              <a:t>• Tầng 1 (2-FF CDC Synchronizer): </a:t>
            </a:r>
            <a:r>
              <a:rPr b="0">
                <a:solidFill>
                  <a:srgbClr val="475569"/>
                </a:solidFill>
              </a:rPr>
              <a:t>Khử hiện tượng siêu bền bất định khi bắt tín hiệu UART 9600 bps bất đồng bộ từ RDM6300 vào miền clock 50MHz.</a:t>
            </a:r>
          </a:p>
          <a:p>
            <a:pPr>
              <a:spcAft>
                <a:spcPts val="200"/>
              </a:spcAft>
              <a:defRPr sz="919" b="1">
                <a:solidFill>
                  <a:srgbClr val="0F172A"/>
                </a:solidFill>
                <a:latin typeface="Segoe UI"/>
              </a:defRPr>
            </a:pPr>
            <a:r>
              <a:t>• Tầng 2 (Lọc đa số 3 điểm UART RX): </a:t>
            </a:r>
            <a:r>
              <a:rPr b="0">
                <a:solidFill>
                  <a:srgbClr val="475569"/>
                </a:solidFill>
              </a:rPr>
              <a:t>Bộ lấy mẫu 16x loại bỏ hoàn toàn các xung gai nhiễu điện từ &lt; 100ns từ cuộn cảm ăng-ten 125 kHz.</a:t>
            </a:r>
          </a:p>
          <a:p>
            <a:pPr>
              <a:spcAft>
                <a:spcPts val="200"/>
              </a:spcAft>
              <a:defRPr sz="919" b="1">
                <a:solidFill>
                  <a:srgbClr val="0F172A"/>
                </a:solidFill>
                <a:latin typeface="Segoe UI"/>
              </a:defRPr>
            </a:pPr>
            <a:r>
              <a:t>• Tầng 3 (Hàng đợi FIFO 16 byte): </a:t>
            </a:r>
            <a:r>
              <a:rPr b="0">
                <a:solidFill>
                  <a:srgbClr val="475569"/>
                </a:solidFill>
              </a:rPr>
              <a:t>Cách ly tốc độ thu dữ liệu và tốc độ CPU, chống rơi byte khi CPU bận ghi Flash.</a:t>
            </a:r>
          </a:p>
          <a:p>
            <a:pPr>
              <a:spcAft>
                <a:spcPts val="200"/>
              </a:spcAft>
              <a:defRPr sz="919" b="1">
                <a:solidFill>
                  <a:srgbClr val="0F172A"/>
                </a:solidFill>
                <a:latin typeface="Segoe UI"/>
              </a:defRPr>
            </a:pPr>
            <a:r>
              <a:t>• Tầng 4 &amp; 5 (FSM 14 Byte &amp; Cây XOR 20ns): </a:t>
            </a:r>
            <a:r>
              <a:rPr b="0">
                <a:solidFill>
                  <a:srgbClr val="475569"/>
                </a:solidFill>
              </a:rPr>
              <a:t>Nhận diện STX (0x02), 10 byte mã thẻ, 2 byte checksum, ETX (0x03). Tính Checksum XOR song song trong đúng 1 chu kỳ clock (20ns).</a:t>
            </a:r>
          </a:p>
          <a:p>
            <a:pPr>
              <a:spcAft>
                <a:spcPts val="200"/>
              </a:spcAft>
              <a:defRPr sz="919" b="1">
                <a:solidFill>
                  <a:srgbClr val="0F172A"/>
                </a:solidFill>
                <a:latin typeface="Segoe UI"/>
              </a:defRPr>
            </a:pPr>
            <a:r>
              <a:t>• Kiểm thử thẻ giả mạo (Negative Test): </a:t>
            </a:r>
            <a:r>
              <a:rPr b="0">
                <a:solidFill>
                  <a:srgbClr val="475569"/>
                </a:solidFill>
              </a:rPr>
              <a:t>Gửi khung thẻ bị sửa sai checksum -&gt; phần cứng phát hiện lỗi ngay, từ chối cấp cờ card_valid.</a:t>
            </a:r>
          </a:p>
        </p:txBody>
      </p:sp>
      <p:sp>
        <p:nvSpPr>
          <p:cNvPr id="10" name="Rounded Rectangle 9"/>
          <p:cNvSpPr/>
          <p:nvPr/>
        </p:nvSpPr>
        <p:spPr>
          <a:xfrm>
            <a:off x="731520" y="4389120"/>
            <a:ext cx="5212080" cy="1874519"/>
          </a:xfrm>
          <a:prstGeom prst="roundRect">
            <a:avLst/>
          </a:prstGeom>
          <a:solidFill>
            <a:srgbClr val="F0FDF4"/>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480560"/>
            <a:ext cx="4846320" cy="1691640"/>
          </a:xfrm>
          <a:prstGeom prst="rect">
            <a:avLst/>
          </a:prstGeom>
          <a:noFill/>
        </p:spPr>
        <p:txBody>
          <a:bodyPr wrap="square">
            <a:spAutoFit/>
          </a:bodyPr>
          <a:lstStyle/>
          <a:p>
            <a:pPr>
              <a:spcAft>
                <a:spcPts val="400"/>
              </a:spcAft>
              <a:defRPr sz="1200" b="1">
                <a:solidFill>
                  <a:srgbClr val="10B981"/>
                </a:solidFill>
                <a:latin typeface="Segoe UI"/>
              </a:defRPr>
            </a:pPr>
            <a:r>
              <a:t>📊 Kết Quả Xác Minh AMD Vivado xsim v2025.2</a:t>
            </a:r>
          </a:p>
          <a:p>
            <a:pPr>
              <a:spcAft>
                <a:spcPts val="150"/>
              </a:spcAft>
              <a:defRPr sz="900" b="1">
                <a:solidFill>
                  <a:srgbClr val="0F172A"/>
                </a:solidFill>
                <a:latin typeface="Segoe UI"/>
              </a:defRPr>
            </a:pPr>
            <a:r>
              <a:t>✔ Tỷ lệ thành công: </a:t>
            </a:r>
            <a:r>
              <a:rPr b="0">
                <a:solidFill>
                  <a:srgbClr val="475569"/>
                </a:solidFill>
              </a:rPr>
              <a:t>12/12 PASS (100.0%) trên cả Vivado xsim và Python</a:t>
            </a:r>
          </a:p>
          <a:p>
            <a:pPr>
              <a:spcAft>
                <a:spcPts val="150"/>
              </a:spcAft>
              <a:defRPr sz="900" b="1">
                <a:solidFill>
                  <a:srgbClr val="0F172A"/>
                </a:solidFill>
                <a:latin typeface="Segoe UI"/>
              </a:defRPr>
            </a:pPr>
            <a:r>
              <a:t>✔ Độ trễ tính toán Checksum: </a:t>
            </a:r>
            <a:r>
              <a:rPr b="0">
                <a:solidFill>
                  <a:srgbClr val="475569"/>
                </a:solidFill>
              </a:rPr>
              <a:t>Đúng 1 chu kỳ xung nhịp (20.0 ns) ngay sau ETX</a:t>
            </a:r>
          </a:p>
          <a:p>
            <a:pPr>
              <a:spcAft>
                <a:spcPts val="150"/>
              </a:spcAft>
              <a:defRPr sz="900" b="1">
                <a:solidFill>
                  <a:srgbClr val="0F172A"/>
                </a:solidFill>
                <a:latin typeface="Segoe UI"/>
              </a:defRPr>
            </a:pPr>
            <a:r>
              <a:t>✔ Tỷ lệ loại trừ lỗi: </a:t>
            </a:r>
            <a:r>
              <a:rPr b="0">
                <a:solidFill>
                  <a:srgbClr val="475569"/>
                </a:solidFill>
              </a:rPr>
              <a:t>100% khung thẻ sai checksum bị triệt tiêu</a:t>
            </a:r>
          </a:p>
          <a:p>
            <a:pPr>
              <a:spcAft>
                <a:spcPts val="150"/>
              </a:spcAft>
              <a:defRPr sz="900" b="1">
                <a:solidFill>
                  <a:srgbClr val="0F172A"/>
                </a:solidFill>
                <a:latin typeface="Segoe UI"/>
              </a:defRPr>
            </a:pPr>
            <a:r>
              <a:t>✔ Tương thích chuẩn: </a:t>
            </a:r>
            <a:r>
              <a:rPr b="0">
                <a:solidFill>
                  <a:srgbClr val="475569"/>
                </a:solidFill>
              </a:rPr>
              <a:t>Khớp hoàn hảo định dạng thẻ EM4100 125 kHz công nghiệp</a:t>
            </a:r>
          </a:p>
        </p:txBody>
      </p:sp>
      <p:sp>
        <p:nvSpPr>
          <p:cNvPr id="12" name="Rounded Rectangle 11"/>
          <p:cNvSpPr/>
          <p:nvPr/>
        </p:nvSpPr>
        <p:spPr>
          <a:xfrm>
            <a:off x="6248095" y="1234440"/>
            <a:ext cx="5212080" cy="5029200"/>
          </a:xfrm>
          <a:prstGeom prst="roundRect">
            <a:avLst/>
          </a:prstGeom>
          <a:solidFill>
            <a:srgbClr val="0F172A"/>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0975" y="1399032"/>
            <a:ext cx="4846320" cy="4700016"/>
          </a:xfrm>
          <a:prstGeom prst="rect">
            <a:avLst/>
          </a:prstGeom>
          <a:noFill/>
        </p:spPr>
        <p:txBody>
          <a:bodyPr wrap="square">
            <a:spAutoFit/>
          </a:bodyPr>
          <a:lstStyle/>
          <a:p>
            <a:pPr>
              <a:spcAft>
                <a:spcPts val="100"/>
              </a:spcAft>
              <a:defRPr sz="1100" b="1">
                <a:solidFill>
                  <a:srgbClr val="0EA5E9"/>
                </a:solidFill>
                <a:latin typeface="Segoe UI"/>
              </a:defRPr>
            </a:pPr>
            <a:r>
              <a:t>💻 Trích Đoạn Testbench Verilog: Khung 14 Byte &amp; Cây XOR</a:t>
            </a:r>
          </a:p>
          <a:p>
            <a:pPr>
              <a:spcAft>
                <a:spcPts val="500"/>
              </a:spcAft>
              <a:defRPr sz="880" i="1">
                <a:solidFill>
                  <a:srgbClr val="94A3B8"/>
                </a:solidFill>
                <a:latin typeface="Segoe UI"/>
              </a:defRPr>
            </a:pPr>
            <a:r>
              <a:t>Mã nguồn: tb/step5_rdm6300_pipeline/tb_rdm6300_pipeline.v</a:t>
            </a:r>
          </a:p>
          <a:p>
            <a:pPr>
              <a:spcAft>
                <a:spcPts val="40"/>
              </a:spcAft>
              <a:defRPr sz="760" i="1">
                <a:solidFill>
                  <a:srgbClr val="64748B"/>
                </a:solidFill>
                <a:latin typeface="Consolas"/>
              </a:defRPr>
            </a:pPr>
            <a:r>
              <a:t>// 1. Kịch bản quẹt thẻ hợp lệ: 00007293F0 (Checksum XOR = 0x11)</a:t>
            </a:r>
          </a:p>
          <a:p>
            <a:pPr>
              <a:spcAft>
                <a:spcPts val="40"/>
              </a:spcAft>
              <a:defRPr sz="760">
                <a:solidFill>
                  <a:srgbClr val="A78BFA"/>
                </a:solidFill>
                <a:latin typeface="Consolas"/>
              </a:defRPr>
            </a:pPr>
            <a:r>
              <a:t>$display("[INFO] Transmitting valid RFID Card: 00007293F0...");</a:t>
            </a:r>
          </a:p>
          <a:p>
            <a:pPr>
              <a:spcAft>
                <a:spcPts val="40"/>
              </a:spcAft>
              <a:defRPr sz="760">
                <a:solidFill>
                  <a:srgbClr val="38BDF8"/>
                </a:solidFill>
                <a:latin typeface="Consolas"/>
              </a:defRPr>
            </a:pPr>
            <a:r>
              <a:t>send_rfid_byte(8'h02); // STX (Start of Text)</a:t>
            </a:r>
          </a:p>
          <a:p>
            <a:pPr>
              <a:spcAft>
                <a:spcPts val="40"/>
              </a:spcAft>
              <a:defRPr sz="760">
                <a:solidFill>
                  <a:srgbClr val="38BDF8"/>
                </a:solidFill>
                <a:latin typeface="Consolas"/>
              </a:defRPr>
            </a:pPr>
            <a:r>
              <a:t>send_rfid_string("00007293F0"); // 10 ký tự ASCII dữ liệu thẻ</a:t>
            </a:r>
          </a:p>
          <a:p>
            <a:pPr>
              <a:spcAft>
                <a:spcPts val="40"/>
              </a:spcAft>
              <a:defRPr sz="760">
                <a:solidFill>
                  <a:srgbClr val="38BDF8"/>
                </a:solidFill>
                <a:latin typeface="Consolas"/>
              </a:defRPr>
            </a:pPr>
            <a:r>
              <a:t>send_rfid_string("11");         // 2 ký tự Checksum XOR chuẩn</a:t>
            </a:r>
          </a:p>
          <a:p>
            <a:pPr>
              <a:spcAft>
                <a:spcPts val="40"/>
              </a:spcAft>
              <a:defRPr sz="760">
                <a:solidFill>
                  <a:srgbClr val="38BDF8"/>
                </a:solidFill>
                <a:latin typeface="Consolas"/>
              </a:defRPr>
            </a:pPr>
            <a:r>
              <a:t>send_rfid_byte(8'h03); // ETX (End of Text)</a:t>
            </a:r>
          </a:p>
          <a:p>
            <a:pPr>
              <a:spcAft>
                <a:spcPts val="40"/>
              </a:spcAft>
              <a:defRPr sz="760">
                <a:solidFill>
                  <a:srgbClr val="E2E8F0"/>
                </a:solidFill>
                <a:latin typeface="Consolas"/>
              </a:defRPr>
            </a:pPr>
          </a:p>
          <a:p>
            <a:pPr>
              <a:spcAft>
                <a:spcPts val="40"/>
              </a:spcAft>
              <a:defRPr sz="760">
                <a:solidFill>
                  <a:srgbClr val="38BDF8"/>
                </a:solidFill>
                <a:latin typeface="Consolas"/>
              </a:defRPr>
            </a:pPr>
            <a:r>
              <a:t>@(posedge card_valid);</a:t>
            </a:r>
          </a:p>
          <a:p>
            <a:pPr>
              <a:spcAft>
                <a:spcPts val="40"/>
              </a:spcAft>
              <a:defRPr sz="760">
                <a:solidFill>
                  <a:srgbClr val="38BDF8"/>
                </a:solidFill>
                <a:latin typeface="Consolas"/>
              </a:defRPr>
            </a:pPr>
            <a:r>
              <a:t>if (tag_raw === 40'h00007293F0) begin</a:t>
            </a:r>
          </a:p>
          <a:p>
            <a:pPr>
              <a:spcAft>
                <a:spcPts val="40"/>
              </a:spcAft>
              <a:defRPr sz="760" b="1">
                <a:solidFill>
                  <a:srgbClr val="10B981"/>
                </a:solidFill>
                <a:latin typeface="Consolas"/>
              </a:defRPr>
            </a:pPr>
            <a:r>
              <a:t>    $display("  [PASS] TC01: Card valid asserted! Tag = %010X", tag_raw);</a:t>
            </a:r>
          </a:p>
          <a:p>
            <a:pPr>
              <a:spcAft>
                <a:spcPts val="40"/>
              </a:spcAft>
              <a:defRPr sz="760" b="1">
                <a:solidFill>
                  <a:srgbClr val="10B981"/>
                </a:solidFill>
                <a:latin typeface="Consolas"/>
              </a:defRPr>
            </a:pPr>
            <a:r>
              <a:t>    tests_passed = tests_passed + 1;</a:t>
            </a:r>
          </a:p>
          <a:p>
            <a:pPr>
              <a:spcAft>
                <a:spcPts val="40"/>
              </a:spcAft>
              <a:defRPr sz="760">
                <a:solidFill>
                  <a:srgbClr val="38BDF8"/>
                </a:solidFill>
                <a:latin typeface="Consolas"/>
              </a:defRPr>
            </a:pPr>
            <a:r>
              <a:t>end</a:t>
            </a:r>
          </a:p>
          <a:p>
            <a:pPr>
              <a:spcAft>
                <a:spcPts val="40"/>
              </a:spcAft>
              <a:defRPr sz="760">
                <a:solidFill>
                  <a:srgbClr val="E2E8F0"/>
                </a:solidFill>
                <a:latin typeface="Consolas"/>
              </a:defRPr>
            </a:pPr>
          </a:p>
          <a:p>
            <a:pPr>
              <a:spcAft>
                <a:spcPts val="40"/>
              </a:spcAft>
              <a:defRPr sz="760" i="1">
                <a:solidFill>
                  <a:srgbClr val="64748B"/>
                </a:solidFill>
                <a:latin typeface="Consolas"/>
              </a:defRPr>
            </a:pPr>
            <a:r>
              <a:t>// 2. Kịch bản thẻ giả mạo sai Checksum (Negative Test)</a:t>
            </a:r>
          </a:p>
          <a:p>
            <a:pPr>
              <a:spcAft>
                <a:spcPts val="40"/>
              </a:spcAft>
              <a:defRPr sz="760">
                <a:solidFill>
                  <a:srgbClr val="A78BFA"/>
                </a:solidFill>
                <a:latin typeface="Consolas"/>
              </a:defRPr>
            </a:pPr>
            <a:r>
              <a:t>$display("[INFO] Transmitting corrupted RFID Card (Bad Checksum)...");</a:t>
            </a:r>
          </a:p>
          <a:p>
            <a:pPr>
              <a:spcAft>
                <a:spcPts val="40"/>
              </a:spcAft>
              <a:defRPr sz="760">
                <a:solidFill>
                  <a:srgbClr val="38BDF8"/>
                </a:solidFill>
                <a:latin typeface="Consolas"/>
              </a:defRPr>
            </a:pPr>
            <a:r>
              <a:t>send_rfid_byte(8'h02); send_rfid_string("00007293F0");</a:t>
            </a:r>
          </a:p>
          <a:p>
            <a:pPr>
              <a:spcAft>
                <a:spcPts val="40"/>
              </a:spcAft>
              <a:defRPr sz="760">
                <a:solidFill>
                  <a:srgbClr val="38BDF8"/>
                </a:solidFill>
                <a:latin typeface="Consolas"/>
              </a:defRPr>
            </a:pPr>
            <a:r>
              <a:t>send_rfid_string("99"); // Sai Checksum (kỳ vọng 0x11)</a:t>
            </a:r>
          </a:p>
          <a:p>
            <a:pPr>
              <a:spcAft>
                <a:spcPts val="40"/>
              </a:spcAft>
              <a:defRPr sz="760">
                <a:solidFill>
                  <a:srgbClr val="38BDF8"/>
                </a:solidFill>
                <a:latin typeface="Consolas"/>
              </a:defRPr>
            </a:pPr>
            <a:r>
              <a:t>send_rfid_byte(8'h03);</a:t>
            </a:r>
          </a:p>
          <a:p>
            <a:pPr>
              <a:spcAft>
                <a:spcPts val="40"/>
              </a:spcAft>
              <a:defRPr sz="760">
                <a:solidFill>
                  <a:srgbClr val="38BDF8"/>
                </a:solidFill>
                <a:latin typeface="Consolas"/>
              </a:defRPr>
            </a:pPr>
            <a:r>
              <a:t>#100;</a:t>
            </a:r>
          </a:p>
          <a:p>
            <a:pPr>
              <a:spcAft>
                <a:spcPts val="40"/>
              </a:spcAft>
              <a:defRPr sz="760" b="1">
                <a:solidFill>
                  <a:srgbClr val="10B981"/>
                </a:solidFill>
                <a:latin typeface="Consolas"/>
              </a:defRPr>
            </a:pPr>
            <a:r>
              <a:t>assert(checksum_error === 1'b1 &amp;&amp; card_valid === 1'b0);</a:t>
            </a:r>
          </a:p>
          <a:p>
            <a:pPr>
              <a:spcAft>
                <a:spcPts val="40"/>
              </a:spcAft>
              <a:defRPr sz="760" b="1">
                <a:solidFill>
                  <a:srgbClr val="10B981"/>
                </a:solidFill>
                <a:latin typeface="Consolas"/>
              </a:defRPr>
            </a:pPr>
            <a:r>
              <a:t>$display("  [PASS] TC02: Hardware XOR Checksum detected mismatch!");</a:t>
            </a:r>
          </a:p>
          <a:p>
            <a:pPr>
              <a:spcBef>
                <a:spcPts val="500"/>
              </a:spcBef>
              <a:defRPr sz="860" b="1">
                <a:solidFill>
                  <a:srgbClr val="10B981"/>
                </a:solidFill>
                <a:latin typeface="Consolas"/>
              </a:defRPr>
            </a:pPr>
            <a:r>
              <a:t>&gt;&gt;&gt; AMD Vivado xsim: 12/12 PASS - CHU KỲ XOR = 20.0 ns &lt;&lt;&lt;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CHƯƠNG 3 | KIỂM THỬ TỪNG BƯỚC: STEP 6 TOP SOC</a:t>
            </a:r>
          </a:p>
          <a:p>
            <a:pPr>
              <a:defRPr sz="1900" b="1">
                <a:solidFill>
                  <a:srgbClr val="0F172A"/>
                </a:solidFill>
                <a:latin typeface="Segoe UI"/>
              </a:defRPr>
            </a:pPr>
            <a:r>
              <a:t>3.8.5. Kiểm Thử Bước 6: Mô Phỏng Tích Hợp Toàn Diện Top SoC &amp; End-to-End</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7315200" cy="274320"/>
          </a:xfrm>
          <a:prstGeom prst="rect">
            <a:avLst/>
          </a:prstGeom>
          <a:noFill/>
        </p:spPr>
        <p:txBody>
          <a:bodyPr wrap="none">
            <a:spAutoFit/>
          </a:bodyPr>
          <a:lstStyle/>
          <a:p>
            <a:pPr>
              <a:defRPr sz="950">
                <a:solidFill>
                  <a:srgbClr val="475569"/>
                </a:solidFill>
                <a:latin typeface="Segoe UI"/>
              </a:defRPr>
            </a:pPr>
            <a:r>
              <a:t>PicoRV32 RFID Access Controller SoC | SkyWater 130nm ASIC &amp; Basys 3 Demo</a:t>
            </a:r>
          </a:p>
        </p:txBody>
      </p:sp>
      <p:sp>
        <p:nvSpPr>
          <p:cNvPr id="7" name="TextBox 6"/>
          <p:cNvSpPr txBox="1"/>
          <p:nvPr/>
        </p:nvSpPr>
        <p:spPr>
          <a:xfrm>
            <a:off x="10058400" y="6492240"/>
            <a:ext cx="1401775" cy="274320"/>
          </a:xfrm>
          <a:prstGeom prst="rect">
            <a:avLst/>
          </a:prstGeom>
          <a:noFill/>
        </p:spPr>
        <p:txBody>
          <a:bodyPr wrap="none">
            <a:spAutoFit/>
          </a:bodyPr>
          <a:lstStyle/>
          <a:p>
            <a:pPr algn="r">
              <a:defRPr sz="950" b="1">
                <a:solidFill>
                  <a:srgbClr val="2563EB"/>
                </a:solidFill>
                <a:latin typeface="Segoe UI"/>
              </a:defRPr>
            </a:pPr>
            <a:r>
              <a:t>20 / 25</a:t>
            </a:r>
          </a:p>
        </p:txBody>
      </p:sp>
      <p:sp>
        <p:nvSpPr>
          <p:cNvPr id="8" name="Rounded Rectangle 7"/>
          <p:cNvSpPr/>
          <p:nvPr/>
        </p:nvSpPr>
        <p:spPr>
          <a:xfrm>
            <a:off x="731520" y="1234440"/>
            <a:ext cx="5212080" cy="30175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325880"/>
            <a:ext cx="4846320" cy="2834640"/>
          </a:xfrm>
          <a:prstGeom prst="rect">
            <a:avLst/>
          </a:prstGeom>
          <a:noFill/>
        </p:spPr>
        <p:txBody>
          <a:bodyPr wrap="square">
            <a:spAutoFit/>
          </a:bodyPr>
          <a:lstStyle/>
          <a:p>
            <a:pPr>
              <a:spcAft>
                <a:spcPts val="600"/>
              </a:spcAft>
              <a:defRPr sz="1300" b="1">
                <a:solidFill>
                  <a:srgbClr val="2563EB"/>
                </a:solidFill>
                <a:latin typeface="Segoe UI"/>
              </a:defRPr>
            </a:pPr>
            <a:r>
              <a:t>🎯 Nội Dung &amp; Kịch Bản Kiểm Thử Bước 6 (Top SoC)</a:t>
            </a:r>
          </a:p>
          <a:p>
            <a:pPr>
              <a:spcAft>
                <a:spcPts val="200"/>
              </a:spcAft>
              <a:defRPr sz="919" b="1">
                <a:solidFill>
                  <a:srgbClr val="0F172A"/>
                </a:solidFill>
                <a:latin typeface="Segoe UI"/>
              </a:defRPr>
            </a:pPr>
            <a:r>
              <a:t>• Quy trình khởi động hệ thống (Full SoC Boot): </a:t>
            </a:r>
            <a:r>
              <a:rPr b="0">
                <a:solidFill>
                  <a:srgbClr val="475569"/>
                </a:solidFill>
              </a:rPr>
              <a:t>CPU PicoRV32 khởi động từ vector reset 0x0025_0000 trên SPI Flash, nạp firmware, thiết lập ngăn xếp sp = 0x400 trên 1KB SRAM.</a:t>
            </a:r>
          </a:p>
          <a:p>
            <a:pPr>
              <a:spcAft>
                <a:spcPts val="200"/>
              </a:spcAft>
              <a:defRPr sz="919" b="1">
                <a:solidFill>
                  <a:srgbClr val="0F172A"/>
                </a:solidFill>
                <a:latin typeface="Segoe UI"/>
              </a:defRPr>
            </a:pPr>
            <a:r>
              <a:t>• Xử lý ngắt quẹt thẻ thời gian thực: </a:t>
            </a:r>
            <a:r>
              <a:rPr b="0">
                <a:solidFill>
                  <a:srgbClr val="475569"/>
                </a:solidFill>
              </a:rPr>
              <a:t>Module RDM6300 giải mã thẻ xong tự động kích hoạt ngắt CPU; firmware truy vấn danh mục thẻ trong Flash.</a:t>
            </a:r>
          </a:p>
          <a:p>
            <a:pPr>
              <a:spcAft>
                <a:spcPts val="200"/>
              </a:spcAft>
              <a:defRPr sz="919" b="1">
                <a:solidFill>
                  <a:srgbClr val="0F172A"/>
                </a:solidFill>
                <a:latin typeface="Segoe UI"/>
              </a:defRPr>
            </a:pPr>
            <a:r>
              <a:t>• Logic kiểm soát ra vào Access Control: </a:t>
            </a:r>
            <a:r>
              <a:rPr b="0">
                <a:solidFill>
                  <a:srgbClr val="475569"/>
                </a:solidFill>
              </a:rPr>
              <a:t>Thẻ hợp lệ (trong Whitelist) -&gt; CPU xuất 'ACCESS:GRANTED', chớp LED xanh; Thẻ lạ -&gt; xuất 'ACCESS:DENIED', chớp LED đỏ.</a:t>
            </a:r>
          </a:p>
          <a:p>
            <a:pPr>
              <a:spcAft>
                <a:spcPts val="200"/>
              </a:spcAft>
              <a:defRPr sz="919" b="1">
                <a:solidFill>
                  <a:srgbClr val="0F172A"/>
                </a:solidFill>
                <a:latin typeface="Segoe UI"/>
              </a:defRPr>
            </a:pPr>
            <a:r>
              <a:t>• Ghi nhật ký bảo mật (Audit Log): </a:t>
            </a:r>
            <a:r>
              <a:rPr b="0">
                <a:solidFill>
                  <a:srgbClr val="475569"/>
                </a:solidFill>
              </a:rPr>
              <a:t>Tự động ghi 16 byte lịch sử vào Sector 49 của Flash.</a:t>
            </a:r>
          </a:p>
          <a:p>
            <a:pPr>
              <a:spcAft>
                <a:spcPts val="200"/>
              </a:spcAft>
              <a:defRPr sz="919" b="1">
                <a:solidFill>
                  <a:srgbClr val="0F172A"/>
                </a:solidFill>
                <a:latin typeface="Segoe UI"/>
              </a:defRPr>
            </a:pPr>
            <a:r>
              <a:t>• Giám sát bẫy CPU Trap: </a:t>
            </a:r>
            <a:r>
              <a:rPr b="0">
                <a:solidFill>
                  <a:srgbClr val="475569"/>
                </a:solidFill>
              </a:rPr>
              <a:t>Đảm bảo cpu_trap == 0 tuyệt đối qua 10 triệu chu kỳ xung nhịp mô phỏng.</a:t>
            </a:r>
          </a:p>
        </p:txBody>
      </p:sp>
      <p:sp>
        <p:nvSpPr>
          <p:cNvPr id="10" name="Rounded Rectangle 9"/>
          <p:cNvSpPr/>
          <p:nvPr/>
        </p:nvSpPr>
        <p:spPr>
          <a:xfrm>
            <a:off x="731520" y="4389120"/>
            <a:ext cx="5212080" cy="1874519"/>
          </a:xfrm>
          <a:prstGeom prst="roundRect">
            <a:avLst/>
          </a:prstGeom>
          <a:solidFill>
            <a:srgbClr val="F0FDF4"/>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480560"/>
            <a:ext cx="4846320" cy="1691640"/>
          </a:xfrm>
          <a:prstGeom prst="rect">
            <a:avLst/>
          </a:prstGeom>
          <a:noFill/>
        </p:spPr>
        <p:txBody>
          <a:bodyPr wrap="square">
            <a:spAutoFit/>
          </a:bodyPr>
          <a:lstStyle/>
          <a:p>
            <a:pPr>
              <a:spcAft>
                <a:spcPts val="400"/>
              </a:spcAft>
              <a:defRPr sz="1200" b="1">
                <a:solidFill>
                  <a:srgbClr val="10B981"/>
                </a:solidFill>
                <a:latin typeface="Segoe UI"/>
              </a:defRPr>
            </a:pPr>
            <a:r>
              <a:t>📊 Kết Quả Kiểm Thử Tích Hợp Hệ Thống</a:t>
            </a:r>
          </a:p>
          <a:p>
            <a:pPr>
              <a:spcAft>
                <a:spcPts val="150"/>
              </a:spcAft>
              <a:defRPr sz="900" b="1">
                <a:solidFill>
                  <a:srgbClr val="0F172A"/>
                </a:solidFill>
                <a:latin typeface="Segoe UI"/>
              </a:defRPr>
            </a:pPr>
            <a:r>
              <a:t>✔ Tỷ lệ thành công: </a:t>
            </a:r>
            <a:r>
              <a:rPr b="0">
                <a:solidFill>
                  <a:srgbClr val="475569"/>
                </a:solidFill>
              </a:rPr>
              <a:t>8/8 Test Cases PASS (100.0% Tuyệt đối)</a:t>
            </a:r>
          </a:p>
          <a:p>
            <a:pPr>
              <a:spcAft>
                <a:spcPts val="150"/>
              </a:spcAft>
              <a:defRPr sz="900" b="1">
                <a:solidFill>
                  <a:srgbClr val="0F172A"/>
                </a:solidFill>
                <a:latin typeface="Segoe UI"/>
              </a:defRPr>
            </a:pPr>
            <a:r>
              <a:t>✔ An toàn vi xử lý: </a:t>
            </a:r>
            <a:r>
              <a:rPr b="0">
                <a:solidFill>
                  <a:srgbClr val="475569"/>
                </a:solidFill>
              </a:rPr>
              <a:t>cpu_trap == 0 (Không lỗi truy cập bộ nhớ hoặc chia cho 0)</a:t>
            </a:r>
          </a:p>
          <a:p>
            <a:pPr>
              <a:spcAft>
                <a:spcPts val="150"/>
              </a:spcAft>
              <a:defRPr sz="900" b="1">
                <a:solidFill>
                  <a:srgbClr val="0F172A"/>
                </a:solidFill>
                <a:latin typeface="Segoe UI"/>
              </a:defRPr>
            </a:pPr>
            <a:r>
              <a:t>✔ Tránh xung đột Bus: </a:t>
            </a:r>
            <a:r>
              <a:rPr b="0">
                <a:solidFill>
                  <a:srgbClr val="475569"/>
                </a:solidFill>
              </a:rPr>
              <a:t>Phân giải địa chỉ Flash XIP, SRAM, ngoại vi đạt 0 deadlock</a:t>
            </a:r>
          </a:p>
          <a:p>
            <a:pPr>
              <a:spcAft>
                <a:spcPts val="150"/>
              </a:spcAft>
              <a:defRPr sz="900" b="1">
                <a:solidFill>
                  <a:srgbClr val="0F172A"/>
                </a:solidFill>
                <a:latin typeface="Segoe UI"/>
              </a:defRPr>
            </a:pPr>
            <a:r>
              <a:t>✔ Sẵn sàng Tape-out: </a:t>
            </a:r>
            <a:r>
              <a:rPr b="0">
                <a:solidFill>
                  <a:srgbClr val="475569"/>
                </a:solidFill>
              </a:rPr>
              <a:t>Toàn bộ hệ thống hoạt động đồng bộ trước khi chuyển sang ASIC</a:t>
            </a:r>
          </a:p>
        </p:txBody>
      </p:sp>
      <p:sp>
        <p:nvSpPr>
          <p:cNvPr id="12" name="Rounded Rectangle 11"/>
          <p:cNvSpPr/>
          <p:nvPr/>
        </p:nvSpPr>
        <p:spPr>
          <a:xfrm>
            <a:off x="6248095" y="1234440"/>
            <a:ext cx="5212080" cy="5029200"/>
          </a:xfrm>
          <a:prstGeom prst="roundRect">
            <a:avLst/>
          </a:prstGeom>
          <a:solidFill>
            <a:srgbClr val="0F172A"/>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0975" y="1399032"/>
            <a:ext cx="4846320" cy="4700016"/>
          </a:xfrm>
          <a:prstGeom prst="rect">
            <a:avLst/>
          </a:prstGeom>
          <a:noFill/>
        </p:spPr>
        <p:txBody>
          <a:bodyPr wrap="square">
            <a:spAutoFit/>
          </a:bodyPr>
          <a:lstStyle/>
          <a:p>
            <a:pPr>
              <a:spcAft>
                <a:spcPts val="100"/>
              </a:spcAft>
              <a:defRPr sz="1100" b="1">
                <a:solidFill>
                  <a:srgbClr val="0EA5E9"/>
                </a:solidFill>
                <a:latin typeface="Segoe UI"/>
              </a:defRPr>
            </a:pPr>
            <a:r>
              <a:t>💻 Trích Đoạn Testbench Verilog: End-to-End SoC Stimulus</a:t>
            </a:r>
          </a:p>
          <a:p>
            <a:pPr>
              <a:spcAft>
                <a:spcPts val="500"/>
              </a:spcAft>
              <a:defRPr sz="880" i="1">
                <a:solidFill>
                  <a:srgbClr val="94A3B8"/>
                </a:solidFill>
                <a:latin typeface="Segoe UI"/>
              </a:defRPr>
            </a:pPr>
            <a:r>
              <a:t>Mã nguồn: tb/step6_top_soc_integration/tb_picorv32_rdm6300_flash.v</a:t>
            </a:r>
          </a:p>
          <a:p>
            <a:pPr>
              <a:spcAft>
                <a:spcPts val="40"/>
              </a:spcAft>
              <a:defRPr sz="760" i="1">
                <a:solidFill>
                  <a:srgbClr val="64748B"/>
                </a:solidFill>
                <a:latin typeface="Consolas"/>
              </a:defRPr>
            </a:pPr>
            <a:r>
              <a:t>// Kiểm thử kịch bản vận hành thực tế toàn diện trên Top SoC</a:t>
            </a:r>
          </a:p>
          <a:p>
            <a:pPr>
              <a:spcAft>
                <a:spcPts val="40"/>
              </a:spcAft>
              <a:defRPr sz="760">
                <a:solidFill>
                  <a:srgbClr val="38BDF8"/>
                </a:solidFill>
                <a:latin typeface="Consolas"/>
              </a:defRPr>
            </a:pPr>
            <a:r>
              <a:t>initial begin</a:t>
            </a:r>
          </a:p>
          <a:p>
            <a:pPr>
              <a:spcAft>
                <a:spcPts val="40"/>
              </a:spcAft>
              <a:defRPr sz="760">
                <a:solidFill>
                  <a:srgbClr val="38BDF8"/>
                </a:solidFill>
                <a:latin typeface="Consolas"/>
              </a:defRPr>
            </a:pPr>
            <a:r>
              <a:t>    rst_n = 0; #200; rst_n = 1;</a:t>
            </a:r>
          </a:p>
          <a:p>
            <a:pPr>
              <a:spcAft>
                <a:spcPts val="40"/>
              </a:spcAft>
              <a:defRPr sz="760">
                <a:solidFill>
                  <a:srgbClr val="E2E8F0"/>
                </a:solidFill>
                <a:latin typeface="Consolas"/>
              </a:defRPr>
            </a:pPr>
          </a:p>
          <a:p>
            <a:pPr>
              <a:spcAft>
                <a:spcPts val="40"/>
              </a:spcAft>
              <a:defRPr sz="760" i="1">
                <a:solidFill>
                  <a:srgbClr val="64748B"/>
                </a:solidFill>
                <a:latin typeface="Consolas"/>
              </a:defRPr>
            </a:pPr>
            <a:r>
              <a:t>    // 1. Chờ PicoRV32 boot từ SPI Flash XIP &amp; khởi tạo UART</a:t>
            </a:r>
          </a:p>
          <a:p>
            <a:pPr>
              <a:spcAft>
                <a:spcPts val="40"/>
              </a:spcAft>
              <a:defRPr sz="760">
                <a:solidFill>
                  <a:srgbClr val="A78BFA"/>
                </a:solidFill>
                <a:latin typeface="Consolas"/>
              </a:defRPr>
            </a:pPr>
            <a:r>
              <a:t>    wait_uart_string("PicoRV32 RFID Access Controller Initialized");</a:t>
            </a:r>
          </a:p>
          <a:p>
            <a:pPr>
              <a:spcAft>
                <a:spcPts val="40"/>
              </a:spcAft>
              <a:defRPr sz="760" b="1">
                <a:solidFill>
                  <a:srgbClr val="10B981"/>
                </a:solidFill>
                <a:latin typeface="Consolas"/>
              </a:defRPr>
            </a:pPr>
            <a:r>
              <a:t>    $display("  [PASS] SoC Boot: CPU fetched code from Flash XIP");</a:t>
            </a:r>
          </a:p>
          <a:p>
            <a:pPr>
              <a:spcAft>
                <a:spcPts val="40"/>
              </a:spcAft>
              <a:defRPr sz="760">
                <a:solidFill>
                  <a:srgbClr val="E2E8F0"/>
                </a:solidFill>
                <a:latin typeface="Consolas"/>
              </a:defRPr>
            </a:pPr>
          </a:p>
          <a:p>
            <a:pPr>
              <a:spcAft>
                <a:spcPts val="40"/>
              </a:spcAft>
              <a:defRPr sz="760" i="1">
                <a:solidFill>
                  <a:srgbClr val="64748B"/>
                </a:solidFill>
                <a:latin typeface="Consolas"/>
              </a:defRPr>
            </a:pPr>
            <a:r>
              <a:t>    // 2. Bơm gói tin quẹt thẻ RDM6300 vào cổng nối tiếp</a:t>
            </a:r>
          </a:p>
          <a:p>
            <a:pPr>
              <a:spcAft>
                <a:spcPts val="40"/>
              </a:spcAft>
              <a:defRPr sz="760">
                <a:solidFill>
                  <a:srgbClr val="A78BFA"/>
                </a:solidFill>
                <a:latin typeface="Consolas"/>
              </a:defRPr>
            </a:pPr>
            <a:r>
              <a:t>    $display("[INFO] Stimulating RFID Card Swipe: 00007293F0...");</a:t>
            </a:r>
          </a:p>
          <a:p>
            <a:pPr>
              <a:spcAft>
                <a:spcPts val="40"/>
              </a:spcAft>
              <a:defRPr sz="760">
                <a:solidFill>
                  <a:srgbClr val="38BDF8"/>
                </a:solidFill>
                <a:latin typeface="Consolas"/>
              </a:defRPr>
            </a:pPr>
            <a:r>
              <a:t>    send_rdm6300_packet("00007293F0"); // Thẻ trong Whitelist</a:t>
            </a:r>
          </a:p>
          <a:p>
            <a:pPr>
              <a:spcAft>
                <a:spcPts val="40"/>
              </a:spcAft>
              <a:defRPr sz="760">
                <a:solidFill>
                  <a:srgbClr val="E2E8F0"/>
                </a:solidFill>
                <a:latin typeface="Consolas"/>
              </a:defRPr>
            </a:pPr>
          </a:p>
          <a:p>
            <a:pPr>
              <a:spcAft>
                <a:spcPts val="40"/>
              </a:spcAft>
              <a:defRPr sz="760" i="1">
                <a:solidFill>
                  <a:srgbClr val="64748B"/>
                </a:solidFill>
                <a:latin typeface="Consolas"/>
              </a:defRPr>
            </a:pPr>
            <a:r>
              <a:t>    // 3. Kiểm tra CPU xử lý ngắt, tra cứu Flash và cấp quyền</a:t>
            </a:r>
          </a:p>
          <a:p>
            <a:pPr>
              <a:spcAft>
                <a:spcPts val="40"/>
              </a:spcAft>
              <a:defRPr sz="760">
                <a:solidFill>
                  <a:srgbClr val="A78BFA"/>
                </a:solidFill>
                <a:latin typeface="Consolas"/>
              </a:defRPr>
            </a:pPr>
            <a:r>
              <a:t>    wait_uart_string("ACCESS:GRANTED:SLOT:0:00007293F0");</a:t>
            </a:r>
          </a:p>
          <a:p>
            <a:pPr>
              <a:spcAft>
                <a:spcPts val="40"/>
              </a:spcAft>
              <a:defRPr sz="760" b="1">
                <a:solidFill>
                  <a:srgbClr val="10B981"/>
                </a:solidFill>
                <a:latin typeface="Consolas"/>
              </a:defRPr>
            </a:pPr>
            <a:r>
              <a:t>    assert(cpu_trap === 1'b0); // Giám sát an toàn CPU</a:t>
            </a:r>
          </a:p>
          <a:p>
            <a:pPr>
              <a:spcAft>
                <a:spcPts val="40"/>
              </a:spcAft>
              <a:defRPr sz="760" b="1">
                <a:solidFill>
                  <a:srgbClr val="10B981"/>
                </a:solidFill>
                <a:latin typeface="Consolas"/>
              </a:defRPr>
            </a:pPr>
            <a:r>
              <a:t>    $display("  [PASS] ACCESS:GRANTED issued, cpu_trap == 0");</a:t>
            </a:r>
          </a:p>
          <a:p>
            <a:pPr>
              <a:spcAft>
                <a:spcPts val="40"/>
              </a:spcAft>
              <a:defRPr sz="760">
                <a:solidFill>
                  <a:srgbClr val="E2E8F0"/>
                </a:solidFill>
                <a:latin typeface="Consolas"/>
              </a:defRPr>
            </a:pPr>
          </a:p>
          <a:p>
            <a:pPr>
              <a:spcAft>
                <a:spcPts val="40"/>
              </a:spcAft>
              <a:defRPr sz="760" i="1">
                <a:solidFill>
                  <a:srgbClr val="64748B"/>
                </a:solidFill>
                <a:latin typeface="Consolas"/>
              </a:defRPr>
            </a:pPr>
            <a:r>
              <a:t>    // 4. Kiểm tra tự động ghi bản ghi nhật ký vào Flash</a:t>
            </a:r>
          </a:p>
          <a:p>
            <a:pPr>
              <a:spcAft>
                <a:spcPts val="40"/>
              </a:spcAft>
              <a:defRPr sz="760">
                <a:solidFill>
                  <a:srgbClr val="A78BFA"/>
                </a:solidFill>
                <a:latin typeface="Consolas"/>
              </a:defRPr>
            </a:pPr>
            <a:r>
              <a:t>    wait_flash_write_done();</a:t>
            </a:r>
          </a:p>
          <a:p>
            <a:pPr>
              <a:spcAft>
                <a:spcPts val="40"/>
              </a:spcAft>
              <a:defRPr sz="760" b="1">
                <a:solidFill>
                  <a:srgbClr val="10B981"/>
                </a:solidFill>
                <a:latin typeface="Consolas"/>
              </a:defRPr>
            </a:pPr>
            <a:r>
              <a:t>    $display("  [PASS] Audit Log written into Flash Sector 49");</a:t>
            </a:r>
          </a:p>
          <a:p>
            <a:pPr>
              <a:spcAft>
                <a:spcPts val="40"/>
              </a:spcAft>
              <a:defRPr sz="760">
                <a:solidFill>
                  <a:srgbClr val="38BDF8"/>
                </a:solidFill>
                <a:latin typeface="Consolas"/>
              </a:defRPr>
            </a:pPr>
            <a:r>
              <a:t>end</a:t>
            </a:r>
          </a:p>
          <a:p>
            <a:pPr>
              <a:spcBef>
                <a:spcPts val="500"/>
              </a:spcBef>
              <a:defRPr sz="860" b="1">
                <a:solidFill>
                  <a:srgbClr val="10B981"/>
                </a:solidFill>
                <a:latin typeface="Consolas"/>
              </a:defRPr>
            </a:pPr>
            <a:r>
              <a:t>&gt;&gt;&gt; XÁC THỰC BƯỚC 6: 8/8 FULL-SYSTEM SOC PASS (100%) &lt;&lt;&lt;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CHƯƠNG 4 | DEMO KIỂM CHỨNG THỰC NGHIỆM</a:t>
            </a:r>
          </a:p>
          <a:p>
            <a:pPr>
              <a:defRPr sz="1900" b="1">
                <a:solidFill>
                  <a:srgbClr val="0F172A"/>
                </a:solidFill>
                <a:latin typeface="Segoe UI"/>
              </a:defRPr>
            </a:pPr>
            <a:r>
              <a:t>Tạo Mẫu Phần Cứng &amp; Kiểm Chứng Thực Tế Trên Bo Mạch Basys 3</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7315200" cy="274320"/>
          </a:xfrm>
          <a:prstGeom prst="rect">
            <a:avLst/>
          </a:prstGeom>
          <a:noFill/>
        </p:spPr>
        <p:txBody>
          <a:bodyPr wrap="none">
            <a:spAutoFit/>
          </a:bodyPr>
          <a:lstStyle/>
          <a:p>
            <a:pPr>
              <a:defRPr sz="950">
                <a:solidFill>
                  <a:srgbClr val="475569"/>
                </a:solidFill>
                <a:latin typeface="Segoe UI"/>
              </a:defRPr>
            </a:pPr>
            <a:r>
              <a:t>PicoRV32 RFID Access Controller SoC | SkyWater 130nm ASIC &amp; Basys 3 Demo</a:t>
            </a:r>
          </a:p>
        </p:txBody>
      </p:sp>
      <p:sp>
        <p:nvSpPr>
          <p:cNvPr id="7" name="TextBox 6"/>
          <p:cNvSpPr txBox="1"/>
          <p:nvPr/>
        </p:nvSpPr>
        <p:spPr>
          <a:xfrm>
            <a:off x="10058400" y="6492240"/>
            <a:ext cx="1401775" cy="274320"/>
          </a:xfrm>
          <a:prstGeom prst="rect">
            <a:avLst/>
          </a:prstGeom>
          <a:noFill/>
        </p:spPr>
        <p:txBody>
          <a:bodyPr wrap="none">
            <a:spAutoFit/>
          </a:bodyPr>
          <a:lstStyle/>
          <a:p>
            <a:pPr algn="r">
              <a:defRPr sz="950" b="1">
                <a:solidFill>
                  <a:srgbClr val="2563EB"/>
                </a:solidFill>
                <a:latin typeface="Segoe UI"/>
              </a:defRPr>
            </a:pPr>
            <a:r>
              <a:t>21 / 25</a:t>
            </a:r>
          </a:p>
        </p:txBody>
      </p:sp>
      <p:sp>
        <p:nvSpPr>
          <p:cNvPr id="8" name="Rounded Rectangle 7"/>
          <p:cNvSpPr/>
          <p:nvPr/>
        </p:nvSpPr>
        <p:spPr>
          <a:xfrm>
            <a:off x="731520" y="1234440"/>
            <a:ext cx="3364992" cy="31546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417320"/>
            <a:ext cx="2999232" cy="2788920"/>
          </a:xfrm>
          <a:prstGeom prst="rect">
            <a:avLst/>
          </a:prstGeom>
          <a:noFill/>
        </p:spPr>
        <p:txBody>
          <a:bodyPr wrap="square">
            <a:spAutoFit/>
          </a:bodyPr>
          <a:lstStyle/>
          <a:p>
            <a:pPr>
              <a:spcAft>
                <a:spcPts val="800"/>
              </a:spcAft>
              <a:defRPr sz="1350" b="1">
                <a:solidFill>
                  <a:srgbClr val="2563EB"/>
                </a:solidFill>
                <a:latin typeface="Segoe UI"/>
              </a:defRPr>
            </a:pPr>
            <a:r>
              <a:t>🎯 Vai Trò Tạo Mẫu (Prototyping)</a:t>
            </a:r>
          </a:p>
          <a:p>
            <a:pPr>
              <a:spcAft>
                <a:spcPts val="300"/>
              </a:spcAft>
              <a:defRPr sz="1000" b="1">
                <a:solidFill>
                  <a:srgbClr val="0F172A"/>
                </a:solidFill>
                <a:latin typeface="Segoe UI"/>
              </a:defRPr>
            </a:pPr>
            <a:r>
              <a:t>• Nền tảng kiểm chứng thật:</a:t>
            </a:r>
            <a:br/>
            <a:r>
              <a:rPr b="0" sz="950">
                <a:solidFill>
                  <a:srgbClr val="475569"/>
                </a:solidFill>
              </a:rPr>
              <a:t>  Basys 3 (XC7A35T) đóng vai trò demo và tạo mẫu phần cứng trước khi tiến hành ASIC.</a:t>
            </a:r>
          </a:p>
          <a:p>
            <a:pPr>
              <a:spcAft>
                <a:spcPts val="300"/>
              </a:spcAft>
              <a:defRPr sz="1000" b="1">
                <a:solidFill>
                  <a:srgbClr val="0F172A"/>
                </a:solidFill>
                <a:latin typeface="Segoe UI"/>
              </a:defRPr>
            </a:pPr>
            <a:r>
              <a:t>• Phát hiện lỗi sớm:</a:t>
            </a:r>
            <a:br/>
            <a:r>
              <a:rPr b="0" sz="950">
                <a:solidFill>
                  <a:srgbClr val="475569"/>
                </a:solidFill>
              </a:rPr>
              <a:t>  Xác thực CPU PicoRV32 với thẻ RFID thật và SPI Flash thật trong điều kiện nhiễu thực tế.</a:t>
            </a:r>
          </a:p>
          <a:p>
            <a:pPr>
              <a:spcAft>
                <a:spcPts val="300"/>
              </a:spcAft>
              <a:defRPr sz="1000" b="1">
                <a:solidFill>
                  <a:srgbClr val="0F172A"/>
                </a:solidFill>
                <a:latin typeface="Segoe UI"/>
              </a:defRPr>
            </a:pPr>
            <a:r>
              <a:t>• Giảm thiểu rủi ro băng đai:</a:t>
            </a:r>
            <a:br/>
            <a:r>
              <a:rPr b="0" sz="950">
                <a:solidFill>
                  <a:srgbClr val="475569"/>
                </a:solidFill>
              </a:rPr>
              <a:t>  Đảm bảo tính đúng đắn 100% trước khi gửi bản vẽ đi tape-out ở xưởng đúc.</a:t>
            </a:r>
          </a:p>
        </p:txBody>
      </p:sp>
      <p:sp>
        <p:nvSpPr>
          <p:cNvPr id="10" name="Rounded Rectangle 9"/>
          <p:cNvSpPr/>
          <p:nvPr/>
        </p:nvSpPr>
        <p:spPr>
          <a:xfrm>
            <a:off x="4407408" y="1234440"/>
            <a:ext cx="3364992" cy="315468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0288" y="1417320"/>
            <a:ext cx="2999232" cy="2788920"/>
          </a:xfrm>
          <a:prstGeom prst="rect">
            <a:avLst/>
          </a:prstGeom>
          <a:noFill/>
        </p:spPr>
        <p:txBody>
          <a:bodyPr wrap="square">
            <a:spAutoFit/>
          </a:bodyPr>
          <a:lstStyle/>
          <a:p>
            <a:pPr>
              <a:spcAft>
                <a:spcPts val="800"/>
              </a:spcAft>
              <a:defRPr sz="1350" b="1">
                <a:solidFill>
                  <a:srgbClr val="D97706"/>
                </a:solidFill>
                <a:latin typeface="Segoe UI"/>
              </a:defRPr>
            </a:pPr>
            <a:r>
              <a:t>⚙️ Giải Pháp Xilinx STARTUPE2</a:t>
            </a:r>
          </a:p>
          <a:p>
            <a:pPr>
              <a:spcAft>
                <a:spcPts val="300"/>
              </a:spcAft>
              <a:defRPr sz="1000" b="1">
                <a:solidFill>
                  <a:srgbClr val="0F172A"/>
                </a:solidFill>
                <a:latin typeface="Segoe UI"/>
              </a:defRPr>
            </a:pPr>
            <a:r>
              <a:t>• Vấn đề chân CCLK dùng chung:</a:t>
            </a:r>
            <a:br/>
            <a:r>
              <a:rPr b="0" sz="950">
                <a:solidFill>
                  <a:srgbClr val="475569"/>
                </a:solidFill>
              </a:rPr>
              <a:t>  Chân SCK SPI Flash nối cố định với mạch nạp bitstream của FPGA 7-Series.</a:t>
            </a:r>
          </a:p>
          <a:p>
            <a:pPr>
              <a:spcAft>
                <a:spcPts val="300"/>
              </a:spcAft>
              <a:defRPr sz="1000" b="1">
                <a:solidFill>
                  <a:srgbClr val="0F172A"/>
                </a:solidFill>
                <a:latin typeface="Segoe UI"/>
              </a:defRPr>
            </a:pPr>
            <a:r>
              <a:t>• Nguyên thủy STARTUPE2:</a:t>
            </a:r>
            <a:br/>
            <a:r>
              <a:rPr b="0" sz="950">
                <a:solidFill>
                  <a:srgbClr val="475569"/>
                </a:solidFill>
              </a:rPr>
              <a:t>  Top-level đưa xung SCK từ spimemio vào cổng USRCCLKO của STARTUPE2.</a:t>
            </a:r>
          </a:p>
          <a:p>
            <a:pPr>
              <a:spcAft>
                <a:spcPts val="300"/>
              </a:spcAft>
              <a:defRPr sz="1000" b="1">
                <a:solidFill>
                  <a:srgbClr val="0F172A"/>
                </a:solidFill>
                <a:latin typeface="Segoe UI"/>
              </a:defRPr>
            </a:pPr>
            <a:r>
              <a:t>• Làm chủ xung nhịp Flash:</a:t>
            </a:r>
            <a:br/>
            <a:r>
              <a:rPr b="0" sz="950">
                <a:solidFill>
                  <a:srgbClr val="475569"/>
                </a:solidFill>
              </a:rPr>
              <a:t>  Cho phép CPU tự do phát xung SCK giao tiếp Flash sau khi FPGA khởi động xong.</a:t>
            </a:r>
          </a:p>
        </p:txBody>
      </p:sp>
      <p:sp>
        <p:nvSpPr>
          <p:cNvPr id="12" name="Rounded Rectangle 11"/>
          <p:cNvSpPr/>
          <p:nvPr/>
        </p:nvSpPr>
        <p:spPr>
          <a:xfrm>
            <a:off x="8083296" y="1234440"/>
            <a:ext cx="3364992" cy="315468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66176" y="1417320"/>
            <a:ext cx="2999232" cy="2788920"/>
          </a:xfrm>
          <a:prstGeom prst="rect">
            <a:avLst/>
          </a:prstGeom>
          <a:noFill/>
        </p:spPr>
        <p:txBody>
          <a:bodyPr wrap="square">
            <a:spAutoFit/>
          </a:bodyPr>
          <a:lstStyle/>
          <a:p>
            <a:pPr>
              <a:spcAft>
                <a:spcPts val="800"/>
              </a:spcAft>
              <a:defRPr sz="1350" b="1">
                <a:solidFill>
                  <a:srgbClr val="10B981"/>
                </a:solidFill>
                <a:latin typeface="Segoe UI"/>
              </a:defRPr>
            </a:pPr>
            <a:r>
              <a:t>✅ Kết Quả Thực Nghiệm</a:t>
            </a:r>
          </a:p>
          <a:p>
            <a:pPr>
              <a:spcAft>
                <a:spcPts val="300"/>
              </a:spcAft>
              <a:defRPr sz="1000" b="1">
                <a:solidFill>
                  <a:srgbClr val="0F172A"/>
                </a:solidFill>
                <a:latin typeface="Segoe UI"/>
              </a:defRPr>
            </a:pPr>
            <a:r>
              <a:t>• Ping Hardware thành công:</a:t>
            </a:r>
            <a:br/>
            <a:r>
              <a:rPr b="0" sz="950">
                <a:solidFill>
                  <a:srgbClr val="475569"/>
                </a:solidFill>
              </a:rPr>
              <a:t>  PicoRV32 phản hồi tức thì lệnh 'P' từ máy tính với chuỗi 'PONG:CPU_OK'.</a:t>
            </a:r>
          </a:p>
          <a:p>
            <a:pPr>
              <a:spcAft>
                <a:spcPts val="300"/>
              </a:spcAft>
              <a:defRPr sz="1000" b="1">
                <a:solidFill>
                  <a:srgbClr val="0F172A"/>
                </a:solidFill>
                <a:latin typeface="Segoe UI"/>
              </a:defRPr>
            </a:pPr>
            <a:r>
              <a:t>• Xác thực thẻ thật chính xác:</a:t>
            </a:r>
            <a:br/>
            <a:r>
              <a:rPr b="0" sz="950">
                <a:solidFill>
                  <a:srgbClr val="475569"/>
                </a:solidFill>
              </a:rPr>
              <a:t>  Quẹt thẻ EM4100 thật trên module RDM6300, LED[2] sáng, đối chiếu Whitelist &lt; 10 µs.</a:t>
            </a:r>
          </a:p>
          <a:p>
            <a:pPr>
              <a:spcAft>
                <a:spcPts val="300"/>
              </a:spcAft>
              <a:defRPr sz="1000" b="1">
                <a:solidFill>
                  <a:srgbClr val="0F172A"/>
                </a:solidFill>
                <a:latin typeface="Segoe UI"/>
              </a:defRPr>
            </a:pPr>
            <a:r>
              <a:t>• Lưu trữ nhật ký ổn định:</a:t>
            </a:r>
            <a:br/>
            <a:r>
              <a:rPr b="0" sz="950">
                <a:solidFill>
                  <a:srgbClr val="475569"/>
                </a:solidFill>
              </a:rPr>
              <a:t>  Ghi bản ghi SUCC/FAIL vào Flash Sector 49 và xuất trọn vẹn ra file CSV.</a:t>
            </a:r>
          </a:p>
        </p:txBody>
      </p:sp>
      <p:sp>
        <p:nvSpPr>
          <p:cNvPr id="14" name="Rounded Rectangle 13"/>
          <p:cNvSpPr/>
          <p:nvPr/>
        </p:nvSpPr>
        <p:spPr>
          <a:xfrm>
            <a:off x="731520" y="4553712"/>
            <a:ext cx="10728655" cy="1627632"/>
          </a:xfrm>
          <a:prstGeom prst="roundRect">
            <a:avLst/>
          </a:prstGeom>
          <a:solidFill>
            <a:srgbClr val="0F172A"/>
          </a:solidFill>
          <a:ln w="19050">
            <a:solidFill>
              <a:srgbClr val="1C25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608576"/>
            <a:ext cx="10362895" cy="1508760"/>
          </a:xfrm>
          <a:prstGeom prst="rect">
            <a:avLst/>
          </a:prstGeom>
          <a:noFill/>
        </p:spPr>
        <p:txBody>
          <a:bodyPr wrap="square">
            <a:spAutoFit/>
          </a:bodyPr>
          <a:lstStyle/>
          <a:p>
            <a:pPr>
              <a:spcAft>
                <a:spcPts val="200"/>
              </a:spcAft>
              <a:defRPr sz="1000" b="1">
                <a:solidFill>
                  <a:srgbClr val="0EA5E9"/>
                </a:solidFill>
                <a:latin typeface="Consolas"/>
              </a:defRPr>
            </a:pPr>
            <a:r>
              <a:t>&gt;_ TRÍCH XUẤT NHẬT KÝ UART GIAO TIẾP THỰC TẾ TRÊN BO MẠCH BASYS 3 (9600-8-N-1):</a:t>
            </a:r>
          </a:p>
          <a:p>
            <a:pPr>
              <a:spcAft>
                <a:spcPts val="100"/>
              </a:spcAft>
              <a:defRPr sz="919">
                <a:solidFill>
                  <a:srgbClr val="10B981"/>
                </a:solidFill>
                <a:latin typeface="Consolas"/>
              </a:defRPr>
            </a:pPr>
            <a:r>
              <a:t>[HOST -&gt; SoC]    Gửi lệnh 'P' (Ping Hardware) -&gt; Phản hồi: 'PONG:CPU_OK' (Mạch số &amp; firmware sống 100%)</a:t>
            </a:r>
          </a:p>
          <a:p>
            <a:pPr>
              <a:spcAft>
                <a:spcPts val="100"/>
              </a:spcAft>
              <a:defRPr sz="919">
                <a:solidFill>
                  <a:srgbClr val="E2E8F0"/>
                </a:solidFill>
                <a:latin typeface="Consolas"/>
              </a:defRPr>
            </a:pPr>
            <a:r>
              <a:t>[RDM6300 -&gt; SoC] Quẹt thẻ thật 0007508976 -&gt; STX/ETX khớp -&gt; Checksum XOR: 0xF0 == 0xF0 -&gt; Bật strobe</a:t>
            </a:r>
          </a:p>
          <a:p>
            <a:pPr>
              <a:spcAft>
                <a:spcPts val="100"/>
              </a:spcAft>
              <a:defRPr sz="919">
                <a:solidFill>
                  <a:srgbClr val="10B981"/>
                </a:solidFill>
                <a:latin typeface="Consolas"/>
              </a:defRPr>
            </a:pPr>
            <a:r>
              <a:t>[PicoRV32 CPU]   Tra cứu Sector 48 (Flash) -&gt; TÌM THẤY THẺ TRONG WHITELIST -&gt; LED[2]=1 (CẤP QUYỀN RA VÀO)</a:t>
            </a:r>
          </a:p>
          <a:p>
            <a:pPr>
              <a:spcAft>
                <a:spcPts val="100"/>
              </a:spcAft>
              <a:defRPr sz="919">
                <a:solidFill>
                  <a:srgbClr val="10B981"/>
                </a:solidFill>
                <a:latin typeface="Consolas"/>
              </a:defRPr>
            </a:pPr>
            <a:r>
              <a:t>[SPI Flash NVM]  Ghi nhật ký vào Sector 49 -&gt; Xong sau 2.1ms -&gt; Host trích xuất báo cáo CSV hoàn hảo!</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CHƯƠNG 5 | HIỆN THỰC HÓA VI MẠCH ASIC</a:t>
            </a:r>
          </a:p>
          <a:p>
            <a:pPr>
              <a:defRPr sz="1900" b="1">
                <a:solidFill>
                  <a:srgbClr val="0F172A"/>
                </a:solidFill>
                <a:latin typeface="Segoe UI"/>
              </a:defRPr>
            </a:pPr>
            <a:r>
              <a:t>Thiết Kế Vật Lý Vi Mạch Trên OpenLane 2 &amp; OpenROAD (Sky130A)</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7315200" cy="274320"/>
          </a:xfrm>
          <a:prstGeom prst="rect">
            <a:avLst/>
          </a:prstGeom>
          <a:noFill/>
        </p:spPr>
        <p:txBody>
          <a:bodyPr wrap="none">
            <a:spAutoFit/>
          </a:bodyPr>
          <a:lstStyle/>
          <a:p>
            <a:pPr>
              <a:defRPr sz="950">
                <a:solidFill>
                  <a:srgbClr val="475569"/>
                </a:solidFill>
                <a:latin typeface="Segoe UI"/>
              </a:defRPr>
            </a:pPr>
            <a:r>
              <a:t>PicoRV32 RFID Access Controller SoC | SkyWater 130nm ASIC &amp; Basys 3 Demo</a:t>
            </a:r>
          </a:p>
        </p:txBody>
      </p:sp>
      <p:sp>
        <p:nvSpPr>
          <p:cNvPr id="7" name="TextBox 6"/>
          <p:cNvSpPr txBox="1"/>
          <p:nvPr/>
        </p:nvSpPr>
        <p:spPr>
          <a:xfrm>
            <a:off x="10058400" y="6492240"/>
            <a:ext cx="1401775" cy="274320"/>
          </a:xfrm>
          <a:prstGeom prst="rect">
            <a:avLst/>
          </a:prstGeom>
          <a:noFill/>
        </p:spPr>
        <p:txBody>
          <a:bodyPr wrap="none">
            <a:spAutoFit/>
          </a:bodyPr>
          <a:lstStyle/>
          <a:p>
            <a:pPr algn="r">
              <a:defRPr sz="950" b="1">
                <a:solidFill>
                  <a:srgbClr val="2563EB"/>
                </a:solidFill>
                <a:latin typeface="Segoe UI"/>
              </a:defRPr>
            </a:pPr>
            <a:r>
              <a:t>22 / 25</a:t>
            </a:r>
          </a:p>
        </p:txBody>
      </p:sp>
      <p:sp>
        <p:nvSpPr>
          <p:cNvPr id="8" name="Rounded Rectangle 7"/>
          <p:cNvSpPr/>
          <p:nvPr/>
        </p:nvSpPr>
        <p:spPr>
          <a:xfrm>
            <a:off x="731520" y="1234440"/>
            <a:ext cx="6675120" cy="4892040"/>
          </a:xfrm>
          <a:prstGeom prst="roundRect">
            <a:avLst/>
          </a:prstGeom>
          <a:solidFill>
            <a:srgbClr val="0F172A"/>
          </a:solidFill>
          <a:ln w="19050">
            <a:solidFill>
              <a:srgbClr val="1C25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OpenROAD.png"/>
          <p:cNvPicPr>
            <a:picLocks noChangeAspect="1"/>
          </p:cNvPicPr>
          <p:nvPr/>
        </p:nvPicPr>
        <p:blipFill>
          <a:blip r:embed="rId2"/>
          <a:stretch>
            <a:fillRect/>
          </a:stretch>
        </p:blipFill>
        <p:spPr>
          <a:xfrm>
            <a:off x="822960" y="1325880"/>
            <a:ext cx="6492240" cy="4699607"/>
          </a:xfrm>
          <a:prstGeom prst="rect">
            <a:avLst/>
          </a:prstGeom>
        </p:spPr>
      </p:pic>
      <p:sp>
        <p:nvSpPr>
          <p:cNvPr id="10" name="Rounded Rectangle 9"/>
          <p:cNvSpPr/>
          <p:nvPr/>
        </p:nvSpPr>
        <p:spPr>
          <a:xfrm>
            <a:off x="7635240" y="1234440"/>
            <a:ext cx="3824935" cy="489204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18120" y="1371600"/>
            <a:ext cx="3459175" cy="4572000"/>
          </a:xfrm>
          <a:prstGeom prst="rect">
            <a:avLst/>
          </a:prstGeom>
          <a:noFill/>
        </p:spPr>
        <p:txBody>
          <a:bodyPr wrap="square">
            <a:spAutoFit/>
          </a:bodyPr>
          <a:lstStyle/>
          <a:p>
            <a:pPr>
              <a:spcAft>
                <a:spcPts val="800"/>
              </a:spcAft>
              <a:defRPr sz="1400" b="1">
                <a:solidFill>
                  <a:srgbClr val="2563EB"/>
                </a:solidFill>
                <a:latin typeface="Segoe UI"/>
              </a:defRPr>
            </a:pPr>
            <a:r>
              <a:t>Thông Số Thiết Kế Vật Lý</a:t>
            </a:r>
          </a:p>
          <a:p>
            <a:pPr>
              <a:spcAft>
                <a:spcPts val="300"/>
              </a:spcAft>
              <a:defRPr sz="1050" b="1">
                <a:solidFill>
                  <a:srgbClr val="0F172A"/>
                </a:solidFill>
                <a:latin typeface="Segoe UI"/>
              </a:defRPr>
            </a:pPr>
            <a:r>
              <a:t>▸ Công nghệ chế tạo:</a:t>
            </a:r>
            <a:br/>
            <a:r>
              <a:rPr b="0" sz="1000">
                <a:solidFill>
                  <a:srgbClr val="475569"/>
                </a:solidFill>
              </a:rPr>
              <a:t>  SkyWater 130nm Standard Cells (sky130_fd_sc_hd).</a:t>
            </a:r>
          </a:p>
          <a:p>
            <a:pPr>
              <a:spcAft>
                <a:spcPts val="300"/>
              </a:spcAft>
              <a:defRPr sz="1050" b="1">
                <a:solidFill>
                  <a:srgbClr val="0F172A"/>
                </a:solidFill>
                <a:latin typeface="Segoe UI"/>
              </a:defRPr>
            </a:pPr>
            <a:r>
              <a:t>▸ Kích thước Die:</a:t>
            </a:r>
            <a:br/>
            <a:r>
              <a:rPr b="0" sz="1000">
                <a:solidFill>
                  <a:srgbClr val="475569"/>
                </a:solidFill>
              </a:rPr>
              <a:t>  1300 µm x 1300 µm (Diện tích: 1.69 mm²).</a:t>
            </a:r>
          </a:p>
          <a:p>
            <a:pPr>
              <a:spcAft>
                <a:spcPts val="300"/>
              </a:spcAft>
              <a:defRPr sz="1050" b="1">
                <a:solidFill>
                  <a:srgbClr val="0F172A"/>
                </a:solidFill>
                <a:latin typeface="Segoe UI"/>
              </a:defRPr>
            </a:pPr>
            <a:r>
              <a:t>▸ Kích thước Core:</a:t>
            </a:r>
            <a:br/>
            <a:r>
              <a:rPr b="0" sz="1000">
                <a:solidFill>
                  <a:srgbClr val="475569"/>
                </a:solidFill>
              </a:rPr>
              <a:t>  1270 µm x 1270 µm (Mật độ Core Utilization tối ưu).</a:t>
            </a:r>
          </a:p>
          <a:p>
            <a:pPr>
              <a:spcAft>
                <a:spcPts val="300"/>
              </a:spcAft>
              <a:defRPr sz="1050" b="1">
                <a:solidFill>
                  <a:srgbClr val="0F172A"/>
                </a:solidFill>
                <a:latin typeface="Segoe UI"/>
              </a:defRPr>
            </a:pPr>
            <a:r>
              <a:t>▸ Số lượng linh kiện:</a:t>
            </a:r>
            <a:br/>
            <a:r>
              <a:rPr b="0" sz="1000">
                <a:solidFill>
                  <a:srgbClr val="475569"/>
                </a:solidFill>
              </a:rPr>
              <a:t>  58,496 transistors / devices (145,969 standard cells).</a:t>
            </a:r>
          </a:p>
          <a:p>
            <a:pPr>
              <a:spcAft>
                <a:spcPts val="300"/>
              </a:spcAft>
              <a:defRPr sz="1050" b="1">
                <a:solidFill>
                  <a:srgbClr val="0F172A"/>
                </a:solidFill>
                <a:latin typeface="Segoe UI"/>
              </a:defRPr>
            </a:pPr>
            <a:r>
              <a:t>▸ Số lượng dây kim loại:</a:t>
            </a:r>
            <a:br/>
            <a:r>
              <a:rPr b="0" sz="1000">
                <a:solidFill>
                  <a:srgbClr val="475569"/>
                </a:solidFill>
              </a:rPr>
              <a:t>  49,979 nets định tuyến đa lớp (met1 đến met5).</a:t>
            </a:r>
          </a:p>
          <a:p>
            <a:pPr>
              <a:spcAft>
                <a:spcPts val="300"/>
              </a:spcAft>
              <a:defRPr sz="1050" b="1">
                <a:solidFill>
                  <a:srgbClr val="0F172A"/>
                </a:solidFill>
                <a:latin typeface="Segoe UI"/>
              </a:defRPr>
            </a:pPr>
            <a:r>
              <a:t>▸ Mạng lưới nguồn PDN:</a:t>
            </a:r>
            <a:br/>
            <a:r>
              <a:rPr b="0" sz="1000">
                <a:solidFill>
                  <a:srgbClr val="475569"/>
                </a:solidFill>
              </a:rPr>
              <a:t>  Thanh kim loại Met4 và Met5 đan lưới, độ sụt áp tồi nhất chỉ 0.043% (0.771 mV).</a:t>
            </a:r>
          </a:p>
          <a:p>
            <a:pPr>
              <a:spcAft>
                <a:spcPts val="300"/>
              </a:spcAft>
              <a:defRPr sz="1050" b="1">
                <a:solidFill>
                  <a:srgbClr val="0F172A"/>
                </a:solidFill>
                <a:latin typeface="Segoe UI"/>
              </a:defRPr>
            </a:pPr>
            <a:r>
              <a:t>▸ Tần số mục tiêu:</a:t>
            </a:r>
            <a:br/>
            <a:r>
              <a:rPr b="0" sz="1000">
                <a:solidFill>
                  <a:srgbClr val="475569"/>
                </a:solidFill>
              </a:rPr>
              <a:t>  50.0 MHz (Chu kỳ xung nhịp CLK = 20.0 ns).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CHƯƠNG 5 | BÁO CÁO KIỂM ĐỊNH SIGN-OFF</a:t>
            </a:r>
          </a:p>
          <a:p>
            <a:pPr>
              <a:defRPr sz="1900" b="1">
                <a:solidFill>
                  <a:srgbClr val="0F172A"/>
                </a:solidFill>
                <a:latin typeface="Segoe UI"/>
              </a:defRPr>
            </a:pPr>
            <a:r>
              <a:t>Kết Quả Ký Duyệt Bán Dẫn Tuyệt Đối (Run RUN_2026-10-02_02-43-19)</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7315200" cy="274320"/>
          </a:xfrm>
          <a:prstGeom prst="rect">
            <a:avLst/>
          </a:prstGeom>
          <a:noFill/>
        </p:spPr>
        <p:txBody>
          <a:bodyPr wrap="none">
            <a:spAutoFit/>
          </a:bodyPr>
          <a:lstStyle/>
          <a:p>
            <a:pPr>
              <a:defRPr sz="950">
                <a:solidFill>
                  <a:srgbClr val="475569"/>
                </a:solidFill>
                <a:latin typeface="Segoe UI"/>
              </a:defRPr>
            </a:pPr>
            <a:r>
              <a:t>PicoRV32 RFID Access Controller SoC | SkyWater 130nm ASIC &amp; Basys 3 Demo</a:t>
            </a:r>
          </a:p>
        </p:txBody>
      </p:sp>
      <p:sp>
        <p:nvSpPr>
          <p:cNvPr id="7" name="TextBox 6"/>
          <p:cNvSpPr txBox="1"/>
          <p:nvPr/>
        </p:nvSpPr>
        <p:spPr>
          <a:xfrm>
            <a:off x="10058400" y="6492240"/>
            <a:ext cx="1401775" cy="274320"/>
          </a:xfrm>
          <a:prstGeom prst="rect">
            <a:avLst/>
          </a:prstGeom>
          <a:noFill/>
        </p:spPr>
        <p:txBody>
          <a:bodyPr wrap="none">
            <a:spAutoFit/>
          </a:bodyPr>
          <a:lstStyle/>
          <a:p>
            <a:pPr algn="r">
              <a:defRPr sz="950" b="1">
                <a:solidFill>
                  <a:srgbClr val="2563EB"/>
                </a:solidFill>
                <a:latin typeface="Segoe UI"/>
              </a:defRPr>
            </a:pPr>
            <a:r>
              <a:t>23 / 25</a:t>
            </a:r>
          </a:p>
        </p:txBody>
      </p:sp>
      <p:sp>
        <p:nvSpPr>
          <p:cNvPr id="8" name="Rounded Rectangle 7"/>
          <p:cNvSpPr/>
          <p:nvPr/>
        </p:nvSpPr>
        <p:spPr>
          <a:xfrm>
            <a:off x="731520" y="1234440"/>
            <a:ext cx="6035040" cy="489204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371600"/>
            <a:ext cx="5669280" cy="4572000"/>
          </a:xfrm>
          <a:prstGeom prst="rect">
            <a:avLst/>
          </a:prstGeom>
          <a:noFill/>
        </p:spPr>
        <p:txBody>
          <a:bodyPr wrap="square">
            <a:spAutoFit/>
          </a:bodyPr>
          <a:lstStyle/>
          <a:p>
            <a:pPr>
              <a:spcAft>
                <a:spcPts val="1000"/>
              </a:spcAft>
              <a:defRPr sz="1500" b="1">
                <a:solidFill>
                  <a:srgbClr val="10B981"/>
                </a:solidFill>
                <a:latin typeface="Segoe UI"/>
              </a:defRPr>
            </a:pPr>
            <a:r>
              <a:t>Bảng Điểm Ký Duyệt Tape-out (100% CLEAN)</a:t>
            </a:r>
          </a:p>
          <a:p>
            <a:pPr>
              <a:spcAft>
                <a:spcPts val="200"/>
              </a:spcAft>
              <a:defRPr sz="1000" b="1">
                <a:solidFill>
                  <a:srgbClr val="0F172A"/>
                </a:solidFill>
                <a:latin typeface="Segoe UI"/>
              </a:defRPr>
            </a:pPr>
            <a:r>
              <a:t>✅ Netgen LVS (Layout vs Schematic):</a:t>
            </a:r>
            <a:br/>
            <a:r>
              <a:rPr b="0" sz="950">
                <a:solidFill>
                  <a:srgbClr val="475569"/>
                </a:solidFill>
              </a:rPr>
              <a:t>    CLEAN 100% | 58,496 devices và 49,979 nets trùng khớp tuyệt đối, 0 mismatch, 0 lỗi nối dây.</a:t>
            </a:r>
          </a:p>
          <a:p>
            <a:pPr>
              <a:spcAft>
                <a:spcPts val="200"/>
              </a:spcAft>
              <a:defRPr sz="1000" b="1">
                <a:solidFill>
                  <a:srgbClr val="0F172A"/>
                </a:solidFill>
                <a:latin typeface="Segoe UI"/>
              </a:defRPr>
            </a:pPr>
            <a:r>
              <a:t>✅ Magic DRC &amp; KLayout DRC:</a:t>
            </a:r>
            <a:br/>
            <a:r>
              <a:rPr b="0" sz="950">
                <a:solidFill>
                  <a:srgbClr val="475569"/>
                </a:solidFill>
              </a:rPr>
              <a:t>    0 vi phạm hình học bán dẫn (0 violations).</a:t>
            </a:r>
          </a:p>
          <a:p>
            <a:pPr>
              <a:spcAft>
                <a:spcPts val="200"/>
              </a:spcAft>
              <a:defRPr sz="1000" b="1">
                <a:solidFill>
                  <a:srgbClr val="0F172A"/>
                </a:solidFill>
                <a:latin typeface="Segoe UI"/>
              </a:defRPr>
            </a:pPr>
            <a:r>
              <a:t>✅ Hiệu ứng Ăng-ten (Antenna Rules):</a:t>
            </a:r>
            <a:br/>
            <a:r>
              <a:rPr b="0" sz="950">
                <a:solidFill>
                  <a:srgbClr val="475569"/>
                </a:solidFill>
              </a:rPr>
              <a:t>    0 net vi phạm, 0 pin vi phạm trên tất cả các lớp kim loại (chèn 1,289 diodes bảo vệ).</a:t>
            </a:r>
          </a:p>
          <a:p>
            <a:pPr>
              <a:spcAft>
                <a:spcPts val="200"/>
              </a:spcAft>
              <a:defRPr sz="1000" b="1">
                <a:solidFill>
                  <a:srgbClr val="0F172A"/>
                </a:solidFill>
                <a:latin typeface="Segoe UI"/>
              </a:defRPr>
            </a:pPr>
            <a:r>
              <a:t>✅ Định thời tĩnh STA (Timing Sign-off):</a:t>
            </a:r>
            <a:br/>
            <a:r>
              <a:rPr b="0" sz="950">
                <a:solidFill>
                  <a:srgbClr val="475569"/>
                </a:solidFill>
              </a:rPr>
              <a:t>    ĐẠT MET TIMING trên toàn bộ 9 góc đo công nghệ ở 50 MHz (Setup Slack +1.84 ns, Hold Slack +0.27 ns). Không có lỗi Setup, không có lỗi Hold.</a:t>
            </a:r>
          </a:p>
          <a:p>
            <a:pPr>
              <a:spcAft>
                <a:spcPts val="200"/>
              </a:spcAft>
              <a:defRPr sz="1000" b="1">
                <a:solidFill>
                  <a:srgbClr val="0F172A"/>
                </a:solidFill>
                <a:latin typeface="Segoe UI"/>
              </a:defRPr>
            </a:pPr>
            <a:r>
              <a:t>✅ Kiểm tra sụt áp (IR Drop Analysis):</a:t>
            </a:r>
            <a:br/>
            <a:r>
              <a:rPr b="0" sz="950">
                <a:solidFill>
                  <a:srgbClr val="475569"/>
                </a:solidFill>
              </a:rPr>
              <a:t>    Sụt áp nguồn danh định 1.8V xấu nhất chỉ 0.771 mV (tương đương 0.043%).</a:t>
            </a:r>
          </a:p>
        </p:txBody>
      </p:sp>
      <p:sp>
        <p:nvSpPr>
          <p:cNvPr id="10" name="Rounded Rectangle 9"/>
          <p:cNvSpPr/>
          <p:nvPr/>
        </p:nvSpPr>
        <p:spPr>
          <a:xfrm>
            <a:off x="914400" y="4681728"/>
            <a:ext cx="2743200" cy="594360"/>
          </a:xfrm>
          <a:prstGeom prst="roundRect">
            <a:avLst/>
          </a:prstGeom>
          <a:solidFill>
            <a:srgbClr val="F1F5F9"/>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
              </a:spcAft>
              <a:defRPr sz="850" b="1">
                <a:solidFill>
                  <a:srgbClr val="475569"/>
                </a:solidFill>
                <a:latin typeface="Segoe UI"/>
              </a:defRPr>
            </a:pPr>
            <a:r>
              <a:t>Khuôn Chip Die Size</a:t>
            </a:r>
          </a:p>
          <a:p>
            <a:pPr>
              <a:defRPr sz="1000" b="1">
                <a:solidFill>
                  <a:srgbClr val="2563EB"/>
                </a:solidFill>
                <a:latin typeface="Segoe UI"/>
              </a:defRPr>
            </a:pPr>
            <a:r>
              <a:t>1300 x 1300 µm (1.69 mm²)</a:t>
            </a:r>
          </a:p>
        </p:txBody>
      </p:sp>
      <p:sp>
        <p:nvSpPr>
          <p:cNvPr id="11" name="Rounded Rectangle 10"/>
          <p:cNvSpPr/>
          <p:nvPr/>
        </p:nvSpPr>
        <p:spPr>
          <a:xfrm>
            <a:off x="3794760" y="4681728"/>
            <a:ext cx="2743200" cy="594360"/>
          </a:xfrm>
          <a:prstGeom prst="roundRect">
            <a:avLst/>
          </a:prstGeom>
          <a:solidFill>
            <a:srgbClr val="F1F5F9"/>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
              </a:spcAft>
              <a:defRPr sz="850" b="1">
                <a:solidFill>
                  <a:srgbClr val="475569"/>
                </a:solidFill>
                <a:latin typeface="Segoe UI"/>
              </a:defRPr>
            </a:pPr>
            <a:r>
              <a:t>Thiết Bị Netgen LVS</a:t>
            </a:r>
          </a:p>
          <a:p>
            <a:pPr>
              <a:defRPr sz="1000" b="1">
                <a:solidFill>
                  <a:srgbClr val="10B981"/>
                </a:solidFill>
                <a:latin typeface="Segoe UI"/>
              </a:defRPr>
            </a:pPr>
            <a:r>
              <a:t>58,496 Devs (0 Mismatch)</a:t>
            </a:r>
          </a:p>
        </p:txBody>
      </p:sp>
      <p:sp>
        <p:nvSpPr>
          <p:cNvPr id="12" name="Rounded Rectangle 11"/>
          <p:cNvSpPr/>
          <p:nvPr/>
        </p:nvSpPr>
        <p:spPr>
          <a:xfrm>
            <a:off x="914400" y="5321808"/>
            <a:ext cx="2743200" cy="594360"/>
          </a:xfrm>
          <a:prstGeom prst="roundRect">
            <a:avLst/>
          </a:prstGeom>
          <a:solidFill>
            <a:srgbClr val="F1F5F9"/>
          </a:solidFill>
          <a:ln w="1524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
              </a:spcAft>
              <a:defRPr sz="850" b="1">
                <a:solidFill>
                  <a:srgbClr val="475569"/>
                </a:solidFill>
                <a:latin typeface="Segoe UI"/>
              </a:defRPr>
            </a:pPr>
            <a:r>
              <a:t>Kiểm Tra DRC &amp; Antenna</a:t>
            </a:r>
          </a:p>
          <a:p>
            <a:pPr>
              <a:defRPr sz="1000" b="1">
                <a:solidFill>
                  <a:srgbClr val="7C3AED"/>
                </a:solidFill>
                <a:latin typeface="Segoe UI"/>
              </a:defRPr>
            </a:pPr>
            <a:r>
              <a:t>0 DRC | 0 Antenna</a:t>
            </a:r>
          </a:p>
        </p:txBody>
      </p:sp>
      <p:sp>
        <p:nvSpPr>
          <p:cNvPr id="13" name="Rounded Rectangle 12"/>
          <p:cNvSpPr/>
          <p:nvPr/>
        </p:nvSpPr>
        <p:spPr>
          <a:xfrm>
            <a:off x="3794760" y="5321808"/>
            <a:ext cx="2743200" cy="594360"/>
          </a:xfrm>
          <a:prstGeom prst="roundRect">
            <a:avLst/>
          </a:prstGeom>
          <a:solidFill>
            <a:srgbClr val="F1F5F9"/>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
              </a:spcAft>
              <a:defRPr sz="850" b="1">
                <a:solidFill>
                  <a:srgbClr val="475569"/>
                </a:solidFill>
                <a:latin typeface="Segoe UI"/>
              </a:defRPr>
            </a:pPr>
            <a:r>
              <a:t>STA Timing 50.0 MHz</a:t>
            </a:r>
          </a:p>
          <a:p>
            <a:pPr>
              <a:defRPr sz="1000" b="1">
                <a:solidFill>
                  <a:srgbClr val="10B981"/>
                </a:solidFill>
                <a:latin typeface="Segoe UI"/>
              </a:defRPr>
            </a:pPr>
            <a:r>
              <a:t>MET TIMING (Slack +1.84ns)</a:t>
            </a:r>
          </a:p>
        </p:txBody>
      </p:sp>
      <p:sp>
        <p:nvSpPr>
          <p:cNvPr id="14" name="Rounded Rectangle 13"/>
          <p:cNvSpPr/>
          <p:nvPr/>
        </p:nvSpPr>
        <p:spPr>
          <a:xfrm>
            <a:off x="6995160" y="1234440"/>
            <a:ext cx="4465015" cy="489204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AntennaLvsDrc.png"/>
          <p:cNvPicPr>
            <a:picLocks noChangeAspect="1"/>
          </p:cNvPicPr>
          <p:nvPr/>
        </p:nvPicPr>
        <p:blipFill>
          <a:blip r:embed="rId2"/>
          <a:stretch>
            <a:fillRect/>
          </a:stretch>
        </p:blipFill>
        <p:spPr>
          <a:xfrm>
            <a:off x="7178040" y="1371600"/>
            <a:ext cx="4099255" cy="952270"/>
          </a:xfrm>
          <a:prstGeom prst="rect">
            <a:avLst/>
          </a:prstGeom>
        </p:spPr>
      </p:pic>
      <p:sp>
        <p:nvSpPr>
          <p:cNvPr id="16" name="TextBox 15"/>
          <p:cNvSpPr txBox="1"/>
          <p:nvPr/>
        </p:nvSpPr>
        <p:spPr>
          <a:xfrm>
            <a:off x="7178040" y="2926080"/>
            <a:ext cx="4099255" cy="3017520"/>
          </a:xfrm>
          <a:prstGeom prst="rect">
            <a:avLst/>
          </a:prstGeom>
          <a:noFill/>
        </p:spPr>
        <p:txBody>
          <a:bodyPr wrap="square">
            <a:spAutoFit/>
          </a:bodyPr>
          <a:lstStyle/>
          <a:p>
            <a:pPr>
              <a:spcAft>
                <a:spcPts val="600"/>
              </a:spcAft>
              <a:defRPr sz="1200" b="1">
                <a:solidFill>
                  <a:srgbClr val="2563EB"/>
                </a:solidFill>
                <a:latin typeface="Segoe UI"/>
              </a:defRPr>
            </a:pPr>
            <a:r>
              <a:t>STA 9 PVT CORNERS KÝ DUYỆT (50 MHz)</a:t>
            </a:r>
          </a:p>
          <a:p>
            <a:pPr>
              <a:spcAft>
                <a:spcPts val="200"/>
              </a:spcAft>
              <a:defRPr sz="1000" b="1">
                <a:solidFill>
                  <a:srgbClr val="0F172A"/>
                </a:solidFill>
                <a:latin typeface="Consolas"/>
              </a:defRPr>
            </a:pPr>
            <a:r>
              <a:t>• nom_tt_025C_1v80: </a:t>
            </a:r>
            <a:r>
              <a:rPr b="1">
                <a:solidFill>
                  <a:srgbClr val="10B981"/>
                </a:solidFill>
                <a:latin typeface="Segoe UI"/>
              </a:rPr>
              <a:t>MET TIMING ✅ (+4.67ns)</a:t>
            </a:r>
          </a:p>
          <a:p>
            <a:pPr>
              <a:spcAft>
                <a:spcPts val="200"/>
              </a:spcAft>
              <a:defRPr sz="1000" b="1">
                <a:solidFill>
                  <a:srgbClr val="0F172A"/>
                </a:solidFill>
                <a:latin typeface="Consolas"/>
              </a:defRPr>
            </a:pPr>
            <a:r>
              <a:t>• nom_ss_100C_1v60: </a:t>
            </a:r>
            <a:r>
              <a:rPr b="1">
                <a:solidFill>
                  <a:srgbClr val="10B981"/>
                </a:solidFill>
                <a:latin typeface="Segoe UI"/>
              </a:rPr>
              <a:t>MET TIMING ✅ (+1.99ns)</a:t>
            </a:r>
          </a:p>
          <a:p>
            <a:pPr>
              <a:spcAft>
                <a:spcPts val="200"/>
              </a:spcAft>
              <a:defRPr sz="1000" b="1">
                <a:solidFill>
                  <a:srgbClr val="0F172A"/>
                </a:solidFill>
                <a:latin typeface="Consolas"/>
              </a:defRPr>
            </a:pPr>
            <a:r>
              <a:t>• nom_ff_n40C_1v95: </a:t>
            </a:r>
            <a:r>
              <a:rPr b="1">
                <a:solidFill>
                  <a:srgbClr val="10B981"/>
                </a:solidFill>
                <a:latin typeface="Segoe UI"/>
              </a:rPr>
              <a:t>MET TIMING ✅ (+5.73ns)</a:t>
            </a:r>
          </a:p>
          <a:p>
            <a:pPr>
              <a:spcAft>
                <a:spcPts val="200"/>
              </a:spcAft>
              <a:defRPr sz="1000" b="1">
                <a:solidFill>
                  <a:srgbClr val="0F172A"/>
                </a:solidFill>
                <a:latin typeface="Consolas"/>
              </a:defRPr>
            </a:pPr>
            <a:r>
              <a:t>• min_ss_100C_1v60: </a:t>
            </a:r>
            <a:r>
              <a:rPr b="1">
                <a:solidFill>
                  <a:srgbClr val="10B981"/>
                </a:solidFill>
                <a:latin typeface="Segoe UI"/>
              </a:rPr>
              <a:t>MET TIMING ✅ (+2.16ns)</a:t>
            </a:r>
          </a:p>
          <a:p>
            <a:pPr>
              <a:spcAft>
                <a:spcPts val="200"/>
              </a:spcAft>
              <a:defRPr sz="1000" b="1">
                <a:solidFill>
                  <a:srgbClr val="0F172A"/>
                </a:solidFill>
                <a:latin typeface="Consolas"/>
              </a:defRPr>
            </a:pPr>
            <a:r>
              <a:t>• max_ss_100C_1v60: </a:t>
            </a:r>
            <a:r>
              <a:rPr b="1">
                <a:solidFill>
                  <a:srgbClr val="10B981"/>
                </a:solidFill>
                <a:latin typeface="Segoe UI"/>
              </a:rPr>
              <a:t>MET TIMING ✅ (+1.84ns)</a:t>
            </a:r>
          </a:p>
          <a:p>
            <a:br/>
            <a:pPr>
              <a:defRPr sz="1050" b="1">
                <a:solidFill>
                  <a:srgbClr val="7C3AED"/>
                </a:solidFill>
                <a:latin typeface="Segoe UI"/>
              </a:defRPr>
            </a:pPr>
            <a:r>
              <a:t>• Worst IR Drop: 0.043% (0.771 mV) — Mạng PDN cực kỳ vững chắc!</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CHƯƠNG 6 | ĐÁNH GIÁ KỸ THUẬT</a:t>
            </a:r>
          </a:p>
          <a:p>
            <a:pPr>
              <a:defRPr sz="1900" b="1">
                <a:solidFill>
                  <a:srgbClr val="0F172A"/>
                </a:solidFill>
                <a:latin typeface="Segoe UI"/>
              </a:defRPr>
            </a:pPr>
            <a:r>
              <a:t>Thảo Luận &amp; Đánh Giá Tối Ưu Hóa PPA (Power - Performance - Area)</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7315200" cy="274320"/>
          </a:xfrm>
          <a:prstGeom prst="rect">
            <a:avLst/>
          </a:prstGeom>
          <a:noFill/>
        </p:spPr>
        <p:txBody>
          <a:bodyPr wrap="none">
            <a:spAutoFit/>
          </a:bodyPr>
          <a:lstStyle/>
          <a:p>
            <a:pPr>
              <a:defRPr sz="950">
                <a:solidFill>
                  <a:srgbClr val="475569"/>
                </a:solidFill>
                <a:latin typeface="Segoe UI"/>
              </a:defRPr>
            </a:pPr>
            <a:r>
              <a:t>PicoRV32 RFID Access Controller SoC | SkyWater 130nm ASIC &amp; Basys 3 Demo</a:t>
            </a:r>
          </a:p>
        </p:txBody>
      </p:sp>
      <p:sp>
        <p:nvSpPr>
          <p:cNvPr id="7" name="TextBox 6"/>
          <p:cNvSpPr txBox="1"/>
          <p:nvPr/>
        </p:nvSpPr>
        <p:spPr>
          <a:xfrm>
            <a:off x="10058400" y="6492240"/>
            <a:ext cx="1401775" cy="274320"/>
          </a:xfrm>
          <a:prstGeom prst="rect">
            <a:avLst/>
          </a:prstGeom>
          <a:noFill/>
        </p:spPr>
        <p:txBody>
          <a:bodyPr wrap="none">
            <a:spAutoFit/>
          </a:bodyPr>
          <a:lstStyle/>
          <a:p>
            <a:pPr algn="r">
              <a:defRPr sz="950" b="1">
                <a:solidFill>
                  <a:srgbClr val="2563EB"/>
                </a:solidFill>
                <a:latin typeface="Segoe UI"/>
              </a:defRPr>
            </a:pPr>
            <a:r>
              <a:t>24 / 25</a:t>
            </a:r>
          </a:p>
        </p:txBody>
      </p:sp>
      <p:sp>
        <p:nvSpPr>
          <p:cNvPr id="8" name="Rounded Rectangle 7"/>
          <p:cNvSpPr/>
          <p:nvPr/>
        </p:nvSpPr>
        <p:spPr>
          <a:xfrm>
            <a:off x="731520" y="1234440"/>
            <a:ext cx="3364992" cy="352044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417320"/>
            <a:ext cx="2999232" cy="3154680"/>
          </a:xfrm>
          <a:prstGeom prst="rect">
            <a:avLst/>
          </a:prstGeom>
          <a:noFill/>
        </p:spPr>
        <p:txBody>
          <a:bodyPr wrap="square">
            <a:spAutoFit/>
          </a:bodyPr>
          <a:lstStyle/>
          <a:p>
            <a:pPr>
              <a:spcAft>
                <a:spcPts val="800"/>
              </a:spcAft>
              <a:defRPr sz="1350" b="1">
                <a:solidFill>
                  <a:srgbClr val="2563EB"/>
                </a:solidFill>
                <a:latin typeface="Segoe UI"/>
              </a:defRPr>
            </a:pPr>
            <a:r>
              <a:t>⚡ Tối Ưu Hiệu Năng (Performance)</a:t>
            </a:r>
          </a:p>
          <a:p>
            <a:pPr>
              <a:spcAft>
                <a:spcPts val="300"/>
              </a:spcAft>
              <a:defRPr sz="1000" b="1">
                <a:solidFill>
                  <a:srgbClr val="0F172A"/>
                </a:solidFill>
                <a:latin typeface="Segoe UI"/>
              </a:defRPr>
            </a:pPr>
            <a:r>
              <a:t>• Xử lý phần cứng 1 chu kỳ:</a:t>
            </a:r>
            <a:br/>
            <a:r>
              <a:rPr b="0" sz="950">
                <a:solidFill>
                  <a:srgbClr val="475569"/>
                </a:solidFill>
              </a:rPr>
              <a:t>  Giải mã khung ASCII và tính XOR Checksum hoàn tất trong 20ns mà không tốn lệnh CPU.</a:t>
            </a:r>
          </a:p>
          <a:p>
            <a:pPr>
              <a:spcAft>
                <a:spcPts val="300"/>
              </a:spcAft>
              <a:defRPr sz="1000" b="1">
                <a:solidFill>
                  <a:srgbClr val="0F172A"/>
                </a:solidFill>
                <a:latin typeface="Segoe UI"/>
              </a:defRPr>
            </a:pPr>
            <a:r>
              <a:t>• Bộ đệm FIFO phần cứng:</a:t>
            </a:r>
            <a:br/>
            <a:r>
              <a:rPr b="0" sz="950">
                <a:solidFill>
                  <a:srgbClr val="475569"/>
                </a:solidFill>
              </a:rPr>
              <a:t>  Cách ly tốc độ giữa máy tính và chu kỳ ghi Flash, chống nghẽn bus tuyệt đối.</a:t>
            </a:r>
          </a:p>
          <a:p>
            <a:pPr>
              <a:spcAft>
                <a:spcPts val="300"/>
              </a:spcAft>
              <a:defRPr sz="1000" b="1">
                <a:solidFill>
                  <a:srgbClr val="0F172A"/>
                </a:solidFill>
                <a:latin typeface="Segoe UI"/>
              </a:defRPr>
            </a:pPr>
            <a:r>
              <a:t>• Độ trễ xác thực siêu nhỏ:</a:t>
            </a:r>
            <a:br/>
            <a:r>
              <a:rPr b="0" sz="950">
                <a:solidFill>
                  <a:srgbClr val="475569"/>
                </a:solidFill>
              </a:rPr>
              <a:t>  Từ lúc quẹt thẻ đến khi nhận kết quả kiểm tra chỉ mất dưới 10 micro-giây.</a:t>
            </a:r>
          </a:p>
        </p:txBody>
      </p:sp>
      <p:sp>
        <p:nvSpPr>
          <p:cNvPr id="10" name="Rounded Rectangle 9"/>
          <p:cNvSpPr/>
          <p:nvPr/>
        </p:nvSpPr>
        <p:spPr>
          <a:xfrm>
            <a:off x="4407408" y="1234440"/>
            <a:ext cx="3364992" cy="352044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0288" y="1417320"/>
            <a:ext cx="2999232" cy="3154680"/>
          </a:xfrm>
          <a:prstGeom prst="rect">
            <a:avLst/>
          </a:prstGeom>
          <a:noFill/>
        </p:spPr>
        <p:txBody>
          <a:bodyPr wrap="square">
            <a:spAutoFit/>
          </a:bodyPr>
          <a:lstStyle/>
          <a:p>
            <a:pPr>
              <a:spcAft>
                <a:spcPts val="800"/>
              </a:spcAft>
              <a:defRPr sz="1350" b="1">
                <a:solidFill>
                  <a:srgbClr val="10B981"/>
                </a:solidFill>
                <a:latin typeface="Segoe UI"/>
              </a:defRPr>
            </a:pPr>
            <a:r>
              <a:t>📐 Tối Ưu Diện Tích &amp; Công Suất</a:t>
            </a:r>
          </a:p>
          <a:p>
            <a:pPr>
              <a:spcAft>
                <a:spcPts val="300"/>
              </a:spcAft>
              <a:defRPr sz="1000" b="1">
                <a:solidFill>
                  <a:srgbClr val="0F172A"/>
                </a:solidFill>
                <a:latin typeface="Segoe UI"/>
              </a:defRPr>
            </a:pPr>
            <a:r>
              <a:t>• 1KB Data SRAM tinh gọn:</a:t>
            </a:r>
            <a:br/>
            <a:r>
              <a:rPr b="0" sz="950">
                <a:solidFill>
                  <a:srgbClr val="475569"/>
                </a:solidFill>
              </a:rPr>
              <a:t>  Được đo ni đóng giày đúng nhu cầu lưu Stack Pointer (0x400) và biến, tiết kiệm diện tích.</a:t>
            </a:r>
          </a:p>
          <a:p>
            <a:pPr>
              <a:spcAft>
                <a:spcPts val="300"/>
              </a:spcAft>
              <a:defRPr sz="1000" b="1">
                <a:solidFill>
                  <a:srgbClr val="0F172A"/>
                </a:solidFill>
                <a:latin typeface="Segoe UI"/>
              </a:defRPr>
            </a:pPr>
            <a:r>
              <a:t>• Tận dụng Flash ngoài:</a:t>
            </a:r>
            <a:br/>
            <a:r>
              <a:rPr b="0" sz="950">
                <a:solidFill>
                  <a:srgbClr val="475569"/>
                </a:solidFill>
              </a:rPr>
              <a:t>  Lưu firmware XIP và cơ sở dữ liệu trên Flash SPI giúp khuôn chip chỉ tốn 1.69 mm².</a:t>
            </a:r>
          </a:p>
          <a:p>
            <a:pPr>
              <a:spcAft>
                <a:spcPts val="300"/>
              </a:spcAft>
              <a:defRPr sz="1000" b="1">
                <a:solidFill>
                  <a:srgbClr val="0F172A"/>
                </a:solidFill>
                <a:latin typeface="Segoe UI"/>
              </a:defRPr>
            </a:pPr>
            <a:r>
              <a:t>• Lưới nguồn PDN vững chắc:</a:t>
            </a:r>
            <a:br/>
            <a:r>
              <a:rPr b="0" sz="950">
                <a:solidFill>
                  <a:srgbClr val="475569"/>
                </a:solidFill>
              </a:rPr>
              <a:t>  Độ sụt áp chỉ 0.043% (0.771 mV) đảm bảo tiết kiệm điện năng và vận hành ổn định lâu dài.</a:t>
            </a:r>
          </a:p>
        </p:txBody>
      </p:sp>
      <p:sp>
        <p:nvSpPr>
          <p:cNvPr id="12" name="Rounded Rectangle 11"/>
          <p:cNvSpPr/>
          <p:nvPr/>
        </p:nvSpPr>
        <p:spPr>
          <a:xfrm>
            <a:off x="8083296" y="1234440"/>
            <a:ext cx="3364992" cy="3520440"/>
          </a:xfrm>
          <a:prstGeom prst="round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66176" y="1417320"/>
            <a:ext cx="2999232" cy="3154680"/>
          </a:xfrm>
          <a:prstGeom prst="rect">
            <a:avLst/>
          </a:prstGeom>
          <a:noFill/>
        </p:spPr>
        <p:txBody>
          <a:bodyPr wrap="square">
            <a:spAutoFit/>
          </a:bodyPr>
          <a:lstStyle/>
          <a:p>
            <a:pPr>
              <a:spcAft>
                <a:spcPts val="800"/>
              </a:spcAft>
              <a:defRPr sz="1350" b="1">
                <a:solidFill>
                  <a:srgbClr val="7C3AED"/>
                </a:solidFill>
                <a:latin typeface="Segoe UI"/>
              </a:defRPr>
            </a:pPr>
            <a:r>
              <a:t>🚀 Định Hướng Nâng Cấp Tiếp Theo</a:t>
            </a:r>
          </a:p>
          <a:p>
            <a:pPr>
              <a:spcAft>
                <a:spcPts val="300"/>
              </a:spcAft>
              <a:defRPr sz="1000" b="1">
                <a:solidFill>
                  <a:srgbClr val="0F172A"/>
                </a:solidFill>
                <a:latin typeface="Segoe UI"/>
              </a:defRPr>
            </a:pPr>
            <a:r>
              <a:t>• Tích hợp macro OpenRAM:</a:t>
            </a:r>
            <a:br/>
            <a:r>
              <a:rPr b="0" sz="950">
                <a:solidFill>
                  <a:srgbClr val="475569"/>
                </a:solidFill>
              </a:rPr>
              <a:t>  Thay thế standard cell flip-flops bằng macro bộ nhớ nhúng OpenRAM giúp giảm 25-35% diện tích.</a:t>
            </a:r>
          </a:p>
          <a:p>
            <a:pPr>
              <a:spcAft>
                <a:spcPts val="300"/>
              </a:spcAft>
              <a:defRPr sz="1000" b="1">
                <a:solidFill>
                  <a:srgbClr val="0F172A"/>
                </a:solidFill>
                <a:latin typeface="Segoe UI"/>
              </a:defRPr>
            </a:pPr>
            <a:r>
              <a:t>• Nâng cấp Quad-SPI (QSPI):</a:t>
            </a:r>
            <a:br/>
            <a:r>
              <a:rPr b="0" sz="950">
                <a:solidFill>
                  <a:srgbClr val="475569"/>
                </a:solidFill>
              </a:rPr>
              <a:t>  Nâng giao tiếp Flash từ 1-bit lên 4-bit giúp tăng tốc độ đọc dữ liệu thẻ gấp 4 lần.</a:t>
            </a:r>
          </a:p>
          <a:p>
            <a:pPr>
              <a:spcAft>
                <a:spcPts val="300"/>
              </a:spcAft>
              <a:defRPr sz="1000" b="1">
                <a:solidFill>
                  <a:srgbClr val="0F172A"/>
                </a:solidFill>
                <a:latin typeface="Segoe UI"/>
              </a:defRPr>
            </a:pPr>
            <a:r>
              <a:t>• Mã hóa phần cứng AES-128:</a:t>
            </a:r>
            <a:br/>
            <a:r>
              <a:rPr b="0" sz="950">
                <a:solidFill>
                  <a:srgbClr val="475569"/>
                </a:solidFill>
              </a:rPr>
              <a:t>  Mã hóa cơ sở dữ liệu thẻ trước khi lưu vào Flash, chống đọc trộm dữ liệu trái phép.</a:t>
            </a:r>
          </a:p>
        </p:txBody>
      </p:sp>
      <p:sp>
        <p:nvSpPr>
          <p:cNvPr id="14" name="Rounded Rectangle 13"/>
          <p:cNvSpPr/>
          <p:nvPr/>
        </p:nvSpPr>
        <p:spPr>
          <a:xfrm>
            <a:off x="731520" y="4956048"/>
            <a:ext cx="10728655" cy="1188720"/>
          </a:xfrm>
          <a:prstGeom prst="roundRect">
            <a:avLst/>
          </a:prstGeom>
          <a:solidFill>
            <a:srgbClr val="F0FDF4"/>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5010912"/>
            <a:ext cx="10271455" cy="1051560"/>
          </a:xfrm>
          <a:prstGeom prst="rect">
            <a:avLst/>
          </a:prstGeom>
          <a:noFill/>
        </p:spPr>
        <p:txBody>
          <a:bodyPr wrap="square">
            <a:spAutoFit/>
          </a:bodyPr>
          <a:lstStyle/>
          <a:p>
            <a:pPr>
              <a:spcAft>
                <a:spcPts val="200"/>
              </a:spcAft>
              <a:defRPr sz="1100" b="1">
                <a:solidFill>
                  <a:srgbClr val="10B981"/>
                </a:solidFill>
                <a:latin typeface="Segoe UI"/>
              </a:defRPr>
            </a:pPr>
            <a:r>
              <a:t>💡 TỔNG KẾT ĐÁNH GIÁ CHỈ SỐ PPA TOÀN DIỆN:</a:t>
            </a:r>
          </a:p>
          <a:p>
            <a:pPr>
              <a:defRPr sz="950">
                <a:solidFill>
                  <a:srgbClr val="0F172A"/>
                </a:solidFill>
                <a:latin typeface="Segoe UI"/>
              </a:defRPr>
            </a:pPr>
            <a:r>
              <a:t>• Hiệu năng (Performance): Xác thực thẻ tức thì (&lt; 10 µs), giải mã phần cứng 1 chu kỳ clock song song không tốn tài nguyên CPU.</a:t>
            </a:r>
            <a:br/>
            <a:r>
              <a:t>• Diện tích &amp; Điện năng (Area &amp; Power): Khuôn chip 1.69 mm², tiêu thụ chỉ 64.5 mW, sụt áp chỉ 0.043% (0.771 mV).</a:t>
            </a:r>
            <a:br/>
            <a:r>
              <a:t>• Khả năng mở rộng: Sẵn sàng nâng cấp macro OpenRAM và bus Quad-SPI 4-bit.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731520"/>
            <a:ext cx="10728655" cy="5394960"/>
          </a:xfrm>
          <a:prstGeom prst="roundRect">
            <a:avLst/>
          </a:prstGeom>
          <a:solidFill>
            <a:srgbClr val="1C2541"/>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005840"/>
            <a:ext cx="9966960" cy="4754880"/>
          </a:xfrm>
          <a:prstGeom prst="rect">
            <a:avLst/>
          </a:prstGeom>
          <a:noFill/>
        </p:spPr>
        <p:txBody>
          <a:bodyPr wrap="square">
            <a:spAutoFit/>
          </a:bodyPr>
          <a:lstStyle/>
          <a:p>
            <a:pPr>
              <a:spcAft>
                <a:spcPts val="1400"/>
              </a:spcAft>
              <a:defRPr sz="2200" b="1">
                <a:solidFill>
                  <a:srgbClr val="10B981"/>
                </a:solidFill>
                <a:latin typeface="Segoe UI"/>
              </a:defRPr>
            </a:pPr>
            <a:r>
              <a:t>TỔNG KẾT ĐỒ ÁN &amp; THÀNH TỰU ĐẠT ĐƯỢC</a:t>
            </a:r>
          </a:p>
          <a:p>
            <a:pPr>
              <a:spcAft>
                <a:spcPts val="400"/>
              </a:spcAft>
              <a:defRPr sz="1300" b="1">
                <a:solidFill>
                  <a:srgbClr val="FFFFFF"/>
                </a:solidFill>
                <a:latin typeface="Segoe UI"/>
              </a:defRPr>
            </a:pPr>
            <a:r>
              <a:t>✔ Hoàn thành xuất sắc mục tiêu thiết kế SoC chuyên dụng: </a:t>
            </a:r>
            <a:r>
              <a:rPr b="0" sz="1200">
                <a:solidFill>
                  <a:srgbClr val="CBD5E1"/>
                </a:solidFill>
              </a:rPr>
              <a:t>Hiện thực hóa hệ thống kiểm soát ra vào độc lập (Offline Standalone), loại bỏ hoàn toàn rủi ro bảo mật và độ trễ mạng.</a:t>
            </a:r>
          </a:p>
          <a:p>
            <a:pPr>
              <a:spcAft>
                <a:spcPts val="400"/>
              </a:spcAft>
              <a:defRPr sz="1300" b="1">
                <a:solidFill>
                  <a:srgbClr val="FFFFFF"/>
                </a:solidFill>
                <a:latin typeface="Segoe UI"/>
              </a:defRPr>
            </a:pPr>
            <a:r>
              <a:t>✔ Kiểm chứng thực nghiệm 100% trên FPGA Basys 3: </a:t>
            </a:r>
            <a:r>
              <a:rPr b="0" sz="1200">
                <a:solidFill>
                  <a:srgbClr val="CBD5E1"/>
                </a:solidFill>
              </a:rPr>
              <a:t>Xác thực module RDM6300 thật, thẻ RFID thật, chip SPI Flash thật và phần mềm Host C hoạt động đồng bộ hoàn hảo.</a:t>
            </a:r>
          </a:p>
          <a:p>
            <a:pPr>
              <a:spcAft>
                <a:spcPts val="400"/>
              </a:spcAft>
              <a:defRPr sz="1300" b="1">
                <a:solidFill>
                  <a:srgbClr val="FFFFFF"/>
                </a:solidFill>
                <a:latin typeface="Segoe UI"/>
              </a:defRPr>
            </a:pPr>
            <a:r>
              <a:t>✔ Đạt chuẩn ký duyệt chế tạo bán dẫn (Full Tapeout Ready): </a:t>
            </a:r>
            <a:r>
              <a:rPr b="0" sz="1200">
                <a:solidFill>
                  <a:srgbClr val="CBD5E1"/>
                </a:solidFill>
              </a:rPr>
              <a:t>Lượt chạy OpenLane 2 (RUN_2026-10-02_02-43-19) đạt 0 lỗi DRC, 0 lỗi LVS (58,496 devices khớp 100%), 0 vi phạm Antenna, và MET TIMING ở cả 9 corners tần số 50 MHz.</a:t>
            </a:r>
          </a:p>
          <a:p>
            <a:pPr>
              <a:spcAft>
                <a:spcPts val="400"/>
              </a:spcAft>
              <a:defRPr sz="1300" b="1">
                <a:solidFill>
                  <a:srgbClr val="FFFFFF"/>
                </a:solidFill>
                <a:latin typeface="Segoe UI"/>
              </a:defRPr>
            </a:pPr>
            <a:r>
              <a:t>✔ Phương pháp thiết kế Software-First khoa học: </a:t>
            </a:r>
            <a:r>
              <a:rPr b="0" sz="1200">
                <a:solidFill>
                  <a:srgbClr val="CBD5E1"/>
                </a:solidFill>
              </a:rPr>
              <a:t>Định hình tập lệnh và chức năng phần mềm trước giúp tối ưu hóa tối đa diện tích silicon và thời gian phát triển.</a:t>
            </a:r>
          </a:p>
          <a:p>
            <a:pPr algn="ctr">
              <a:defRPr sz="2000" b="1">
                <a:solidFill>
                  <a:srgbClr val="0EA5E9"/>
                </a:solidFill>
                <a:latin typeface="Segoe UI"/>
              </a:defRPr>
            </a:pPr>
            <a:br/>
            <a:r>
              <a:t>CHÂN THÀNH CẢM ƠN QUÝ THẦY CÔ &amp; HỘI ĐỒNG BẢO VỆ!</a:t>
            </a:r>
            <a:br/>
            <a:r>
              <a:t>Q &amp; 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