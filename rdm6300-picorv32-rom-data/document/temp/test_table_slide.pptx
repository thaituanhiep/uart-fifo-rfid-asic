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3: KIẾN TRÚC VI HỆ THỐNG SOC</a:t>
            </a:r>
          </a:p>
          <a:p>
            <a:pPr>
              <a:defRPr sz="1700" b="1">
                <a:solidFill>
                  <a:srgbClr val="1E293B"/>
                </a:solidFill>
                <a:latin typeface="Segoe UI"/>
              </a:defRPr>
            </a:pPr>
            <a:r>
              <a:t>Bảng Tra Cứu Địa Chỉ (Memory Map) &amp; Khai Báo Biến Trong C / RTL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04 / 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188720"/>
          <a:ext cx="10728655" cy="513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291840"/>
                <a:gridCol w="5287975"/>
              </a:tblGrid>
              <a:tr h="73413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DẢI ĐỊA CHỈ (ADDRESS / OFFSET)</a:t>
                      </a:r>
                    </a:p>
                  </a:txBody>
                  <a:tcPr anchor="ctr" marL="73152" marR="73152" marT="36576" marB="36576"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NƠI KHAI BÁO TRONG C VÀ RTL</a:t>
                      </a:r>
                    </a:p>
                  </a:txBody>
                  <a:tcPr anchor="ctr" marL="73152" marR="73152" marT="36576" marB="36576"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Ý NGHĨA SỬ DỤNG VỚI FIRMWARE C &amp; NGHIỆP VỤ</a:t>
                      </a:r>
                    </a:p>
                  </a:txBody>
                  <a:tcPr anchor="ctr" marL="73152" marR="73152" marT="36576" marB="36576">
                    <a:solidFill>
                      <a:srgbClr val="1A2639"/>
                    </a:solidFill>
                  </a:tcPr>
                </a:tc>
              </a:tr>
              <a:tr h="7341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2563EB"/>
                          </a:solidFill>
                          <a:latin typeface="Consolas"/>
                        </a:rPr>
                        <a:t>0x0000_0000</a:t>
                      </a:r>
                      <a:r>
                        <a:rPr sz="880" b="0">
                          <a:solidFill>
                            <a:srgbClr val="1E293B"/>
                          </a:solidFill>
                          <a:latin typeface="Consolas"/>
                        </a:rPr>
                        <a:t>
- 0x0000_03FF</a:t>
                      </a:r>
                      <a:r>
                        <a:rPr sz="880" b="1">
                          <a:solidFill>
                            <a:srgbClr val="475569"/>
                          </a:solidFill>
                          <a:latin typeface="Consolas"/>
                        </a:rPr>
                        <a:t>
(1KB Data SRAM)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2563EB"/>
                          </a:solidFill>
                          <a:latin typeface="Segoe UI"/>
                        </a:rPr>
                        <a:t>• C/Linker: </a:t>
                      </a:r>
                      <a:r>
                        <a:rPr sz="860" b="0">
                          <a:solidFill>
                            <a:srgbClr val="1E293B"/>
                          </a:solidFill>
                          <a:latin typeface="Segoe UI"/>
                        </a:rPr>
                        <a:t>sections.lds
  (RAM: 0x0, _stack_top: 0x400)
</a:t>
                      </a:r>
                      <a:r>
                        <a:rPr sz="860" b="1">
                          <a:solidFill>
                            <a:srgbClr val="8B5CF6"/>
                          </a:solidFill>
                          <a:latin typeface="Segoe UI"/>
                        </a:rPr>
                        <a:t>• RTL: </a:t>
                      </a:r>
                      <a:r>
                        <a:rPr sz="860" b="0">
                          <a:solidFill>
                            <a:srgbClr val="1E293B"/>
                          </a:solidFill>
                          <a:latin typeface="Segoe UI"/>
                        </a:rPr>
                        <a:t>soc_interconnect.v
  (sel_sram &lt; 0x400), data_sram.v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Segoe UI"/>
                        </a:rPr>
                        <a:t>• Vùng nhớ RAM tĩnh 1 chu kỳ clock </a:t>
                      </a:r>
                      <a:r>
                        <a:rPr sz="860" b="0">
                          <a:solidFill>
                            <a:srgbClr val="475569"/>
                          </a:solidFill>
                          <a:latin typeface="Segoe UI"/>
                        </a:rPr>
                        <a:t>(phản hồi sram_ready = 1 tức thì).
</a:t>
                      </a:r>
                      <a:r>
                        <a:rPr sz="860" b="1">
                          <a:solidFill>
                            <a:srgbClr val="2563EB"/>
                          </a:solidFill>
                          <a:latin typeface="Segoe UI"/>
                        </a:rPr>
                        <a:t>• Lưu trữ con trỏ ngăn xếp Stack (sp), </a:t>
                      </a:r>
                      <a:r>
                        <a:rPr sz="860" b="0">
                          <a:solidFill>
                            <a:srgbClr val="475569"/>
                          </a:solidFill>
                          <a:latin typeface="Segoe UI"/>
                        </a:rPr>
                        <a:t>biến cục bộ và mảng dữ liệu tạm thời cho Firmware C, đảm bảo tính thời gian thực.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7341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2563EB"/>
                          </a:solidFill>
                          <a:latin typeface="Consolas"/>
                        </a:rPr>
                        <a:t>0x0010_0000</a:t>
                      </a:r>
                      <a:r>
                        <a:rPr sz="880" b="0">
                          <a:solidFill>
                            <a:srgbClr val="1E293B"/>
                          </a:solidFill>
                          <a:latin typeface="Consolas"/>
                        </a:rPr>
                        <a:t>
- 0x00FF_FFFF</a:t>
                      </a:r>
                      <a:r>
                        <a:rPr sz="880" b="1">
                          <a:solidFill>
                            <a:srgbClr val="10B981"/>
                          </a:solidFill>
                          <a:latin typeface="Consolas"/>
                        </a:rPr>
                        <a:t>
(SPI Flash XIP 4MB)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2563EB"/>
                          </a:solidFill>
                          <a:latin typeface="Segoe UI"/>
                        </a:rPr>
                        <a:t>• C/Linker: </a:t>
                      </a:r>
                      <a:r>
                        <a:rPr sz="860" b="0">
                          <a:solidFill>
                            <a:srgbClr val="1E293B"/>
                          </a:solidFill>
                          <a:latin typeface="Segoe UI"/>
                        </a:rPr>
                        <a:t>sections.lds (FLASH: 0x250000)
  soc_regs.h (USER: 0x300000, LOG: 0x310000)
</a:t>
                      </a:r>
                      <a:r>
                        <a:rPr sz="860" b="1">
                          <a:solidFill>
                            <a:srgbClr val="8B5CF6"/>
                          </a:solidFill>
                          <a:latin typeface="Segoe UI"/>
                        </a:rPr>
                        <a:t>• RTL: </a:t>
                      </a:r>
                      <a:r>
                        <a:rPr sz="860" b="0">
                          <a:solidFill>
                            <a:srgbClr val="1E293B"/>
                          </a:solidFill>
                          <a:latin typeface="Segoe UI"/>
                        </a:rPr>
                        <a:t>soc_interconnect.v
  (sel_spimem), spimemio.v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2563EB"/>
                          </a:solidFill>
                          <a:latin typeface="Segoe UI"/>
                        </a:rPr>
                        <a:t>• 0x0025_0000: </a:t>
                      </a:r>
                      <a:r>
                        <a:rPr sz="860" b="0">
                          <a:solidFill>
                            <a:srgbClr val="475569"/>
                          </a:solidFill>
                          <a:latin typeface="Segoe UI"/>
                        </a:rPr>
                        <a:t>Mã lệnh Firmware XIP (thực thi trực tiếp từ Flash).
</a:t>
                      </a:r>
                      <a:r>
                        <a:rPr sz="860" b="1">
                          <a:solidFill>
                            <a:srgbClr val="10B981"/>
                          </a:solidFill>
                          <a:latin typeface="Segoe UI"/>
                        </a:rPr>
                        <a:t>• 0x0030_0000 (Sec 48): </a:t>
                      </a:r>
                      <a:r>
                        <a:rPr sz="860" b="0">
                          <a:solidFill>
                            <a:srgbClr val="475569"/>
                          </a:solidFill>
                          <a:latin typeface="Segoe UI"/>
                        </a:rPr>
                        <a:t>Database 4.096 thẻ hợp lệ (Magic: 'RFID').
</a:t>
                      </a:r>
                      <a:r>
                        <a:rPr sz="860" b="1">
                          <a:solidFill>
                            <a:srgbClr val="8B5CF6"/>
                          </a:solidFill>
                          <a:latin typeface="Segoe UI"/>
                        </a:rPr>
                        <a:t>• 0x0031_0000 (Sec 49): </a:t>
                      </a:r>
                      <a:r>
                        <a:rPr sz="860" b="0">
                          <a:solidFill>
                            <a:srgbClr val="475569"/>
                          </a:solidFill>
                          <a:latin typeface="Segoe UI"/>
                        </a:rPr>
                        <a:t>Lưu 512 bản ghi nhật ký quẹt thẻ (Magic: 'SUCC'/'FAIL').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</a:tr>
              <a:tr h="7341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2563EB"/>
                          </a:solidFill>
                          <a:latin typeface="Consolas"/>
                        </a:rPr>
                        <a:t>0x0200_0000</a:t>
                      </a:r>
                      <a:r>
                        <a:rPr sz="880" b="1">
                          <a:solidFill>
                            <a:srgbClr val="475569"/>
                          </a:solidFill>
                          <a:latin typeface="Consolas"/>
                        </a:rPr>
                        <a:t>
(SPIMEMIO Cfg)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2563EB"/>
                          </a:solidFill>
                          <a:latin typeface="Segoe UI"/>
                        </a:rPr>
                        <a:t>• C/ASM: </a:t>
                      </a:r>
                      <a:r>
                        <a:rPr sz="860" b="0">
                          <a:solidFill>
                            <a:srgbClr val="1E293B"/>
                          </a:solidFill>
                          <a:latin typeface="Segoe UI"/>
                        </a:rPr>
                        <a:t>start.s (li t0, 0x02000000)
  Hàm nạp RAM flashio_worker()
</a:t>
                      </a:r>
                      <a:r>
                        <a:rPr sz="860" b="1">
                          <a:solidFill>
                            <a:srgbClr val="8B5CF6"/>
                          </a:solidFill>
                          <a:latin typeface="Segoe UI"/>
                        </a:rPr>
                        <a:t>• RTL: </a:t>
                      </a:r>
                      <a:r>
                        <a:rPr sz="860" b="0">
                          <a:solidFill>
                            <a:srgbClr val="1E293B"/>
                          </a:solidFill>
                          <a:latin typeface="Segoe UI"/>
                        </a:rPr>
                        <a:t>soc_interconnect.v
  (sel_spicfg == 0x02000000), spimemio.v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Segoe UI"/>
                        </a:rPr>
                        <a:t>• Thanh ghi Bit-Bang SPI Flash: </a:t>
                      </a:r>
                      <a:r>
                        <a:rPr sz="860" b="0">
                          <a:solidFill>
                            <a:srgbClr val="475569"/>
                          </a:solidFill>
                          <a:latin typeface="Segoe UI"/>
                        </a:rPr>
                        <a:t>Cho phép CPU ngắt tạm thời chế độ đọc XIP để phát xung SPI trực tiếp.
</a:t>
                      </a:r>
                      <a:r>
                        <a:rPr sz="860" b="1">
                          <a:solidFill>
                            <a:srgbClr val="F43F5E"/>
                          </a:solidFill>
                          <a:latin typeface="Segoe UI"/>
                        </a:rPr>
                        <a:t>• Thực hiện lệnh Xóa Sector (0x20) và Ghi Trang (0x02) </a:t>
                      </a:r>
                      <a:r>
                        <a:rPr sz="860" b="0">
                          <a:solidFill>
                            <a:srgbClr val="475569"/>
                          </a:solidFill>
                          <a:latin typeface="Segoe UI"/>
                        </a:rPr>
                        <a:t>vào Flash an toàn.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7341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2563EB"/>
                          </a:solidFill>
                          <a:latin typeface="Consolas"/>
                        </a:rPr>
                        <a:t>0x1000_0000 (DIV)
0x1000_0004 (DAT)</a:t>
                      </a:r>
                      <a:r>
                        <a:rPr sz="880" b="1">
                          <a:solidFill>
                            <a:srgbClr val="F43F5E"/>
                          </a:solidFill>
                          <a:latin typeface="Consolas"/>
                        </a:rPr>
                        <a:t>
(RFID RDM6300 UART)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2563EB"/>
                          </a:solidFill>
                          <a:latin typeface="Segoe UI"/>
                        </a:rPr>
                        <a:t>• C Driver: </a:t>
                      </a:r>
                      <a:r>
                        <a:rPr sz="860" b="0">
                          <a:solidFill>
                            <a:srgbClr val="1E293B"/>
                          </a:solidFill>
                          <a:latin typeface="Segoe UI"/>
                        </a:rPr>
                        <a:t>soc_regs.h
  REG_RFID_UART_DIV, REG_RFID_UART_DAT
</a:t>
                      </a:r>
                      <a:r>
                        <a:rPr sz="860" b="1">
                          <a:solidFill>
                            <a:srgbClr val="8B5CF6"/>
                          </a:solidFill>
                          <a:latin typeface="Segoe UI"/>
                        </a:rPr>
                        <a:t>• RTL: </a:t>
                      </a:r>
                      <a:r>
                        <a:rPr sz="860" b="0">
                          <a:solidFill>
                            <a:srgbClr val="1E293B"/>
                          </a:solidFill>
                          <a:latin typeface="Segoe UI"/>
                        </a:rPr>
                        <a:t>soc_interconnect.v (sel_rfid)
  u_rfid_uart (uart_mmio.v)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Segoe UI"/>
                        </a:rPr>
                        <a:t>• Giao tiếp đầu đọc thẻ RFID RDM6300 (9600 bps, 8-N-1).
</a:t>
                      </a:r>
                      <a:r>
                        <a:rPr sz="860" b="1">
                          <a:solidFill>
                            <a:srgbClr val="2563EB"/>
                          </a:solidFill>
                          <a:latin typeface="Segoe UI"/>
                        </a:rPr>
                        <a:t>• Đọc ký tự từ hàng đợi RX FIFO 32-Byte </a:t>
                      </a:r>
                      <a:r>
                        <a:rPr sz="860" b="0">
                          <a:solidFill>
                            <a:srgbClr val="475569"/>
                          </a:solidFill>
                          <a:latin typeface="Segoe UI"/>
                        </a:rPr>
                        <a:t>(trả về 0xFFFFFFFF khi FIFO rỗng), tự động ghép frame mã thẻ 14-byte STX/ETX.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</a:tr>
              <a:tr h="7341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2563EB"/>
                          </a:solidFill>
                          <a:latin typeface="Consolas"/>
                        </a:rPr>
                        <a:t>0x3000_0000 (DIV)
0x3000_0004 (DAT)</a:t>
                      </a:r>
                      <a:r>
                        <a:rPr sz="880" b="1">
                          <a:solidFill>
                            <a:srgbClr val="F59E0B"/>
                          </a:solidFill>
                          <a:latin typeface="Consolas"/>
                        </a:rPr>
                        <a:t>
(Host PC Console UART)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2563EB"/>
                          </a:solidFill>
                          <a:latin typeface="Segoe UI"/>
                        </a:rPr>
                        <a:t>• C Driver: </a:t>
                      </a:r>
                      <a:r>
                        <a:rPr sz="860" b="0">
                          <a:solidFill>
                            <a:srgbClr val="1E293B"/>
                          </a:solidFill>
                          <a:latin typeface="Segoe UI"/>
                        </a:rPr>
                        <a:t>soc_regs.h
  REG_PC_UART_DIV, REG_PC_UART_DAT
</a:t>
                      </a:r>
                      <a:r>
                        <a:rPr sz="860" b="1">
                          <a:solidFill>
                            <a:srgbClr val="8B5CF6"/>
                          </a:solidFill>
                          <a:latin typeface="Segoe UI"/>
                        </a:rPr>
                        <a:t>• RTL: </a:t>
                      </a:r>
                      <a:r>
                        <a:rPr sz="860" b="0">
                          <a:solidFill>
                            <a:srgbClr val="1E293B"/>
                          </a:solidFill>
                          <a:latin typeface="Segoe UI"/>
                        </a:rPr>
                        <a:t>soc_interconnect.v (sel_uart)
  u_host_uart (uart_mmio.v)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Segoe UI"/>
                        </a:rPr>
                        <a:t>• Giao tiếp máy tính Host PC qua UART (115200 bps, 8-N-1).
</a:t>
                      </a:r>
                      <a:r>
                        <a:rPr sz="860" b="1">
                          <a:solidFill>
                            <a:srgbClr val="10B981"/>
                          </a:solidFill>
                          <a:latin typeface="Segoe UI"/>
                        </a:rPr>
                        <a:t>• Truyền/nhận 2 chiều có FIFO đệm: </a:t>
                      </a:r>
                      <a:r>
                        <a:rPr sz="860" b="0">
                          <a:solidFill>
                            <a:srgbClr val="475569"/>
                          </a:solidFill>
                          <a:latin typeface="Segoe UI"/>
                        </a:rPr>
                        <a:t>Nhận 10 menu lệnh điều khiển CLI từ người dùng và xuất log điểm danh ra console máy tính.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7341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2563EB"/>
                          </a:solidFill>
                          <a:latin typeface="Consolas"/>
                        </a:rPr>
                        <a:t>0x4000_0000</a:t>
                      </a:r>
                      <a:r>
                        <a:rPr sz="880" b="1">
                          <a:solidFill>
                            <a:srgbClr val="10B981"/>
                          </a:solidFill>
                          <a:latin typeface="Consolas"/>
                        </a:rPr>
                        <a:t>
(GPIO Status LEDs)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2563EB"/>
                          </a:solidFill>
                          <a:latin typeface="Segoe UI"/>
                        </a:rPr>
                        <a:t>• C Driver: </a:t>
                      </a:r>
                      <a:r>
                        <a:rPr sz="860" b="0">
                          <a:solidFill>
                            <a:srgbClr val="1E293B"/>
                          </a:solidFill>
                          <a:latin typeface="Segoe UI"/>
                        </a:rPr>
                        <a:t>soc_regs.h
  REG_GPIO_LEDS
</a:t>
                      </a:r>
                      <a:r>
                        <a:rPr sz="860" b="1">
                          <a:solidFill>
                            <a:srgbClr val="8B5CF6"/>
                          </a:solidFill>
                          <a:latin typeface="Segoe UI"/>
                        </a:rPr>
                        <a:t>• RTL: </a:t>
                      </a:r>
                      <a:r>
                        <a:rPr sz="860" b="0">
                          <a:solidFill>
                            <a:srgbClr val="1E293B"/>
                          </a:solidFill>
                          <a:latin typeface="Segoe UI"/>
                        </a:rPr>
                        <a:t>soc_interconnect.v (sel_gpio)
  soc_gpio_mmio.v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Segoe UI"/>
                        </a:rPr>
                        <a:t>• Điều khiển 5 đèn LED chỉ thị trạng thái hoạt động trên FPGA Basys 3:
</a:t>
                      </a:r>
                      <a:r>
                        <a:rPr sz="860" b="0">
                          <a:solidFill>
                            <a:srgbClr val="475569"/>
                          </a:solidFill>
                          <a:latin typeface="Segoe UI"/>
                        </a:rPr>
                        <a:t>  - Bit 0: Alive (Hệ thống sống)  |  Bit 1: Warn (Thẻ không hợp lệ)
  - Bit 2: Granted (Quẹt thẻ đúng) |  Bit 3: Flash access  |  Bit 4: Save OK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