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C2541"/>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60120"/>
            <a:ext cx="10469880" cy="4937760"/>
          </a:xfrm>
          <a:prstGeom prst="rect">
            <a:avLst/>
          </a:prstGeom>
          <a:noFill/>
        </p:spPr>
        <p:txBody>
          <a:bodyPr wrap="square" lIns="45720" rIns="45720">
            <a:spAutoFit/>
          </a:bodyPr>
          <a:lstStyle/>
          <a:p>
            <a:pPr>
              <a:spcAft>
                <a:spcPts val="1600"/>
              </a:spcAft>
              <a:defRPr sz="1350" b="1">
                <a:solidFill>
                  <a:srgbClr val="0EA5E9"/>
                </a:solidFill>
                <a:latin typeface="Segoe UI"/>
              </a:defRPr>
            </a:pPr>
            <a:r>
              <a:t>FPT JETKING — CHIP DESIGN</a:t>
            </a:r>
          </a:p>
          <a:p>
            <a:pPr>
              <a:lnSpc>
                <a:spcPct val="125000"/>
              </a:lnSpc>
              <a:spcAft>
                <a:spcPts val="1600"/>
              </a:spcAft>
              <a:defRPr sz="1750" b="1">
                <a:solidFill>
                  <a:srgbClr val="FFFFFF"/>
                </a:solidFill>
                <a:latin typeface="Segoe UI"/>
              </a:defRPr>
            </a:pPr>
            <a:r>
              <a:t>THIẾT KẾ HỆ THỐNG XỬ LÝ DỮ LIỆU CỦA THẺ RA VÀO RFID 125KHZ OFFLINE</a:t>
            </a:r>
            <a:br/>
            <a:r>
              <a:t>TÍCH HỢP CPU RISC-V PICORV32 &amp; XỬ LÝ NGHIỆP VỤ DỮ LIỆU THẺ BẰNG FIRMWARE C</a:t>
            </a:r>
          </a:p>
          <a:p>
            <a:pPr>
              <a:spcAft>
                <a:spcPts val="2400"/>
              </a:spcAft>
              <a:defRPr sz="1200">
                <a:solidFill>
                  <a:srgbClr val="CBD5E1"/>
                </a:solidFill>
                <a:latin typeface="Segoe UI"/>
              </a:defRPr>
            </a:pPr>
            <a:r>
              <a:t>Giao tiếp RFID RDM6300 | Lưu trữ Whitelist SPI Flash NVM | Tạo mẫu Basys 3 FPGA | Ký duyệt ASIC OpenLane 2 (Sky130)</a:t>
            </a:r>
          </a:p>
          <a:p>
            <a:pPr>
              <a:spcAft>
                <a:spcPts val="600"/>
              </a:spcAft>
              <a:defRPr sz="1300" b="1">
                <a:solidFill>
                  <a:srgbClr val="FFFFFF"/>
                </a:solidFill>
                <a:latin typeface="Segoe UI"/>
              </a:defRPr>
            </a:pPr>
            <a:r>
              <a:t>Học viên thực hiện :  Thái Tuấn Hiệp</a:t>
            </a:r>
          </a:p>
          <a:p>
            <a:pPr>
              <a:spcAft>
                <a:spcPts val="600"/>
              </a:spcAft>
              <a:defRPr sz="1250">
                <a:solidFill>
                  <a:srgbClr val="E2E8F0"/>
                </a:solidFill>
                <a:latin typeface="Segoe UI"/>
              </a:defRPr>
            </a:pPr>
            <a:r>
              <a:t>Giảng viên hướng dẫn :  ThS. Nguyễn Văn Đông</a:t>
            </a:r>
          </a:p>
          <a:p>
            <a:pPr>
              <a:defRPr sz="1150" i="1">
                <a:solidFill>
                  <a:srgbClr val="94A3B8"/>
                </a:solidFill>
                <a:latin typeface="Segoe UI"/>
              </a:defRPr>
            </a:pPr>
            <a:r>
              <a:t>Học kỳ :  SEM3  |  Chuyên ngành: Thiết kế Vi mạch Bán dẫn (Chip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TỔNG QUAN BÁO CÁO</a:t>
            </a:r>
          </a:p>
          <a:p>
            <a:pPr>
              <a:defRPr sz="1700" b="1">
                <a:solidFill>
                  <a:srgbClr val="0F172A"/>
                </a:solidFill>
                <a:latin typeface="Segoe UI"/>
              </a:defRPr>
            </a:pPr>
            <a:r>
              <a:t>Nội Dung Báo Cáo Đồ Án (6 Phần Chuẩn Mực)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02 / 26</a:t>
            </a:r>
          </a:p>
        </p:txBody>
      </p:sp>
      <p:sp>
        <p:nvSpPr>
          <p:cNvPr id="8" name="Rounded Rectangle 7"/>
          <p:cNvSpPr/>
          <p:nvPr/>
        </p:nvSpPr>
        <p:spPr>
          <a:xfrm>
            <a:off x="731520" y="1371600"/>
            <a:ext cx="3429000" cy="214884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3063240" cy="1783080"/>
          </a:xfrm>
          <a:prstGeom prst="rect">
            <a:avLst/>
          </a:prstGeom>
          <a:noFill/>
        </p:spPr>
        <p:txBody>
          <a:bodyPr wrap="square">
            <a:spAutoFit/>
          </a:bodyPr>
          <a:lstStyle/>
          <a:p>
            <a:pPr>
              <a:spcAft>
                <a:spcPts val="800"/>
              </a:spcAft>
              <a:defRPr sz="1250" b="1">
                <a:solidFill>
                  <a:srgbClr val="2563EB"/>
                </a:solidFill>
                <a:latin typeface="Segoe UI"/>
              </a:defRPr>
            </a:pPr>
            <a:r>
              <a:t>Phần 1: Giới Thiệu Dự Án</a:t>
            </a:r>
          </a:p>
          <a:p>
            <a:pPr>
              <a:lnSpc>
                <a:spcPct val="125000"/>
              </a:lnSpc>
              <a:defRPr sz="1000">
                <a:solidFill>
                  <a:srgbClr val="475569"/>
                </a:solidFill>
                <a:latin typeface="Segoe UI"/>
              </a:defRPr>
            </a:pPr>
            <a:r>
              <a:t>Hệ thống kiểm soát ra vào Offline bảo mật cao, lý do chọn bộ nhớ SPI Flash NVM lưu trữ dữ liệu.</a:t>
            </a:r>
          </a:p>
        </p:txBody>
      </p:sp>
      <p:sp>
        <p:nvSpPr>
          <p:cNvPr id="10" name="Rounded Rectangle 9"/>
          <p:cNvSpPr/>
          <p:nvPr/>
        </p:nvSpPr>
        <p:spPr>
          <a:xfrm>
            <a:off x="4343400" y="1371600"/>
            <a:ext cx="3429000" cy="214884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54480"/>
            <a:ext cx="3063240" cy="1783080"/>
          </a:xfrm>
          <a:prstGeom prst="rect">
            <a:avLst/>
          </a:prstGeom>
          <a:noFill/>
        </p:spPr>
        <p:txBody>
          <a:bodyPr wrap="square">
            <a:spAutoFit/>
          </a:bodyPr>
          <a:lstStyle/>
          <a:p>
            <a:pPr>
              <a:spcAft>
                <a:spcPts val="800"/>
              </a:spcAft>
              <a:defRPr sz="1250" b="1">
                <a:solidFill>
                  <a:srgbClr val="2563EB"/>
                </a:solidFill>
                <a:latin typeface="Segoe UI"/>
              </a:defRPr>
            </a:pPr>
            <a:r>
              <a:t>Phần 2: Nền Tảng Phần Cứng &amp; Phần Mềm</a:t>
            </a:r>
          </a:p>
          <a:p>
            <a:pPr>
              <a:lnSpc>
                <a:spcPct val="125000"/>
              </a:lnSpc>
              <a:defRPr sz="1000">
                <a:solidFill>
                  <a:srgbClr val="475569"/>
                </a:solidFill>
                <a:latin typeface="Segoe UI"/>
              </a:defRPr>
            </a:pPr>
            <a:r>
              <a:t>Kit FPGA Basys 3, đầu đọc RDM6300, chuỗi công cụ Vivado, OpenLane 2 &amp; RISC-V GCC.</a:t>
            </a:r>
          </a:p>
        </p:txBody>
      </p:sp>
      <p:sp>
        <p:nvSpPr>
          <p:cNvPr id="12" name="Rounded Rectangle 11"/>
          <p:cNvSpPr/>
          <p:nvPr/>
        </p:nvSpPr>
        <p:spPr>
          <a:xfrm>
            <a:off x="7955280" y="1371600"/>
            <a:ext cx="3429000" cy="214884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554480"/>
            <a:ext cx="3063240" cy="1783080"/>
          </a:xfrm>
          <a:prstGeom prst="rect">
            <a:avLst/>
          </a:prstGeom>
          <a:noFill/>
        </p:spPr>
        <p:txBody>
          <a:bodyPr wrap="square">
            <a:spAutoFit/>
          </a:bodyPr>
          <a:lstStyle/>
          <a:p>
            <a:pPr>
              <a:spcAft>
                <a:spcPts val="800"/>
              </a:spcAft>
              <a:defRPr sz="1250" b="1">
                <a:solidFill>
                  <a:srgbClr val="2563EB"/>
                </a:solidFill>
                <a:latin typeface="Segoe UI"/>
              </a:defRPr>
            </a:pPr>
            <a:r>
              <a:t>Phần 3: Kiến Trúc SoC &amp; Vi Mạch UART</a:t>
            </a:r>
          </a:p>
          <a:p>
            <a:pPr>
              <a:lnSpc>
                <a:spcPct val="125000"/>
              </a:lnSpc>
              <a:defRPr sz="1000">
                <a:solidFill>
                  <a:srgbClr val="475569"/>
                </a:solidFill>
                <a:latin typeface="Segoe UI"/>
              </a:defRPr>
            </a:pPr>
            <a:r>
              <a:t>Quy trình 5 giai đoạn thiết kế SoC, so sánh RTL vs C và sơ đồ khối 5 tầng vi mạch UART.</a:t>
            </a:r>
          </a:p>
        </p:txBody>
      </p:sp>
      <p:sp>
        <p:nvSpPr>
          <p:cNvPr id="14" name="Rounded Rectangle 13"/>
          <p:cNvSpPr/>
          <p:nvPr/>
        </p:nvSpPr>
        <p:spPr>
          <a:xfrm>
            <a:off x="731520" y="3794760"/>
            <a:ext cx="3429000" cy="214884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977640"/>
            <a:ext cx="3063240" cy="1783080"/>
          </a:xfrm>
          <a:prstGeom prst="rect">
            <a:avLst/>
          </a:prstGeom>
          <a:noFill/>
        </p:spPr>
        <p:txBody>
          <a:bodyPr wrap="square">
            <a:spAutoFit/>
          </a:bodyPr>
          <a:lstStyle/>
          <a:p>
            <a:pPr>
              <a:spcAft>
                <a:spcPts val="800"/>
              </a:spcAft>
              <a:defRPr sz="1250" b="1">
                <a:solidFill>
                  <a:srgbClr val="2563EB"/>
                </a:solidFill>
                <a:latin typeface="Segoe UI"/>
              </a:defRPr>
            </a:pPr>
            <a:r>
              <a:t>Phần 4: Firmware MMIO &amp; Testbench Mô Phỏng</a:t>
            </a:r>
          </a:p>
          <a:p>
            <a:pPr>
              <a:lnSpc>
                <a:spcPct val="125000"/>
              </a:lnSpc>
              <a:defRPr sz="1000">
                <a:solidFill>
                  <a:srgbClr val="475569"/>
                </a:solidFill>
                <a:latin typeface="Segoe UI"/>
              </a:defRPr>
            </a:pPr>
            <a:r>
              <a:t>Chi tiết 6 biến địa chỉ phần cứng trong C và 2 testbench kiểm thử toàn diện RTL &amp; Top SoC.</a:t>
            </a:r>
          </a:p>
        </p:txBody>
      </p:sp>
      <p:sp>
        <p:nvSpPr>
          <p:cNvPr id="16" name="Rounded Rectangle 15"/>
          <p:cNvSpPr/>
          <p:nvPr/>
        </p:nvSpPr>
        <p:spPr>
          <a:xfrm>
            <a:off x="4343400" y="3794760"/>
            <a:ext cx="3429000" cy="214884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977640"/>
            <a:ext cx="3063240" cy="1783080"/>
          </a:xfrm>
          <a:prstGeom prst="rect">
            <a:avLst/>
          </a:prstGeom>
          <a:noFill/>
        </p:spPr>
        <p:txBody>
          <a:bodyPr wrap="square">
            <a:spAutoFit/>
          </a:bodyPr>
          <a:lstStyle/>
          <a:p>
            <a:pPr>
              <a:spcAft>
                <a:spcPts val="800"/>
              </a:spcAft>
              <a:defRPr sz="1250" b="1">
                <a:solidFill>
                  <a:srgbClr val="2563EB"/>
                </a:solidFill>
                <a:latin typeface="Segoe UI"/>
              </a:defRPr>
            </a:pPr>
            <a:r>
              <a:t>Phần 5: Demo Thực Nghiệm Trên FPGA</a:t>
            </a:r>
          </a:p>
          <a:p>
            <a:pPr>
              <a:lnSpc>
                <a:spcPct val="125000"/>
              </a:lnSpc>
              <a:defRPr sz="1000">
                <a:solidFill>
                  <a:srgbClr val="475569"/>
                </a:solidFill>
                <a:latin typeface="Segoe UI"/>
              </a:defRPr>
            </a:pPr>
            <a:r>
              <a:t>Mạch nguồn 5V &amp; trở 1kΩ, phần mềm Host Console CLI 10 chức năng &amp; kịch bản quẹt thẻ.</a:t>
            </a:r>
          </a:p>
        </p:txBody>
      </p:sp>
      <p:sp>
        <p:nvSpPr>
          <p:cNvPr id="18" name="Rounded Rectangle 17"/>
          <p:cNvSpPr/>
          <p:nvPr/>
        </p:nvSpPr>
        <p:spPr>
          <a:xfrm>
            <a:off x="7955280" y="3794760"/>
            <a:ext cx="3429000" cy="214884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3977640"/>
            <a:ext cx="3063240" cy="1783080"/>
          </a:xfrm>
          <a:prstGeom prst="rect">
            <a:avLst/>
          </a:prstGeom>
          <a:noFill/>
        </p:spPr>
        <p:txBody>
          <a:bodyPr wrap="square">
            <a:spAutoFit/>
          </a:bodyPr>
          <a:lstStyle/>
          <a:p>
            <a:pPr>
              <a:spcAft>
                <a:spcPts val="800"/>
              </a:spcAft>
              <a:defRPr sz="1250" b="1">
                <a:solidFill>
                  <a:srgbClr val="2563EB"/>
                </a:solidFill>
                <a:latin typeface="Segoe UI"/>
              </a:defRPr>
            </a:pPr>
            <a:r>
              <a:t>Phần 6: Thiết Kế Vật Lý ASIC &amp; Ký Duyệt</a:t>
            </a:r>
          </a:p>
          <a:p>
            <a:pPr>
              <a:lnSpc>
                <a:spcPct val="125000"/>
              </a:lnSpc>
              <a:defRPr sz="1000">
                <a:solidFill>
                  <a:srgbClr val="475569"/>
                </a:solidFill>
                <a:latin typeface="Segoe UI"/>
              </a:defRPr>
            </a:pPr>
            <a:r>
              <a:t>Quy trình RTL-to-GDSII trên OpenLane 2 (Sky130): Layout GDSII, chỉ số PPA và ký duyệt Sign-off.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1: GIỚI THIỆU DỰ ÁN</a:t>
            </a:r>
          </a:p>
          <a:p>
            <a:pPr>
              <a:defRPr sz="1700" b="1">
                <a:solidFill>
                  <a:srgbClr val="0F172A"/>
                </a:solidFill>
                <a:latin typeface="Segoe UI"/>
              </a:defRPr>
            </a:pPr>
            <a:r>
              <a:t>Hệ Thống Kiểm Soát Ra Vào Offline &amp; Vai Trò Cốt Tử Của SPI Flash</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03 / 26</a:t>
            </a:r>
          </a:p>
        </p:txBody>
      </p:sp>
      <p:sp>
        <p:nvSpPr>
          <p:cNvPr id="8" name="Rounded Rectangle 7"/>
          <p:cNvSpPr/>
          <p:nvPr/>
        </p:nvSpPr>
        <p:spPr>
          <a:xfrm>
            <a:off x="731520" y="1234440"/>
            <a:ext cx="5257800"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4983480" cy="274320"/>
          </a:xfrm>
          <a:prstGeom prst="rect">
            <a:avLst/>
          </a:prstGeom>
          <a:noFill/>
        </p:spPr>
        <p:txBody>
          <a:bodyPr wrap="none" lIns="0" tIns="0" rIns="0" bIns="0">
            <a:spAutoFit/>
          </a:bodyPr>
          <a:lstStyle/>
          <a:p>
            <a:pPr algn="ctr">
              <a:defRPr sz="1050" b="1">
                <a:solidFill>
                  <a:srgbClr val="2563EB"/>
                </a:solidFill>
                <a:latin typeface="Segoe UI"/>
              </a:defRPr>
            </a:pPr>
            <a:r>
              <a:t>SƠ ĐỒ KHỐI VI HỆ THỐNG TRÊN CHIP (SOC ARCHITECTURE)</a:t>
            </a:r>
          </a:p>
        </p:txBody>
      </p:sp>
      <p:pic>
        <p:nvPicPr>
          <p:cNvPr id="10" name="Picture 9" descr="fig1_block_diagram.png"/>
          <p:cNvPicPr>
            <a:picLocks noChangeAspect="1"/>
          </p:cNvPicPr>
          <p:nvPr/>
        </p:nvPicPr>
        <p:blipFill>
          <a:blip r:embed="rId2"/>
          <a:stretch>
            <a:fillRect/>
          </a:stretch>
        </p:blipFill>
        <p:spPr>
          <a:xfrm>
            <a:off x="868680" y="1682496"/>
            <a:ext cx="4983480" cy="3593592"/>
          </a:xfrm>
          <a:prstGeom prst="rect">
            <a:avLst/>
          </a:prstGeom>
        </p:spPr>
      </p:pic>
      <p:sp>
        <p:nvSpPr>
          <p:cNvPr id="11" name="Rounded Rectangle 10"/>
          <p:cNvSpPr/>
          <p:nvPr/>
        </p:nvSpPr>
        <p:spPr>
          <a:xfrm>
            <a:off x="960120" y="5376672"/>
            <a:ext cx="4800600" cy="749808"/>
          </a:xfrm>
          <a:prstGeom prst="roundRect">
            <a:avLst>
              <a:gd name="adj" fmla="val 2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5413248"/>
            <a:ext cx="4572000" cy="658368"/>
          </a:xfrm>
          <a:prstGeom prst="rect">
            <a:avLst/>
          </a:prstGeom>
          <a:noFill/>
        </p:spPr>
        <p:txBody>
          <a:bodyPr wrap="square" lIns="0" tIns="0" rIns="0" bIns="0">
            <a:spAutoFit/>
          </a:bodyPr>
          <a:lstStyle/>
          <a:p>
            <a:pPr>
              <a:spcAft>
                <a:spcPts val="200"/>
              </a:spcAft>
              <a:defRPr sz="819" b="1">
                <a:solidFill>
                  <a:srgbClr val="2563EB"/>
                </a:solidFill>
                <a:latin typeface="Segoe UI"/>
              </a:defRPr>
            </a:pPr>
            <a:r>
              <a:t>ĐẶC TRƯNG CỐT LÕI CỦA THIẾT KẾ VI MẠCH:</a:t>
            </a:r>
          </a:p>
          <a:p>
            <a:pPr>
              <a:lnSpc>
                <a:spcPct val="115000"/>
              </a:lnSpc>
              <a:defRPr sz="780">
                <a:solidFill>
                  <a:srgbClr val="0F172A"/>
                </a:solidFill>
                <a:latin typeface="Segoe UI"/>
              </a:defRPr>
            </a:pPr>
            <a:r>
              <a:t>• Tích hợp CPU RV32I, bộ điều khiển SPI Flash XIP, 1KB SRAM &amp; 2 kênh UART FIFO.</a:t>
            </a:r>
            <a:br/>
            <a:r>
              <a:t>• Tự giải mã và đối chiếu thẻ RFID tại chỗ với độ trễ siêu nhỏ (&lt; 10 µs).</a:t>
            </a:r>
          </a:p>
        </p:txBody>
      </p:sp>
      <p:sp>
        <p:nvSpPr>
          <p:cNvPr id="13" name="Rounded Rectangle 12"/>
          <p:cNvSpPr/>
          <p:nvPr/>
        </p:nvSpPr>
        <p:spPr>
          <a:xfrm>
            <a:off x="6172200" y="123444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371600"/>
            <a:ext cx="4800600" cy="4754880"/>
          </a:xfrm>
          <a:prstGeom prst="rect">
            <a:avLst/>
          </a:prstGeom>
          <a:noFill/>
        </p:spPr>
        <p:txBody>
          <a:bodyPr wrap="square" lIns="0" tIns="0" rIns="0" bIns="0">
            <a:spAutoFit/>
          </a:bodyPr>
          <a:lstStyle/>
          <a:p>
            <a:pPr>
              <a:spcAft>
                <a:spcPts val="400"/>
              </a:spcAft>
              <a:defRPr b="1" sz="1150">
                <a:solidFill>
                  <a:srgbClr val="2563EB"/>
                </a:solidFill>
                <a:latin typeface="Segoe UI"/>
              </a:defRPr>
            </a:pPr>
            <a:r>
              <a:t>TÍNH CẤP THIẾT &amp; VAI TRÒ CỐT TỬ CỦA BỘ NHỚ SPI FLASH</a:t>
            </a:r>
          </a:p>
          <a:p>
            <a:pPr>
              <a:spcBef>
                <a:spcPts val="300"/>
              </a:spcBef>
              <a:spcAft>
                <a:spcPts val="100"/>
              </a:spcAft>
              <a:defRPr sz="880" b="1">
                <a:solidFill>
                  <a:srgbClr val="2563EB"/>
                </a:solidFill>
                <a:latin typeface="Segoe UI"/>
              </a:defRPr>
            </a:pPr>
            <a:r>
              <a:t>1. TÍNH CẤP THIẾT CỦA HỆ THỐNG OFFLINE</a:t>
            </a:r>
          </a:p>
          <a:p>
            <a:pPr>
              <a:lnSpc>
                <a:spcPct val="110000"/>
              </a:lnSpc>
              <a:spcAft>
                <a:spcPts val="150"/>
              </a:spcAft>
              <a:defRPr sz="780">
                <a:solidFill>
                  <a:srgbClr val="0F172A"/>
                </a:solidFill>
                <a:latin typeface="Segoe UI"/>
              </a:defRPr>
            </a:pPr>
            <a:r>
              <a:t>• Loại bỏ phụ thuộc Internet &amp; Cloud: Khắc phục triệt để độ trễ mạng lớn (vài trăm ms đến vài giây), nguy cơ đứt cáp và lộ lọt dữ liệu định danh nhân sự.</a:t>
            </a:r>
          </a:p>
          <a:p>
            <a:pPr>
              <a:lnSpc>
                <a:spcPct val="110000"/>
              </a:lnSpc>
              <a:spcAft>
                <a:spcPts val="150"/>
              </a:spcAft>
              <a:defRPr sz="780">
                <a:solidFill>
                  <a:srgbClr val="0F172A"/>
                </a:solidFill>
                <a:latin typeface="Segoe UI"/>
              </a:defRPr>
            </a:pPr>
            <a:r>
              <a:t>• Vận hành thời gian thực độc lập 24/7: SoC tự giải mã thẻ và đối chiếu Whitelist tại chỗ với độ trễ siêu nhỏ (&lt; 10 µs), vận hành tin cậy tại địa bàn biệt lập.</a:t>
            </a:r>
          </a:p>
          <a:p>
            <a:pPr>
              <a:spcBef>
                <a:spcPts val="300"/>
              </a:spcBef>
              <a:spcAft>
                <a:spcPts val="100"/>
              </a:spcAft>
              <a:defRPr sz="880" b="1">
                <a:solidFill>
                  <a:srgbClr val="10B981"/>
                </a:solidFill>
                <a:latin typeface="Segoe UI"/>
              </a:defRPr>
            </a:pPr>
            <a:r>
              <a:t>2. VAI TRÒ CỐT TỬ CỦA BỘ NHỚ SPI FLASH NVM</a:t>
            </a:r>
          </a:p>
          <a:p>
            <a:pPr>
              <a:lnSpc>
                <a:spcPct val="110000"/>
              </a:lnSpc>
              <a:spcAft>
                <a:spcPts val="150"/>
              </a:spcAft>
              <a:defRPr sz="780">
                <a:solidFill>
                  <a:srgbClr val="0F172A"/>
                </a:solidFill>
                <a:latin typeface="Segoe UI"/>
              </a:defRPr>
            </a:pPr>
            <a:r>
              <a:t>• Lưu trữ bất biến không cần pin nuôi: Lưu trữ 4,096 thẻ Whitelist (Sector 48) và 512 bản ghi Access Logs (Sector 49) an toàn trên 20 năm.</a:t>
            </a:r>
          </a:p>
          <a:p>
            <a:pPr>
              <a:lnSpc>
                <a:spcPct val="110000"/>
              </a:lnSpc>
              <a:spcAft>
                <a:spcPts val="150"/>
              </a:spcAft>
              <a:defRPr sz="780">
                <a:solidFill>
                  <a:srgbClr val="0F172A"/>
                </a:solidFill>
                <a:latin typeface="Segoe UI"/>
              </a:defRPr>
            </a:pPr>
            <a:r>
              <a:t>• Thực thi tại chỗ XIP (eXecute-In-Place): CPU kéo trực tiếp opcode từ Flash ngoài 4MB để chạy, chỉ cần 1KB SRAM nội, tiết kiệm &gt; 70% diện tích silicon ASIC.</a:t>
            </a:r>
          </a:p>
          <a:p>
            <a:pPr>
              <a:lnSpc>
                <a:spcPct val="110000"/>
              </a:lnSpc>
              <a:spcAft>
                <a:spcPts val="150"/>
              </a:spcAft>
              <a:defRPr sz="780">
                <a:solidFill>
                  <a:srgbClr val="0F172A"/>
                </a:solidFill>
                <a:latin typeface="Segoe UI"/>
              </a:defRPr>
            </a:pPr>
            <a:r>
              <a:t>• Tiết kiệm chân pad ngoại vi ASIC: Chuẩn SPI chỉ dùng 4 chân (CS, SCK, MOSI, MISO), tối ưu hóa số chân pad (chỉ 31 chân toàn chip) và chi phí đóng gói.</a:t>
            </a:r>
          </a:p>
          <a:p>
            <a:pPr>
              <a:spcBef>
                <a:spcPts val="300"/>
              </a:spcBef>
              <a:spcAft>
                <a:spcPts val="100"/>
              </a:spcAft>
              <a:defRPr sz="880" b="1">
                <a:solidFill>
                  <a:srgbClr val="7C3AED"/>
                </a:solidFill>
                <a:latin typeface="Segoe UI"/>
              </a:defRPr>
            </a:pPr>
            <a:r>
              <a:t>3. TỰ CHỦ THIẾT KẾ VI MẠCH ASIC</a:t>
            </a:r>
          </a:p>
          <a:p>
            <a:pPr>
              <a:lnSpc>
                <a:spcPct val="110000"/>
              </a:lnSpc>
              <a:spcAft>
                <a:spcPts val="150"/>
              </a:spcAft>
              <a:defRPr sz="780">
                <a:solidFill>
                  <a:srgbClr val="0F172A"/>
                </a:solidFill>
                <a:latin typeface="Segoe UI"/>
              </a:defRPr>
            </a:pPr>
            <a:r>
              <a:t>• Loại bỏ backdoor phần cứng: Làm chủ từ mã nguồn RTL Verilog, tối ưu hóa kiến trúc đến layout GDSII trên tiến trình SkyWater 130nm.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2: NỀN TẢNG PHẦN CỨNG</a:t>
            </a:r>
          </a:p>
          <a:p>
            <a:pPr>
              <a:defRPr sz="1700" b="1">
                <a:solidFill>
                  <a:srgbClr val="0F172A"/>
                </a:solidFill>
                <a:latin typeface="Segoe UI"/>
              </a:defRPr>
            </a:pPr>
            <a:r>
              <a:t>Lựa Chọn Nền Tảng Phần Cứng: FPGA Basys 3 &amp; Đầu Đọc RFID RDM6300</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04 / 26</a:t>
            </a:r>
          </a:p>
        </p:txBody>
      </p:sp>
      <p:sp>
        <p:nvSpPr>
          <p:cNvPr id="8" name="Rounded Rectangle 7"/>
          <p:cNvSpPr/>
          <p:nvPr/>
        </p:nvSpPr>
        <p:spPr>
          <a:xfrm>
            <a:off x="731520" y="1234440"/>
            <a:ext cx="5257800" cy="5029200"/>
          </a:xfrm>
          <a:prstGeom prst="roundRect">
            <a:avLst>
              <a:gd name="adj" fmla="val 2000"/>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4983480" cy="274320"/>
          </a:xfrm>
          <a:prstGeom prst="rect">
            <a:avLst/>
          </a:prstGeom>
          <a:noFill/>
        </p:spPr>
        <p:txBody>
          <a:bodyPr wrap="none" lIns="0" tIns="0" rIns="0" bIns="0">
            <a:spAutoFit/>
          </a:bodyPr>
          <a:lstStyle/>
          <a:p>
            <a:pPr algn="ctr">
              <a:defRPr sz="1050" b="1">
                <a:solidFill>
                  <a:srgbClr val="D97706"/>
                </a:solidFill>
                <a:latin typeface="Segoe UI"/>
              </a:defRPr>
            </a:pPr>
            <a:r>
              <a:t>MẠCH PHẦN CỨNG THỰC NGHIỆM (FPGA BASYS 3 &amp; RDM6300)</a:t>
            </a:r>
          </a:p>
        </p:txBody>
      </p:sp>
      <p:pic>
        <p:nvPicPr>
          <p:cNvPr id="10" name="Picture 9" descr="Device.jpg"/>
          <p:cNvPicPr>
            <a:picLocks noChangeAspect="1"/>
          </p:cNvPicPr>
          <p:nvPr/>
        </p:nvPicPr>
        <p:blipFill>
          <a:blip r:embed="rId2"/>
          <a:stretch>
            <a:fillRect/>
          </a:stretch>
        </p:blipFill>
        <p:spPr>
          <a:xfrm>
            <a:off x="960120" y="1682496"/>
            <a:ext cx="4800600" cy="3593592"/>
          </a:xfrm>
          <a:prstGeom prst="rect">
            <a:avLst/>
          </a:prstGeom>
        </p:spPr>
      </p:pic>
      <p:sp>
        <p:nvSpPr>
          <p:cNvPr id="11" name="Rounded Rectangle 10"/>
          <p:cNvSpPr/>
          <p:nvPr/>
        </p:nvSpPr>
        <p:spPr>
          <a:xfrm>
            <a:off x="960120" y="5376672"/>
            <a:ext cx="4800600" cy="749808"/>
          </a:xfrm>
          <a:prstGeom prst="roundRect">
            <a:avLst>
              <a:gd name="adj" fmla="val 2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5413248"/>
            <a:ext cx="4572000" cy="658368"/>
          </a:xfrm>
          <a:prstGeom prst="rect">
            <a:avLst/>
          </a:prstGeom>
          <a:noFill/>
        </p:spPr>
        <p:txBody>
          <a:bodyPr wrap="square" lIns="0" tIns="0" rIns="0" bIns="0">
            <a:spAutoFit/>
          </a:bodyPr>
          <a:lstStyle/>
          <a:p>
            <a:pPr>
              <a:spcAft>
                <a:spcPts val="200"/>
              </a:spcAft>
              <a:defRPr sz="819" b="1">
                <a:solidFill>
                  <a:srgbClr val="D97706"/>
                </a:solidFill>
                <a:latin typeface="Segoe UI"/>
              </a:defRPr>
            </a:pPr>
            <a:r>
              <a:t>TỔ CHỨC MẠCH GHÉP NỐI NGOẠI VI:</a:t>
            </a:r>
          </a:p>
          <a:p>
            <a:pPr>
              <a:lnSpc>
                <a:spcPct val="115000"/>
              </a:lnSpc>
              <a:defRPr sz="780">
                <a:solidFill>
                  <a:srgbClr val="0F172A"/>
                </a:solidFill>
                <a:latin typeface="Segoe UI"/>
              </a:defRPr>
            </a:pPr>
            <a:r>
              <a:t>• Mạch nguồn MB102 cấp riêng 5V DC cho RDM6300 (PMOD chỉ cấp 3.3V, chung mass GND).</a:t>
            </a:r>
            <a:br/>
            <a:r>
              <a:t>• Điện trở đệm 1kΩ mắc nối tiếp chân TX RDM6300 sang JA1 Basys 3 bảo vệ I/O 3.3V FPGA.</a:t>
            </a:r>
          </a:p>
        </p:txBody>
      </p:sp>
      <p:sp>
        <p:nvSpPr>
          <p:cNvPr id="13" name="Rounded Rectangle 12"/>
          <p:cNvSpPr/>
          <p:nvPr/>
        </p:nvSpPr>
        <p:spPr>
          <a:xfrm>
            <a:off x="6172200" y="1234440"/>
            <a:ext cx="5285232" cy="5029200"/>
          </a:xfrm>
          <a:prstGeom prst="roundRect">
            <a:avLst>
              <a:gd name="adj" fmla="val 2000"/>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371600"/>
            <a:ext cx="4800600" cy="4754880"/>
          </a:xfrm>
          <a:prstGeom prst="rect">
            <a:avLst/>
          </a:prstGeom>
          <a:noFill/>
        </p:spPr>
        <p:txBody>
          <a:bodyPr wrap="square" lIns="0" tIns="0" rIns="0" bIns="0">
            <a:spAutoFit/>
          </a:bodyPr>
          <a:lstStyle/>
          <a:p>
            <a:pPr>
              <a:spcAft>
                <a:spcPts val="400"/>
              </a:spcAft>
              <a:defRPr b="1" sz="1150">
                <a:solidFill>
                  <a:srgbClr val="D97706"/>
                </a:solidFill>
                <a:latin typeface="Segoe UI"/>
              </a:defRPr>
            </a:pPr>
            <a:r>
              <a:t>ĐẶC TẢ KỸ THUẬT PHẦN CỨNG BASYS 3 &amp; RDM6300</a:t>
            </a:r>
          </a:p>
          <a:p>
            <a:pPr>
              <a:spcBef>
                <a:spcPts val="300"/>
              </a:spcBef>
              <a:spcAft>
                <a:spcPts val="100"/>
              </a:spcAft>
              <a:defRPr sz="880" b="1">
                <a:solidFill>
                  <a:srgbClr val="2563EB"/>
                </a:solidFill>
                <a:latin typeface="Segoe UI"/>
              </a:defRPr>
            </a:pPr>
            <a:r>
              <a:t>1. BO MẠCH FPGA DIGILENT BASYS 3</a:t>
            </a:r>
          </a:p>
          <a:p>
            <a:pPr>
              <a:lnSpc>
                <a:spcPct val="110000"/>
              </a:lnSpc>
              <a:spcAft>
                <a:spcPts val="150"/>
              </a:spcAft>
              <a:defRPr sz="780">
                <a:solidFill>
                  <a:srgbClr val="0F172A"/>
                </a:solidFill>
                <a:latin typeface="Segoe UI"/>
              </a:defRPr>
            </a:pPr>
            <a:r>
              <a:t>• Chip FPGA Xilinx Artix-7 (XC7A35T): 33,280 Logic Cells, 50 Block RAM 36Kb, 90 DSP Slices - nền tảng lý tưởng tạo mẫu SoC.</a:t>
            </a:r>
          </a:p>
          <a:p>
            <a:pPr>
              <a:lnSpc>
                <a:spcPct val="110000"/>
              </a:lnSpc>
              <a:spcAft>
                <a:spcPts val="150"/>
              </a:spcAft>
              <a:defRPr sz="780">
                <a:solidFill>
                  <a:srgbClr val="0F172A"/>
                </a:solidFill>
                <a:latin typeface="Segoe UI"/>
              </a:defRPr>
            </a:pPr>
            <a:r>
              <a:t>• Tích hợp sẵn chip Flash SPI 32Mbit: Chip Spansion S25FL032P giao tiếp qua nguyên thủy STARTUPE2 của Xilinx.</a:t>
            </a:r>
          </a:p>
          <a:p>
            <a:pPr>
              <a:lnSpc>
                <a:spcPct val="110000"/>
              </a:lnSpc>
              <a:spcAft>
                <a:spcPts val="150"/>
              </a:spcAft>
              <a:defRPr sz="780">
                <a:solidFill>
                  <a:srgbClr val="0F172A"/>
                </a:solidFill>
                <a:latin typeface="Segoe UI"/>
              </a:defRPr>
            </a:pPr>
            <a:r>
              <a:t>• Mạch nạp &amp; UART FTDI tích hợp: Cổng micro-USB cấp nguồn và mở kênh UART nối tiếp kết nối trực tiếp với máy tính.</a:t>
            </a:r>
          </a:p>
          <a:p>
            <a:pPr>
              <a:lnSpc>
                <a:spcPct val="110000"/>
              </a:lnSpc>
              <a:spcAft>
                <a:spcPts val="150"/>
              </a:spcAft>
              <a:defRPr sz="780">
                <a:solidFill>
                  <a:srgbClr val="0F172A"/>
                </a:solidFill>
                <a:latin typeface="Segoe UI"/>
              </a:defRPr>
            </a:pPr>
            <a:r>
              <a:t>• Hệ thống hiển thị &amp; chẩn đoán: 16 LED đơn, 16 công tắc gạt (Switch) và LED 7 đoạn hiển thị trạng thái quẹt thẻ.</a:t>
            </a:r>
          </a:p>
          <a:p>
            <a:pPr>
              <a:spcBef>
                <a:spcPts val="300"/>
              </a:spcBef>
              <a:spcAft>
                <a:spcPts val="100"/>
              </a:spcAft>
              <a:defRPr sz="880" b="1">
                <a:solidFill>
                  <a:srgbClr val="D97706"/>
                </a:solidFill>
                <a:latin typeface="Segoe UI"/>
              </a:defRPr>
            </a:pPr>
            <a:r>
              <a:t>2. MODULE ĐẦU ĐỌC RFID RDM6300 125KHZ</a:t>
            </a:r>
          </a:p>
          <a:p>
            <a:pPr>
              <a:lnSpc>
                <a:spcPct val="110000"/>
              </a:lnSpc>
              <a:spcAft>
                <a:spcPts val="150"/>
              </a:spcAft>
              <a:defRPr sz="780">
                <a:solidFill>
                  <a:srgbClr val="0F172A"/>
                </a:solidFill>
                <a:latin typeface="Segoe UI"/>
              </a:defRPr>
            </a:pPr>
            <a:r>
              <a:t>• Tần số sóng mang 125 kHz EM4100: Tần số tiêu chuẩn công nghiệp cho thẻ cảm ứng tầm gần (khoảng cách đọc 20 - 50 mm).</a:t>
            </a:r>
          </a:p>
          <a:p>
            <a:pPr>
              <a:lnSpc>
                <a:spcPct val="110000"/>
              </a:lnSpc>
              <a:spcAft>
                <a:spcPts val="150"/>
              </a:spcAft>
              <a:defRPr sz="780">
                <a:solidFill>
                  <a:srgbClr val="0F172A"/>
                </a:solidFill>
                <a:latin typeface="Segoe UI"/>
              </a:defRPr>
            </a:pPr>
            <a:r>
              <a:t>• Giao tiếp UART 9600-8-N-1 tự động: Tự động giải mã và phát ra khung dữ liệu ASCII 14 byte (Start 0x02, 10B UID, 2B XOR, Stop 0x03).</a:t>
            </a:r>
          </a:p>
          <a:p>
            <a:pPr>
              <a:lnSpc>
                <a:spcPct val="110000"/>
              </a:lnSpc>
              <a:spcAft>
                <a:spcPts val="150"/>
              </a:spcAft>
              <a:defRPr sz="780">
                <a:solidFill>
                  <a:srgbClr val="0F172A"/>
                </a:solidFill>
                <a:latin typeface="Segoe UI"/>
              </a:defRPr>
            </a:pPr>
            <a:r>
              <a:t>• Ăng-ten cuộn cảm rời linh hoạt: Dễ dàng bố trí tại cửa kiểm soát mà không gây can nhiễu từ trường đến mạch số.</a:t>
            </a:r>
          </a:p>
          <a:p>
            <a:pPr>
              <a:spcBef>
                <a:spcPts val="300"/>
              </a:spcBef>
              <a:spcAft>
                <a:spcPts val="100"/>
              </a:spcAft>
              <a:defRPr sz="880" b="1">
                <a:solidFill>
                  <a:srgbClr val="E11D48"/>
                </a:solidFill>
                <a:latin typeface="Segoe UI"/>
              </a:defRPr>
            </a:pPr>
            <a:r>
              <a:t>3. PHỐI HỢP NGUỒN 5V NGOÀI &amp; ĐIỆN TRỞ 1KΩ</a:t>
            </a:r>
          </a:p>
          <a:p>
            <a:pPr>
              <a:lnSpc>
                <a:spcPct val="110000"/>
              </a:lnSpc>
              <a:spcAft>
                <a:spcPts val="150"/>
              </a:spcAft>
              <a:defRPr sz="780">
                <a:solidFill>
                  <a:srgbClr val="0F172A"/>
                </a:solidFill>
                <a:latin typeface="Segoe UI"/>
              </a:defRPr>
            </a:pPr>
            <a:r>
              <a:t>• Mạch nguồn 5V riêng: Module MB102 cấp đủ 5V nuôi cuộn cảm ăng-ten (ở 3.3V không đọc được thẻ); nối chung GND với Basys 3.</a:t>
            </a:r>
          </a:p>
          <a:p>
            <a:pPr>
              <a:lnSpc>
                <a:spcPct val="110000"/>
              </a:lnSpc>
              <a:spcAft>
                <a:spcPts val="150"/>
              </a:spcAft>
              <a:defRPr sz="780">
                <a:solidFill>
                  <a:srgbClr val="0F172A"/>
                </a:solidFill>
                <a:latin typeface="Segoe UI"/>
              </a:defRPr>
            </a:pPr>
            <a:r>
              <a:t>• Điện trở đệm 1kΩ trên chân TX: Hạn dòng bảo vệ diode kẹp chân I/O 3.3V FPGA Artix-7 khỏi mức áp 5V TTL của RDM6300.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2: CHUỖI CÔNG CỤ PHÁT TRIỂN</a:t>
            </a:r>
          </a:p>
          <a:p>
            <a:pPr>
              <a:defRPr sz="1700" b="1">
                <a:solidFill>
                  <a:srgbClr val="0F172A"/>
                </a:solidFill>
                <a:latin typeface="Segoe UI"/>
              </a:defRPr>
            </a:pPr>
            <a:r>
              <a:t>Chuỗi Công Cụ Phát Triển: FPGA Vivado, ASIC OpenLane 2 &amp; RISC-V GCC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05 / 26</a:t>
            </a:r>
          </a:p>
        </p:txBody>
      </p:sp>
      <p:sp>
        <p:nvSpPr>
          <p:cNvPr id="8" name="Rounded Rectangle 7"/>
          <p:cNvSpPr/>
          <p:nvPr/>
        </p:nvSpPr>
        <p:spPr>
          <a:xfrm>
            <a:off x="731520" y="1280160"/>
            <a:ext cx="3429000" cy="4846320"/>
          </a:xfrm>
          <a:prstGeom prst="roundRect">
            <a:avLst>
              <a:gd name="adj" fmla="val 2000"/>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63040"/>
            <a:ext cx="3099816" cy="4480560"/>
          </a:xfrm>
          <a:prstGeom prst="rect">
            <a:avLst/>
          </a:prstGeom>
          <a:noFill/>
        </p:spPr>
        <p:txBody>
          <a:bodyPr wrap="square">
            <a:spAutoFit/>
          </a:bodyPr>
          <a:lstStyle/>
          <a:p>
            <a:pPr>
              <a:spcAft>
                <a:spcPts val="1200"/>
              </a:spcAft>
              <a:defRPr sz="1200" b="1">
                <a:solidFill>
                  <a:srgbClr val="2563EB"/>
                </a:solidFill>
                <a:latin typeface="Segoe UI"/>
              </a:defRPr>
            </a:pPr>
            <a:r>
              <a:t>MÔ PHỎNG &amp; FPGA: XILINX VIVADO</a:t>
            </a:r>
          </a:p>
          <a:p>
            <a:pPr>
              <a:lnSpc>
                <a:spcPct val="115000"/>
              </a:lnSpc>
              <a:spcAft>
                <a:spcPts val="800"/>
              </a:spcAft>
              <a:defRPr sz="1050">
                <a:solidFill>
                  <a:srgbClr val="0F172A"/>
                </a:solidFill>
                <a:latin typeface="Segoe UI"/>
              </a:defRPr>
            </a:pPr>
            <a:r>
              <a:t>• Môi trường Vivado 2025.1: Công cụ số 1 thế giới cho tổng hợp logic và nạp FPGA Artix-7.</a:t>
            </a:r>
          </a:p>
          <a:p>
            <a:pPr>
              <a:lnSpc>
                <a:spcPct val="115000"/>
              </a:lnSpc>
              <a:spcAft>
                <a:spcPts val="800"/>
              </a:spcAft>
              <a:defRPr sz="1050">
                <a:solidFill>
                  <a:srgbClr val="0F172A"/>
                </a:solidFill>
                <a:latin typeface="Segoe UI"/>
              </a:defRPr>
            </a:pPr>
            <a:r>
              <a:t>• Vivado Simulator (xsim): Mô phỏng chính xác mức chu kỳ clock cho cả testbench RTL thuần và Top SoC.</a:t>
            </a:r>
          </a:p>
          <a:p>
            <a:pPr>
              <a:lnSpc>
                <a:spcPct val="115000"/>
              </a:lnSpc>
              <a:spcAft>
                <a:spcPts val="800"/>
              </a:spcAft>
              <a:defRPr sz="1050">
                <a:solidFill>
                  <a:srgbClr val="0F172A"/>
                </a:solidFill>
                <a:latin typeface="Segoe UI"/>
              </a:defRPr>
            </a:pPr>
            <a:r>
              <a:t>• Tự động hóa bằng Batch Script: Tích hợp sẵn run_sim_uart.bat và run_sim_ping.bat chạy 1-click.</a:t>
            </a:r>
          </a:p>
        </p:txBody>
      </p:sp>
      <p:sp>
        <p:nvSpPr>
          <p:cNvPr id="10" name="Rounded Rectangle 9"/>
          <p:cNvSpPr/>
          <p:nvPr/>
        </p:nvSpPr>
        <p:spPr>
          <a:xfrm>
            <a:off x="4343400" y="1280160"/>
            <a:ext cx="3429000" cy="4846320"/>
          </a:xfrm>
          <a:prstGeom prst="roundRect">
            <a:avLst>
              <a:gd name="adj" fmla="val 2000"/>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1463040"/>
            <a:ext cx="3099816" cy="4480560"/>
          </a:xfrm>
          <a:prstGeom prst="rect">
            <a:avLst/>
          </a:prstGeom>
          <a:noFill/>
        </p:spPr>
        <p:txBody>
          <a:bodyPr wrap="square">
            <a:spAutoFit/>
          </a:bodyPr>
          <a:lstStyle/>
          <a:p>
            <a:pPr>
              <a:spcAft>
                <a:spcPts val="1200"/>
              </a:spcAft>
              <a:defRPr sz="1200" b="1">
                <a:solidFill>
                  <a:srgbClr val="7C3AED"/>
                </a:solidFill>
                <a:latin typeface="Segoe UI"/>
              </a:defRPr>
            </a:pPr>
            <a:r>
              <a:t>THIẾT KẾ VẬT LÝ ASIC: OPENLANE 2</a:t>
            </a:r>
          </a:p>
          <a:p>
            <a:pPr>
              <a:lnSpc>
                <a:spcPct val="115000"/>
              </a:lnSpc>
              <a:spcAft>
                <a:spcPts val="800"/>
              </a:spcAft>
              <a:defRPr sz="1050">
                <a:solidFill>
                  <a:srgbClr val="0F172A"/>
                </a:solidFill>
                <a:latin typeface="Segoe UI"/>
              </a:defRPr>
            </a:pPr>
            <a:r>
              <a:t>• Chuỗi công cụ nguồn mở OpenLane 2: Hiện thực hóa luồng RTL-to-GDSII tự động trên tiến trình SkyWater 130nm.</a:t>
            </a:r>
          </a:p>
          <a:p>
            <a:pPr>
              <a:lnSpc>
                <a:spcPct val="115000"/>
              </a:lnSpc>
              <a:spcAft>
                <a:spcPts val="800"/>
              </a:spcAft>
              <a:defRPr sz="1050">
                <a:solidFill>
                  <a:srgbClr val="0F172A"/>
                </a:solidFill>
                <a:latin typeface="Segoe UI"/>
              </a:defRPr>
            </a:pPr>
            <a:r>
              <a:t>• Công cụ chuẩn công nghiệp tích hợp: Yosys (Synthesis), OpenROAD (P&amp;R), Magic &amp; KLayout (DRC), Netgen (LVS).</a:t>
            </a:r>
          </a:p>
          <a:p>
            <a:pPr>
              <a:lnSpc>
                <a:spcPct val="115000"/>
              </a:lnSpc>
              <a:spcAft>
                <a:spcPts val="800"/>
              </a:spcAft>
              <a:defRPr sz="1050">
                <a:solidFill>
                  <a:srgbClr val="0F172A"/>
                </a:solidFill>
                <a:latin typeface="Segoe UI"/>
              </a:defRPr>
            </a:pPr>
            <a:r>
              <a:t>• Sign-off Tape-out Ready: Tự động chèn diode triệt tiêu Antenna, tối ưu hóa timing MET TIMING 50 MHz.</a:t>
            </a:r>
          </a:p>
        </p:txBody>
      </p:sp>
      <p:sp>
        <p:nvSpPr>
          <p:cNvPr id="12" name="Rounded Rectangle 11"/>
          <p:cNvSpPr/>
          <p:nvPr/>
        </p:nvSpPr>
        <p:spPr>
          <a:xfrm>
            <a:off x="7955280" y="1280160"/>
            <a:ext cx="3429000" cy="4846320"/>
          </a:xfrm>
          <a:prstGeom prst="roundRect">
            <a:avLst>
              <a:gd name="adj" fmla="val 2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2" y="1463040"/>
            <a:ext cx="3099816" cy="4480560"/>
          </a:xfrm>
          <a:prstGeom prst="rect">
            <a:avLst/>
          </a:prstGeom>
          <a:noFill/>
        </p:spPr>
        <p:txBody>
          <a:bodyPr wrap="square">
            <a:spAutoFit/>
          </a:bodyPr>
          <a:lstStyle/>
          <a:p>
            <a:pPr>
              <a:spcAft>
                <a:spcPts val="1200"/>
              </a:spcAft>
              <a:defRPr sz="1200" b="1">
                <a:solidFill>
                  <a:srgbClr val="10B981"/>
                </a:solidFill>
                <a:latin typeface="Segoe UI"/>
              </a:defRPr>
            </a:pPr>
            <a:r>
              <a:t>TOOLCHAIN FIRMWARE: RISC-V GCC &amp; C</a:t>
            </a:r>
          </a:p>
          <a:p>
            <a:pPr>
              <a:lnSpc>
                <a:spcPct val="115000"/>
              </a:lnSpc>
              <a:spcAft>
                <a:spcPts val="800"/>
              </a:spcAft>
              <a:defRPr sz="1050">
                <a:solidFill>
                  <a:srgbClr val="0F172A"/>
                </a:solidFill>
                <a:latin typeface="Segoe UI"/>
              </a:defRPr>
            </a:pPr>
            <a:r>
              <a:t>• Bộ biên dịch riscv32-unknown-elf-gcc: Biên dịch mã C thành tập lệnh RV32I freestanding tối ưu kích thước.</a:t>
            </a:r>
          </a:p>
          <a:p>
            <a:pPr>
              <a:lnSpc>
                <a:spcPct val="115000"/>
              </a:lnSpc>
              <a:spcAft>
                <a:spcPts val="800"/>
              </a:spcAft>
              <a:defRPr sz="1050">
                <a:solidFill>
                  <a:srgbClr val="0F172A"/>
                </a:solidFill>
                <a:latin typeface="Segoe UI"/>
              </a:defRPr>
            </a:pPr>
            <a:r>
              <a:t>• Linker Script sections.lds: Định vị mã nguồn vào Flash XIP (0x0025_0000) và biến vào 1KB SRAM.</a:t>
            </a:r>
          </a:p>
          <a:p>
            <a:pPr>
              <a:lnSpc>
                <a:spcPct val="115000"/>
              </a:lnSpc>
              <a:spcAft>
                <a:spcPts val="800"/>
              </a:spcAft>
              <a:defRPr sz="1050">
                <a:solidFill>
                  <a:srgbClr val="0F172A"/>
                </a:solidFill>
                <a:latin typeface="Segoe UI"/>
              </a:defRPr>
            </a:pPr>
            <a:r>
              <a:t>• Host Console C tương tác: Phần mềm quản trị trên máy tính hỗ trợ 11 lệnh điều khiển qua UART.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KIẾN TRÚC VI HỆ THỐNG SOC</a:t>
            </a:r>
          </a:p>
          <a:p>
            <a:pPr>
              <a:defRPr sz="1700" b="1">
                <a:solidFill>
                  <a:srgbClr val="0F172A"/>
                </a:solidFill>
                <a:latin typeface="Segoe UI"/>
              </a:defRPr>
            </a:pPr>
            <a:r>
              <a:t>Sơ Đồ Khối Kiến Trúc Vi Hệ Thống SoC PicoRV32 (1 Master - 5 Slaves)</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06 / 26</a:t>
            </a:r>
          </a:p>
        </p:txBody>
      </p:sp>
      <p:sp>
        <p:nvSpPr>
          <p:cNvPr id="8" name="Rounded Rectangle 7"/>
          <p:cNvSpPr/>
          <p:nvPr/>
        </p:nvSpPr>
        <p:spPr>
          <a:xfrm>
            <a:off x="731520" y="1234440"/>
            <a:ext cx="6766560" cy="493776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_block_diagram.png"/>
          <p:cNvPicPr>
            <a:picLocks noChangeAspect="1"/>
          </p:cNvPicPr>
          <p:nvPr/>
        </p:nvPicPr>
        <p:blipFill>
          <a:blip r:embed="rId2"/>
          <a:stretch>
            <a:fillRect/>
          </a:stretch>
        </p:blipFill>
        <p:spPr>
          <a:xfrm>
            <a:off x="822960" y="1325880"/>
            <a:ext cx="6583680" cy="4754880"/>
          </a:xfrm>
          <a:prstGeom prst="rect">
            <a:avLst/>
          </a:prstGeom>
        </p:spPr>
      </p:pic>
      <p:sp>
        <p:nvSpPr>
          <p:cNvPr id="10" name="Rounded Rectangle 9"/>
          <p:cNvSpPr/>
          <p:nvPr/>
        </p:nvSpPr>
        <p:spPr>
          <a:xfrm>
            <a:off x="7680960" y="1234440"/>
            <a:ext cx="3776472" cy="4937760"/>
          </a:xfrm>
          <a:prstGeom prst="roundRect">
            <a:avLst>
              <a:gd name="adj" fmla="val 2000"/>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371600"/>
            <a:ext cx="3410712" cy="4663440"/>
          </a:xfrm>
          <a:prstGeom prst="rect">
            <a:avLst/>
          </a:prstGeom>
          <a:noFill/>
        </p:spPr>
        <p:txBody>
          <a:bodyPr wrap="square">
            <a:spAutoFit/>
          </a:bodyPr>
          <a:lstStyle/>
          <a:p>
            <a:pPr>
              <a:spcAft>
                <a:spcPts val="800"/>
              </a:spcAft>
              <a:defRPr sz="1200" b="1">
                <a:solidFill>
                  <a:srgbClr val="2563EB"/>
                </a:solidFill>
                <a:latin typeface="Segoe UI"/>
              </a:defRPr>
            </a:pPr>
            <a:r>
              <a:t>QUY TRÌNH THIẾT KẾ SOC QUA 5 GIAI ĐOẠN</a:t>
            </a:r>
          </a:p>
          <a:p>
            <a:pPr>
              <a:lnSpc>
                <a:spcPct val="115000"/>
              </a:lnSpc>
              <a:spcAft>
                <a:spcPts val="600"/>
              </a:spcAft>
              <a:defRPr sz="950">
                <a:solidFill>
                  <a:srgbClr val="0F172A"/>
                </a:solidFill>
                <a:latin typeface="Segoe UI"/>
              </a:defRPr>
            </a:pPr>
            <a:r>
              <a:t>• Giai đoạn 1 (Khối cốt lõi): Phân tích 2 IP có sẵn (picorv32.v, spimemio.v) và bổ sung 1KB SRAM (data_sram) chứa Stack C.</a:t>
            </a:r>
          </a:p>
          <a:p>
            <a:pPr>
              <a:lnSpc>
                <a:spcPct val="115000"/>
              </a:lnSpc>
              <a:spcAft>
                <a:spcPts val="600"/>
              </a:spcAft>
              <a:defRPr sz="950">
                <a:solidFill>
                  <a:srgbClr val="0F172A"/>
                </a:solidFill>
                <a:latin typeface="Segoe UI"/>
              </a:defRPr>
            </a:pPr>
            <a:r>
              <a:t>• Giai đoạn 2 (Cầu bus Interconnect): Thiết kế soc_interconnect.v giải mã 0-delay định tuyến 1 CPU Master tới 5 Slaves.</a:t>
            </a:r>
          </a:p>
          <a:p>
            <a:pPr>
              <a:lnSpc>
                <a:spcPct val="115000"/>
              </a:lnSpc>
              <a:spcAft>
                <a:spcPts val="600"/>
              </a:spcAft>
              <a:defRPr sz="950">
                <a:solidFill>
                  <a:srgbClr val="0F172A"/>
                </a:solidFill>
                <a:latin typeface="Segoe UI"/>
              </a:defRPr>
            </a:pPr>
            <a:r>
              <a:t>• Giai đoạn 3 (Đồng thiết kế Bootstrap): Khớp tuyệt đối tham số RTL (PROGADDR_RESET, STACKADDR) với Linker (sections.lds, start.s).</a:t>
            </a:r>
          </a:p>
          <a:p>
            <a:pPr>
              <a:lnSpc>
                <a:spcPct val="115000"/>
              </a:lnSpc>
              <a:spcAft>
                <a:spcPts val="600"/>
              </a:spcAft>
              <a:defRPr sz="950">
                <a:solidFill>
                  <a:srgbClr val="0F172A"/>
                </a:solidFill>
                <a:latin typeface="Segoe UI"/>
              </a:defRPr>
            </a:pPr>
            <a:r>
              <a:t>• Giai đoạn 4 (Mở rộng MMIO &amp; FIFO): Tích hợp UART RFID &amp; PC có bộ đệm FIFO 32B chống tràn, chống rớt mã thẻ.</a:t>
            </a:r>
          </a:p>
          <a:p>
            <a:pPr>
              <a:lnSpc>
                <a:spcPct val="115000"/>
              </a:lnSpc>
              <a:spcAft>
                <a:spcPts val="600"/>
              </a:spcAft>
              <a:defRPr sz="950">
                <a:solidFill>
                  <a:srgbClr val="0F172A"/>
                </a:solidFill>
                <a:latin typeface="Segoe UI"/>
              </a:defRPr>
            </a:pPr>
            <a:r>
              <a:t>• Giai đoạn 5 (Tầng C Volatile MMIO): Trừu tượng hóa thanh ghi phần cứng qua con trỏ volatile (soc_regs.h) để C điều khiển trong suốt.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QUY TRÌNH THIẾT KẾ SOC (GIAI ĐOẠN 1/5)</a:t>
            </a:r>
          </a:p>
          <a:p>
            <a:pPr>
              <a:defRPr sz="1700" b="1">
                <a:solidFill>
                  <a:srgbClr val="0F172A"/>
                </a:solidFill>
                <a:latin typeface="Segoe UI"/>
              </a:defRPr>
            </a:pPr>
            <a:r>
              <a:t>Giai Đoạn 1: Khối Cốt Lõi Có Sẵn &amp; Bổ Sung 1KB SRAM (picorv32.v, spimemio.v, data_sram)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07 / 26</a:t>
            </a:r>
          </a:p>
        </p:txBody>
      </p:sp>
      <p:sp>
        <p:nvSpPr>
          <p:cNvPr id="8" name="Rounded Rectangle 7"/>
          <p:cNvSpPr/>
          <p:nvPr/>
        </p:nvSpPr>
        <p:spPr>
          <a:xfrm>
            <a:off x="731520" y="1188720"/>
            <a:ext cx="5257800"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ge1_bw_diagram.png"/>
          <p:cNvPicPr>
            <a:picLocks noChangeAspect="1"/>
          </p:cNvPicPr>
          <p:nvPr/>
        </p:nvPicPr>
        <p:blipFill>
          <a:blip r:embed="rId2"/>
          <a:stretch>
            <a:fillRect/>
          </a:stretch>
        </p:blipFill>
        <p:spPr>
          <a:xfrm>
            <a:off x="868680" y="1325880"/>
            <a:ext cx="4983480" cy="4754880"/>
          </a:xfrm>
          <a:prstGeom prst="rect">
            <a:avLst/>
          </a:prstGeom>
        </p:spPr>
      </p:pic>
      <p:sp>
        <p:nvSpPr>
          <p:cNvPr id="10" name="Rounded Rectangle 9"/>
          <p:cNvSpPr/>
          <p:nvPr/>
        </p:nvSpPr>
        <p:spPr>
          <a:xfrm>
            <a:off x="6172200" y="118872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2563EB"/>
                </a:solidFill>
                <a:latin typeface="Segoe UI"/>
              </a:defRPr>
            </a:pPr>
            <a:r>
              <a:t>PHÂN TÍCH THIẾT KẾ &amp; TẬN DỤNG IP CỐT LÕI</a:t>
            </a:r>
          </a:p>
          <a:p>
            <a:pPr>
              <a:lnSpc>
                <a:spcPct val="115000"/>
              </a:lnSpc>
              <a:spcAft>
                <a:spcPts val="600"/>
              </a:spcAft>
              <a:defRPr sz="950">
                <a:solidFill>
                  <a:srgbClr val="0F172A"/>
                </a:solidFill>
                <a:latin typeface="Segoe UI"/>
              </a:defRPr>
            </a:pPr>
            <a:r>
              <a:t>• Nhân CPU Master (picorv32.v): Thực thi tập lệnh RV32I, 32 thanh ghi 32-bit. Giao tiếp toàn bộ qua Native Memory Bus: phát mem_valid cùng địa chỉ mem_addr, chờ mem_ready phản hồi.</a:t>
            </a:r>
          </a:p>
          <a:p>
            <a:pPr>
              <a:lnSpc>
                <a:spcPct val="115000"/>
              </a:lnSpc>
              <a:spcAft>
                <a:spcPts val="600"/>
              </a:spcAft>
              <a:defRPr sz="950">
                <a:solidFill>
                  <a:srgbClr val="0F172A"/>
                </a:solidFill>
                <a:latin typeface="Segoe UI"/>
              </a:defRPr>
            </a:pPr>
            <a:r>
              <a:t>• Bộ điều khiển Flash (spimemio.v): Tự sinh chuỗi xung SPI đọc chip Flash ngoài, chuyển đổi địa chỉ thành lệnh SPI và trả opcode về mem_rdata theo cơ chế XIP (eXecute-In-Place) tại dải 0x0010_0000 - 0x00FF_FFFF.</a:t>
            </a:r>
          </a:p>
          <a:p>
            <a:pPr>
              <a:lnSpc>
                <a:spcPct val="115000"/>
              </a:lnSpc>
              <a:spcAft>
                <a:spcPts val="600"/>
              </a:spcAft>
              <a:defRPr sz="950">
                <a:solidFill>
                  <a:srgbClr val="0F172A"/>
                </a:solidFill>
                <a:latin typeface="Segoe UI"/>
              </a:defRPr>
            </a:pPr>
            <a:r>
              <a:t>• Bổ sung 1KB SRAM nội (data_sram): Stack C và biến cục bộ bắt buộc phải đặt trong RAM (bộ nhớ Volatile) vì đòi hỏi đọc/ghi ngẫu nhiên liên tục ở 1 chu kỳ clock và độ bền vô hạn (bộ nhớ Non-Volatile như Flash không thể đáp ứng). Do đó, thiết kế tích hợp 256 words SRAM tĩnh (0x0000_0000 - 0x0000_03FF) phản hồi sram_ready = 1 tức thì.</a:t>
            </a:r>
          </a:p>
          <a:p>
            <a:pPr>
              <a:lnSpc>
                <a:spcPct val="115000"/>
              </a:lnSpc>
              <a:spcAft>
                <a:spcPts val="600"/>
              </a:spcAft>
              <a:defRPr sz="950">
                <a:solidFill>
                  <a:srgbClr val="0F172A"/>
                </a:solidFill>
                <a:latin typeface="Segoe UI"/>
              </a:defRPr>
            </a:pPr>
            <a:r>
              <a:t>• Ý nghĩa kỹ thuật tối thượng: Phân tầng kiến trúc tối ưu: 'Flash ngoài Non-Volatile lưu mã lệnh XIP' + '1KB SRAM nội Volatile lưu Stack C' giúp tiết kiệm tối đa diện tích silicon ASIC nhưng vẫn chạy trơn tru toàn bộ ứng dụng C.</a:t>
            </a:r>
          </a:p>
          <a:p>
            <a:pPr>
              <a:spcBef>
                <a:spcPts val="400"/>
              </a:spcBef>
              <a:defRPr sz="919" b="1">
                <a:solidFill>
                  <a:srgbClr val="2563EB"/>
                </a:solidFill>
                <a:latin typeface="Segoe UI"/>
              </a:defRPr>
            </a:pPr>
            <a:r>
              <a:t>=&gt; KẾT QUẢ: Hoàn thành nền tảng xử lý 1 Master - 2 Vùng nhớ cốt lõi (Flash XIP &amp; Data SRAM).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QUY TRÌNH THIẾT KẾ SOC (GIAI ĐOẠN 2/5)</a:t>
            </a:r>
          </a:p>
          <a:p>
            <a:pPr>
              <a:defRPr sz="1700" b="1">
                <a:solidFill>
                  <a:srgbClr val="0F172A"/>
                </a:solidFill>
                <a:latin typeface="Segoe UI"/>
              </a:defRPr>
            </a:pPr>
            <a:r>
              <a:t>Giai Đoạn 2: Thiết Kế Cầu Nối Bus Interconnect Tối Ưu (soc_interconnect.v)</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08 / 26</a:t>
            </a:r>
          </a:p>
        </p:txBody>
      </p:sp>
      <p:sp>
        <p:nvSpPr>
          <p:cNvPr id="8" name="Rounded Rectangle 7"/>
          <p:cNvSpPr/>
          <p:nvPr/>
        </p:nvSpPr>
        <p:spPr>
          <a:xfrm>
            <a:off x="731520" y="1188720"/>
            <a:ext cx="5257800" cy="5029200"/>
          </a:xfrm>
          <a:prstGeom prst="roundRect">
            <a:avLst>
              <a:gd name="adj" fmla="val 2000"/>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ge2_bw_diagram.png"/>
          <p:cNvPicPr>
            <a:picLocks noChangeAspect="1"/>
          </p:cNvPicPr>
          <p:nvPr/>
        </p:nvPicPr>
        <p:blipFill>
          <a:blip r:embed="rId2"/>
          <a:stretch>
            <a:fillRect/>
          </a:stretch>
        </p:blipFill>
        <p:spPr>
          <a:xfrm>
            <a:off x="868680" y="1325880"/>
            <a:ext cx="4983480" cy="4754880"/>
          </a:xfrm>
          <a:prstGeom prst="rect">
            <a:avLst/>
          </a:prstGeom>
        </p:spPr>
      </p:pic>
      <p:sp>
        <p:nvSpPr>
          <p:cNvPr id="10" name="Rounded Rectangle 9"/>
          <p:cNvSpPr/>
          <p:nvPr/>
        </p:nvSpPr>
        <p:spPr>
          <a:xfrm>
            <a:off x="6172200" y="1188720"/>
            <a:ext cx="5285232" cy="5029200"/>
          </a:xfrm>
          <a:prstGeom prst="roundRect">
            <a:avLst>
              <a:gd name="adj" fmla="val 2000"/>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D97706"/>
                </a:solidFill>
                <a:latin typeface="Segoe UI"/>
              </a:defRPr>
            </a:pPr>
            <a:r>
              <a:t>NGUYÊN LÝ PHÂN LUỒNG BUS TỔ HỢP 0-DELAY</a:t>
            </a:r>
          </a:p>
          <a:p>
            <a:pPr>
              <a:lnSpc>
                <a:spcPct val="115000"/>
              </a:lnSpc>
              <a:spcAft>
                <a:spcPts val="600"/>
              </a:spcAft>
              <a:defRPr sz="950">
                <a:solidFill>
                  <a:srgbClr val="0F172A"/>
                </a:solidFill>
                <a:latin typeface="Segoe UI"/>
              </a:defRPr>
            </a:pPr>
            <a:r>
              <a:t>• Vấn đề kỹ thuật: CPU chỉ có 1 cổng Native Bus duy nhất, trong khi hệ thống có tới 5 module bộ nhớ và ngoại vi khác nhau cần truy xuất đồng thời.</a:t>
            </a:r>
          </a:p>
          <a:p>
            <a:pPr>
              <a:lnSpc>
                <a:spcPct val="115000"/>
              </a:lnSpc>
              <a:spcAft>
                <a:spcPts val="600"/>
              </a:spcAft>
              <a:defRPr sz="950">
                <a:solidFill>
                  <a:srgbClr val="0F172A"/>
                </a:solidFill>
                <a:latin typeface="Segoe UI"/>
              </a:defRPr>
            </a:pPr>
            <a:r>
              <a:t>• 1. Giải mã địa chỉ tổ hợp (Address Decoder): soc_interconnect.v giải mã tức thì trong 0 chu kỳ clock:</a:t>
            </a:r>
            <a:br/>
            <a:r>
              <a:t>  - sel_sram: cpu_mem_addr &lt; 0x0000_0400 (1KB SRAM)</a:t>
            </a:r>
            <a:br/>
            <a:r>
              <a:t>  - sel_spimem: 0x0010_0000 đến 0x00FF_FFFF (Flash XIP)</a:t>
            </a:r>
            <a:br/>
            <a:r>
              <a:t>  - sel_spicfg: 0x0200_0000 (Flash Bit-bang Controller)</a:t>
            </a:r>
          </a:p>
          <a:p>
            <a:pPr>
              <a:lnSpc>
                <a:spcPct val="115000"/>
              </a:lnSpc>
              <a:spcAft>
                <a:spcPts val="600"/>
              </a:spcAft>
              <a:defRPr sz="950">
                <a:solidFill>
                  <a:srgbClr val="0F172A"/>
                </a:solidFill>
                <a:latin typeface="Segoe UI"/>
              </a:defRPr>
            </a:pPr>
            <a:r>
              <a:t>• 2. Dồn kênh phản hồi (Multiplexer MUX): cpu_mem_ready = sram_ready || spimem_ready || sel_spicfg;</a:t>
            </a:r>
            <a:br/>
            <a:r>
              <a:t>  cpu_mem_rdata = sel_sram ? sram_rdata : spimem_rdata;</a:t>
            </a:r>
            <a:br/>
            <a:r>
              <a:t>Giúp CPU nhận phản hồi chính xác từ Slave đang được chọn.</a:t>
            </a:r>
          </a:p>
          <a:p>
            <a:pPr>
              <a:lnSpc>
                <a:spcPct val="115000"/>
              </a:lnSpc>
              <a:spcAft>
                <a:spcPts val="600"/>
              </a:spcAft>
              <a:defRPr sz="950">
                <a:solidFill>
                  <a:srgbClr val="0F172A"/>
                </a:solidFill>
                <a:latin typeface="Segoe UI"/>
              </a:defRPr>
            </a:pPr>
            <a:r>
              <a:t>• Ý nghĩa kỹ thuật: Bộ ghép bus thuần tổ hợp (0 FF trễ) đảm bảo tốc độ phản hồi tối đa, không phát sinh chu kỳ chờ (zero wait-state) khi truy xuất SRAM.</a:t>
            </a:r>
          </a:p>
          <a:p>
            <a:pPr>
              <a:spcBef>
                <a:spcPts val="400"/>
              </a:spcBef>
              <a:defRPr sz="919" b="1">
                <a:solidFill>
                  <a:srgbClr val="D97706"/>
                </a:solidFill>
                <a:latin typeface="Segoe UI"/>
              </a:defRPr>
            </a:pPr>
            <a:r>
              <a:t>=&gt; KẾT QUẢ: Đóng vai trò 'cảnh sát giao thông' phân luồng hoàn hảo giữa CPU, Flash và 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QUY TRÌNH THIẾT KẾ SOC (GIAI ĐOẠN 3/5)</a:t>
            </a:r>
          </a:p>
          <a:p>
            <a:pPr>
              <a:defRPr sz="1700" b="1">
                <a:solidFill>
                  <a:srgbClr val="0F172A"/>
                </a:solidFill>
                <a:latin typeface="Segoe UI"/>
              </a:defRPr>
            </a:pPr>
            <a:r>
              <a:t>Giai Đoạn 3: Đồng Thiết Kế Phần Cứng - Phần Mềm &amp; Bootstrap (sections.lds, start.s, picorv32_soc.v)</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09 / 26</a:t>
            </a:r>
          </a:p>
        </p:txBody>
      </p:sp>
      <p:sp>
        <p:nvSpPr>
          <p:cNvPr id="8" name="Rounded Rectangle 7"/>
          <p:cNvSpPr/>
          <p:nvPr/>
        </p:nvSpPr>
        <p:spPr>
          <a:xfrm>
            <a:off x="731520" y="1188720"/>
            <a:ext cx="5257800" cy="5029200"/>
          </a:xfrm>
          <a:prstGeom prst="roundRect">
            <a:avLst>
              <a:gd name="adj" fmla="val 2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ge3_bw_diagram.png"/>
          <p:cNvPicPr>
            <a:picLocks noChangeAspect="1"/>
          </p:cNvPicPr>
          <p:nvPr/>
        </p:nvPicPr>
        <p:blipFill>
          <a:blip r:embed="rId2"/>
          <a:stretch>
            <a:fillRect/>
          </a:stretch>
        </p:blipFill>
        <p:spPr>
          <a:xfrm>
            <a:off x="868680" y="1325880"/>
            <a:ext cx="4983480" cy="4754880"/>
          </a:xfrm>
          <a:prstGeom prst="rect">
            <a:avLst/>
          </a:prstGeom>
        </p:spPr>
      </p:pic>
      <p:sp>
        <p:nvSpPr>
          <p:cNvPr id="10" name="Rounded Rectangle 9"/>
          <p:cNvSpPr/>
          <p:nvPr/>
        </p:nvSpPr>
        <p:spPr>
          <a:xfrm>
            <a:off x="6172200" y="1188720"/>
            <a:ext cx="5285232" cy="5029200"/>
          </a:xfrm>
          <a:prstGeom prst="roundRect">
            <a:avLst>
              <a:gd name="adj" fmla="val 2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7C3AED"/>
                </a:solidFill>
                <a:latin typeface="Segoe UI"/>
              </a:defRPr>
            </a:pPr>
            <a:r>
              <a:t>CƠ CHẾ CO-DESIGN BOOTSTRAP TỰ ĐỘNG KHỞI ĐỘNG</a:t>
            </a:r>
          </a:p>
          <a:p>
            <a:pPr>
              <a:lnSpc>
                <a:spcPct val="115000"/>
              </a:lnSpc>
              <a:spcAft>
                <a:spcPts val="500"/>
              </a:spcAft>
              <a:defRPr sz="950">
                <a:solidFill>
                  <a:srgbClr val="0F172A"/>
                </a:solidFill>
                <a:latin typeface="Segoe UI"/>
              </a:defRPr>
            </a:pPr>
            <a:r>
              <a:t>• Vấn đề kỹ thuật: Sau khi có phần cứng, làm sao để CPU biết bắt đầu thực thi từ đâu và thiết lập môi trường chạy hàm main() của ngôn ngữ C mà không cần Bootloader?</a:t>
            </a:r>
          </a:p>
          <a:p>
            <a:pPr>
              <a:lnSpc>
                <a:spcPct val="115000"/>
              </a:lnSpc>
              <a:spcAft>
                <a:spcPts val="500"/>
              </a:spcAft>
              <a:defRPr sz="950">
                <a:solidFill>
                  <a:srgbClr val="0F172A"/>
                </a:solidFill>
                <a:latin typeface="Segoe UI"/>
              </a:defRPr>
            </a:pPr>
            <a:r>
              <a:t>• 1. Khớp Vector Reset (0x0025_0000): RTL định nghĩa PROGADDR_RESET = 32'h0025_0000, khớp 100% với mốc ORIGIN FLASH trong Linker Script sections.lds. Ngay khi nhả resetn=1, CPU phát lệnh đọc opcode đầu tiên từ Flash Sector 37.</a:t>
            </a:r>
          </a:p>
          <a:p>
            <a:pPr>
              <a:lnSpc>
                <a:spcPct val="115000"/>
              </a:lnSpc>
              <a:spcAft>
                <a:spcPts val="500"/>
              </a:spcAft>
              <a:defRPr sz="950">
                <a:solidFill>
                  <a:srgbClr val="0F172A"/>
                </a:solidFill>
                <a:latin typeface="Segoe UI"/>
              </a:defRPr>
            </a:pPr>
            <a:r>
              <a:t>• 2. Khớp Đỉnh Ngăn Xếp (0x0000_0400): RTL định nghĩa STACKADDR = 32'h0000_0400, khớp với nhãn _stack_top trong sections.lds. Đoạn mã Assembly start.s nạp mốc này vào thanh ghi sp.</a:t>
            </a:r>
          </a:p>
          <a:p>
            <a:pPr>
              <a:lnSpc>
                <a:spcPct val="115000"/>
              </a:lnSpc>
              <a:spcAft>
                <a:spcPts val="500"/>
              </a:spcAft>
              <a:defRPr sz="950">
                <a:solidFill>
                  <a:srgbClr val="0F172A"/>
                </a:solidFill>
                <a:latin typeface="Segoe UI"/>
              </a:defRPr>
            </a:pPr>
            <a:r>
              <a:t>• 3. Chuyển tiếp sang C (call main): Sau 3 lệnh Assembly thiết lập ngăn xếp trên 1KB SRAM, start.s phát lệnh call main, chính thức chuyển giao quyền điều khiển cho Firmware C.</a:t>
            </a:r>
          </a:p>
          <a:p>
            <a:pPr>
              <a:lnSpc>
                <a:spcPct val="115000"/>
              </a:lnSpc>
              <a:spcAft>
                <a:spcPts val="500"/>
              </a:spcAft>
              <a:defRPr sz="950">
                <a:solidFill>
                  <a:srgbClr val="0F172A"/>
                </a:solidFill>
                <a:latin typeface="Segoe UI"/>
              </a:defRPr>
            </a:pPr>
            <a:r>
              <a:t>• Ý nghĩa kỹ thuật: Hệ thống tự khởi động hoàn toàn tự động ngay khi cấp nguồn vi mạch ASIC mà không cần can thiệp từ bên ngoài.</a:t>
            </a:r>
          </a:p>
          <a:p>
            <a:pPr>
              <a:spcBef>
                <a:spcPts val="400"/>
              </a:spcBef>
              <a:defRPr sz="919" b="1">
                <a:solidFill>
                  <a:srgbClr val="7C3AED"/>
                </a:solidFill>
                <a:latin typeface="Segoe UI"/>
              </a:defRPr>
            </a:pPr>
            <a:r>
              <a:t>=&gt; KẾT QUẢ: Đồng bộ 100% giữa Phần Cứng (Verilog) và Phần Mềm (C/ASM/Linker).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QUY TRÌNH THIẾT KẾ SOC (GIAI ĐOẠN 4/5)</a:t>
            </a:r>
          </a:p>
          <a:p>
            <a:pPr>
              <a:defRPr sz="1700" b="1">
                <a:solidFill>
                  <a:srgbClr val="0F172A"/>
                </a:solidFill>
                <a:latin typeface="Segoe UI"/>
              </a:defRPr>
            </a:pPr>
            <a:r>
              <a:t>Giai Đoạn 4: Mở Rộng Ngoại Vi MMIO Với Hàng Đợi FIFO Chống Tràn (uart_mmio.v, sync_fifo.v, gpio)</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10 / 26</a:t>
            </a:r>
          </a:p>
        </p:txBody>
      </p:sp>
      <p:sp>
        <p:nvSpPr>
          <p:cNvPr id="8" name="Rounded Rectangle 7"/>
          <p:cNvSpPr/>
          <p:nvPr/>
        </p:nvSpPr>
        <p:spPr>
          <a:xfrm>
            <a:off x="731520" y="1188720"/>
            <a:ext cx="5257800" cy="5029200"/>
          </a:xfrm>
          <a:prstGeom prst="roundRect">
            <a:avLst>
              <a:gd name="adj" fmla="val 2000"/>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ge4_bw_diagram.png"/>
          <p:cNvPicPr>
            <a:picLocks noChangeAspect="1"/>
          </p:cNvPicPr>
          <p:nvPr/>
        </p:nvPicPr>
        <p:blipFill>
          <a:blip r:embed="rId2"/>
          <a:stretch>
            <a:fillRect/>
          </a:stretch>
        </p:blipFill>
        <p:spPr>
          <a:xfrm>
            <a:off x="868680" y="1325880"/>
            <a:ext cx="4983480" cy="4754880"/>
          </a:xfrm>
          <a:prstGeom prst="rect">
            <a:avLst/>
          </a:prstGeom>
        </p:spPr>
      </p:pic>
      <p:sp>
        <p:nvSpPr>
          <p:cNvPr id="10" name="Rounded Rectangle 9"/>
          <p:cNvSpPr/>
          <p:nvPr/>
        </p:nvSpPr>
        <p:spPr>
          <a:xfrm>
            <a:off x="6172200" y="1188720"/>
            <a:ext cx="5285232" cy="5029200"/>
          </a:xfrm>
          <a:prstGeom prst="roundRect">
            <a:avLst>
              <a:gd name="adj" fmla="val 2000"/>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E11D48"/>
                </a:solidFill>
                <a:latin typeface="Segoe UI"/>
              </a:defRPr>
            </a:pPr>
            <a:r>
              <a:t>TÍCH HỢP NGOẠI VI &amp; HÀNG ĐỢI PHẦN CỨNG FIFO</a:t>
            </a:r>
          </a:p>
          <a:p>
            <a:pPr>
              <a:lnSpc>
                <a:spcPct val="115000"/>
              </a:lnSpc>
              <a:spcAft>
                <a:spcPts val="500"/>
              </a:spcAft>
              <a:defRPr sz="950">
                <a:solidFill>
                  <a:srgbClr val="0F172A"/>
                </a:solidFill>
                <a:latin typeface="Segoe UI"/>
              </a:defRPr>
            </a:pPr>
            <a:r>
              <a:t>• Ngoại vi RFID RDM6300 (Slave 2 @ 0x1000_0000): Tích hợp sync_2ff.v chống hiện tượng siêu ổn định (Metastability) từ ăng-ten ngoài và sync_fifo.v 32 byte để đệm trọn vẹn chuỗi 14 byte của thẻ.</a:t>
            </a:r>
          </a:p>
          <a:p>
            <a:pPr>
              <a:lnSpc>
                <a:spcPct val="115000"/>
              </a:lnSpc>
              <a:spcAft>
                <a:spcPts val="500"/>
              </a:spcAft>
              <a:defRPr sz="950">
                <a:solidFill>
                  <a:srgbClr val="0F172A"/>
                </a:solidFill>
                <a:latin typeface="Segoe UI"/>
              </a:defRPr>
            </a:pPr>
            <a:r>
              <a:t>• Ngoại vi Host PC UART (Slave 3 @ 0x3000_0000): Tích hợp cả 32B RX FIFO và 32B TX FIFO hỗ trợ giao tiếp Full-Duplex tốc độ cao với máy tính quản trị.</a:t>
            </a:r>
          </a:p>
          <a:p>
            <a:pPr>
              <a:lnSpc>
                <a:spcPct val="115000"/>
              </a:lnSpc>
              <a:spcAft>
                <a:spcPts val="500"/>
              </a:spcAft>
              <a:defRPr sz="950">
                <a:solidFill>
                  <a:srgbClr val="0F172A"/>
                </a:solidFill>
                <a:latin typeface="Segoe UI"/>
              </a:defRPr>
            </a:pPr>
            <a:r>
              <a:t>• Ngoại vi GPIO LED &amp; Relay (Slave 4 @ 0x4000_0000): Điều khiển 16 LED trạng thái (LED 0 nhịp tim, LED 1 Flash, LED 2 mở cửa) và relay khóa điện.</a:t>
            </a:r>
          </a:p>
          <a:p>
            <a:pPr>
              <a:lnSpc>
                <a:spcPct val="115000"/>
              </a:lnSpc>
              <a:spcAft>
                <a:spcPts val="500"/>
              </a:spcAft>
              <a:defRPr sz="950">
                <a:solidFill>
                  <a:srgbClr val="0F172A"/>
                </a:solidFill>
                <a:latin typeface="Segoe UI"/>
              </a:defRPr>
            </a:pPr>
            <a:r>
              <a:t>• Vai trò sống còn của FIFO 32 Bytes: Khi CPU bận ghi dữ liệu vào Flash NVM (mất 1-3 ms), nếu người dùng quẹt thẻ liên tục, hàng đợi FIFO 32B tự động lưu giữ toàn bộ dữ liệu, chống rớt gói tin tuyệt đối!</a:t>
            </a:r>
          </a:p>
          <a:p>
            <a:pPr>
              <a:lnSpc>
                <a:spcPct val="115000"/>
              </a:lnSpc>
              <a:spcAft>
                <a:spcPts val="500"/>
              </a:spcAft>
              <a:defRPr sz="950">
                <a:solidFill>
                  <a:srgbClr val="0F172A"/>
                </a:solidFill>
                <a:latin typeface="Segoe UI"/>
              </a:defRPr>
            </a:pPr>
            <a:r>
              <a:t>• Cơ chế Non-blocking Bus: Nếu FIFO rỗng, mạch trả về ngay 0xFFFFFFFF trong 1 chu kỳ clock, ngăn chặn hoàn toàn hiện tượng CPU bị treo bus.</a:t>
            </a:r>
          </a:p>
          <a:p>
            <a:pPr>
              <a:spcBef>
                <a:spcPts val="400"/>
              </a:spcBef>
              <a:defRPr sz="919" b="1">
                <a:solidFill>
                  <a:srgbClr val="E11D48"/>
                </a:solidFill>
                <a:latin typeface="Segoe UI"/>
              </a:defRPr>
            </a:pPr>
            <a:r>
              <a:t>=&gt; KẾT QUẢ: Hệ thống ngoại vi hoàn chỉnh, bảo đảm tính thời gian thực và an toàn dữ liệu.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QUY TRÌNH THIẾT KẾ SOC (GIAI ĐOẠN 5/5)</a:t>
            </a:r>
          </a:p>
          <a:p>
            <a:pPr>
              <a:defRPr sz="1700" b="1">
                <a:solidFill>
                  <a:srgbClr val="0F172A"/>
                </a:solidFill>
                <a:latin typeface="Segoe UI"/>
              </a:defRPr>
            </a:pPr>
            <a:r>
              <a:t>Giai Đoạn 5: Tầng Firmware C Tương Tác Qua Con Trỏ Volatile MMIO (soc_regs.h, access_control.c, uart.c)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11 / 26</a:t>
            </a:r>
          </a:p>
        </p:txBody>
      </p:sp>
      <p:sp>
        <p:nvSpPr>
          <p:cNvPr id="8" name="Rounded Rectangle 7"/>
          <p:cNvSpPr/>
          <p:nvPr/>
        </p:nvSpPr>
        <p:spPr>
          <a:xfrm>
            <a:off x="731520" y="1188720"/>
            <a:ext cx="5257800" cy="5029200"/>
          </a:xfrm>
          <a:prstGeom prst="roundRect">
            <a:avLst>
              <a:gd name="adj" fmla="val 2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ge5_bw_diagram.png"/>
          <p:cNvPicPr>
            <a:picLocks noChangeAspect="1"/>
          </p:cNvPicPr>
          <p:nvPr/>
        </p:nvPicPr>
        <p:blipFill>
          <a:blip r:embed="rId2"/>
          <a:stretch>
            <a:fillRect/>
          </a:stretch>
        </p:blipFill>
        <p:spPr>
          <a:xfrm>
            <a:off x="868680" y="1325880"/>
            <a:ext cx="4983480" cy="4754880"/>
          </a:xfrm>
          <a:prstGeom prst="rect">
            <a:avLst/>
          </a:prstGeom>
        </p:spPr>
      </p:pic>
      <p:sp>
        <p:nvSpPr>
          <p:cNvPr id="10" name="Rounded Rectangle 9"/>
          <p:cNvSpPr/>
          <p:nvPr/>
        </p:nvSpPr>
        <p:spPr>
          <a:xfrm>
            <a:off x="6172200" y="1188720"/>
            <a:ext cx="5285232" cy="5029200"/>
          </a:xfrm>
          <a:prstGeom prst="roundRect">
            <a:avLst>
              <a:gd name="adj" fmla="val 2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10B981"/>
                </a:solidFill>
                <a:latin typeface="Segoe UI"/>
              </a:defRPr>
            </a:pPr>
            <a:r>
              <a:t>TRỪU TƯỢNG HÓA PHẦN CỨNG BẰNG NGÔN NGỮ C</a:t>
            </a:r>
          </a:p>
          <a:p>
            <a:pPr>
              <a:lnSpc>
                <a:spcPct val="115000"/>
              </a:lnSpc>
              <a:spcAft>
                <a:spcPts val="500"/>
              </a:spcAft>
              <a:defRPr sz="950">
                <a:solidFill>
                  <a:srgbClr val="0F172A"/>
                </a:solidFill>
                <a:latin typeface="Segoe UI"/>
              </a:defRPr>
            </a:pPr>
            <a:r>
              <a:t>• Tầng Macro MMIO (soc_regs.h): Định nghĩa các con trỏ phần cứng:</a:t>
            </a:r>
            <a:br/>
            <a:r>
              <a:t>  #define REG_RFID_UART_DAT (*(volatile uint32_t*)0x10000004)</a:t>
            </a:r>
            <a:br/>
            <a:r>
              <a:t>  #define REG_PC_UART_DAT   (*(volatile uint32_t*)0x30000004)</a:t>
            </a:r>
            <a:br/>
            <a:r>
              <a:t>  #define REG_GPIO_LEDS     (*(volatile uint32_t*)0x40000000)</a:t>
            </a:r>
          </a:p>
          <a:p>
            <a:pPr>
              <a:lnSpc>
                <a:spcPct val="115000"/>
              </a:lnSpc>
              <a:spcAft>
                <a:spcPts val="500"/>
              </a:spcAft>
              <a:defRPr sz="950">
                <a:solidFill>
                  <a:srgbClr val="0F172A"/>
                </a:solidFill>
                <a:latin typeface="Segoe UI"/>
              </a:defRPr>
            </a:pPr>
            <a:r>
              <a:t>• Bản chất từ khóa volatile: Ép trình biên dịch GCC luôn sinh ra lệnh đọc/ghi bus thật (lw, sw), loại bỏ triệt để lỗi tối ưu hóa lưu biến vào thanh ghi.</a:t>
            </a:r>
          </a:p>
          <a:p>
            <a:pPr>
              <a:lnSpc>
                <a:spcPct val="115000"/>
              </a:lnSpc>
              <a:spcAft>
                <a:spcPts val="500"/>
              </a:spcAft>
              <a:defRPr sz="950">
                <a:solidFill>
                  <a:srgbClr val="0F172A"/>
                </a:solidFill>
                <a:latin typeface="Segoe UI"/>
              </a:defRPr>
            </a:pPr>
            <a:r>
              <a:t>• Tầng Ứng Dụng C (access_control.c): Xử lý nghiệp vụ hoàn toàn trong suốt:</a:t>
            </a:r>
            <a:br/>
            <a:r>
              <a:t>  uint32_t d = REG_RFID_UART_DAT;</a:t>
            </a:r>
            <a:br/>
            <a:r>
              <a:t>  if (d != 0xFFFFFFFF) rdm6300_push_byte((uint8_t)d);</a:t>
            </a:r>
            <a:br/>
            <a:r>
              <a:t>  if (card_valid) REG_GPIO_LEDS |= 0x04; // Mở cửa</a:t>
            </a:r>
          </a:p>
          <a:p>
            <a:pPr>
              <a:lnSpc>
                <a:spcPct val="115000"/>
              </a:lnSpc>
              <a:spcAft>
                <a:spcPts val="500"/>
              </a:spcAft>
              <a:defRPr sz="950">
                <a:solidFill>
                  <a:srgbClr val="0F172A"/>
                </a:solidFill>
                <a:latin typeface="Segoe UI"/>
              </a:defRPr>
            </a:pPr>
            <a:r>
              <a:t>• Ý nghĩa kỹ thuật: Lập trình viên C có thể điều khiển toàn bộ vi mạch số phức tạp chỉ bằng các biến con trỏ quen thuộc, mã nguồn trong sáng, độc lập với phần cứng.</a:t>
            </a:r>
          </a:p>
          <a:p>
            <a:pPr>
              <a:spcBef>
                <a:spcPts val="400"/>
              </a:spcBef>
              <a:defRPr sz="919" b="1">
                <a:solidFill>
                  <a:srgbClr val="10B981"/>
                </a:solidFill>
                <a:latin typeface="Segoe UI"/>
              </a:defRPr>
            </a:pPr>
            <a:r>
              <a:t>=&gt; KẾT LUẬN: 5 giai đoạn thiết kế đã tạo nên một SoC hoàn chỉnh, tối ưu và sẵn sàng sản xuất.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PHÂN TÍCH KIẾN TRÚC VI HỆ THỐNG</a:t>
            </a:r>
          </a:p>
          <a:p>
            <a:pPr>
              <a:defRPr sz="1700" b="1">
                <a:solidFill>
                  <a:srgbClr val="0F172A"/>
                </a:solidFill>
                <a:latin typeface="Segoe UI"/>
              </a:defRPr>
            </a:pPr>
            <a:r>
              <a:t>So Sánh Kiến Trúc: Thiết Kế UART Trên RTL vs Viết Bằng Firmware C</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12 / 26</a:t>
            </a:r>
          </a:p>
        </p:txBody>
      </p:sp>
      <p:sp>
        <p:nvSpPr>
          <p:cNvPr id="8" name="Rounded Rectangle 7"/>
          <p:cNvSpPr/>
          <p:nvPr/>
        </p:nvSpPr>
        <p:spPr>
          <a:xfrm>
            <a:off x="731520" y="1234440"/>
            <a:ext cx="5257800" cy="3886200"/>
          </a:xfrm>
          <a:prstGeom prst="roundRect">
            <a:avLst>
              <a:gd name="adj" fmla="val 2000"/>
            </a:avLst>
          </a:prstGeom>
          <a:solidFill>
            <a:srgbClr val="FFFFFF"/>
          </a:solidFill>
          <a:ln w="2286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53312"/>
            <a:ext cx="4892040" cy="3657600"/>
          </a:xfrm>
          <a:prstGeom prst="rect">
            <a:avLst/>
          </a:prstGeom>
          <a:noFill/>
        </p:spPr>
        <p:txBody>
          <a:bodyPr wrap="square" lIns="0" tIns="0" rIns="0" bIns="0">
            <a:spAutoFit/>
          </a:bodyPr>
          <a:lstStyle/>
          <a:p>
            <a:pPr>
              <a:spcAft>
                <a:spcPts val="600"/>
              </a:spcAft>
              <a:defRPr b="1" sz="1150">
                <a:solidFill>
                  <a:srgbClr val="E11D48"/>
                </a:solidFill>
                <a:latin typeface="Segoe UI"/>
              </a:defRPr>
            </a:pPr>
            <a:r>
              <a:t>PHƯƠNG ÁN 1: SOFTWARE BIT-BANG TRONG C (NHƯỢC ĐIỂM)</a:t>
            </a:r>
          </a:p>
          <a:p>
            <a:pPr>
              <a:spcBef>
                <a:spcPts val="300"/>
              </a:spcBef>
              <a:spcAft>
                <a:spcPts val="100"/>
              </a:spcAft>
              <a:defRPr sz="880" b="1">
                <a:solidFill>
                  <a:srgbClr val="E11D48"/>
                </a:solidFill>
                <a:latin typeface="Segoe UI"/>
              </a:defRPr>
            </a:pPr>
            <a:r>
              <a:t>• 1. TREO CPU 100% KHI CHỜ BIT (CPU BLOCKING):</a:t>
            </a:r>
          </a:p>
          <a:p>
            <a:pPr>
              <a:lnSpc>
                <a:spcPct val="112000"/>
              </a:lnSpc>
              <a:spcAft>
                <a:spcPts val="300"/>
              </a:spcAft>
              <a:defRPr sz="819">
                <a:solidFill>
                  <a:srgbClr val="0F172A"/>
                </a:solidFill>
                <a:latin typeface="Segoe UI"/>
              </a:defRPr>
            </a:pPr>
            <a:r>
              <a:t>  Tại 9600 baud, 1 bit = 104.16 µs; khung thẻ 14 byte (140 bit) mất ~14.5 ms. Vòng lặp delay/polling chiếm dụng 100% CPU, không thể đa nhiệm xử lý tác vụ khác.</a:t>
            </a:r>
          </a:p>
          <a:p>
            <a:pPr>
              <a:spcBef>
                <a:spcPts val="300"/>
              </a:spcBef>
              <a:spcAft>
                <a:spcPts val="100"/>
              </a:spcAft>
              <a:defRPr sz="880" b="1">
                <a:solidFill>
                  <a:srgbClr val="E11D48"/>
                </a:solidFill>
                <a:latin typeface="Segoe UI"/>
              </a:defRPr>
            </a:pPr>
            <a:r>
              <a:t>• 2. MẤT 100% MÃ THẺ KHI GHI FLASH (FLASH STALL):</a:t>
            </a:r>
          </a:p>
          <a:p>
            <a:pPr>
              <a:lnSpc>
                <a:spcPct val="112000"/>
              </a:lnSpc>
              <a:spcAft>
                <a:spcPts val="300"/>
              </a:spcAft>
              <a:defRPr sz="819">
                <a:solidFill>
                  <a:srgbClr val="0F172A"/>
                </a:solidFill>
                <a:latin typeface="Segoe UI"/>
              </a:defRPr>
            </a:pPr>
            <a:r>
              <a:t>  Xóa Sector (4KB) mất 20-100 ms, ghi Page mất 1-3 ms. CPU nạp mã vào SRAM bị chiếm dụng; không thể quét GPIO, gây rớt toàn bộ dữ liệu thẻ quẹt!</a:t>
            </a:r>
          </a:p>
          <a:p>
            <a:pPr>
              <a:spcBef>
                <a:spcPts val="300"/>
              </a:spcBef>
              <a:spcAft>
                <a:spcPts val="100"/>
              </a:spcAft>
              <a:defRPr sz="880" b="1">
                <a:solidFill>
                  <a:srgbClr val="E11D48"/>
                </a:solidFill>
                <a:latin typeface="Segoe UI"/>
              </a:defRPr>
            </a:pPr>
            <a:r>
              <a:t>• 3. RUNG PHA (JITTER) DO TRỄ NẠP MÃ FLASH XIP:</a:t>
            </a:r>
          </a:p>
          <a:p>
            <a:pPr>
              <a:lnSpc>
                <a:spcPct val="112000"/>
              </a:lnSpc>
              <a:spcAft>
                <a:spcPts val="300"/>
              </a:spcAft>
              <a:defRPr sz="819">
                <a:solidFill>
                  <a:srgbClr val="0F172A"/>
                </a:solidFill>
                <a:latin typeface="Segoe UI"/>
              </a:defRPr>
            </a:pPr>
            <a:r>
              <a:t>  Thực thi lệnh C qua SPI Flash XIP có độ trễ thay đổi (wait-states biến thiên), làm sai lệch chu kỳ hàm delay trong C, gây lỗi định dạng Framing Error.</a:t>
            </a:r>
          </a:p>
          <a:p>
            <a:pPr>
              <a:spcBef>
                <a:spcPts val="300"/>
              </a:spcBef>
              <a:spcAft>
                <a:spcPts val="100"/>
              </a:spcAft>
              <a:defRPr sz="880" b="1">
                <a:solidFill>
                  <a:srgbClr val="E11D48"/>
                </a:solidFill>
                <a:latin typeface="Segoe UI"/>
              </a:defRPr>
            </a:pPr>
            <a:r>
              <a:t>• 4. BẤT LỰC TRƯỚC LỖI SIÊU ỔN ĐỊNH (METASTABILITY):</a:t>
            </a:r>
          </a:p>
          <a:p>
            <a:pPr>
              <a:lnSpc>
                <a:spcPct val="112000"/>
              </a:lnSpc>
              <a:spcAft>
                <a:spcPts val="300"/>
              </a:spcAft>
              <a:defRPr sz="819">
                <a:solidFill>
                  <a:srgbClr val="0F172A"/>
                </a:solidFill>
                <a:latin typeface="Segoe UI"/>
              </a:defRPr>
            </a:pPr>
            <a:r>
              <a:t>  Đọc chân GPIO bằng phần mềm không thể giải quyết xung đột miền xung (CDC) và không thể lọc xung gai (glitch) ở mức tín hiệu bán dẫn.</a:t>
            </a:r>
          </a:p>
        </p:txBody>
      </p:sp>
      <p:sp>
        <p:nvSpPr>
          <p:cNvPr id="10" name="Rounded Rectangle 9"/>
          <p:cNvSpPr/>
          <p:nvPr/>
        </p:nvSpPr>
        <p:spPr>
          <a:xfrm>
            <a:off x="6199632" y="1234440"/>
            <a:ext cx="5257800" cy="3886200"/>
          </a:xfrm>
          <a:prstGeom prst="roundRect">
            <a:avLst>
              <a:gd name="adj" fmla="val 2000"/>
            </a:avLst>
          </a:prstGeom>
          <a:solidFill>
            <a:srgbClr val="FFFFFF"/>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353312"/>
            <a:ext cx="4892040" cy="3657600"/>
          </a:xfrm>
          <a:prstGeom prst="rect">
            <a:avLst/>
          </a:prstGeom>
          <a:noFill/>
        </p:spPr>
        <p:txBody>
          <a:bodyPr wrap="square" lIns="0" tIns="0" rIns="0" bIns="0">
            <a:spAutoFit/>
          </a:bodyPr>
          <a:lstStyle/>
          <a:p>
            <a:pPr>
              <a:spcAft>
                <a:spcPts val="600"/>
              </a:spcAft>
              <a:defRPr b="1" sz="1150">
                <a:solidFill>
                  <a:srgbClr val="10B981"/>
                </a:solidFill>
                <a:latin typeface="Segoe UI"/>
              </a:defRPr>
            </a:pPr>
            <a:r>
              <a:t>PHƯƠNG ÁN 2: THIẾT KẾ UART &amp; FIFO TRÊN RTL (TỐI ƯU)</a:t>
            </a:r>
          </a:p>
          <a:p>
            <a:pPr>
              <a:spcBef>
                <a:spcPts val="300"/>
              </a:spcBef>
              <a:spcAft>
                <a:spcPts val="100"/>
              </a:spcAft>
              <a:defRPr sz="880" b="1">
                <a:solidFill>
                  <a:srgbClr val="10B981"/>
                </a:solidFill>
                <a:latin typeface="Segoe UI"/>
              </a:defRPr>
            </a:pPr>
            <a:r>
              <a:t>• 1. GIẢI PHÓNG 100% CPU (ZERO CPU OVERHEAD):</a:t>
            </a:r>
          </a:p>
          <a:p>
            <a:pPr>
              <a:lnSpc>
                <a:spcPct val="112000"/>
              </a:lnSpc>
              <a:spcAft>
                <a:spcPts val="300"/>
              </a:spcAft>
              <a:defRPr sz="819">
                <a:solidFill>
                  <a:srgbClr val="0F172A"/>
                </a:solidFill>
                <a:latin typeface="Segoe UI"/>
              </a:defRPr>
            </a:pPr>
            <a:r>
              <a:t>  Mạch UART chạy ngầm hoàn toàn độc lập ở 50 MHz. CPU chỉ mất đúng 1 chu kỳ clock (20 ns) đọc REG_RFID_UART_DAT khi có dữ liệu mới.</a:t>
            </a:r>
          </a:p>
          <a:p>
            <a:pPr>
              <a:spcBef>
                <a:spcPts val="300"/>
              </a:spcBef>
              <a:spcAft>
                <a:spcPts val="100"/>
              </a:spcAft>
              <a:defRPr sz="880" b="1">
                <a:solidFill>
                  <a:srgbClr val="10B981"/>
                </a:solidFill>
                <a:latin typeface="Segoe UI"/>
              </a:defRPr>
            </a:pPr>
            <a:r>
              <a:t>• 2. HÀNG ĐỢI FIFO 32B CHỐNG TRÀN TUYỆT ĐỐI:</a:t>
            </a:r>
          </a:p>
          <a:p>
            <a:pPr>
              <a:lnSpc>
                <a:spcPct val="112000"/>
              </a:lnSpc>
              <a:spcAft>
                <a:spcPts val="300"/>
              </a:spcAft>
              <a:defRPr sz="819">
                <a:solidFill>
                  <a:srgbClr val="0F172A"/>
                </a:solidFill>
                <a:latin typeface="Segoe UI"/>
              </a:defRPr>
            </a:pPr>
            <a:r>
              <a:t>  Phần cứng tự động thu nhận và đệm toàn bộ 14 byte chuỗi thẻ vào sync_fifo.v, bảo toàn dữ liệu 100% ngay cả khi CPU đang bận ghi/xóa Flash NVM.</a:t>
            </a:r>
          </a:p>
          <a:p>
            <a:pPr>
              <a:spcBef>
                <a:spcPts val="300"/>
              </a:spcBef>
              <a:spcAft>
                <a:spcPts val="100"/>
              </a:spcAft>
              <a:defRPr sz="880" b="1">
                <a:solidFill>
                  <a:srgbClr val="10B981"/>
                </a:solidFill>
                <a:latin typeface="Segoe UI"/>
              </a:defRPr>
            </a:pPr>
            <a:r>
              <a:t>• 3. ĐỊNH THỜI CHUẨN XÁC 100% TỪ CLOCK 50 MHZ:</a:t>
            </a:r>
          </a:p>
          <a:p>
            <a:pPr>
              <a:lnSpc>
                <a:spcPct val="112000"/>
              </a:lnSpc>
              <a:spcAft>
                <a:spcPts val="300"/>
              </a:spcAft>
              <a:defRPr sz="819">
                <a:solidFill>
                  <a:srgbClr val="0F172A"/>
                </a:solidFill>
                <a:latin typeface="Segoe UI"/>
              </a:defRPr>
            </a:pPr>
            <a:r>
              <a:t>  Bộ chia tần cứng (divisor = 5208) tạo chu kỳ baud 9600 bps chính xác tuyệt đối, miễn nhiễm hoàn toàn với độ trễ nạp lệnh Flash XIP.</a:t>
            </a:r>
          </a:p>
          <a:p>
            <a:pPr>
              <a:spcBef>
                <a:spcPts val="300"/>
              </a:spcBef>
              <a:spcAft>
                <a:spcPts val="100"/>
              </a:spcAft>
              <a:defRPr sz="880" b="1">
                <a:solidFill>
                  <a:srgbClr val="10B981"/>
                </a:solidFill>
                <a:latin typeface="Segoe UI"/>
              </a:defRPr>
            </a:pPr>
            <a:r>
              <a:t>• 4. KHỬ METASTABILITY 2-FF &amp; LỌC NHIỄU 16X:</a:t>
            </a:r>
          </a:p>
          <a:p>
            <a:pPr>
              <a:lnSpc>
                <a:spcPct val="112000"/>
              </a:lnSpc>
              <a:spcAft>
                <a:spcPts val="300"/>
              </a:spcAft>
              <a:defRPr sz="819">
                <a:solidFill>
                  <a:srgbClr val="0F172A"/>
                </a:solidFill>
                <a:latin typeface="Segoe UI"/>
              </a:defRPr>
            </a:pPr>
            <a:r>
              <a:t>  Tích hợp sync_2ff.v (MTBF &gt; 1.000 năm) và bộ lấy mẫu 16x với thuật toán bầu đa số 3 mẫu triệt tiêu 100% xung gai nhiễu từ ăng-ten.</a:t>
            </a:r>
          </a:p>
        </p:txBody>
      </p:sp>
      <p:sp>
        <p:nvSpPr>
          <p:cNvPr id="12" name="Rounded Rectangle 11"/>
          <p:cNvSpPr/>
          <p:nvPr/>
        </p:nvSpPr>
        <p:spPr>
          <a:xfrm>
            <a:off x="731520" y="5230368"/>
            <a:ext cx="10725912" cy="1078992"/>
          </a:xfrm>
          <a:prstGeom prst="roundRect">
            <a:avLst>
              <a:gd name="adj" fmla="val 2000"/>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276088"/>
            <a:ext cx="10451592" cy="987552"/>
          </a:xfrm>
          <a:prstGeom prst="rect">
            <a:avLst/>
          </a:prstGeom>
          <a:noFill/>
        </p:spPr>
        <p:txBody>
          <a:bodyPr wrap="square" lIns="0" tIns="0" rIns="0" bIns="0">
            <a:spAutoFit/>
          </a:bodyPr>
          <a:lstStyle/>
          <a:p>
            <a:pPr>
              <a:spcAft>
                <a:spcPts val="200"/>
              </a:spcAft>
              <a:defRPr b="1" sz="950">
                <a:solidFill>
                  <a:srgbClr val="2563EB"/>
                </a:solidFill>
                <a:latin typeface="Segoe UI"/>
              </a:defRPr>
            </a:pPr>
            <a:r>
              <a:t>TỔNG KẾT SO SÁNH CHỈ SỐ KỸ THUẬT: SOFTWARE C BIT-BANG  vs  HARDWARE RTL UART</a:t>
            </a:r>
          </a:p>
          <a:p>
            <a:pPr>
              <a:lnSpc>
                <a:spcPct val="115000"/>
              </a:lnSpc>
              <a:defRPr sz="850">
                <a:solidFill>
                  <a:srgbClr val="0F172A"/>
                </a:solidFill>
                <a:latin typeface="Segoe UI"/>
              </a:defRPr>
            </a:pPr>
            <a:r>
              <a:t>• Chiếm dụng CPU: 14.5 ms / thẻ (100% CPU)  ➔  20 ns (1 Chu kỳ clock duy nhất)  |  • An toàn Flash: Rơi mất 100% dữ liệu  ➔  FIFO 32B đệm an toàn tuyệt đối</a:t>
            </a:r>
          </a:p>
          <a:p>
            <a:pPr>
              <a:lnSpc>
                <a:spcPct val="115000"/>
              </a:lnSpc>
              <a:defRPr sz="850">
                <a:solidFill>
                  <a:srgbClr val="0F172A"/>
                </a:solidFill>
                <a:latin typeface="Segoe UI"/>
              </a:defRPr>
            </a:pPr>
            <a:r>
              <a:t>• Độ ổn định Baudrate: Bị rung pha do trễ Flash XIP  ➔  Chuẩn xác 100% (50MHz / 5208)  |  • Xử lý miền xung CDC: Không hỗ trợ  ➔  2-FF Sync + Lấy mẫu 16x Majority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3: KIẾN TRÚC KHỐI NGOẠI VI UART</a:t>
            </a:r>
          </a:p>
          <a:p>
            <a:pPr>
              <a:defRPr sz="1700" b="1">
                <a:solidFill>
                  <a:srgbClr val="0F172A"/>
                </a:solidFill>
                <a:latin typeface="Segoe UI"/>
              </a:defRPr>
            </a:pPr>
            <a:r>
              <a:t>Sơ Đồ Khối Kiến Trúc Vi Mạch UART RTL (Draw.io Đen Trắng &amp; Đặc Tả Thiết Kế)</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13 / 26</a:t>
            </a:r>
          </a:p>
        </p:txBody>
      </p:sp>
      <p:sp>
        <p:nvSpPr>
          <p:cNvPr id="8" name="Rounded Rectangle 7"/>
          <p:cNvSpPr/>
          <p:nvPr/>
        </p:nvSpPr>
        <p:spPr>
          <a:xfrm>
            <a:off x="731520" y="1188720"/>
            <a:ext cx="5257800"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art_architecture_bw_diagram.png"/>
          <p:cNvPicPr>
            <a:picLocks noChangeAspect="1"/>
          </p:cNvPicPr>
          <p:nvPr/>
        </p:nvPicPr>
        <p:blipFill>
          <a:blip r:embed="rId2"/>
          <a:stretch>
            <a:fillRect/>
          </a:stretch>
        </p:blipFill>
        <p:spPr>
          <a:xfrm>
            <a:off x="868680" y="1325880"/>
            <a:ext cx="4983480" cy="4754880"/>
          </a:xfrm>
          <a:prstGeom prst="rect">
            <a:avLst/>
          </a:prstGeom>
        </p:spPr>
      </p:pic>
      <p:sp>
        <p:nvSpPr>
          <p:cNvPr id="10" name="Rounded Rectangle 9"/>
          <p:cNvSpPr/>
          <p:nvPr/>
        </p:nvSpPr>
        <p:spPr>
          <a:xfrm>
            <a:off x="6172200" y="118872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25880"/>
            <a:ext cx="4919472" cy="4754880"/>
          </a:xfrm>
          <a:prstGeom prst="rect">
            <a:avLst/>
          </a:prstGeom>
          <a:noFill/>
        </p:spPr>
        <p:txBody>
          <a:bodyPr wrap="square">
            <a:spAutoFit/>
          </a:bodyPr>
          <a:lstStyle/>
          <a:p>
            <a:pPr>
              <a:spcAft>
                <a:spcPts val="400"/>
              </a:spcAft>
              <a:defRPr b="1" sz="1150">
                <a:solidFill>
                  <a:srgbClr val="2563EB"/>
                </a:solidFill>
                <a:latin typeface="Segoe UI"/>
              </a:defRPr>
            </a:pPr>
            <a:r>
              <a:t>ĐẶC TẢ THIẾT KẾ 5 TẦNG VI MẠCH NGOẠI VI UART RTL</a:t>
            </a:r>
          </a:p>
          <a:p>
            <a:pPr>
              <a:spcBef>
                <a:spcPts val="300"/>
              </a:spcBef>
              <a:spcAft>
                <a:spcPts val="100"/>
              </a:spcAft>
              <a:defRPr sz="860" b="1">
                <a:solidFill>
                  <a:srgbClr val="E11D48"/>
                </a:solidFill>
                <a:latin typeface="Segoe UI"/>
              </a:defRPr>
            </a:pPr>
            <a:r>
              <a:t>TẦNG 1: ĐỒNG BỘ HÓA MIỀN XUNG 2-FF CDC (sync_2ff.v)</a:t>
            </a:r>
          </a:p>
          <a:p>
            <a:pPr>
              <a:lnSpc>
                <a:spcPct val="110000"/>
              </a:lnSpc>
              <a:spcAft>
                <a:spcPts val="120"/>
              </a:spcAft>
              <a:defRPr sz="760">
                <a:solidFill>
                  <a:srgbClr val="0F172A"/>
                </a:solidFill>
                <a:latin typeface="Segoe UI"/>
              </a:defRPr>
            </a:pPr>
            <a:r>
              <a:t>• Ngõ vào không đồng bộ rx_i: Tín hiệu nối tiếp từ đầu đọc RDM6300 125kHz hoặc chip USB FT2232 đi qua 2 tầng Flip-Flop.</a:t>
            </a:r>
          </a:p>
          <a:p>
            <a:pPr>
              <a:lnSpc>
                <a:spcPct val="110000"/>
              </a:lnSpc>
              <a:spcAft>
                <a:spcPts val="120"/>
              </a:spcAft>
              <a:defRPr sz="760">
                <a:solidFill>
                  <a:srgbClr val="0F172A"/>
                </a:solidFill>
                <a:latin typeface="Segoe UI"/>
              </a:defRPr>
            </a:pPr>
            <a:r>
              <a:t>• Chống hiện tượng siêu ổn định: Bảo đảm thời gian trung bình giữa 2 lỗi MTBF &gt; 1.000 năm trên tiến trình SkyWater 130nm.</a:t>
            </a:r>
          </a:p>
          <a:p>
            <a:pPr>
              <a:spcBef>
                <a:spcPts val="300"/>
              </a:spcBef>
              <a:spcAft>
                <a:spcPts val="100"/>
              </a:spcAft>
              <a:defRPr sz="860" b="1">
                <a:solidFill>
                  <a:srgbClr val="D97706"/>
                </a:solidFill>
                <a:latin typeface="Segoe UI"/>
              </a:defRPr>
            </a:pPr>
            <a:r>
              <a:t>TẦNG 2 &amp; 3: BỘ TẠO BAUD, LẤY MẪU 16X &amp; RX FSM (simpleuart.v)</a:t>
            </a:r>
          </a:p>
          <a:p>
            <a:pPr>
              <a:lnSpc>
                <a:spcPct val="110000"/>
              </a:lnSpc>
              <a:spcAft>
                <a:spcPts val="120"/>
              </a:spcAft>
              <a:defRPr sz="760">
                <a:solidFill>
                  <a:srgbClr val="0F172A"/>
                </a:solidFill>
                <a:latin typeface="Segoe UI"/>
              </a:defRPr>
            </a:pPr>
            <a:r>
              <a:t>• Chia tần số chuẩn xác: Thanh ghi cfg_divider = 5208 (50 MHz / 9600 bps) tạo chu kỳ định thời phần cứng chính xác 100%.</a:t>
            </a:r>
          </a:p>
          <a:p>
            <a:pPr>
              <a:lnSpc>
                <a:spcPct val="110000"/>
              </a:lnSpc>
              <a:spcAft>
                <a:spcPts val="120"/>
              </a:spcAft>
              <a:defRPr sz="760">
                <a:solidFill>
                  <a:srgbClr val="0F172A"/>
                </a:solidFill>
                <a:latin typeface="Segoe UI"/>
              </a:defRPr>
            </a:pPr>
            <a:r>
              <a:t>• Bộ lấy mẫu 16x &amp; Bầu đa số 3 mẫu: Lấy mẫu tại tick 7, 8, 9 ở giữa bit, triệt tiêu xung gai nhiễu glitch.</a:t>
            </a:r>
          </a:p>
          <a:p>
            <a:pPr>
              <a:lnSpc>
                <a:spcPct val="110000"/>
              </a:lnSpc>
              <a:spcAft>
                <a:spcPts val="120"/>
              </a:spcAft>
              <a:defRPr sz="760">
                <a:solidFill>
                  <a:srgbClr val="0F172A"/>
                </a:solidFill>
                <a:latin typeface="Segoe UI"/>
              </a:defRPr>
            </a:pPr>
            <a:r>
              <a:t>• Máy trạng thái RX FSM: Tự động phát hiện Start bit (0), dịch 8-bit dữ liệu LSB-first và kiểm tra Stop bit (1).</a:t>
            </a:r>
          </a:p>
          <a:p>
            <a:pPr>
              <a:spcBef>
                <a:spcPts val="300"/>
              </a:spcBef>
              <a:spcAft>
                <a:spcPts val="100"/>
              </a:spcAft>
              <a:defRPr sz="860" b="1">
                <a:solidFill>
                  <a:srgbClr val="2563EB"/>
                </a:solidFill>
                <a:latin typeface="Segoe UI"/>
              </a:defRPr>
            </a:pPr>
            <a:r>
              <a:t>TẦNG 4: HÀNG ĐỢI FIFO 32 BYTES ĐỘC LẬP (sync_fifo.v)</a:t>
            </a:r>
          </a:p>
          <a:p>
            <a:pPr>
              <a:lnSpc>
                <a:spcPct val="110000"/>
              </a:lnSpc>
              <a:spcAft>
                <a:spcPts val="120"/>
              </a:spcAft>
              <a:defRPr sz="760">
                <a:solidFill>
                  <a:srgbClr val="0F172A"/>
                </a:solidFill>
                <a:latin typeface="Segoe UI"/>
              </a:defRPr>
            </a:pPr>
            <a:r>
              <a:t>• Cơ chế đệm độc lập: Quản lý con trỏ ghi wr_ptr và đọc rd_ptr độc lập trên mảng nhớ 32x8-bit.</a:t>
            </a:r>
          </a:p>
          <a:p>
            <a:pPr>
              <a:lnSpc>
                <a:spcPct val="110000"/>
              </a:lnSpc>
              <a:spcAft>
                <a:spcPts val="120"/>
              </a:spcAft>
              <a:defRPr sz="760">
                <a:solidFill>
                  <a:srgbClr val="0F172A"/>
                </a:solidFill>
                <a:latin typeface="Segoe UI"/>
              </a:defRPr>
            </a:pPr>
            <a:r>
              <a:t>• Bảo vệ chống tràn khi Flash bận: Đệm trọn vẹn 14 byte chuỗi thẻ RFID ngay cả khi CPU bận chạy flashio_worker ghi Flash.</a:t>
            </a:r>
          </a:p>
          <a:p>
            <a:pPr>
              <a:spcBef>
                <a:spcPts val="300"/>
              </a:spcBef>
              <a:spcAft>
                <a:spcPts val="100"/>
              </a:spcAft>
              <a:defRPr sz="860" b="1">
                <a:solidFill>
                  <a:srgbClr val="10B981"/>
                </a:solidFill>
                <a:latin typeface="Segoe UI"/>
              </a:defRPr>
            </a:pPr>
            <a:r>
              <a:t>TẦNG 5: GIẢI MÃ BUS MMIO &amp; NON-BLOCKING (uart_mmio.v)</a:t>
            </a:r>
          </a:p>
          <a:p>
            <a:pPr>
              <a:lnSpc>
                <a:spcPct val="110000"/>
              </a:lnSpc>
              <a:spcAft>
                <a:spcPts val="120"/>
              </a:spcAft>
              <a:defRPr sz="760">
                <a:solidFill>
                  <a:srgbClr val="0F172A"/>
                </a:solidFill>
                <a:latin typeface="Segoe UI"/>
              </a:defRPr>
            </a:pPr>
            <a:r>
              <a:t>• Ánh xạ không gian địa chỉ: 0x1000_0000 (Divider Prescaler) và 0x1000_0004 (RX FIFO Data).</a:t>
            </a:r>
          </a:p>
          <a:p>
            <a:pPr>
              <a:lnSpc>
                <a:spcPct val="110000"/>
              </a:lnSpc>
              <a:spcAft>
                <a:spcPts val="120"/>
              </a:spcAft>
              <a:defRPr sz="760">
                <a:solidFill>
                  <a:srgbClr val="0F172A"/>
                </a:solidFill>
                <a:latin typeface="Segoe UI"/>
              </a:defRPr>
            </a:pPr>
            <a:r>
              <a:t>• Giao tiếp Non-blocking 1 chu kỳ: Nếu FIFO rỗng, trả về ngay 0xFFFFFFFF trong 20 ns, không bao giờ làm treo bus CPU.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TẦNG FIRMWARE C &amp; PHẦN CỨNG (BIẾN ĐỊA CHỈ 1/6)</a:t>
            </a:r>
          </a:p>
          <a:p>
            <a:pPr>
              <a:defRPr sz="1700" b="1">
                <a:solidFill>
                  <a:srgbClr val="0F172A"/>
                </a:solidFill>
                <a:latin typeface="Segoe UI"/>
              </a:defRPr>
            </a:pPr>
            <a:r>
              <a:t>Biến Địa Chỉ 1: REG_RFID_UART_DAT &amp; DIV (0x1000_0004 &amp; 0x1000_0000)</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14 / 26</a:t>
            </a:r>
          </a:p>
        </p:txBody>
      </p:sp>
      <p:sp>
        <p:nvSpPr>
          <p:cNvPr id="8" name="Rounded Rectangle 7"/>
          <p:cNvSpPr/>
          <p:nvPr/>
        </p:nvSpPr>
        <p:spPr>
          <a:xfrm>
            <a:off x="731520" y="118872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4983480" cy="292608"/>
          </a:xfrm>
          <a:prstGeom prst="rect">
            <a:avLst/>
          </a:prstGeom>
          <a:noFill/>
        </p:spPr>
        <p:txBody>
          <a:bodyPr wrap="none" lIns="0" tIns="0" rIns="0" bIns="0">
            <a:spAutoFit/>
          </a:bodyPr>
          <a:lstStyle/>
          <a:p>
            <a:pPr>
              <a:defRPr sz="950" b="1">
                <a:solidFill>
                  <a:srgbClr val="0EA5E9"/>
                </a:solidFill>
                <a:latin typeface="Consolas"/>
              </a:defRPr>
            </a:pPr>
            <a:r>
              <a:t>&gt;_  access_control.c &amp; soc_regs.h [RFID MMIO]</a:t>
            </a:r>
          </a:p>
        </p:txBody>
      </p:sp>
      <p:sp>
        <p:nvSpPr>
          <p:cNvPr id="10" name="TextBox 9"/>
          <p:cNvSpPr txBox="1"/>
          <p:nvPr/>
        </p:nvSpPr>
        <p:spPr>
          <a:xfrm>
            <a:off x="868680" y="1554480"/>
            <a:ext cx="4983480" cy="4315968"/>
          </a:xfrm>
          <a:prstGeom prst="rect">
            <a:avLst/>
          </a:prstGeom>
          <a:noFill/>
        </p:spPr>
        <p:txBody>
          <a:bodyPr wrap="square" lIns="0" tIns="0" rIns="0" bIns="0">
            <a:spAutoFit/>
          </a:bodyPr>
          <a:lstStyle/>
          <a:p>
            <a:pPr>
              <a:lnSpc>
                <a:spcPct val="108000"/>
              </a:lnSpc>
              <a:spcAft>
                <a:spcPts val="0"/>
              </a:spcAft>
              <a:defRPr sz="800">
                <a:solidFill>
                  <a:srgbClr val="94A3B8"/>
                </a:solidFill>
                <a:latin typeface="Consolas"/>
              </a:defRPr>
            </a:pPr>
            <a:r>
              <a:t>// firmware/common/soc_regs.h - Định nghĩa con trỏ volatile</a:t>
            </a:r>
          </a:p>
          <a:p>
            <a:pPr>
              <a:lnSpc>
                <a:spcPct val="108000"/>
              </a:lnSpc>
              <a:spcAft>
                <a:spcPts val="0"/>
              </a:spcAft>
              <a:defRPr sz="800">
                <a:solidFill>
                  <a:srgbClr val="94A3B8"/>
                </a:solidFill>
                <a:latin typeface="Consolas"/>
              </a:defRPr>
            </a:pPr>
            <a:r>
              <a:t>#define REG_RFID_UART_DIV (*(volatile uint32_t*)0x10000000) // Baud divider</a:t>
            </a:r>
          </a:p>
          <a:p>
            <a:pPr>
              <a:lnSpc>
                <a:spcPct val="108000"/>
              </a:lnSpc>
              <a:spcAft>
                <a:spcPts val="0"/>
              </a:spcAft>
              <a:defRPr sz="800">
                <a:solidFill>
                  <a:srgbClr val="94A3B8"/>
                </a:solidFill>
                <a:latin typeface="Consolas"/>
              </a:defRPr>
            </a:pPr>
            <a:r>
              <a:t>#define REG_RFID_UART_DAT (*(volatile uint32_t*)0x10000004) // RX FIFO 32B</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firmware/app/access_control.c - Khởi tạo bộ chia tần số</a:t>
            </a:r>
          </a:p>
          <a:p>
            <a:pPr>
              <a:lnSpc>
                <a:spcPct val="108000"/>
              </a:lnSpc>
              <a:spcAft>
                <a:spcPts val="0"/>
              </a:spcAft>
              <a:defRPr sz="800">
                <a:solidFill>
                  <a:srgbClr val="93C5FD"/>
                </a:solidFill>
                <a:latin typeface="Consolas"/>
              </a:defRPr>
            </a:pPr>
            <a:r>
              <a:t>void access_control_init(void) {</a:t>
            </a:r>
          </a:p>
          <a:p>
            <a:pPr>
              <a:lnSpc>
                <a:spcPct val="108000"/>
              </a:lnSpc>
              <a:spcAft>
                <a:spcPts val="0"/>
              </a:spcAft>
              <a:defRPr sz="800">
                <a:solidFill>
                  <a:srgbClr val="93C5FD"/>
                </a:solidFill>
                <a:latin typeface="Consolas"/>
              </a:defRPr>
            </a:pPr>
            <a:r>
              <a:t>    if (REG_RFID_UART_DIV == 0) {</a:t>
            </a:r>
          </a:p>
          <a:p>
            <a:pPr>
              <a:lnSpc>
                <a:spcPct val="108000"/>
              </a:lnSpc>
              <a:spcAft>
                <a:spcPts val="0"/>
              </a:spcAft>
              <a:defRPr sz="800">
                <a:solidFill>
                  <a:srgbClr val="FFFFFF"/>
                </a:solidFill>
                <a:latin typeface="Consolas"/>
              </a:defRPr>
            </a:pPr>
            <a:r>
              <a:t>        REG_RFID_UART_DIV = 5208; // 50 MHz / 9600 Baud = 5208</a:t>
            </a:r>
          </a:p>
          <a:p>
            <a:pPr>
              <a:lnSpc>
                <a:spcPct val="108000"/>
              </a:lnSpc>
              <a:spcAft>
                <a:spcPts val="0"/>
              </a:spcAft>
              <a:defRPr sz="800">
                <a:solidFill>
                  <a:srgbClr val="FFFFFF"/>
                </a:solidFill>
                <a:latin typeface="Consolas"/>
              </a:defRPr>
            </a:pPr>
            <a:r>
              <a:t>    }</a:t>
            </a:r>
          </a:p>
          <a:p>
            <a:pPr>
              <a:lnSpc>
                <a:spcPct val="108000"/>
              </a:lnSpc>
              <a:spcAft>
                <a:spcPts val="0"/>
              </a:spcAft>
              <a:defRPr sz="800">
                <a:solidFill>
                  <a:srgbClr val="FFFFFF"/>
                </a:solidFill>
                <a:latin typeface="Consolas"/>
              </a:defRPr>
            </a:pPr>
            <a:r>
              <a:t>    rdm6300_parser_init();</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firmware/app/access_control.c - Đọc không khóa từ hàng đợi FIFO</a:t>
            </a:r>
          </a:p>
          <a:p>
            <a:pPr>
              <a:lnSpc>
                <a:spcPct val="108000"/>
              </a:lnSpc>
              <a:spcAft>
                <a:spcPts val="0"/>
              </a:spcAft>
              <a:defRPr sz="800">
                <a:solidFill>
                  <a:srgbClr val="93C5FD"/>
                </a:solidFill>
                <a:latin typeface="Consolas"/>
              </a:defRPr>
            </a:pPr>
            <a:r>
              <a:t>static inline int rfid_uart_getc_nonblock(void) {</a:t>
            </a:r>
          </a:p>
          <a:p>
            <a:pPr>
              <a:lnSpc>
                <a:spcPct val="108000"/>
              </a:lnSpc>
              <a:spcAft>
                <a:spcPts val="0"/>
              </a:spcAft>
              <a:defRPr sz="800">
                <a:solidFill>
                  <a:srgbClr val="FFFFFF"/>
                </a:solidFill>
                <a:latin typeface="Consolas"/>
              </a:defRPr>
            </a:pPr>
            <a:r>
              <a:t>    uint32_t d = REG_RFID_UART_DAT; // Pop 1 byte từ RX FIFO phần cứng</a:t>
            </a:r>
          </a:p>
          <a:p>
            <a:pPr>
              <a:lnSpc>
                <a:spcPct val="108000"/>
              </a:lnSpc>
              <a:spcAft>
                <a:spcPts val="0"/>
              </a:spcAft>
              <a:defRPr sz="800">
                <a:solidFill>
                  <a:srgbClr val="93C5FD"/>
                </a:solidFill>
                <a:latin typeface="Consolas"/>
              </a:defRPr>
            </a:pPr>
            <a:r>
              <a:t>    if (d == 0xFFFFFFFF) return -1; // FIFO rỗng -&gt; Thoát ngay (0-wait)</a:t>
            </a:r>
          </a:p>
          <a:p>
            <a:pPr>
              <a:lnSpc>
                <a:spcPct val="108000"/>
              </a:lnSpc>
              <a:spcAft>
                <a:spcPts val="0"/>
              </a:spcAft>
              <a:defRPr sz="800">
                <a:solidFill>
                  <a:srgbClr val="93C5FD"/>
                </a:solidFill>
                <a:latin typeface="Consolas"/>
              </a:defRPr>
            </a:pPr>
            <a:r>
              <a:t>    return (int)(d &amp; 0xFF);         // Trả về byte dữ liệu 8-bit</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3C5FD"/>
                </a:solidFill>
                <a:latin typeface="Consolas"/>
              </a:defRPr>
            </a:pPr>
            <a:r>
              <a:t>void access_control_poll(void) {</a:t>
            </a:r>
          </a:p>
          <a:p>
            <a:pPr>
              <a:lnSpc>
                <a:spcPct val="108000"/>
              </a:lnSpc>
              <a:spcAft>
                <a:spcPts val="0"/>
              </a:spcAft>
              <a:defRPr sz="800">
                <a:solidFill>
                  <a:srgbClr val="FFFFFF"/>
                </a:solidFill>
                <a:latin typeface="Consolas"/>
              </a:defRPr>
            </a:pPr>
            <a:r>
              <a:t>    int ch;</a:t>
            </a:r>
          </a:p>
          <a:p>
            <a:pPr>
              <a:lnSpc>
                <a:spcPct val="108000"/>
              </a:lnSpc>
              <a:spcAft>
                <a:spcPts val="0"/>
              </a:spcAft>
              <a:defRPr sz="800">
                <a:solidFill>
                  <a:srgbClr val="93C5FD"/>
                </a:solidFill>
                <a:latin typeface="Consolas"/>
              </a:defRPr>
            </a:pPr>
            <a:r>
              <a:t>    while ((ch = rfid_uart_getc_nonblock()) &gt;= 0) {</a:t>
            </a:r>
          </a:p>
          <a:p>
            <a:pPr>
              <a:lnSpc>
                <a:spcPct val="108000"/>
              </a:lnSpc>
              <a:spcAft>
                <a:spcPts val="0"/>
              </a:spcAft>
              <a:defRPr sz="800">
                <a:solidFill>
                  <a:srgbClr val="FFFFFF"/>
                </a:solidFill>
                <a:latin typeface="Consolas"/>
              </a:defRPr>
            </a:pPr>
            <a:r>
              <a:t>        rdm6300_tag_t tag;</a:t>
            </a:r>
          </a:p>
          <a:p>
            <a:pPr>
              <a:lnSpc>
                <a:spcPct val="108000"/>
              </a:lnSpc>
              <a:spcAft>
                <a:spcPts val="0"/>
              </a:spcAft>
              <a:defRPr sz="800">
                <a:solidFill>
                  <a:srgbClr val="93C5FD"/>
                </a:solidFill>
                <a:latin typeface="Consolas"/>
              </a:defRPr>
            </a:pPr>
            <a:r>
              <a:t>        if (rdm6300_parse_byte((uint8_t)ch, &amp;tag))</a:t>
            </a:r>
          </a:p>
          <a:p>
            <a:pPr>
              <a:lnSpc>
                <a:spcPct val="108000"/>
              </a:lnSpc>
              <a:spcAft>
                <a:spcPts val="0"/>
              </a:spcAft>
              <a:defRPr sz="800">
                <a:solidFill>
                  <a:srgbClr val="FFFFFF"/>
                </a:solidFill>
                <a:latin typeface="Consolas"/>
              </a:defRPr>
            </a:pPr>
            <a:r>
              <a:t>            access_control_process_card(tag.tag_hex, tag.tag_hi, tag.tag_lo);</a:t>
            </a:r>
          </a:p>
          <a:p>
            <a:pPr>
              <a:lnSpc>
                <a:spcPct val="108000"/>
              </a:lnSpc>
              <a:spcAft>
                <a:spcPts val="0"/>
              </a:spcAft>
              <a:defRPr sz="800">
                <a:solidFill>
                  <a:srgbClr val="FFFFFF"/>
                </a:solidFill>
                <a:latin typeface="Consolas"/>
              </a:defRPr>
            </a:pPr>
            <a:r>
              <a:t>    }</a:t>
            </a:r>
          </a:p>
          <a:p>
            <a:pPr>
              <a:lnSpc>
                <a:spcPct val="108000"/>
              </a:lnSpc>
              <a:spcAft>
                <a:spcPts val="0"/>
              </a:spcAft>
              <a:defRPr sz="800">
                <a:solidFill>
                  <a:srgbClr val="FFFFFF"/>
                </a:solidFill>
                <a:latin typeface="Consolas"/>
              </a:defRPr>
            </a:pPr>
            <a:r>
              <a:t>}</a:t>
            </a:r>
          </a:p>
        </p:txBody>
      </p:sp>
      <p:sp>
        <p:nvSpPr>
          <p:cNvPr id="11" name="TextBox 10"/>
          <p:cNvSpPr txBox="1"/>
          <p:nvPr/>
        </p:nvSpPr>
        <p:spPr>
          <a:xfrm>
            <a:off x="868680" y="5833872"/>
            <a:ext cx="4983480" cy="274320"/>
          </a:xfrm>
          <a:prstGeom prst="rect">
            <a:avLst/>
          </a:prstGeom>
          <a:noFill/>
        </p:spPr>
        <p:txBody>
          <a:bodyPr wrap="none" lIns="0" tIns="0" rIns="0" bIns="0">
            <a:spAutoFit/>
          </a:bodyPr>
          <a:lstStyle/>
          <a:p>
            <a:pPr>
              <a:defRPr sz="819" b="1">
                <a:solidFill>
                  <a:srgbClr val="10B981"/>
                </a:solidFill>
                <a:latin typeface="Segoe UI"/>
              </a:defRPr>
            </a:pPr>
            <a:r>
              <a:t>=== READ: 0x1000_0004 -&gt; POP RX FIFO (NON-BLOCKING 1-CYCLE) ===</a:t>
            </a:r>
          </a:p>
        </p:txBody>
      </p:sp>
      <p:sp>
        <p:nvSpPr>
          <p:cNvPr id="12" name="Rounded Rectangle 11"/>
          <p:cNvSpPr/>
          <p:nvPr/>
        </p:nvSpPr>
        <p:spPr>
          <a:xfrm>
            <a:off x="6172200" y="118872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2563EB"/>
                </a:solidFill>
                <a:latin typeface="Segoe UI"/>
              </a:defRPr>
            </a:pPr>
            <a:r>
              <a:t>THAO TÁC &amp; MỤC ĐÍCH THIẾT KẾ ĐỊA CHỈ RFID MMIO</a:t>
            </a:r>
          </a:p>
          <a:p>
            <a:pPr>
              <a:lnSpc>
                <a:spcPct val="115000"/>
              </a:lnSpc>
              <a:spcAft>
                <a:spcPts val="500"/>
              </a:spcAft>
              <a:defRPr sz="930">
                <a:solidFill>
                  <a:srgbClr val="0F172A"/>
                </a:solidFill>
                <a:latin typeface="Segoe UI"/>
              </a:defRPr>
            </a:pPr>
            <a:r>
              <a:t>• 1. Địa chỉ vật lý phần cứng: 0x1000_0000 (Prescaler Divider) và 0x1000_0004 (RX FIFO Data) do soc_interconnect.v giải mã khi cpu_mem_addr[31:28] == 4'h1 (Slave 2: uart_mmio.v).</a:t>
            </a:r>
          </a:p>
          <a:p>
            <a:pPr>
              <a:lnSpc>
                <a:spcPct val="115000"/>
              </a:lnSpc>
              <a:spcAft>
                <a:spcPts val="500"/>
              </a:spcAft>
              <a:defRPr sz="930">
                <a:solidFill>
                  <a:srgbClr val="0F172A"/>
                </a:solidFill>
                <a:latin typeface="Segoe UI"/>
              </a:defRPr>
            </a:pPr>
            <a:r>
              <a:t>• 2. Cách thao tác trong C: • Cấu hình baudrate: Ghi giá trị 5208 (50,000,000 / 9600) vào REG_RFID_UART_DIV một lần duy nhất lúc khởi động.</a:t>
            </a:r>
            <a:br/>
            <a:r>
              <a:t>• Đọc không khóa (Non-blocking): Đọc REG_RFID_UART_DAT. Nếu d != 0xFFFFFFFF, ép kiểu lấy byte dữ liệu (d &amp; 0xFF) đưa vào máy trạng thái parser.</a:t>
            </a:r>
          </a:p>
          <a:p>
            <a:pPr>
              <a:lnSpc>
                <a:spcPct val="115000"/>
              </a:lnSpc>
              <a:spcAft>
                <a:spcPts val="500"/>
              </a:spcAft>
              <a:defRPr sz="930">
                <a:solidFill>
                  <a:srgbClr val="0F172A"/>
                </a:solidFill>
                <a:latin typeface="Segoe UI"/>
              </a:defRPr>
            </a:pPr>
            <a:r>
              <a:t>• 3. Mục đích thiết kế: Thu nhận liên tục các byte mã thẻ từ đầu đọc RFID RDM6300 125kHz qua hàng đợi phần cứng FIFO 32 bytes mà không làm gián đoạn hay treo CPU.</a:t>
            </a:r>
          </a:p>
          <a:p>
            <a:pPr>
              <a:lnSpc>
                <a:spcPct val="115000"/>
              </a:lnSpc>
              <a:spcAft>
                <a:spcPts val="500"/>
              </a:spcAft>
              <a:defRPr sz="930">
                <a:solidFill>
                  <a:srgbClr val="0F172A"/>
                </a:solidFill>
                <a:latin typeface="Segoe UI"/>
              </a:defRPr>
            </a:pPr>
            <a:r>
              <a:t>• 4. Ràng buộc &amp; Ưu điểm: Cơ chế Non-blocking giúp CPU chỉ mất đúng 1 chu kỳ clock để kiểm tra trạng thái thẻ, giải phóng thời gian cho CPU xử lý các tác vụ kiểm soát và ghi Flash.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TẦNG FIRMWARE C &amp; PHẦN CỨNG (BIẾN ĐỊA CHỈ 2/6)</a:t>
            </a:r>
          </a:p>
          <a:p>
            <a:pPr>
              <a:defRPr sz="1700" b="1">
                <a:solidFill>
                  <a:srgbClr val="0F172A"/>
                </a:solidFill>
                <a:latin typeface="Segoe UI"/>
              </a:defRPr>
            </a:pPr>
            <a:r>
              <a:t>Biến Địa Chỉ 2: REG_PC_UART_DAT &amp; DIV (0x3000_0004 &amp; 0x3000_0000)</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15 / 26</a:t>
            </a:r>
          </a:p>
        </p:txBody>
      </p:sp>
      <p:sp>
        <p:nvSpPr>
          <p:cNvPr id="8" name="Rounded Rectangle 7"/>
          <p:cNvSpPr/>
          <p:nvPr/>
        </p:nvSpPr>
        <p:spPr>
          <a:xfrm>
            <a:off x="731520" y="118872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4983480" cy="292608"/>
          </a:xfrm>
          <a:prstGeom prst="rect">
            <a:avLst/>
          </a:prstGeom>
          <a:noFill/>
        </p:spPr>
        <p:txBody>
          <a:bodyPr wrap="none" lIns="0" tIns="0" rIns="0" bIns="0">
            <a:spAutoFit/>
          </a:bodyPr>
          <a:lstStyle/>
          <a:p>
            <a:pPr>
              <a:defRPr sz="950" b="1">
                <a:solidFill>
                  <a:srgbClr val="FBBF24"/>
                </a:solidFill>
                <a:latin typeface="Consolas"/>
              </a:defRPr>
            </a:pPr>
            <a:r>
              <a:t>&gt;_  uart.c &amp; soc_regs.h [Host PC UART MMIO]</a:t>
            </a:r>
          </a:p>
        </p:txBody>
      </p:sp>
      <p:sp>
        <p:nvSpPr>
          <p:cNvPr id="10" name="TextBox 9"/>
          <p:cNvSpPr txBox="1"/>
          <p:nvPr/>
        </p:nvSpPr>
        <p:spPr>
          <a:xfrm>
            <a:off x="868680" y="1554480"/>
            <a:ext cx="4983480" cy="4315968"/>
          </a:xfrm>
          <a:prstGeom prst="rect">
            <a:avLst/>
          </a:prstGeom>
          <a:noFill/>
        </p:spPr>
        <p:txBody>
          <a:bodyPr wrap="square" lIns="0" tIns="0" rIns="0" bIns="0">
            <a:spAutoFit/>
          </a:bodyPr>
          <a:lstStyle/>
          <a:p>
            <a:pPr>
              <a:lnSpc>
                <a:spcPct val="108000"/>
              </a:lnSpc>
              <a:spcAft>
                <a:spcPts val="0"/>
              </a:spcAft>
              <a:defRPr sz="800">
                <a:solidFill>
                  <a:srgbClr val="94A3B8"/>
                </a:solidFill>
                <a:latin typeface="Consolas"/>
              </a:defRPr>
            </a:pPr>
            <a:r>
              <a:t>// firmware/common/soc_regs.h - Địa chỉ UART Host PC</a:t>
            </a:r>
          </a:p>
          <a:p>
            <a:pPr>
              <a:lnSpc>
                <a:spcPct val="108000"/>
              </a:lnSpc>
              <a:spcAft>
                <a:spcPts val="0"/>
              </a:spcAft>
              <a:defRPr sz="800">
                <a:solidFill>
                  <a:srgbClr val="94A3B8"/>
                </a:solidFill>
                <a:latin typeface="Consolas"/>
              </a:defRPr>
            </a:pPr>
            <a:r>
              <a:t>#define REG_PC_UART_DIV   (*(volatile uint32_t*)0x30000000)</a:t>
            </a:r>
          </a:p>
          <a:p>
            <a:pPr>
              <a:lnSpc>
                <a:spcPct val="108000"/>
              </a:lnSpc>
              <a:spcAft>
                <a:spcPts val="0"/>
              </a:spcAft>
              <a:defRPr sz="800">
                <a:solidFill>
                  <a:srgbClr val="94A3B8"/>
                </a:solidFill>
                <a:latin typeface="Consolas"/>
              </a:defRPr>
            </a:pPr>
            <a:r>
              <a:t>#define REG_PC_UART_DAT   (*(volatile uint32_t*)0x30000004)</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firmware/drivers/uart.c - Khởi tạo &amp; Gửi/Nhận ký tự</a:t>
            </a:r>
          </a:p>
          <a:p>
            <a:pPr>
              <a:lnSpc>
                <a:spcPct val="108000"/>
              </a:lnSpc>
              <a:spcAft>
                <a:spcPts val="0"/>
              </a:spcAft>
              <a:defRPr sz="800">
                <a:solidFill>
                  <a:srgbClr val="93C5FD"/>
                </a:solidFill>
                <a:latin typeface="Consolas"/>
              </a:defRPr>
            </a:pPr>
            <a:r>
              <a:t>void uart_init(uint32_t baud_div) {</a:t>
            </a:r>
          </a:p>
          <a:p>
            <a:pPr>
              <a:lnSpc>
                <a:spcPct val="108000"/>
              </a:lnSpc>
              <a:spcAft>
                <a:spcPts val="0"/>
              </a:spcAft>
              <a:defRPr sz="800">
                <a:solidFill>
                  <a:srgbClr val="93C5FD"/>
                </a:solidFill>
                <a:latin typeface="Consolas"/>
              </a:defRPr>
            </a:pPr>
            <a:r>
              <a:t>    if (REG_PC_UART_DIV == 0 &amp;&amp; baud_div != 0)</a:t>
            </a:r>
          </a:p>
          <a:p>
            <a:pPr>
              <a:lnSpc>
                <a:spcPct val="108000"/>
              </a:lnSpc>
              <a:spcAft>
                <a:spcPts val="0"/>
              </a:spcAft>
              <a:defRPr sz="800">
                <a:solidFill>
                  <a:srgbClr val="FFFFFF"/>
                </a:solidFill>
                <a:latin typeface="Consolas"/>
              </a:defRPr>
            </a:pPr>
            <a:r>
              <a:t>        REG_PC_UART_DIV = baud_div; // 5208 cho 9600 Baud @ 50MHz</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3C5FD"/>
                </a:solidFill>
                <a:latin typeface="Consolas"/>
              </a:defRPr>
            </a:pPr>
            <a:r>
              <a:t>void uart_putc(char c) {</a:t>
            </a:r>
          </a:p>
          <a:p>
            <a:pPr>
              <a:lnSpc>
                <a:spcPct val="108000"/>
              </a:lnSpc>
              <a:spcAft>
                <a:spcPts val="0"/>
              </a:spcAft>
              <a:defRPr sz="800">
                <a:solidFill>
                  <a:srgbClr val="FFFFFF"/>
                </a:solidFill>
                <a:latin typeface="Consolas"/>
              </a:defRPr>
            </a:pPr>
            <a:r>
              <a:t>    REG_PC_UART_DAT = (uint32_t)(uint8_t)c; // Đẩy vào TX FIFO</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93C5FD"/>
                </a:solidFill>
                <a:latin typeface="Consolas"/>
              </a:defRPr>
            </a:pPr>
            <a:r>
              <a:t>void uart_puts(const char *str) {</a:t>
            </a:r>
          </a:p>
          <a:p>
            <a:pPr>
              <a:lnSpc>
                <a:spcPct val="108000"/>
              </a:lnSpc>
              <a:spcAft>
                <a:spcPts val="0"/>
              </a:spcAft>
              <a:defRPr sz="800">
                <a:solidFill>
                  <a:srgbClr val="93C5FD"/>
                </a:solidFill>
                <a:latin typeface="Consolas"/>
              </a:defRPr>
            </a:pPr>
            <a:r>
              <a:t>    while (*str) {</a:t>
            </a:r>
          </a:p>
          <a:p>
            <a:pPr>
              <a:lnSpc>
                <a:spcPct val="108000"/>
              </a:lnSpc>
              <a:spcAft>
                <a:spcPts val="0"/>
              </a:spcAft>
              <a:defRPr sz="800">
                <a:solidFill>
                  <a:srgbClr val="93C5FD"/>
                </a:solidFill>
                <a:latin typeface="Consolas"/>
              </a:defRPr>
            </a:pPr>
            <a:r>
              <a:t>        if (*str == '</a:t>
            </a:r>
            <a:br/>
            <a:r>
              <a:t>') uart_putc('_x000D_'); // Chuẩn hóa CRLF</a:t>
            </a:r>
          </a:p>
          <a:p>
            <a:pPr>
              <a:lnSpc>
                <a:spcPct val="108000"/>
              </a:lnSpc>
              <a:spcAft>
                <a:spcPts val="0"/>
              </a:spcAft>
              <a:defRPr sz="800">
                <a:solidFill>
                  <a:srgbClr val="FFFFFF"/>
                </a:solidFill>
                <a:latin typeface="Consolas"/>
              </a:defRPr>
            </a:pPr>
            <a:r>
              <a:t>        uart_putc(*str++);</a:t>
            </a:r>
          </a:p>
          <a:p>
            <a:pPr>
              <a:lnSpc>
                <a:spcPct val="108000"/>
              </a:lnSpc>
              <a:spcAft>
                <a:spcPts val="0"/>
              </a:spcAft>
              <a:defRPr sz="800">
                <a:solidFill>
                  <a:srgbClr val="FFFFFF"/>
                </a:solidFill>
                <a:latin typeface="Consolas"/>
              </a:defRPr>
            </a:pPr>
            <a:r>
              <a:t>    }</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3C5FD"/>
                </a:solidFill>
                <a:latin typeface="Consolas"/>
              </a:defRPr>
            </a:pPr>
            <a:r>
              <a:t>int uart_getc_nonblock(void) {</a:t>
            </a:r>
          </a:p>
          <a:p>
            <a:pPr>
              <a:lnSpc>
                <a:spcPct val="108000"/>
              </a:lnSpc>
              <a:spcAft>
                <a:spcPts val="0"/>
              </a:spcAft>
              <a:defRPr sz="800">
                <a:solidFill>
                  <a:srgbClr val="FFFFFF"/>
                </a:solidFill>
                <a:latin typeface="Consolas"/>
              </a:defRPr>
            </a:pPr>
            <a:r>
              <a:t>    uint32_t d = REG_PC_UART_DAT; // Đọc từ RX FIFO Host PC</a:t>
            </a:r>
          </a:p>
          <a:p>
            <a:pPr>
              <a:lnSpc>
                <a:spcPct val="108000"/>
              </a:lnSpc>
              <a:spcAft>
                <a:spcPts val="0"/>
              </a:spcAft>
              <a:defRPr sz="800">
                <a:solidFill>
                  <a:srgbClr val="93C5FD"/>
                </a:solidFill>
                <a:latin typeface="Consolas"/>
              </a:defRPr>
            </a:pPr>
            <a:r>
              <a:t>    if (d == 0xFFFFFFFF) return -1; // Chưa có phím bấm từ PC</a:t>
            </a:r>
          </a:p>
          <a:p>
            <a:pPr>
              <a:lnSpc>
                <a:spcPct val="108000"/>
              </a:lnSpc>
              <a:spcAft>
                <a:spcPts val="0"/>
              </a:spcAft>
              <a:defRPr sz="800">
                <a:solidFill>
                  <a:srgbClr val="93C5FD"/>
                </a:solidFill>
                <a:latin typeface="Consolas"/>
              </a:defRPr>
            </a:pPr>
            <a:r>
              <a:t>    return (int)(d &amp; 0xFF);</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93C5FD"/>
                </a:solidFill>
                <a:latin typeface="Consolas"/>
              </a:defRPr>
            </a:pPr>
            <a:r>
              <a:t>char uart_getc_blocking(void) {</a:t>
            </a:r>
          </a:p>
          <a:p>
            <a:pPr>
              <a:lnSpc>
                <a:spcPct val="108000"/>
              </a:lnSpc>
              <a:spcAft>
                <a:spcPts val="0"/>
              </a:spcAft>
              <a:defRPr sz="800">
                <a:solidFill>
                  <a:srgbClr val="93C5FD"/>
                </a:solidFill>
                <a:latin typeface="Consolas"/>
              </a:defRPr>
            </a:pPr>
            <a:r>
              <a:t>    int c; do { c = uart_getc_nonblock(); } while (c &lt; 0);</a:t>
            </a:r>
          </a:p>
          <a:p>
            <a:pPr>
              <a:lnSpc>
                <a:spcPct val="108000"/>
              </a:lnSpc>
              <a:spcAft>
                <a:spcPts val="0"/>
              </a:spcAft>
              <a:defRPr sz="800">
                <a:solidFill>
                  <a:srgbClr val="93C5FD"/>
                </a:solidFill>
                <a:latin typeface="Consolas"/>
              </a:defRPr>
            </a:pPr>
            <a:r>
              <a:t>    return (char)c;</a:t>
            </a:r>
          </a:p>
          <a:p>
            <a:pPr>
              <a:lnSpc>
                <a:spcPct val="108000"/>
              </a:lnSpc>
              <a:spcAft>
                <a:spcPts val="0"/>
              </a:spcAft>
              <a:defRPr sz="800">
                <a:solidFill>
                  <a:srgbClr val="FFFFFF"/>
                </a:solidFill>
                <a:latin typeface="Consolas"/>
              </a:defRPr>
            </a:pPr>
            <a:r>
              <a:t>}</a:t>
            </a:r>
          </a:p>
        </p:txBody>
      </p:sp>
      <p:sp>
        <p:nvSpPr>
          <p:cNvPr id="11" name="TextBox 10"/>
          <p:cNvSpPr txBox="1"/>
          <p:nvPr/>
        </p:nvSpPr>
        <p:spPr>
          <a:xfrm>
            <a:off x="868680" y="5833872"/>
            <a:ext cx="4983480" cy="274320"/>
          </a:xfrm>
          <a:prstGeom prst="rect">
            <a:avLst/>
          </a:prstGeom>
          <a:noFill/>
        </p:spPr>
        <p:txBody>
          <a:bodyPr wrap="none" lIns="0" tIns="0" rIns="0" bIns="0">
            <a:spAutoFit/>
          </a:bodyPr>
          <a:lstStyle/>
          <a:p>
            <a:pPr>
              <a:defRPr sz="819" b="1">
                <a:solidFill>
                  <a:srgbClr val="10B981"/>
                </a:solidFill>
                <a:latin typeface="Segoe UI"/>
              </a:defRPr>
            </a:pPr>
            <a:r>
              <a:t>=== WRITE: 0x3000_0004 -&gt; PUSH TX FIFO | READ: POP RX FIFO ===</a:t>
            </a:r>
          </a:p>
        </p:txBody>
      </p:sp>
      <p:sp>
        <p:nvSpPr>
          <p:cNvPr id="12" name="Rounded Rectangle 11"/>
          <p:cNvSpPr/>
          <p:nvPr/>
        </p:nvSpPr>
        <p:spPr>
          <a:xfrm>
            <a:off x="6172200" y="1188720"/>
            <a:ext cx="5285232" cy="5029200"/>
          </a:xfrm>
          <a:prstGeom prst="roundRect">
            <a:avLst>
              <a:gd name="adj" fmla="val 2000"/>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D97706"/>
                </a:solidFill>
                <a:latin typeface="Segoe UI"/>
              </a:defRPr>
            </a:pPr>
            <a:r>
              <a:t>THAO TÁC &amp; MỤC ĐÍCH THIẾT KẾ ĐỊA CHỈ HOST PC UART</a:t>
            </a:r>
          </a:p>
          <a:p>
            <a:pPr>
              <a:lnSpc>
                <a:spcPct val="115000"/>
              </a:lnSpc>
              <a:spcAft>
                <a:spcPts val="500"/>
              </a:spcAft>
              <a:defRPr sz="930">
                <a:solidFill>
                  <a:srgbClr val="0F172A"/>
                </a:solidFill>
                <a:latin typeface="Segoe UI"/>
              </a:defRPr>
            </a:pPr>
            <a:r>
              <a:t>• 1. Địa chỉ vật lý phần cứng: 0x3000_0000 (Bộ chia Baudrate) và 0x3000_0004 (TX/RX FIFO Data) do soc_interconnect.v giải mã khi cpu_mem_addr[31:28] == 4'h3 (Slave 3: uart_mmio.v).</a:t>
            </a:r>
          </a:p>
          <a:p>
            <a:pPr>
              <a:lnSpc>
                <a:spcPct val="115000"/>
              </a:lnSpc>
              <a:spcAft>
                <a:spcPts val="500"/>
              </a:spcAft>
              <a:defRPr sz="930">
                <a:solidFill>
                  <a:srgbClr val="0F172A"/>
                </a:solidFill>
                <a:latin typeface="Segoe UI"/>
              </a:defRPr>
            </a:pPr>
            <a:r>
              <a:t>• 2. Cách thao tác trong C: • Ghi dữ liệu phát (TX): Gán REG_PC_UART_DAT = c. Phần cứng tự động nạp ký tự vào TX FIFO 32 bytes và phát ra chân tx_o.</a:t>
            </a:r>
            <a:br/>
            <a:r>
              <a:t>• Đọc dữ liệu nhận (RX): Đọc REG_PC_UART_DAT. Nhận lệnh điều khiển từ Host Console PC mà không bị khóa chương trình.</a:t>
            </a:r>
          </a:p>
          <a:p>
            <a:pPr>
              <a:lnSpc>
                <a:spcPct val="115000"/>
              </a:lnSpc>
              <a:spcAft>
                <a:spcPts val="500"/>
              </a:spcAft>
              <a:defRPr sz="930">
                <a:solidFill>
                  <a:srgbClr val="0F172A"/>
                </a:solidFill>
                <a:latin typeface="Segoe UI"/>
              </a:defRPr>
            </a:pPr>
            <a:r>
              <a:t>• 3. Mục đích thiết kế: Hiện thực hóa kênh truyền Full-Duplex tin cậy giữa SoC PicoRV32 và máy tính: phản hồi lệnh Ping ('PONG'), truyền log quẹt thẻ thời gian thực và nhận cấu hình nạp thẻ mới.</a:t>
            </a:r>
          </a:p>
          <a:p>
            <a:pPr>
              <a:lnSpc>
                <a:spcPct val="115000"/>
              </a:lnSpc>
              <a:spcAft>
                <a:spcPts val="500"/>
              </a:spcAft>
              <a:defRPr sz="930">
                <a:solidFill>
                  <a:srgbClr val="0F172A"/>
                </a:solidFill>
                <a:latin typeface="Segoe UI"/>
              </a:defRPr>
            </a:pPr>
            <a:r>
              <a:t>• 4. Tối ưu hóa chuỗi ký tự: Hàm uart_puts tự động chèn ký tự CR ('_x000D_') trước LF ('</a:t>
            </a:r>
            <a:br/>
            <a:r>
              <a:t>') giúp định dạng văn bản chuẩn trên mọi Terminal (Putty, TeraTerm, Python Host Console).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TẦNG FIRMWARE C &amp; PHẦN CỨNG (BIẾN ĐỊA CHỈ 3/6)</a:t>
            </a:r>
          </a:p>
          <a:p>
            <a:pPr>
              <a:defRPr sz="1700" b="1">
                <a:solidFill>
                  <a:srgbClr val="0F172A"/>
                </a:solidFill>
                <a:latin typeface="Segoe UI"/>
              </a:defRPr>
            </a:pPr>
            <a:r>
              <a:t>Biến Địa Chỉ 3: REG_GPIO_LEDS (0x4000_0000) - Điều Khiển LED &amp; Relay</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16 / 26</a:t>
            </a:r>
          </a:p>
        </p:txBody>
      </p:sp>
      <p:sp>
        <p:nvSpPr>
          <p:cNvPr id="8" name="Rounded Rectangle 7"/>
          <p:cNvSpPr/>
          <p:nvPr/>
        </p:nvSpPr>
        <p:spPr>
          <a:xfrm>
            <a:off x="731520" y="118872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4983480" cy="292608"/>
          </a:xfrm>
          <a:prstGeom prst="rect">
            <a:avLst/>
          </a:prstGeom>
          <a:noFill/>
        </p:spPr>
        <p:txBody>
          <a:bodyPr wrap="none" lIns="0" tIns="0" rIns="0" bIns="0">
            <a:spAutoFit/>
          </a:bodyPr>
          <a:lstStyle/>
          <a:p>
            <a:pPr>
              <a:defRPr sz="950" b="1">
                <a:solidFill>
                  <a:srgbClr val="34D399"/>
                </a:solidFill>
                <a:latin typeface="Consolas"/>
              </a:defRPr>
            </a:pPr>
            <a:r>
              <a:t>&gt;_  access_control.c &amp; flash.c [GPIO MMIO]</a:t>
            </a:r>
          </a:p>
        </p:txBody>
      </p:sp>
      <p:sp>
        <p:nvSpPr>
          <p:cNvPr id="10" name="TextBox 9"/>
          <p:cNvSpPr txBox="1"/>
          <p:nvPr/>
        </p:nvSpPr>
        <p:spPr>
          <a:xfrm>
            <a:off x="868680" y="1554480"/>
            <a:ext cx="4983480" cy="4315968"/>
          </a:xfrm>
          <a:prstGeom prst="rect">
            <a:avLst/>
          </a:prstGeom>
          <a:noFill/>
        </p:spPr>
        <p:txBody>
          <a:bodyPr wrap="square" lIns="0" tIns="0" rIns="0" bIns="0">
            <a:spAutoFit/>
          </a:bodyPr>
          <a:lstStyle/>
          <a:p>
            <a:pPr>
              <a:lnSpc>
                <a:spcPct val="108000"/>
              </a:lnSpc>
              <a:spcAft>
                <a:spcPts val="0"/>
              </a:spcAft>
              <a:defRPr sz="800">
                <a:solidFill>
                  <a:srgbClr val="94A3B8"/>
                </a:solidFill>
                <a:latin typeface="Consolas"/>
              </a:defRPr>
            </a:pPr>
            <a:r>
              <a:t>// firmware/common/soc_regs.h</a:t>
            </a:r>
          </a:p>
          <a:p>
            <a:pPr>
              <a:lnSpc>
                <a:spcPct val="108000"/>
              </a:lnSpc>
              <a:spcAft>
                <a:spcPts val="0"/>
              </a:spcAft>
              <a:defRPr sz="800">
                <a:solidFill>
                  <a:srgbClr val="94A3B8"/>
                </a:solidFill>
                <a:latin typeface="Consolas"/>
              </a:defRPr>
            </a:pPr>
            <a:r>
              <a:t>#define REG_GPIO_LEDS (*(volatile uint32_t*)0x40000000) // 16-bit GPIO Out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firmware/app/access_control.c - Bật LED xanh/đỏ theo phân quyền</a:t>
            </a:r>
          </a:p>
          <a:p>
            <a:pPr>
              <a:lnSpc>
                <a:spcPct val="108000"/>
              </a:lnSpc>
              <a:spcAft>
                <a:spcPts val="0"/>
              </a:spcAft>
              <a:defRPr sz="800">
                <a:solidFill>
                  <a:srgbClr val="93C5FD"/>
                </a:solidFill>
                <a:latin typeface="Consolas"/>
              </a:defRPr>
            </a:pPr>
            <a:r>
              <a:t>void access_control_process_card(const char *hex, uint32_t hi, uint32_t lo) {</a:t>
            </a:r>
          </a:p>
          <a:p>
            <a:pPr>
              <a:lnSpc>
                <a:spcPct val="108000"/>
              </a:lnSpc>
              <a:spcAft>
                <a:spcPts val="0"/>
              </a:spcAft>
              <a:defRPr sz="800">
                <a:solidFill>
                  <a:srgbClr val="93C5FD"/>
                </a:solidFill>
                <a:latin typeface="Consolas"/>
              </a:defRPr>
            </a:pPr>
            <a:r>
              <a:t>    if (is_granted) {</a:t>
            </a:r>
          </a:p>
          <a:p>
            <a:pPr>
              <a:lnSpc>
                <a:spcPct val="108000"/>
              </a:lnSpc>
              <a:spcAft>
                <a:spcPts val="0"/>
              </a:spcAft>
              <a:defRPr sz="800">
                <a:solidFill>
                  <a:srgbClr val="94A3B8"/>
                </a:solidFill>
                <a:latin typeface="Consolas"/>
              </a:defRPr>
            </a:pPr>
            <a:r>
              <a:t>        // Bật LED xanh (Bit 2) &amp; Kích hoạt Relay chốt điện mở cửa</a:t>
            </a:r>
          </a:p>
          <a:p>
            <a:pPr>
              <a:lnSpc>
                <a:spcPct val="108000"/>
              </a:lnSpc>
              <a:spcAft>
                <a:spcPts val="0"/>
              </a:spcAft>
              <a:defRPr sz="800">
                <a:solidFill>
                  <a:srgbClr val="FFFFFF"/>
                </a:solidFill>
                <a:latin typeface="Consolas"/>
              </a:defRPr>
            </a:pPr>
            <a:r>
              <a:t>        REG_GPIO_LEDS = (REG_GPIO_LEDS &amp; ~0x0002) | 0x0004;</a:t>
            </a:r>
          </a:p>
          <a:p>
            <a:pPr>
              <a:lnSpc>
                <a:spcPct val="108000"/>
              </a:lnSpc>
              <a:spcAft>
                <a:spcPts val="0"/>
              </a:spcAft>
              <a:defRPr sz="800">
                <a:solidFill>
                  <a:srgbClr val="FFFFFF"/>
                </a:solidFill>
                <a:latin typeface="Consolas"/>
              </a:defRPr>
            </a:pPr>
            <a:r>
              <a:t>    } else {</a:t>
            </a:r>
          </a:p>
          <a:p>
            <a:pPr>
              <a:lnSpc>
                <a:spcPct val="108000"/>
              </a:lnSpc>
              <a:spcAft>
                <a:spcPts val="0"/>
              </a:spcAft>
              <a:defRPr sz="800">
                <a:solidFill>
                  <a:srgbClr val="94A3B8"/>
                </a:solidFill>
                <a:latin typeface="Consolas"/>
              </a:defRPr>
            </a:pPr>
            <a:r>
              <a:t>        // Bật LED đỏ cảnh báo (Bit 1) từ chối truy cập</a:t>
            </a:r>
          </a:p>
          <a:p>
            <a:pPr>
              <a:lnSpc>
                <a:spcPct val="108000"/>
              </a:lnSpc>
              <a:spcAft>
                <a:spcPts val="0"/>
              </a:spcAft>
              <a:defRPr sz="800">
                <a:solidFill>
                  <a:srgbClr val="FFFFFF"/>
                </a:solidFill>
                <a:latin typeface="Consolas"/>
              </a:defRPr>
            </a:pPr>
            <a:r>
              <a:t>        REG_GPIO_LEDS = (REG_GPIO_LEDS &amp; ~0x0004) | 0x0002;</a:t>
            </a:r>
          </a:p>
          <a:p>
            <a:pPr>
              <a:lnSpc>
                <a:spcPct val="108000"/>
              </a:lnSpc>
              <a:spcAft>
                <a:spcPts val="0"/>
              </a:spcAft>
              <a:defRPr sz="800">
                <a:solidFill>
                  <a:srgbClr val="FFFFFF"/>
                </a:solidFill>
                <a:latin typeface="Consolas"/>
              </a:defRPr>
            </a:pPr>
            <a:r>
              <a:t>    }</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firmware/drivers/flash.c - Bật LED vàng cảnh báo Flash bận</a:t>
            </a:r>
          </a:p>
          <a:p>
            <a:pPr>
              <a:lnSpc>
                <a:spcPct val="108000"/>
              </a:lnSpc>
              <a:spcAft>
                <a:spcPts val="0"/>
              </a:spcAft>
              <a:defRPr sz="800">
                <a:solidFill>
                  <a:srgbClr val="93C5FD"/>
                </a:solidFill>
                <a:latin typeface="Consolas"/>
              </a:defRPr>
            </a:pPr>
            <a:r>
              <a:t>void flash_write_word(uint32_t addr, uint32_t data) {</a:t>
            </a:r>
          </a:p>
          <a:p>
            <a:pPr>
              <a:lnSpc>
                <a:spcPct val="108000"/>
              </a:lnSpc>
              <a:spcAft>
                <a:spcPts val="0"/>
              </a:spcAft>
              <a:defRPr sz="800">
                <a:solidFill>
                  <a:srgbClr val="FFFFFF"/>
                </a:solidFill>
                <a:latin typeface="Consolas"/>
              </a:defRPr>
            </a:pPr>
            <a:r>
              <a:t>    REG_GPIO_LEDS |= 0x0008;  // Bật LED Bit 3</a:t>
            </a:r>
          </a:p>
          <a:p>
            <a:pPr>
              <a:lnSpc>
                <a:spcPct val="108000"/>
              </a:lnSpc>
              <a:spcAft>
                <a:spcPts val="0"/>
              </a:spcAft>
              <a:defRPr sz="800">
                <a:solidFill>
                  <a:srgbClr val="FFFFFF"/>
                </a:solidFill>
                <a:latin typeface="Consolas"/>
              </a:defRPr>
            </a:pPr>
            <a:r>
              <a:t>    flashio(buf, 8, 0x06);    // Thực thi nạp Page Program</a:t>
            </a:r>
          </a:p>
          <a:p>
            <a:pPr>
              <a:lnSpc>
                <a:spcPct val="108000"/>
              </a:lnSpc>
              <a:spcAft>
                <a:spcPts val="0"/>
              </a:spcAft>
              <a:defRPr sz="800">
                <a:solidFill>
                  <a:srgbClr val="FFFFFF"/>
                </a:solidFill>
                <a:latin typeface="Consolas"/>
              </a:defRPr>
            </a:pPr>
            <a:r>
              <a:t>    REG_GPIO_LEDS &amp;= ~0x0008; // Tắt LED Bit 3 khi ghi xong</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firmware/main.c - Nhịp tim 1Hz chứng minh CPU đang sống</a:t>
            </a:r>
          </a:p>
          <a:p>
            <a:pPr>
              <a:lnSpc>
                <a:spcPct val="108000"/>
              </a:lnSpc>
              <a:spcAft>
                <a:spcPts val="0"/>
              </a:spcAft>
              <a:defRPr sz="800">
                <a:solidFill>
                  <a:srgbClr val="93C5FD"/>
                </a:solidFill>
                <a:latin typeface="Consolas"/>
              </a:defRPr>
            </a:pPr>
            <a:r>
              <a:t>void main_heartbeat_toggle(void) {</a:t>
            </a:r>
          </a:p>
          <a:p>
            <a:pPr>
              <a:lnSpc>
                <a:spcPct val="108000"/>
              </a:lnSpc>
              <a:spcAft>
                <a:spcPts val="0"/>
              </a:spcAft>
              <a:defRPr sz="800">
                <a:solidFill>
                  <a:srgbClr val="FFFFFF"/>
                </a:solidFill>
                <a:latin typeface="Consolas"/>
              </a:defRPr>
            </a:pPr>
            <a:r>
              <a:t>    REG_GPIO_LEDS ^= 0x0001;  // Đảo trạng thái LED Bit 0 (Heartbeat)</a:t>
            </a:r>
          </a:p>
          <a:p>
            <a:pPr>
              <a:lnSpc>
                <a:spcPct val="108000"/>
              </a:lnSpc>
              <a:spcAft>
                <a:spcPts val="0"/>
              </a:spcAft>
              <a:defRPr sz="800">
                <a:solidFill>
                  <a:srgbClr val="FFFFFF"/>
                </a:solidFill>
                <a:latin typeface="Consolas"/>
              </a:defRPr>
            </a:pPr>
            <a:r>
              <a:t>}</a:t>
            </a:r>
          </a:p>
        </p:txBody>
      </p:sp>
      <p:sp>
        <p:nvSpPr>
          <p:cNvPr id="11" name="TextBox 10"/>
          <p:cNvSpPr txBox="1"/>
          <p:nvPr/>
        </p:nvSpPr>
        <p:spPr>
          <a:xfrm>
            <a:off x="868680" y="5833872"/>
            <a:ext cx="4983480" cy="274320"/>
          </a:xfrm>
          <a:prstGeom prst="rect">
            <a:avLst/>
          </a:prstGeom>
          <a:noFill/>
        </p:spPr>
        <p:txBody>
          <a:bodyPr wrap="none" lIns="0" tIns="0" rIns="0" bIns="0">
            <a:spAutoFit/>
          </a:bodyPr>
          <a:lstStyle/>
          <a:p>
            <a:pPr>
              <a:defRPr sz="819" b="1">
                <a:solidFill>
                  <a:srgbClr val="10B981"/>
                </a:solidFill>
                <a:latin typeface="Segoe UI"/>
              </a:defRPr>
            </a:pPr>
            <a:r>
              <a:t>=== WRITE: 0x4000_0000 -&gt; 16-BIT PARALLEL GPIO OUT (1-CYCLE) ===</a:t>
            </a:r>
          </a:p>
        </p:txBody>
      </p:sp>
      <p:sp>
        <p:nvSpPr>
          <p:cNvPr id="12" name="Rounded Rectangle 11"/>
          <p:cNvSpPr/>
          <p:nvPr/>
        </p:nvSpPr>
        <p:spPr>
          <a:xfrm>
            <a:off x="6172200" y="1188720"/>
            <a:ext cx="5285232" cy="5029200"/>
          </a:xfrm>
          <a:prstGeom prst="roundRect">
            <a:avLst>
              <a:gd name="adj" fmla="val 2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10B981"/>
                </a:solidFill>
                <a:latin typeface="Segoe UI"/>
              </a:defRPr>
            </a:pPr>
            <a:r>
              <a:t>THAO TÁC BITMASK &amp; MỤC ĐÍCH ĐIỀU KHIỂN GPIO</a:t>
            </a:r>
          </a:p>
          <a:p>
            <a:pPr>
              <a:lnSpc>
                <a:spcPct val="115000"/>
              </a:lnSpc>
              <a:spcAft>
                <a:spcPts val="500"/>
              </a:spcAft>
              <a:defRPr sz="930">
                <a:solidFill>
                  <a:srgbClr val="0F172A"/>
                </a:solidFill>
                <a:latin typeface="Segoe UI"/>
              </a:defRPr>
            </a:pPr>
            <a:r>
              <a:t>• 1. Địa chỉ vật lý phần cứng: 0x4000_0000 do soc_interconnect.v giải mã khi cpu_mem_addr[31:28] == 4'h4 (Slave 4: soc_gpio_mmio.v). Xuất tín hiệu ra 16 chân LED và Relay.</a:t>
            </a:r>
          </a:p>
          <a:p>
            <a:pPr>
              <a:lnSpc>
                <a:spcPct val="115000"/>
              </a:lnSpc>
              <a:spcAft>
                <a:spcPts val="500"/>
              </a:spcAft>
              <a:defRPr sz="930">
                <a:solidFill>
                  <a:srgbClr val="0F172A"/>
                </a:solidFill>
                <a:latin typeface="Segoe UI"/>
              </a:defRPr>
            </a:pPr>
            <a:r>
              <a:t>• 2. Phép toán Bitmask chuẩn mực: • Bit 0 (0x0001): LED nhịp tim (Heartbeat 1 Hz), đảo trạng thái bằng phép ^= 0x0001.</a:t>
            </a:r>
            <a:br/>
            <a:r>
              <a:t>• Bit 1 (0x0002): LED đỏ cảnh báo từ chối quẹt thẻ (Access Denied).</a:t>
            </a:r>
            <a:br/>
            <a:r>
              <a:t>• Bit 2 (0x0004): LED xanh mở cửa &amp; kích hoạt Relay chốt điện từ (Access Granted).</a:t>
            </a:r>
            <a:br/>
            <a:r>
              <a:t>• Bit 3 (0x0008): LED vàng cảnh báo chip Flash đang bận xóa/ghi sector.</a:t>
            </a:r>
          </a:p>
          <a:p>
            <a:pPr>
              <a:lnSpc>
                <a:spcPct val="115000"/>
              </a:lnSpc>
              <a:spcAft>
                <a:spcPts val="500"/>
              </a:spcAft>
              <a:defRPr sz="930">
                <a:solidFill>
                  <a:srgbClr val="0F172A"/>
                </a:solidFill>
                <a:latin typeface="Segoe UI"/>
              </a:defRPr>
            </a:pPr>
            <a:r>
              <a:t>• 3. Mục đích thiết kế: Điều khiển cơ cấu chấp hành vật lý mở khóa cửa tại chỗ và cung cấp kênh chỉ thị thị giác trực quan về trạng thái hoạt động của toàn bộ hệ thống.</a:t>
            </a:r>
          </a:p>
          <a:p>
            <a:pPr>
              <a:lnSpc>
                <a:spcPct val="115000"/>
              </a:lnSpc>
              <a:spcAft>
                <a:spcPts val="500"/>
              </a:spcAft>
              <a:defRPr sz="930">
                <a:solidFill>
                  <a:srgbClr val="0F172A"/>
                </a:solidFill>
                <a:latin typeface="Segoe UI"/>
              </a:defRPr>
            </a:pPr>
            <a:r>
              <a:t>• 4. Tính an toàn thời gian thực: Thao tác ghi GPIO hoàn tất trong 1 chu kỳ clock (20ns), không tạo độ trễ đối với luồng quét thẻ.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TẦNG FIRMWARE C &amp; PHẦN CỨNG (BIẾN ĐỊA CHỈ 4/6)</a:t>
            </a:r>
          </a:p>
          <a:p>
            <a:pPr>
              <a:defRPr sz="1700" b="1">
                <a:solidFill>
                  <a:srgbClr val="0F172A"/>
                </a:solidFill>
                <a:latin typeface="Segoe UI"/>
              </a:defRPr>
            </a:pPr>
            <a:r>
              <a:t>Biến Địa Chỉ 4: USER_FLASH_ADDR (0x0030_0000 - Sector 48 Whitelist)</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17 / 26</a:t>
            </a:r>
          </a:p>
        </p:txBody>
      </p:sp>
      <p:sp>
        <p:nvSpPr>
          <p:cNvPr id="8" name="Rounded Rectangle 7"/>
          <p:cNvSpPr/>
          <p:nvPr/>
        </p:nvSpPr>
        <p:spPr>
          <a:xfrm>
            <a:off x="731520" y="118872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4983480" cy="292608"/>
          </a:xfrm>
          <a:prstGeom prst="rect">
            <a:avLst/>
          </a:prstGeom>
          <a:noFill/>
        </p:spPr>
        <p:txBody>
          <a:bodyPr wrap="none" lIns="0" tIns="0" rIns="0" bIns="0">
            <a:spAutoFit/>
          </a:bodyPr>
          <a:lstStyle/>
          <a:p>
            <a:pPr>
              <a:defRPr sz="950" b="1">
                <a:solidFill>
                  <a:srgbClr val="0EA5E9"/>
                </a:solidFill>
                <a:latin typeface="Consolas"/>
              </a:defRPr>
            </a:pPr>
            <a:r>
              <a:t>&gt;_  flash.c &amp; soc_regs.h [Tag Whitelist Sector 48]</a:t>
            </a:r>
          </a:p>
        </p:txBody>
      </p:sp>
      <p:sp>
        <p:nvSpPr>
          <p:cNvPr id="10" name="TextBox 9"/>
          <p:cNvSpPr txBox="1"/>
          <p:nvPr/>
        </p:nvSpPr>
        <p:spPr>
          <a:xfrm>
            <a:off x="868680" y="1554480"/>
            <a:ext cx="4983480" cy="4315968"/>
          </a:xfrm>
          <a:prstGeom prst="rect">
            <a:avLst/>
          </a:prstGeom>
          <a:noFill/>
        </p:spPr>
        <p:txBody>
          <a:bodyPr wrap="square" lIns="0" tIns="0" rIns="0" bIns="0">
            <a:spAutoFit/>
          </a:bodyPr>
          <a:lstStyle/>
          <a:p>
            <a:pPr>
              <a:lnSpc>
                <a:spcPct val="108000"/>
              </a:lnSpc>
              <a:spcAft>
                <a:spcPts val="0"/>
              </a:spcAft>
              <a:defRPr sz="800">
                <a:solidFill>
                  <a:srgbClr val="94A3B8"/>
                </a:solidFill>
                <a:latin typeface="Consolas"/>
              </a:defRPr>
            </a:pPr>
            <a:r>
              <a:t>// firmware/common/soc_regs.h - Vùng Whitelist Sector 48</a:t>
            </a:r>
          </a:p>
          <a:p>
            <a:pPr>
              <a:lnSpc>
                <a:spcPct val="108000"/>
              </a:lnSpc>
              <a:spcAft>
                <a:spcPts val="0"/>
              </a:spcAft>
              <a:defRPr sz="800">
                <a:solidFill>
                  <a:srgbClr val="94A3B8"/>
                </a:solidFill>
                <a:latin typeface="Consolas"/>
              </a:defRPr>
            </a:pPr>
            <a:r>
              <a:t>#define USER_FLASH_ADDR    0x300000   // Sector 48 (64KB)</a:t>
            </a:r>
          </a:p>
          <a:p>
            <a:pPr>
              <a:lnSpc>
                <a:spcPct val="108000"/>
              </a:lnSpc>
              <a:spcAft>
                <a:spcPts val="0"/>
              </a:spcAft>
              <a:defRPr sz="800">
                <a:solidFill>
                  <a:srgbClr val="94A3B8"/>
                </a:solidFill>
                <a:latin typeface="Consolas"/>
              </a:defRPr>
            </a:pPr>
            <a:r>
              <a:t>#define FLASH_SLOT_SIZE    16         // 16 bytes per tag record</a:t>
            </a:r>
          </a:p>
          <a:p>
            <a:pPr>
              <a:lnSpc>
                <a:spcPct val="108000"/>
              </a:lnSpc>
              <a:spcAft>
                <a:spcPts val="0"/>
              </a:spcAft>
              <a:defRPr sz="800">
                <a:solidFill>
                  <a:srgbClr val="94A3B8"/>
                </a:solidFill>
                <a:latin typeface="Consolas"/>
              </a:defRPr>
            </a:pPr>
            <a:r>
              <a:t>#define MAX_TAG_SLOTS      4096       // Tối đa 4096 thẻ</a:t>
            </a:r>
          </a:p>
          <a:p>
            <a:pPr>
              <a:lnSpc>
                <a:spcPct val="108000"/>
              </a:lnSpc>
              <a:spcAft>
                <a:spcPts val="0"/>
              </a:spcAft>
              <a:defRPr sz="800">
                <a:solidFill>
                  <a:srgbClr val="94A3B8"/>
                </a:solidFill>
                <a:latin typeface="Consolas"/>
              </a:defRPr>
            </a:pPr>
            <a:r>
              <a:t>#define FLASH_RECORD_MAGIC 0x52464944 // ASCII 'RFID'</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firmware/drivers/flash.c - Tra cứu thẻ Whitelist qua XIP</a:t>
            </a:r>
          </a:p>
          <a:p>
            <a:pPr>
              <a:lnSpc>
                <a:spcPct val="108000"/>
              </a:lnSpc>
              <a:spcAft>
                <a:spcPts val="0"/>
              </a:spcAft>
              <a:defRPr sz="800">
                <a:solidFill>
                  <a:srgbClr val="FFFFFF"/>
                </a:solidFill>
                <a:latin typeface="Consolas"/>
              </a:defRPr>
            </a:pPr>
            <a:r>
              <a:t>int flash_find_tag(uint32_t hi, uint32_t lo) {</a:t>
            </a:r>
          </a:p>
          <a:p>
            <a:pPr>
              <a:lnSpc>
                <a:spcPct val="108000"/>
              </a:lnSpc>
              <a:spcAft>
                <a:spcPts val="0"/>
              </a:spcAft>
              <a:defRPr sz="800">
                <a:solidFill>
                  <a:srgbClr val="93C5FD"/>
                </a:solidFill>
                <a:latin typeface="Consolas"/>
              </a:defRPr>
            </a:pPr>
            <a:r>
              <a:t>    for (int slot = 0; slot &lt; MAX_TAG_SLOTS; slot++) {</a:t>
            </a:r>
          </a:p>
          <a:p>
            <a:pPr>
              <a:lnSpc>
                <a:spcPct val="108000"/>
              </a:lnSpc>
              <a:spcAft>
                <a:spcPts val="0"/>
              </a:spcAft>
              <a:defRPr sz="800">
                <a:solidFill>
                  <a:srgbClr val="FFFFFF"/>
                </a:solidFill>
                <a:latin typeface="Consolas"/>
              </a:defRPr>
            </a:pPr>
            <a:r>
              <a:t>        uint32_t addr = USER_FLASH_ADDR + (uint32_t)(slot * 16);</a:t>
            </a:r>
          </a:p>
          <a:p>
            <a:pPr>
              <a:lnSpc>
                <a:spcPct val="108000"/>
              </a:lnSpc>
              <a:spcAft>
                <a:spcPts val="0"/>
              </a:spcAft>
              <a:defRPr sz="800">
                <a:solidFill>
                  <a:srgbClr val="FFFFFF"/>
                </a:solidFill>
                <a:latin typeface="Consolas"/>
              </a:defRPr>
            </a:pPr>
            <a:r>
              <a:t>        uint32_t magic = flash_read_word(addr); // Đọc XIP trực tiếp</a:t>
            </a:r>
          </a:p>
          <a:p>
            <a:pPr>
              <a:lnSpc>
                <a:spcPct val="108000"/>
              </a:lnSpc>
              <a:spcAft>
                <a:spcPts val="0"/>
              </a:spcAft>
              <a:defRPr sz="800">
                <a:solidFill>
                  <a:srgbClr val="93C5FD"/>
                </a:solidFill>
                <a:latin typeface="Consolas"/>
              </a:defRPr>
            </a:pPr>
            <a:r>
              <a:t>        if (magic == 0xFFFFFFFF) return -1;    // Vùng trống -&gt; Dừng ngay</a:t>
            </a:r>
          </a:p>
          <a:p>
            <a:pPr>
              <a:lnSpc>
                <a:spcPct val="108000"/>
              </a:lnSpc>
              <a:spcAft>
                <a:spcPts val="0"/>
              </a:spcAft>
              <a:defRPr sz="800">
                <a:solidFill>
                  <a:srgbClr val="93C5FD"/>
                </a:solidFill>
                <a:latin typeface="Consolas"/>
              </a:defRPr>
            </a:pPr>
            <a:r>
              <a:t>        if (magic == FLASH_RECORD_MAGIC) {</a:t>
            </a:r>
          </a:p>
          <a:p>
            <a:pPr>
              <a:lnSpc>
                <a:spcPct val="108000"/>
              </a:lnSpc>
              <a:spcAft>
                <a:spcPts val="0"/>
              </a:spcAft>
              <a:defRPr sz="800">
                <a:solidFill>
                  <a:srgbClr val="FFFFFF"/>
                </a:solidFill>
                <a:latin typeface="Consolas"/>
              </a:defRPr>
            </a:pPr>
            <a:r>
              <a:t>            uint32_t s_hi = flash_read_word(addr + 4);</a:t>
            </a:r>
          </a:p>
          <a:p>
            <a:pPr>
              <a:lnSpc>
                <a:spcPct val="108000"/>
              </a:lnSpc>
              <a:spcAft>
                <a:spcPts val="0"/>
              </a:spcAft>
              <a:defRPr sz="800">
                <a:solidFill>
                  <a:srgbClr val="FFFFFF"/>
                </a:solidFill>
                <a:latin typeface="Consolas"/>
              </a:defRPr>
            </a:pPr>
            <a:r>
              <a:t>            uint32_t s_lo = flash_read_word(addr + 8);</a:t>
            </a:r>
          </a:p>
          <a:p>
            <a:pPr>
              <a:lnSpc>
                <a:spcPct val="108000"/>
              </a:lnSpc>
              <a:spcAft>
                <a:spcPts val="0"/>
              </a:spcAft>
              <a:defRPr sz="800">
                <a:solidFill>
                  <a:srgbClr val="93C5FD"/>
                </a:solidFill>
                <a:latin typeface="Consolas"/>
              </a:defRPr>
            </a:pPr>
            <a:r>
              <a:t>            if (s_hi == hi &amp;&amp; s_lo == lo) return slot; // Khớp thẻ!</a:t>
            </a:r>
          </a:p>
          <a:p>
            <a:pPr>
              <a:lnSpc>
                <a:spcPct val="108000"/>
              </a:lnSpc>
              <a:spcAft>
                <a:spcPts val="0"/>
              </a:spcAft>
              <a:defRPr sz="800">
                <a:solidFill>
                  <a:srgbClr val="FFFFFF"/>
                </a:solidFill>
                <a:latin typeface="Consolas"/>
              </a:defRPr>
            </a:pPr>
            <a:r>
              <a:t>        }</a:t>
            </a:r>
          </a:p>
          <a:p>
            <a:pPr>
              <a:lnSpc>
                <a:spcPct val="108000"/>
              </a:lnSpc>
              <a:spcAft>
                <a:spcPts val="0"/>
              </a:spcAft>
              <a:defRPr sz="800">
                <a:solidFill>
                  <a:srgbClr val="FFFFFF"/>
                </a:solidFill>
                <a:latin typeface="Consolas"/>
              </a:defRPr>
            </a:pPr>
            <a:r>
              <a:t>    }</a:t>
            </a:r>
          </a:p>
          <a:p>
            <a:pPr>
              <a:lnSpc>
                <a:spcPct val="108000"/>
              </a:lnSpc>
              <a:spcAft>
                <a:spcPts val="0"/>
              </a:spcAft>
              <a:defRPr sz="800">
                <a:solidFill>
                  <a:srgbClr val="93C5FD"/>
                </a:solidFill>
                <a:latin typeface="Consolas"/>
              </a:defRPr>
            </a:pPr>
            <a:r>
              <a:t>    return -1;</a:t>
            </a:r>
          </a:p>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94A3B8"/>
                </a:solidFill>
                <a:latin typeface="Consolas"/>
              </a:defRPr>
            </a:pPr>
            <a:r>
              <a:t>// firmware/drivers/flash.c - Lưu thẻ mới vào Flash</a:t>
            </a:r>
          </a:p>
          <a:p>
            <a:pPr>
              <a:lnSpc>
                <a:spcPct val="108000"/>
              </a:lnSpc>
              <a:spcAft>
                <a:spcPts val="0"/>
              </a:spcAft>
              <a:defRPr sz="800">
                <a:solidFill>
                  <a:srgbClr val="FFFFFF"/>
                </a:solidFill>
                <a:latin typeface="Consolas"/>
              </a:defRPr>
            </a:pPr>
            <a:r>
              <a:t>int flash_save_tag(uint32_t hi, uint32_t lo, int *out_slot) {</a:t>
            </a:r>
          </a:p>
          <a:p>
            <a:pPr>
              <a:lnSpc>
                <a:spcPct val="108000"/>
              </a:lnSpc>
              <a:spcAft>
                <a:spcPts val="0"/>
              </a:spcAft>
              <a:defRPr sz="800">
                <a:solidFill>
                  <a:srgbClr val="FFFFFF"/>
                </a:solidFill>
                <a:latin typeface="Consolas"/>
              </a:defRPr>
            </a:pPr>
            <a:r>
              <a:t>    int slot = flash_find_empty_tag_slot();</a:t>
            </a:r>
          </a:p>
          <a:p>
            <a:pPr>
              <a:lnSpc>
                <a:spcPct val="108000"/>
              </a:lnSpc>
              <a:spcAft>
                <a:spcPts val="0"/>
              </a:spcAft>
              <a:defRPr sz="800">
                <a:solidFill>
                  <a:srgbClr val="FFFFFF"/>
                </a:solidFill>
                <a:latin typeface="Consolas"/>
              </a:defRPr>
            </a:pPr>
            <a:r>
              <a:t>    uint32_t addr = USER_FLASH_ADDR + (uint32_t)(slot * 16);</a:t>
            </a:r>
          </a:p>
          <a:p>
            <a:pPr>
              <a:lnSpc>
                <a:spcPct val="108000"/>
              </a:lnSpc>
              <a:spcAft>
                <a:spcPts val="0"/>
              </a:spcAft>
              <a:defRPr sz="800">
                <a:solidFill>
                  <a:srgbClr val="FFFFFF"/>
                </a:solidFill>
                <a:latin typeface="Consolas"/>
              </a:defRPr>
            </a:pPr>
            <a:r>
              <a:t>    flash_write_word(addr + 4, hi);  flash_write_word(addr + 8, lo);</a:t>
            </a:r>
          </a:p>
          <a:p>
            <a:pPr>
              <a:lnSpc>
                <a:spcPct val="108000"/>
              </a:lnSpc>
              <a:spcAft>
                <a:spcPts val="0"/>
              </a:spcAft>
              <a:defRPr sz="800">
                <a:solidFill>
                  <a:srgbClr val="FFFFFF"/>
                </a:solidFill>
                <a:latin typeface="Consolas"/>
              </a:defRPr>
            </a:pPr>
            <a:r>
              <a:t>    flash_write_word(addr + 12, hi ^ lo);</a:t>
            </a:r>
          </a:p>
          <a:p>
            <a:pPr>
              <a:lnSpc>
                <a:spcPct val="108000"/>
              </a:lnSpc>
              <a:spcAft>
                <a:spcPts val="0"/>
              </a:spcAft>
              <a:defRPr sz="800">
                <a:solidFill>
                  <a:srgbClr val="FFFFFF"/>
                </a:solidFill>
                <a:latin typeface="Consolas"/>
              </a:defRPr>
            </a:pPr>
            <a:r>
              <a:t>    flash_write_word(addr + 0, FLASH_RECORD_MAGIC); // Commit</a:t>
            </a:r>
          </a:p>
          <a:p>
            <a:pPr>
              <a:lnSpc>
                <a:spcPct val="108000"/>
              </a:lnSpc>
              <a:spcAft>
                <a:spcPts val="0"/>
              </a:spcAft>
              <a:defRPr sz="800">
                <a:solidFill>
                  <a:srgbClr val="93C5FD"/>
                </a:solidFill>
                <a:latin typeface="Consolas"/>
              </a:defRPr>
            </a:pPr>
            <a:r>
              <a:t>    return 1;</a:t>
            </a:r>
          </a:p>
          <a:p>
            <a:pPr>
              <a:lnSpc>
                <a:spcPct val="108000"/>
              </a:lnSpc>
              <a:spcAft>
                <a:spcPts val="0"/>
              </a:spcAft>
              <a:defRPr sz="800">
                <a:solidFill>
                  <a:srgbClr val="FFFFFF"/>
                </a:solidFill>
                <a:latin typeface="Consolas"/>
              </a:defRPr>
            </a:pPr>
            <a:r>
              <a:t>}</a:t>
            </a:r>
          </a:p>
        </p:txBody>
      </p:sp>
      <p:sp>
        <p:nvSpPr>
          <p:cNvPr id="11" name="TextBox 10"/>
          <p:cNvSpPr txBox="1"/>
          <p:nvPr/>
        </p:nvSpPr>
        <p:spPr>
          <a:xfrm>
            <a:off x="868680" y="5833872"/>
            <a:ext cx="4983480" cy="274320"/>
          </a:xfrm>
          <a:prstGeom prst="rect">
            <a:avLst/>
          </a:prstGeom>
          <a:noFill/>
        </p:spPr>
        <p:txBody>
          <a:bodyPr wrap="none" lIns="0" tIns="0" rIns="0" bIns="0">
            <a:spAutoFit/>
          </a:bodyPr>
          <a:lstStyle/>
          <a:p>
            <a:pPr>
              <a:defRPr sz="819" b="1">
                <a:solidFill>
                  <a:srgbClr val="10B981"/>
                </a:solidFill>
                <a:latin typeface="Segoe UI"/>
              </a:defRPr>
            </a:pPr>
            <a:r>
              <a:t>=== BASE: 0x0030_0000 | 4,096 SLOTS x 16B | XIP READ &amp; WRITE ===</a:t>
            </a:r>
          </a:p>
        </p:txBody>
      </p:sp>
      <p:sp>
        <p:nvSpPr>
          <p:cNvPr id="12" name="Rounded Rectangle 11"/>
          <p:cNvSpPr/>
          <p:nvPr/>
        </p:nvSpPr>
        <p:spPr>
          <a:xfrm>
            <a:off x="6172200" y="118872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2563EB"/>
                </a:solidFill>
                <a:latin typeface="Segoe UI"/>
              </a:defRPr>
            </a:pPr>
            <a:r>
              <a:t>CƠ CHẾ LƯU TRỮ &amp; TRA CỨU DANH SÁCH THẺ WHITELIST</a:t>
            </a:r>
          </a:p>
          <a:p>
            <a:pPr>
              <a:lnSpc>
                <a:spcPct val="115000"/>
              </a:lnSpc>
              <a:spcAft>
                <a:spcPts val="500"/>
              </a:spcAft>
              <a:defRPr sz="930">
                <a:solidFill>
                  <a:srgbClr val="0F172A"/>
                </a:solidFill>
                <a:latin typeface="Segoe UI"/>
              </a:defRPr>
            </a:pPr>
            <a:r>
              <a:t>• 1. Định vị vùng nhớ Flash: Sector 48 tại địa chỉ cơ sở 0x0030_0000 (kích thước 64KB) trên chip SPI Flash Spansion S25FL032P (4MB).</a:t>
            </a:r>
          </a:p>
          <a:p>
            <a:pPr>
              <a:lnSpc>
                <a:spcPct val="115000"/>
              </a:lnSpc>
              <a:spcAft>
                <a:spcPts val="500"/>
              </a:spcAft>
              <a:defRPr sz="930">
                <a:solidFill>
                  <a:srgbClr val="0F172A"/>
                </a:solidFill>
                <a:latin typeface="Segoe UI"/>
              </a:defRPr>
            </a:pPr>
            <a:r>
              <a:t>• 2. Cấu trúc bản ghi 16 Bytes (Slot Record): • Offset +0 (4B): Magic Number 0x52464944 ('RFID') xác nhận slot hợp lệ.</a:t>
            </a:r>
            <a:br/>
            <a:r>
              <a:t>• Offset +4 (4B): UID Word High (tag_hi).</a:t>
            </a:r>
            <a:br/>
            <a:r>
              <a:t>• Offset +8 (4B): UID Word Low (tag_lo).</a:t>
            </a:r>
            <a:br/>
            <a:r>
              <a:t>• Offset +12 (4B): Checksum toàn vẹn (tag_hi ^ tag_lo).</a:t>
            </a:r>
          </a:p>
          <a:p>
            <a:pPr>
              <a:lnSpc>
                <a:spcPct val="115000"/>
              </a:lnSpc>
              <a:spcAft>
                <a:spcPts val="500"/>
              </a:spcAft>
              <a:defRPr sz="930">
                <a:solidFill>
                  <a:srgbClr val="0F172A"/>
                </a:solidFill>
                <a:latin typeface="Segoe UI"/>
              </a:defRPr>
            </a:pPr>
            <a:r>
              <a:t>• 3. Cách thao tác trong C: • Tra cứu tức thì qua cơ chế XIP: CPU đọc thẳng vùng nhớ 0x300000 qua con trỏ con trỏ bộ nhớ mà không cần tải vào RAM.</a:t>
            </a:r>
            <a:br/>
            <a:r>
              <a:t>• Thuật toán Early Termination: Khi gặp slot có Magic == 0xFFFFFFFF (vùng Flash trắng chưa ghi), vòng lặp dừng ngay lập tức.</a:t>
            </a:r>
          </a:p>
          <a:p>
            <a:pPr>
              <a:lnSpc>
                <a:spcPct val="115000"/>
              </a:lnSpc>
              <a:spcAft>
                <a:spcPts val="500"/>
              </a:spcAft>
              <a:defRPr sz="930">
                <a:solidFill>
                  <a:srgbClr val="0F172A"/>
                </a:solidFill>
                <a:latin typeface="Segoe UI"/>
              </a:defRPr>
            </a:pPr>
            <a:r>
              <a:t>• 4. Mục đích thiết kế: Lưu trữ bền vững tới 4,096 thẻ nhân viên được phép mở cửa, bảo toàn dữ liệu vĩnh viễn không phụ thuộc nguồn điện.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TẦNG FIRMWARE C &amp; PHẦN CỨNG (BIẾN ĐỊA CHỈ 5/6)</a:t>
            </a:r>
          </a:p>
          <a:p>
            <a:pPr>
              <a:defRPr sz="1700" b="1">
                <a:solidFill>
                  <a:srgbClr val="0F172A"/>
                </a:solidFill>
                <a:latin typeface="Segoe UI"/>
              </a:defRPr>
            </a:pPr>
            <a:r>
              <a:t>Biến Địa Chỉ 5: LOG_FLASH_ADDR (0x0031_0000 - Sector 49 Access Logs)</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18 / 26</a:t>
            </a:r>
          </a:p>
        </p:txBody>
      </p:sp>
      <p:sp>
        <p:nvSpPr>
          <p:cNvPr id="8" name="Rounded Rectangle 7"/>
          <p:cNvSpPr/>
          <p:nvPr/>
        </p:nvSpPr>
        <p:spPr>
          <a:xfrm>
            <a:off x="731520" y="118872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4983480" cy="292608"/>
          </a:xfrm>
          <a:prstGeom prst="rect">
            <a:avLst/>
          </a:prstGeom>
          <a:noFill/>
        </p:spPr>
        <p:txBody>
          <a:bodyPr wrap="none" lIns="0" tIns="0" rIns="0" bIns="0">
            <a:spAutoFit/>
          </a:bodyPr>
          <a:lstStyle/>
          <a:p>
            <a:pPr>
              <a:defRPr sz="950" b="1">
                <a:solidFill>
                  <a:srgbClr val="F43F5E"/>
                </a:solidFill>
                <a:latin typeface="Consolas"/>
              </a:defRPr>
            </a:pPr>
            <a:r>
              <a:t>&gt;_  flash.c &amp; soc_regs.h [Access Logs Sector 49]</a:t>
            </a:r>
          </a:p>
        </p:txBody>
      </p:sp>
      <p:sp>
        <p:nvSpPr>
          <p:cNvPr id="10" name="TextBox 9"/>
          <p:cNvSpPr txBox="1"/>
          <p:nvPr/>
        </p:nvSpPr>
        <p:spPr>
          <a:xfrm>
            <a:off x="868680" y="1554480"/>
            <a:ext cx="4983480" cy="4315968"/>
          </a:xfrm>
          <a:prstGeom prst="rect">
            <a:avLst/>
          </a:prstGeom>
          <a:noFill/>
        </p:spPr>
        <p:txBody>
          <a:bodyPr wrap="square" lIns="0" tIns="0" rIns="0" bIns="0">
            <a:spAutoFit/>
          </a:bodyPr>
          <a:lstStyle/>
          <a:p>
            <a:pPr>
              <a:lnSpc>
                <a:spcPct val="108000"/>
              </a:lnSpc>
              <a:spcAft>
                <a:spcPts val="0"/>
              </a:spcAft>
              <a:defRPr sz="800">
                <a:solidFill>
                  <a:srgbClr val="94A3B8"/>
                </a:solidFill>
                <a:latin typeface="Consolas"/>
              </a:defRPr>
            </a:pPr>
            <a:r>
              <a:t>// firmware/common/soc_regs.h - Vùng Nhật ký Sector 49</a:t>
            </a:r>
          </a:p>
          <a:p>
            <a:pPr>
              <a:lnSpc>
                <a:spcPct val="108000"/>
              </a:lnSpc>
              <a:spcAft>
                <a:spcPts val="0"/>
              </a:spcAft>
              <a:defRPr sz="800">
                <a:solidFill>
                  <a:srgbClr val="94A3B8"/>
                </a:solidFill>
                <a:latin typeface="Consolas"/>
              </a:defRPr>
            </a:pPr>
            <a:r>
              <a:t>#define LOG_FLASH_ADDR 0x310000   // Sector 49 (64KB)</a:t>
            </a:r>
          </a:p>
          <a:p>
            <a:pPr>
              <a:lnSpc>
                <a:spcPct val="108000"/>
              </a:lnSpc>
              <a:spcAft>
                <a:spcPts val="0"/>
              </a:spcAft>
              <a:defRPr sz="800">
                <a:solidFill>
                  <a:srgbClr val="94A3B8"/>
                </a:solidFill>
                <a:latin typeface="Consolas"/>
              </a:defRPr>
            </a:pPr>
            <a:r>
              <a:t>#define LOG_SLOT_SIZE  16         // 16 bytes per log record</a:t>
            </a:r>
          </a:p>
          <a:p>
            <a:pPr>
              <a:lnSpc>
                <a:spcPct val="108000"/>
              </a:lnSpc>
              <a:spcAft>
                <a:spcPts val="0"/>
              </a:spcAft>
              <a:defRPr sz="800">
                <a:solidFill>
                  <a:srgbClr val="94A3B8"/>
                </a:solidFill>
                <a:latin typeface="Consolas"/>
              </a:defRPr>
            </a:pPr>
            <a:r>
              <a:t>#define MAX_LOG_SLOTS  512        // 512 sự kiện kiểm toán</a:t>
            </a:r>
          </a:p>
          <a:p>
            <a:pPr>
              <a:lnSpc>
                <a:spcPct val="108000"/>
              </a:lnSpc>
              <a:spcAft>
                <a:spcPts val="0"/>
              </a:spcAft>
              <a:defRPr sz="800">
                <a:solidFill>
                  <a:srgbClr val="94A3B8"/>
                </a:solidFill>
                <a:latin typeface="Consolas"/>
              </a:defRPr>
            </a:pPr>
            <a:r>
              <a:t>#define LOG_MAGIC_SUCC 0x53554343 // 'SUCC' (Hợp lệ)</a:t>
            </a:r>
          </a:p>
          <a:p>
            <a:pPr>
              <a:lnSpc>
                <a:spcPct val="108000"/>
              </a:lnSpc>
              <a:spcAft>
                <a:spcPts val="0"/>
              </a:spcAft>
              <a:defRPr sz="800">
                <a:solidFill>
                  <a:srgbClr val="94A3B8"/>
                </a:solidFill>
                <a:latin typeface="Consolas"/>
              </a:defRPr>
            </a:pPr>
            <a:r>
              <a:t>#define LOG_MAGIC_FAIL 0x4641494C // 'FAIL' (Từ chối)</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firmware/drivers/flash.c - Ghi nhật ký quẹt thẻ an toàn</a:t>
            </a:r>
          </a:p>
          <a:p>
            <a:pPr>
              <a:lnSpc>
                <a:spcPct val="108000"/>
              </a:lnSpc>
              <a:spcAft>
                <a:spcPts val="0"/>
              </a:spcAft>
              <a:defRPr sz="800">
                <a:solidFill>
                  <a:srgbClr val="FFFFFF"/>
                </a:solidFill>
                <a:latin typeface="Consolas"/>
              </a:defRPr>
            </a:pPr>
            <a:r>
              <a:t>int flash_append_log(bool success, uint32_t hi, uint32_t lo) {</a:t>
            </a:r>
          </a:p>
          <a:p>
            <a:pPr>
              <a:lnSpc>
                <a:spcPct val="108000"/>
              </a:lnSpc>
              <a:spcAft>
                <a:spcPts val="0"/>
              </a:spcAft>
              <a:defRPr sz="800">
                <a:solidFill>
                  <a:srgbClr val="FFFFFF"/>
                </a:solidFill>
                <a:latin typeface="Consolas"/>
              </a:defRPr>
            </a:pPr>
            <a:r>
              <a:t>    int slot = flash_find_empty_log_slot();</a:t>
            </a:r>
          </a:p>
          <a:p>
            <a:pPr>
              <a:lnSpc>
                <a:spcPct val="108000"/>
              </a:lnSpc>
              <a:spcAft>
                <a:spcPts val="0"/>
              </a:spcAft>
              <a:defRPr sz="800">
                <a:solidFill>
                  <a:srgbClr val="93C5FD"/>
                </a:solidFill>
                <a:latin typeface="Consolas"/>
              </a:defRPr>
            </a:pPr>
            <a:r>
              <a:t>    if (slot &lt; 0) return -1; // Đầy bộ nhớ log</a:t>
            </a:r>
          </a:p>
          <a:p>
            <a:pPr>
              <a:lnSpc>
                <a:spcPct val="108000"/>
              </a:lnSpc>
              <a:spcAft>
                <a:spcPts val="0"/>
              </a:spcAft>
              <a:defRPr sz="800">
                <a:solidFill>
                  <a:srgbClr val="FFFFFF"/>
                </a:solidFill>
                <a:latin typeface="Consolas"/>
              </a:defRPr>
            </a:pPr>
            <a:r>
              <a:t>    uint32_t addr = LOG_FLASH_ADDR + (uint32_t)(slot * 16);</a:t>
            </a:r>
          </a:p>
          <a:p>
            <a:pPr>
              <a:lnSpc>
                <a:spcPct val="108000"/>
              </a:lnSpc>
              <a:spcAft>
                <a:spcPts val="0"/>
              </a:spcAft>
              <a:defRPr sz="800">
                <a:solidFill>
                  <a:srgbClr val="FFFFFF"/>
                </a:solidFill>
                <a:latin typeface="Consolas"/>
              </a:defRPr>
            </a:pPr>
            <a:r>
              <a:t>    uint32_t status = success ? LOG_MAGIC_SUCC : LOG_MAGIC_FAIL;</a:t>
            </a:r>
          </a:p>
          <a:p>
            <a:pPr>
              <a:lnSpc>
                <a:spcPct val="108000"/>
              </a:lnSpc>
              <a:spcAft>
                <a:spcPts val="0"/>
              </a:spcAft>
              <a:defRPr sz="800">
                <a:solidFill>
                  <a:srgbClr val="FFFFFF"/>
                </a:solidFill>
                <a:latin typeface="Consolas"/>
              </a:defRPr>
            </a:pPr>
            <a:r>
              <a:t>    uint32_t seq = (uint32_t)(slot + 1);</a:t>
            </a:r>
          </a:p>
          <a:p>
            <a:pPr>
              <a:lnSpc>
                <a:spcPct val="108000"/>
              </a:lnSpc>
              <a:spcAft>
                <a:spcPts val="0"/>
              </a:spcAft>
              <a:defRPr sz="800">
                <a:solidFill>
                  <a:srgbClr val="FFFFFF"/>
                </a:solidFill>
                <a:latin typeface="Consolas"/>
              </a:defRPr>
            </a:pPr>
            <a:r>
              <a:t>    REG_GPIO_LEDS |= 0x0008; // Flash LED active</a:t>
            </a:r>
          </a:p>
          <a:p>
            <a:pPr>
              <a:lnSpc>
                <a:spcPct val="108000"/>
              </a:lnSpc>
              <a:spcAft>
                <a:spcPts val="0"/>
              </a:spcAft>
              <a:defRPr sz="800">
                <a:solidFill>
                  <a:srgbClr val="FFFFFF"/>
                </a:solidFill>
                <a:latin typeface="Consolas"/>
              </a:defRPr>
            </a:pPr>
            <a:r>
              <a:t>    flash_write_word(addr + 4, hi);</a:t>
            </a:r>
          </a:p>
          <a:p>
            <a:pPr>
              <a:lnSpc>
                <a:spcPct val="108000"/>
              </a:lnSpc>
              <a:spcAft>
                <a:spcPts val="0"/>
              </a:spcAft>
              <a:defRPr sz="800">
                <a:solidFill>
                  <a:srgbClr val="FFFFFF"/>
                </a:solidFill>
                <a:latin typeface="Consolas"/>
              </a:defRPr>
            </a:pPr>
            <a:r>
              <a:t>    flash_write_word(addr + 8, lo);</a:t>
            </a:r>
          </a:p>
          <a:p>
            <a:pPr>
              <a:lnSpc>
                <a:spcPct val="108000"/>
              </a:lnSpc>
              <a:spcAft>
                <a:spcPts val="0"/>
              </a:spcAft>
              <a:defRPr sz="800">
                <a:solidFill>
                  <a:srgbClr val="FFFFFF"/>
                </a:solidFill>
                <a:latin typeface="Consolas"/>
              </a:defRPr>
            </a:pPr>
            <a:r>
              <a:t>    flash_write_word(addr + 12, seq);</a:t>
            </a:r>
          </a:p>
          <a:p>
            <a:pPr>
              <a:lnSpc>
                <a:spcPct val="108000"/>
              </a:lnSpc>
              <a:spcAft>
                <a:spcPts val="0"/>
              </a:spcAft>
              <a:defRPr sz="800">
                <a:solidFill>
                  <a:srgbClr val="FFFFFF"/>
                </a:solidFill>
                <a:latin typeface="Consolas"/>
              </a:defRPr>
            </a:pPr>
            <a:r>
              <a:t>    flash_write_word(addr + 0, status); // Ghi magic cuối cùng (Atomic Commit)!</a:t>
            </a:r>
          </a:p>
          <a:p>
            <a:pPr>
              <a:lnSpc>
                <a:spcPct val="108000"/>
              </a:lnSpc>
              <a:spcAft>
                <a:spcPts val="0"/>
              </a:spcAft>
              <a:defRPr sz="800">
                <a:solidFill>
                  <a:srgbClr val="FFFFFF"/>
                </a:solidFill>
                <a:latin typeface="Consolas"/>
              </a:defRPr>
            </a:pPr>
            <a:r>
              <a:t>    REG_GPIO_LEDS &amp;= ~0x0008;</a:t>
            </a:r>
          </a:p>
          <a:p>
            <a:pPr>
              <a:lnSpc>
                <a:spcPct val="108000"/>
              </a:lnSpc>
              <a:spcAft>
                <a:spcPts val="0"/>
              </a:spcAft>
              <a:defRPr sz="800">
                <a:solidFill>
                  <a:srgbClr val="93C5FD"/>
                </a:solidFill>
                <a:latin typeface="Consolas"/>
              </a:defRPr>
            </a:pPr>
            <a:r>
              <a:t>    return slot;</a:t>
            </a:r>
          </a:p>
          <a:p>
            <a:pPr>
              <a:lnSpc>
                <a:spcPct val="108000"/>
              </a:lnSpc>
              <a:spcAft>
                <a:spcPts val="0"/>
              </a:spcAft>
              <a:defRPr sz="800">
                <a:solidFill>
                  <a:srgbClr val="FFFFFF"/>
                </a:solidFill>
                <a:latin typeface="Consolas"/>
              </a:defRPr>
            </a:pPr>
            <a:r>
              <a:t>}</a:t>
            </a:r>
          </a:p>
        </p:txBody>
      </p:sp>
      <p:sp>
        <p:nvSpPr>
          <p:cNvPr id="11" name="TextBox 10"/>
          <p:cNvSpPr txBox="1"/>
          <p:nvPr/>
        </p:nvSpPr>
        <p:spPr>
          <a:xfrm>
            <a:off x="868680" y="5833872"/>
            <a:ext cx="4983480" cy="274320"/>
          </a:xfrm>
          <a:prstGeom prst="rect">
            <a:avLst/>
          </a:prstGeom>
          <a:noFill/>
        </p:spPr>
        <p:txBody>
          <a:bodyPr wrap="none" lIns="0" tIns="0" rIns="0" bIns="0">
            <a:spAutoFit/>
          </a:bodyPr>
          <a:lstStyle/>
          <a:p>
            <a:pPr>
              <a:defRPr sz="819" b="1">
                <a:solidFill>
                  <a:srgbClr val="10B981"/>
                </a:solidFill>
                <a:latin typeface="Segoe UI"/>
              </a:defRPr>
            </a:pPr>
            <a:r>
              <a:t>=== BASE: 0x0031_0000 | 512 AUDIT EVENTS x 16B | ATOMIC COMMIT ===</a:t>
            </a:r>
          </a:p>
        </p:txBody>
      </p:sp>
      <p:sp>
        <p:nvSpPr>
          <p:cNvPr id="12" name="Rounded Rectangle 11"/>
          <p:cNvSpPr/>
          <p:nvPr/>
        </p:nvSpPr>
        <p:spPr>
          <a:xfrm>
            <a:off x="6172200" y="1188720"/>
            <a:ext cx="5285232" cy="5029200"/>
          </a:xfrm>
          <a:prstGeom prst="roundRect">
            <a:avLst>
              <a:gd name="adj" fmla="val 2000"/>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E11D48"/>
                </a:solidFill>
                <a:latin typeface="Segoe UI"/>
              </a:defRPr>
            </a:pPr>
            <a:r>
              <a:t>GHI VẾT KIỂM TOÁN AN NINH (AUDIT TRAIL LOGGING)</a:t>
            </a:r>
          </a:p>
          <a:p>
            <a:pPr>
              <a:lnSpc>
                <a:spcPct val="115000"/>
              </a:lnSpc>
              <a:spcAft>
                <a:spcPts val="500"/>
              </a:spcAft>
              <a:defRPr sz="930">
                <a:solidFill>
                  <a:srgbClr val="0F172A"/>
                </a:solidFill>
                <a:latin typeface="Segoe UI"/>
              </a:defRPr>
            </a:pPr>
            <a:r>
              <a:t>• 1. Phân vùng nhật ký: Sector 49 tại địa chỉ cơ sở 0x0031_0000. Dành riêng 8KB đầu tiên lưu trữ tuần tự 512 sự kiện quẹt thẻ mới nhất.</a:t>
            </a:r>
          </a:p>
          <a:p>
            <a:pPr>
              <a:lnSpc>
                <a:spcPct val="115000"/>
              </a:lnSpc>
              <a:spcAft>
                <a:spcPts val="500"/>
              </a:spcAft>
              <a:defRPr sz="930">
                <a:solidFill>
                  <a:srgbClr val="0F172A"/>
                </a:solidFill>
                <a:latin typeface="Segoe UI"/>
              </a:defRPr>
            </a:pPr>
            <a:r>
              <a:t>• 2. Cấu trúc bản ghi sự kiện 16 Bytes: • Offset +0 (4B): Trạng thái mở cửa: 0x53554343 ('SUCC') hoặc 0x4641494C ('FAIL').</a:t>
            </a:r>
            <a:br/>
            <a:r>
              <a:t>• Offset +4 (4B): UID High của thẻ quẹt.</a:t>
            </a:r>
            <a:br/>
            <a:r>
              <a:t>• Offset +8 (4B): UID Low của thẻ quẹt.</a:t>
            </a:r>
            <a:br/>
            <a:r>
              <a:t>• Offset +12 (4B): Số thứ tự sự kiện (Sequence Number 1, 2, 3...).</a:t>
            </a:r>
          </a:p>
          <a:p>
            <a:pPr>
              <a:lnSpc>
                <a:spcPct val="115000"/>
              </a:lnSpc>
              <a:spcAft>
                <a:spcPts val="500"/>
              </a:spcAft>
              <a:defRPr sz="930">
                <a:solidFill>
                  <a:srgbClr val="0F172A"/>
                </a:solidFill>
                <a:latin typeface="Segoe UI"/>
              </a:defRPr>
            </a:pPr>
            <a:r>
              <a:t>• 3. Kỹ thuật ghi chống hỏng dữ liệu (Atomic Commit): Dữ liệu UID và số thứ tự được ghi trước vào Flash, từ khóa Magic (SUCC/FAIL) được ghi sau cùng. Nếu mất điện giữa chừng, bản ghi chưa có Magic sẽ bị bỏ qua, chống rác dữ liệu!</a:t>
            </a:r>
          </a:p>
          <a:p>
            <a:pPr>
              <a:lnSpc>
                <a:spcPct val="115000"/>
              </a:lnSpc>
              <a:spcAft>
                <a:spcPts val="500"/>
              </a:spcAft>
              <a:defRPr sz="930">
                <a:solidFill>
                  <a:srgbClr val="0F172A"/>
                </a:solidFill>
                <a:latin typeface="Segoe UI"/>
              </a:defRPr>
            </a:pPr>
            <a:r>
              <a:t>• 4. Mục đích thiết kế: Phục vụ công tác hậu kiểm, xuất file CSV lên máy tính để phát hiện các hành vi quẹt thẻ lạ hoặc dò tìm thẻ trái phép.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TẦNG FIRMWARE C &amp; PHẦN CỨNG (BIẾN ĐỊA CHỈ 6/6)</a:t>
            </a:r>
          </a:p>
          <a:p>
            <a:pPr>
              <a:defRPr sz="1700" b="1">
                <a:solidFill>
                  <a:srgbClr val="0F172A"/>
                </a:solidFill>
                <a:latin typeface="Segoe UI"/>
              </a:defRPr>
            </a:pPr>
            <a:r>
              <a:t>Biến Địa Chỉ 6: 0x0200_0000 &amp; flashio_worker (Nạp Routine Vào SRAM)</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19 / 26</a:t>
            </a:r>
          </a:p>
        </p:txBody>
      </p:sp>
      <p:sp>
        <p:nvSpPr>
          <p:cNvPr id="8" name="Rounded Rectangle 7"/>
          <p:cNvSpPr/>
          <p:nvPr/>
        </p:nvSpPr>
        <p:spPr>
          <a:xfrm>
            <a:off x="731520" y="118872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4983480" cy="292608"/>
          </a:xfrm>
          <a:prstGeom prst="rect">
            <a:avLst/>
          </a:prstGeom>
          <a:noFill/>
        </p:spPr>
        <p:txBody>
          <a:bodyPr wrap="none" lIns="0" tIns="0" rIns="0" bIns="0">
            <a:spAutoFit/>
          </a:bodyPr>
          <a:lstStyle/>
          <a:p>
            <a:pPr>
              <a:defRPr sz="950" b="1">
                <a:solidFill>
                  <a:srgbClr val="A78BFA"/>
                </a:solidFill>
                <a:latin typeface="Consolas"/>
              </a:defRPr>
            </a:pPr>
            <a:r>
              <a:t>&gt;_  start.s &amp; flash.c [In-SRAM Flash Worker]</a:t>
            </a:r>
          </a:p>
        </p:txBody>
      </p:sp>
      <p:sp>
        <p:nvSpPr>
          <p:cNvPr id="10" name="TextBox 9"/>
          <p:cNvSpPr txBox="1"/>
          <p:nvPr/>
        </p:nvSpPr>
        <p:spPr>
          <a:xfrm>
            <a:off x="868680" y="1554480"/>
            <a:ext cx="4983480" cy="4315968"/>
          </a:xfrm>
          <a:prstGeom prst="rect">
            <a:avLst/>
          </a:prstGeom>
          <a:noFill/>
        </p:spPr>
        <p:txBody>
          <a:bodyPr wrap="square" lIns="0" tIns="0" rIns="0" bIns="0">
            <a:spAutoFit/>
          </a:bodyPr>
          <a:lstStyle/>
          <a:p>
            <a:pPr>
              <a:lnSpc>
                <a:spcPct val="108000"/>
              </a:lnSpc>
              <a:spcAft>
                <a:spcPts val="0"/>
              </a:spcAft>
              <a:defRPr sz="800">
                <a:solidFill>
                  <a:srgbClr val="94A3B8"/>
                </a:solidFill>
                <a:latin typeface="Consolas"/>
              </a:defRPr>
            </a:pPr>
            <a:r>
              <a:t>// firmware/start.s - Routine phát lệnh bit-bang SPI</a:t>
            </a:r>
          </a:p>
          <a:p>
            <a:pPr>
              <a:lnSpc>
                <a:spcPct val="108000"/>
              </a:lnSpc>
              <a:spcAft>
                <a:spcPts val="0"/>
              </a:spcAft>
              <a:defRPr sz="800">
                <a:solidFill>
                  <a:srgbClr val="FFFFFF"/>
                </a:solidFill>
                <a:latin typeface="Consolas"/>
              </a:defRPr>
            </a:pPr>
            <a:r>
              <a:t>.global flashio_worker_begin, flashio_worker_end</a:t>
            </a:r>
          </a:p>
          <a:p>
            <a:pPr>
              <a:lnSpc>
                <a:spcPct val="108000"/>
              </a:lnSpc>
              <a:spcAft>
                <a:spcPts val="0"/>
              </a:spcAft>
              <a:defRPr sz="800">
                <a:solidFill>
                  <a:srgbClr val="FFFFFF"/>
                </a:solidFill>
                <a:latin typeface="Consolas"/>
              </a:defRPr>
            </a:pPr>
            <a:r>
              <a:t>flashio_worker_begin:</a:t>
            </a:r>
          </a:p>
          <a:p>
            <a:pPr>
              <a:lnSpc>
                <a:spcPct val="108000"/>
              </a:lnSpc>
              <a:spcAft>
                <a:spcPts val="0"/>
              </a:spcAft>
              <a:defRPr sz="800">
                <a:solidFill>
                  <a:srgbClr val="FFFFFF"/>
                </a:solidFill>
                <a:latin typeface="Consolas"/>
              </a:defRPr>
            </a:pPr>
            <a:r>
              <a:t>    li   t0, 0x02000000   # Địa chỉ SPICFG MMIO</a:t>
            </a:r>
          </a:p>
          <a:p>
            <a:pPr>
              <a:lnSpc>
                <a:spcPct val="108000"/>
              </a:lnSpc>
              <a:spcAft>
                <a:spcPts val="0"/>
              </a:spcAft>
              <a:defRPr sz="800">
                <a:solidFill>
                  <a:srgbClr val="FFFFFF"/>
                </a:solidFill>
                <a:latin typeface="Consolas"/>
              </a:defRPr>
            </a:pPr>
            <a:r>
              <a:t>    sw   a2, 0(t0)        # Gửi lệnh WREN (0x06)</a:t>
            </a:r>
          </a:p>
          <a:p>
            <a:pPr>
              <a:lnSpc>
                <a:spcPct val="108000"/>
              </a:lnSpc>
              <a:spcAft>
                <a:spcPts val="0"/>
              </a:spcAft>
              <a:defRPr sz="800">
                <a:solidFill>
                  <a:srgbClr val="94A3B8"/>
                </a:solidFill>
                <a:latin typeface="Consolas"/>
              </a:defRPr>
            </a:pPr>
            <a:r>
              <a:t>    # ... Vòng lặp phát xung bit-bang SPI trên thanh ghi SPICFG ...</a:t>
            </a:r>
          </a:p>
          <a:p>
            <a:pPr>
              <a:lnSpc>
                <a:spcPct val="108000"/>
              </a:lnSpc>
              <a:spcAft>
                <a:spcPts val="0"/>
              </a:spcAft>
              <a:defRPr sz="800">
                <a:solidFill>
                  <a:srgbClr val="FFFFFF"/>
                </a:solidFill>
                <a:latin typeface="Consolas"/>
              </a:defRPr>
            </a:pPr>
            <a:r>
              <a:t>    ret</a:t>
            </a:r>
          </a:p>
          <a:p>
            <a:pPr>
              <a:lnSpc>
                <a:spcPct val="108000"/>
              </a:lnSpc>
              <a:spcAft>
                <a:spcPts val="0"/>
              </a:spcAft>
              <a:defRPr sz="800">
                <a:solidFill>
                  <a:srgbClr val="FFFFFF"/>
                </a:solidFill>
                <a:latin typeface="Consolas"/>
              </a:defRPr>
            </a:pPr>
            <a:r>
              <a:t>flashio_worker_end:</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firmware/drivers/flash.c - Sao chép và thực thi trên 1KB SRAM</a:t>
            </a:r>
          </a:p>
          <a:p>
            <a:pPr>
              <a:lnSpc>
                <a:spcPct val="108000"/>
              </a:lnSpc>
              <a:spcAft>
                <a:spcPts val="0"/>
              </a:spcAft>
              <a:defRPr sz="800">
                <a:solidFill>
                  <a:srgbClr val="93C5FD"/>
                </a:solidFill>
                <a:latin typeface="Consolas"/>
              </a:defRPr>
            </a:pPr>
            <a:r>
              <a:t>static void flashio(uint8_t *data, int len, uint8_t wrencmd) {</a:t>
            </a:r>
          </a:p>
          <a:p>
            <a:pPr>
              <a:lnSpc>
                <a:spcPct val="108000"/>
              </a:lnSpc>
              <a:spcAft>
                <a:spcPts val="0"/>
              </a:spcAft>
              <a:defRPr sz="800">
                <a:solidFill>
                  <a:srgbClr val="94A3B8"/>
                </a:solidFill>
                <a:latin typeface="Consolas"/>
              </a:defRPr>
            </a:pPr>
            <a:r>
              <a:t>    // Cấp phát vùng nhớ hàm trên Stack (thuộc 1KB SRAM)</a:t>
            </a:r>
          </a:p>
          <a:p>
            <a:pPr>
              <a:lnSpc>
                <a:spcPct val="108000"/>
              </a:lnSpc>
              <a:spcAft>
                <a:spcPts val="0"/>
              </a:spcAft>
              <a:defRPr sz="800">
                <a:solidFill>
                  <a:srgbClr val="FFFFFF"/>
                </a:solidFill>
                <a:latin typeface="Consolas"/>
              </a:defRPr>
            </a:pPr>
            <a:r>
              <a:t>    uint32_t func[&amp;flashio_worker_end - &amp;flashio_worker_begin];</a:t>
            </a:r>
          </a:p>
          <a:p>
            <a:pPr>
              <a:lnSpc>
                <a:spcPct val="108000"/>
              </a:lnSpc>
              <a:spcAft>
                <a:spcPts val="0"/>
              </a:spcAft>
              <a:defRPr sz="800">
                <a:solidFill>
                  <a:srgbClr val="FFFFFF"/>
                </a:solidFill>
                <a:latin typeface="Consolas"/>
              </a:defRPr>
            </a:pPr>
            <a:r>
              <a:t>    uint32_t *src = &amp;flashio_worker_begin;</a:t>
            </a:r>
          </a:p>
          <a:p>
            <a:pPr>
              <a:lnSpc>
                <a:spcPct val="108000"/>
              </a:lnSpc>
              <a:spcAft>
                <a:spcPts val="0"/>
              </a:spcAft>
              <a:defRPr sz="800">
                <a:solidFill>
                  <a:srgbClr val="FFFFFF"/>
                </a:solidFill>
                <a:latin typeface="Consolas"/>
              </a:defRPr>
            </a:pPr>
            <a:r>
              <a:t>    uint32_t *dst = func;</a:t>
            </a:r>
          </a:p>
          <a:p>
            <a:pPr>
              <a:lnSpc>
                <a:spcPct val="108000"/>
              </a:lnSpc>
              <a:spcAft>
                <a:spcPts val="0"/>
              </a:spcAft>
              <a:defRPr sz="800">
                <a:solidFill>
                  <a:srgbClr val="93C5FD"/>
                </a:solidFill>
                <a:latin typeface="Consolas"/>
              </a:defRPr>
            </a:pPr>
            <a:r>
              <a:t>    while (src != &amp;flashio_worker_end) *(dst++) = *(src++);</a:t>
            </a:r>
          </a:p>
          <a:p>
            <a:pPr>
              <a:lnSpc>
                <a:spcPct val="108000"/>
              </a:lnSpc>
              <a:spcAft>
                <a:spcPts val="0"/>
              </a:spcAft>
              <a:defRPr sz="800">
                <a:solidFill>
                  <a:srgbClr val="FFFFFF"/>
                </a:solidFill>
                <a:latin typeface="Consolas"/>
              </a:defRPr>
            </a:pPr>
          </a:p>
          <a:p>
            <a:pPr>
              <a:lnSpc>
                <a:spcPct val="108000"/>
              </a:lnSpc>
              <a:spcAft>
                <a:spcPts val="0"/>
              </a:spcAft>
              <a:defRPr sz="800">
                <a:solidFill>
                  <a:srgbClr val="94A3B8"/>
                </a:solidFill>
                <a:latin typeface="Consolas"/>
              </a:defRPr>
            </a:pPr>
            <a:r>
              <a:t>    // Ép kiểu con trỏ hàm và thực thi thẳng trên SRAM!</a:t>
            </a:r>
          </a:p>
          <a:p>
            <a:pPr>
              <a:lnSpc>
                <a:spcPct val="108000"/>
              </a:lnSpc>
              <a:spcAft>
                <a:spcPts val="0"/>
              </a:spcAft>
              <a:defRPr sz="800">
                <a:solidFill>
                  <a:srgbClr val="93C5FD"/>
                </a:solidFill>
                <a:latin typeface="Consolas"/>
              </a:defRPr>
            </a:pPr>
            <a:r>
              <a:t>    ((void(*)(uint8_t*, uint32_t, uint32_t))func)(data, len, wrencmd);</a:t>
            </a:r>
          </a:p>
          <a:p>
            <a:pPr>
              <a:lnSpc>
                <a:spcPct val="108000"/>
              </a:lnSpc>
              <a:spcAft>
                <a:spcPts val="0"/>
              </a:spcAft>
              <a:defRPr sz="800">
                <a:solidFill>
                  <a:srgbClr val="FFFFFF"/>
                </a:solidFill>
                <a:latin typeface="Consolas"/>
              </a:defRPr>
            </a:pPr>
            <a:r>
              <a:t>}</a:t>
            </a:r>
          </a:p>
        </p:txBody>
      </p:sp>
      <p:sp>
        <p:nvSpPr>
          <p:cNvPr id="11" name="TextBox 10"/>
          <p:cNvSpPr txBox="1"/>
          <p:nvPr/>
        </p:nvSpPr>
        <p:spPr>
          <a:xfrm>
            <a:off x="868680" y="5833872"/>
            <a:ext cx="4983480" cy="274320"/>
          </a:xfrm>
          <a:prstGeom prst="rect">
            <a:avLst/>
          </a:prstGeom>
          <a:noFill/>
        </p:spPr>
        <p:txBody>
          <a:bodyPr wrap="none" lIns="0" tIns="0" rIns="0" bIns="0">
            <a:spAutoFit/>
          </a:bodyPr>
          <a:lstStyle/>
          <a:p>
            <a:pPr>
              <a:defRPr sz="819" b="1">
                <a:solidFill>
                  <a:srgbClr val="10B981"/>
                </a:solidFill>
                <a:latin typeface="Segoe UI"/>
              </a:defRPr>
            </a:pPr>
            <a:r>
              <a:t>=== SPICFG: 0x0200_0000 | COPIED TO SRAM @ 0x0000_0000 (ZERO-STALL) ===</a:t>
            </a:r>
          </a:p>
        </p:txBody>
      </p:sp>
      <p:sp>
        <p:nvSpPr>
          <p:cNvPr id="12" name="Rounded Rectangle 11"/>
          <p:cNvSpPr/>
          <p:nvPr/>
        </p:nvSpPr>
        <p:spPr>
          <a:xfrm>
            <a:off x="6172200" y="1188720"/>
            <a:ext cx="5285232" cy="5029200"/>
          </a:xfrm>
          <a:prstGeom prst="roundRect">
            <a:avLst>
              <a:gd name="adj" fmla="val 2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25880"/>
            <a:ext cx="4919472" cy="4754880"/>
          </a:xfrm>
          <a:prstGeom prst="rect">
            <a:avLst/>
          </a:prstGeom>
          <a:noFill/>
        </p:spPr>
        <p:txBody>
          <a:bodyPr wrap="square">
            <a:spAutoFit/>
          </a:bodyPr>
          <a:lstStyle/>
          <a:p>
            <a:pPr>
              <a:spcAft>
                <a:spcPts val="800"/>
              </a:spcAft>
              <a:defRPr b="1" sz="1200">
                <a:solidFill>
                  <a:srgbClr val="7C3AED"/>
                </a:solidFill>
                <a:latin typeface="Segoe UI"/>
              </a:defRPr>
            </a:pPr>
            <a:r>
              <a:t>CƠ CHẾ IN-SRAM EXECUTION GIẢI QUYẾT XUNG ĐỘT BUS</a:t>
            </a:r>
          </a:p>
          <a:p>
            <a:pPr>
              <a:lnSpc>
                <a:spcPct val="115000"/>
              </a:lnSpc>
              <a:spcAft>
                <a:spcPts val="500"/>
              </a:spcAft>
              <a:defRPr sz="930">
                <a:solidFill>
                  <a:srgbClr val="0F172A"/>
                </a:solidFill>
                <a:latin typeface="Segoe UI"/>
              </a:defRPr>
            </a:pPr>
            <a:r>
              <a:t>• 1. Vấn đề xung đột bus cốt tử: CPU PicoRV32 đang kéo mã lệnh thực thi từ chip SPI Flash qua chế độ XIP. Khi muốn xóa sector hoặc ghi dữ liệu vào Flash, chip Flash sẽ bận và KHÔNG THỂ CUNG CẤP MÃ LỆNH CHO CPU -&gt; Hệ thống sẽ bị treo vĩnh viễn!</a:t>
            </a:r>
          </a:p>
          <a:p>
            <a:pPr>
              <a:lnSpc>
                <a:spcPct val="115000"/>
              </a:lnSpc>
              <a:spcAft>
                <a:spcPts val="500"/>
              </a:spcAft>
              <a:defRPr sz="930">
                <a:solidFill>
                  <a:srgbClr val="0F172A"/>
                </a:solidFill>
                <a:latin typeface="Segoe UI"/>
              </a:defRPr>
            </a:pPr>
            <a:r>
              <a:t>• 2. Giải pháp In-SRAM Execution: Sao chép đoạn mã máy flashio_worker từ Flash vào 1KB SRAM nội bộ và nhảy vào SRAM để thực thi. Trong suốt quá trình ghi Flash, CPU lấy mã lệnh từ 1KB SRAM nội mà không chạm vào Flash.</a:t>
            </a:r>
          </a:p>
          <a:p>
            <a:pPr>
              <a:lnSpc>
                <a:spcPct val="115000"/>
              </a:lnSpc>
              <a:spcAft>
                <a:spcPts val="500"/>
              </a:spcAft>
              <a:defRPr sz="930">
                <a:solidFill>
                  <a:srgbClr val="0F172A"/>
                </a:solidFill>
                <a:latin typeface="Segoe UI"/>
              </a:defRPr>
            </a:pPr>
            <a:r>
              <a:t>• 3. Tương tác địa chỉ 0x0200_0000: Đoạn mã worker ghi trực tiếp vào thanh ghi SPICFG tại 0x0200_0000 để bit-bang điều khiển chân CS, SCK, MOSI, MISO của chip Flash ngoài.</a:t>
            </a:r>
          </a:p>
          <a:p>
            <a:pPr>
              <a:lnSpc>
                <a:spcPct val="115000"/>
              </a:lnSpc>
              <a:spcAft>
                <a:spcPts val="500"/>
              </a:spcAft>
              <a:defRPr sz="930">
                <a:solidFill>
                  <a:srgbClr val="0F172A"/>
                </a:solidFill>
                <a:latin typeface="Segoe UI"/>
              </a:defRPr>
            </a:pPr>
            <a:r>
              <a:t>• 4. Ý nghĩa kỹ thuật đỉnh cao: Hiện thực hóa khả năng tự lập trình lại bộ nhớ không bay hơi (Self-Programming NVM) trên vi mạch SoC mà không cần thêm bộ nhớ ROM phụ trợ.</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4: HỆ THỐNG TESTBENCH &amp; MÔ PHỎNG</a:t>
            </a:r>
          </a:p>
          <a:p>
            <a:pPr>
              <a:defRPr sz="1700" b="1">
                <a:solidFill>
                  <a:srgbClr val="0F172A"/>
                </a:solidFill>
                <a:latin typeface="Segoe UI"/>
              </a:defRPr>
            </a:pPr>
            <a:r>
              <a:t>Testbench 1: Kiểm Thử Phần Cứng RTL Thuần Cho UART MMIO &amp; FIFO (tb_uart_rtl.v)</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20 / 26</a:t>
            </a:r>
          </a:p>
        </p:txBody>
      </p:sp>
      <p:sp>
        <p:nvSpPr>
          <p:cNvPr id="8" name="Rounded Rectangle 7"/>
          <p:cNvSpPr/>
          <p:nvPr/>
        </p:nvSpPr>
        <p:spPr>
          <a:xfrm>
            <a:off x="731520" y="1234440"/>
            <a:ext cx="5349240"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53312"/>
            <a:ext cx="5074920" cy="256032"/>
          </a:xfrm>
          <a:prstGeom prst="rect">
            <a:avLst/>
          </a:prstGeom>
          <a:noFill/>
        </p:spPr>
        <p:txBody>
          <a:bodyPr wrap="none" lIns="0" tIns="0" rIns="0" bIns="0">
            <a:spAutoFit/>
          </a:bodyPr>
          <a:lstStyle/>
          <a:p>
            <a:pPr algn="ctr">
              <a:defRPr sz="1050" b="1">
                <a:solidFill>
                  <a:srgbClr val="2563EB"/>
                </a:solidFill>
                <a:latin typeface="Segoe UI"/>
              </a:defRPr>
            </a:pPr>
            <a:r>
              <a:t>DẠNG SÓNG MÔ PHỎNG VIVADO XSIM (15.275 µs)</a:t>
            </a:r>
          </a:p>
        </p:txBody>
      </p:sp>
      <p:pic>
        <p:nvPicPr>
          <p:cNvPr id="10" name="Picture 9" descr="waveform_tb_uart_rtl.png"/>
          <p:cNvPicPr>
            <a:picLocks noChangeAspect="1"/>
          </p:cNvPicPr>
          <p:nvPr/>
        </p:nvPicPr>
        <p:blipFill>
          <a:blip r:embed="rId2"/>
          <a:stretch>
            <a:fillRect/>
          </a:stretch>
        </p:blipFill>
        <p:spPr>
          <a:xfrm>
            <a:off x="914400" y="1627632"/>
            <a:ext cx="4983480" cy="2962656"/>
          </a:xfrm>
          <a:prstGeom prst="rect">
            <a:avLst/>
          </a:prstGeom>
        </p:spPr>
      </p:pic>
      <p:sp>
        <p:nvSpPr>
          <p:cNvPr id="11" name="Rounded Rectangle 10"/>
          <p:cNvSpPr/>
          <p:nvPr/>
        </p:nvSpPr>
        <p:spPr>
          <a:xfrm>
            <a:off x="914400" y="4681728"/>
            <a:ext cx="4983480" cy="1444752"/>
          </a:xfrm>
          <a:prstGeom prst="roundRect">
            <a:avLst>
              <a:gd name="adj" fmla="val 2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736592"/>
            <a:ext cx="4754880" cy="1335024"/>
          </a:xfrm>
          <a:prstGeom prst="rect">
            <a:avLst/>
          </a:prstGeom>
          <a:noFill/>
        </p:spPr>
        <p:txBody>
          <a:bodyPr wrap="square" lIns="0" tIns="0" rIns="0" bIns="0">
            <a:spAutoFit/>
          </a:bodyPr>
          <a:lstStyle/>
          <a:p>
            <a:pPr>
              <a:spcAft>
                <a:spcPts val="200"/>
              </a:spcAft>
              <a:defRPr sz="819" b="1">
                <a:solidFill>
                  <a:srgbClr val="2563EB"/>
                </a:solidFill>
                <a:latin typeface="Segoe UI"/>
              </a:defRPr>
            </a:pPr>
            <a:r>
              <a:t>ĐẶC TRƯNG TÍN HIỆU TRÊN DẠNG SÓNG (WAVEFORM ANALYSIS):</a:t>
            </a:r>
          </a:p>
          <a:p>
            <a:pPr>
              <a:lnSpc>
                <a:spcPct val="112000"/>
              </a:lnSpc>
              <a:defRPr sz="760">
                <a:solidFill>
                  <a:srgbClr val="0F172A"/>
                </a:solidFill>
                <a:latin typeface="Segoe UI"/>
              </a:defRPr>
            </a:pPr>
            <a:r>
              <a:t>• clk / rst_n: Chu kỳ xung nhịp 10ns (100MHz), reset giải phóng tại t = 100ns.</a:t>
            </a:r>
          </a:p>
          <a:p>
            <a:pPr>
              <a:lnSpc>
                <a:spcPct val="112000"/>
              </a:lnSpc>
              <a:defRPr sz="760">
                <a:solidFill>
                  <a:srgbClr val="0F172A"/>
                </a:solidFill>
                <a:latin typeface="Segoe UI"/>
              </a:defRPr>
            </a:pPr>
            <a:r>
              <a:t>• tx_o (Serial TX): Khung truyền 8-N-1 (Start bit 0 -&gt; 8 bit dữ liệu LSB -&gt; Stop bit 1).</a:t>
            </a:r>
          </a:p>
          <a:p>
            <a:pPr>
              <a:lnSpc>
                <a:spcPct val="112000"/>
              </a:lnSpc>
              <a:defRPr sz="760">
                <a:solidFill>
                  <a:srgbClr val="0F172A"/>
                </a:solidFill>
                <a:latin typeface="Segoe UI"/>
              </a:defRPr>
            </a:pPr>
            <a:r>
              <a:t>• rx_activity_o &amp; FIFO: Bắt chuỗi xung rx_i, nạp sạch vào FIFO và trả về read_val = 75.</a:t>
            </a:r>
          </a:p>
          <a:p>
            <a:pPr>
              <a:lnSpc>
                <a:spcPct val="112000"/>
              </a:lnSpc>
              <a:defRPr sz="760">
                <a:solidFill>
                  <a:srgbClr val="0F172A"/>
                </a:solidFill>
                <a:latin typeface="Segoe UI"/>
              </a:defRPr>
            </a:pPr>
            <a:r>
              <a:t>• err_count = 0: 5/5 kịch bản tự động Assert thành công, kết thúc an toàn tại 15.275 µs.</a:t>
            </a:r>
          </a:p>
        </p:txBody>
      </p:sp>
      <p:sp>
        <p:nvSpPr>
          <p:cNvPr id="13" name="Rounded Rectangle 12"/>
          <p:cNvSpPr/>
          <p:nvPr/>
        </p:nvSpPr>
        <p:spPr>
          <a:xfrm>
            <a:off x="6217920" y="1234440"/>
            <a:ext cx="523951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353312"/>
            <a:ext cx="4873752" cy="3977639"/>
          </a:xfrm>
          <a:prstGeom prst="rect">
            <a:avLst/>
          </a:prstGeom>
          <a:noFill/>
        </p:spPr>
        <p:txBody>
          <a:bodyPr wrap="square" lIns="0" tIns="0" rIns="0" bIns="0">
            <a:spAutoFit/>
          </a:bodyPr>
          <a:lstStyle/>
          <a:p>
            <a:pPr>
              <a:spcAft>
                <a:spcPts val="800"/>
              </a:spcAft>
              <a:defRPr sz="1200" b="1">
                <a:solidFill>
                  <a:srgbClr val="2563EB"/>
                </a:solidFill>
                <a:latin typeface="Segoe UI"/>
              </a:defRPr>
            </a:pPr>
            <a:r>
              <a:t>5 KỊCH BẢN KIỂM THỬ UART RTL THUẦN (100% PASS)</a:t>
            </a:r>
          </a:p>
          <a:p>
            <a:pPr>
              <a:lnSpc>
                <a:spcPct val="115000"/>
              </a:lnSpc>
              <a:spcAft>
                <a:spcPts val="500"/>
              </a:spcAft>
              <a:defRPr sz="930">
                <a:solidFill>
                  <a:srgbClr val="0F172A"/>
                </a:solidFill>
                <a:latin typeface="Segoe UI"/>
              </a:defRPr>
            </a:pPr>
            <a:r>
              <a:t>• Mục tiêu: Xác minh tính đúng đắn phần cứng của uart_mmio.v, sync_fifo.v và simpleuart.v mà không cần CPU.</a:t>
            </a:r>
          </a:p>
          <a:p>
            <a:pPr>
              <a:lnSpc>
                <a:spcPct val="115000"/>
              </a:lnSpc>
              <a:spcAft>
                <a:spcPts val="500"/>
              </a:spcAft>
              <a:defRPr sz="930">
                <a:solidFill>
                  <a:srgbClr val="0F172A"/>
                </a:solidFill>
                <a:latin typeface="Segoe UI"/>
              </a:defRPr>
            </a:pPr>
            <a:r>
              <a:t>• 1. Default Divider: Kiểm tra thanh ghi Prescaler tại offset 0x00 nạp đúng giá trị mặc định TEST_DIV = 16 -&gt; PASS.</a:t>
            </a:r>
          </a:p>
          <a:p>
            <a:pPr>
              <a:lnSpc>
                <a:spcPct val="115000"/>
              </a:lnSpc>
              <a:spcAft>
                <a:spcPts val="500"/>
              </a:spcAft>
              <a:defRPr sz="930">
                <a:solidFill>
                  <a:srgbClr val="0F172A"/>
                </a:solidFill>
                <a:latin typeface="Segoe UI"/>
              </a:defRPr>
            </a:pPr>
            <a:r>
              <a:t>• 2. Divider Reconfig: Ghi giá trị chia tần mới và đọc lại qua bus MMIO, xác nhận mạch thanh ghi hoạt động chuẩn xác -&gt; PASS.</a:t>
            </a:r>
          </a:p>
          <a:p>
            <a:pPr>
              <a:lnSpc>
                <a:spcPct val="115000"/>
              </a:lnSpc>
              <a:spcAft>
                <a:spcPts val="500"/>
              </a:spcAft>
              <a:defRPr sz="930">
                <a:solidFill>
                  <a:srgbClr val="0F172A"/>
                </a:solidFill>
                <a:latin typeface="Segoe UI"/>
              </a:defRPr>
            </a:pPr>
            <a:r>
              <a:t>• 3. Serial TX Frame: Ghi ký tự 0x4B ('K' / 75) vào wdata, kiểm tra dạng sóng nối tiếp tx_o đúng chuẩn 8-N-1 -&gt; PASS.</a:t>
            </a:r>
          </a:p>
          <a:p>
            <a:pPr>
              <a:lnSpc>
                <a:spcPct val="115000"/>
              </a:lnSpc>
              <a:spcAft>
                <a:spcPts val="500"/>
              </a:spcAft>
              <a:defRPr sz="930">
                <a:solidFill>
                  <a:srgbClr val="0F172A"/>
                </a:solidFill>
                <a:latin typeface="Segoe UI"/>
              </a:defRPr>
            </a:pPr>
            <a:r>
              <a:t>• 4. Serial RX &amp; FIFO: Bơm chuỗi bit vào rx_i, cờ rx_activity_o tích cực, dữ liệu nạp sạch vào FIFO và đọc ra read_val = 75 -&gt; PASS.</a:t>
            </a:r>
          </a:p>
          <a:p>
            <a:pPr>
              <a:lnSpc>
                <a:spcPct val="115000"/>
              </a:lnSpc>
              <a:spcAft>
                <a:spcPts val="500"/>
              </a:spcAft>
              <a:defRPr sz="930">
                <a:solidFill>
                  <a:srgbClr val="0F172A"/>
                </a:solidFill>
                <a:latin typeface="Segoe UI"/>
              </a:defRPr>
            </a:pPr>
            <a:r>
              <a:t>• 5. Multi-Byte Burst: Bắn chuỗi byte kiểm tra cơ chế chống tràn của hàng đợi FIFO, đọc cạn trả về 0xFFFFFFFF (4294967295) -&gt; PASS.</a:t>
            </a:r>
          </a:p>
        </p:txBody>
      </p:sp>
      <p:sp>
        <p:nvSpPr>
          <p:cNvPr id="15" name="Rounded Rectangle 14"/>
          <p:cNvSpPr/>
          <p:nvPr/>
        </p:nvSpPr>
        <p:spPr>
          <a:xfrm>
            <a:off x="6400800" y="5468112"/>
            <a:ext cx="4873752" cy="658368"/>
          </a:xfrm>
          <a:prstGeom prst="roundRect">
            <a:avLst>
              <a:gd name="adj" fmla="val 2000"/>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522976"/>
            <a:ext cx="4690872" cy="548640"/>
          </a:xfrm>
          <a:prstGeom prst="rect">
            <a:avLst/>
          </a:prstGeom>
          <a:noFill/>
        </p:spPr>
        <p:txBody>
          <a:bodyPr wrap="square" lIns="0" tIns="0" rIns="0" bIns="0">
            <a:spAutoFit/>
          </a:bodyPr>
          <a:lstStyle/>
          <a:p>
            <a:pPr>
              <a:spcAft>
                <a:spcPts val="100"/>
              </a:spcAft>
              <a:defRPr sz="819" b="1">
                <a:solidFill>
                  <a:srgbClr val="10B981"/>
                </a:solidFill>
                <a:latin typeface="Segoe UI"/>
              </a:defRPr>
            </a:pPr>
            <a:r>
              <a:t>XÁC NHẬN KẾT QUẢ MÔ PHỎNG VIVADO XSIM:</a:t>
            </a:r>
          </a:p>
          <a:p>
            <a:pPr>
              <a:defRPr sz="880" b="1">
                <a:solidFill>
                  <a:srgbClr val="065F46"/>
                </a:solidFill>
                <a:latin typeface="Segoe UI"/>
              </a:defRPr>
            </a:pPr>
            <a:r>
              <a:t>100% PASS (5/5 TEST SCENARIOS) | RUNTIME: 15,275 ns | SỐ LỖI: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4: HỆ THỐNG TESTBENCH &amp; MÔ PHỎNG</a:t>
            </a:r>
          </a:p>
          <a:p>
            <a:pPr>
              <a:defRPr sz="1700" b="1">
                <a:solidFill>
                  <a:srgbClr val="0F172A"/>
                </a:solidFill>
                <a:latin typeface="Segoe UI"/>
              </a:defRPr>
            </a:pPr>
            <a:r>
              <a:t>Testbench 2: Kiểm Thử Tích Hợp Toàn Diện Top SoC Boot Flash &amp; Ping (tb_uart_ping.v)</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21 / 26</a:t>
            </a:r>
          </a:p>
        </p:txBody>
      </p:sp>
      <p:sp>
        <p:nvSpPr>
          <p:cNvPr id="8" name="Rounded Rectangle 7"/>
          <p:cNvSpPr/>
          <p:nvPr/>
        </p:nvSpPr>
        <p:spPr>
          <a:xfrm>
            <a:off x="731520" y="1234440"/>
            <a:ext cx="534924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07592"/>
            <a:ext cx="5074920" cy="292608"/>
          </a:xfrm>
          <a:prstGeom prst="rect">
            <a:avLst/>
          </a:prstGeom>
          <a:noFill/>
        </p:spPr>
        <p:txBody>
          <a:bodyPr wrap="none" lIns="0" tIns="0" rIns="0" bIns="0">
            <a:spAutoFit/>
          </a:bodyPr>
          <a:lstStyle/>
          <a:p>
            <a:pPr>
              <a:defRPr sz="950" b="1">
                <a:solidFill>
                  <a:srgbClr val="34D399"/>
                </a:solidFill>
                <a:latin typeface="Consolas"/>
              </a:defRPr>
            </a:pPr>
            <a:r>
              <a:t>&gt;_  tb/tb_uart_ping.v [Testbench Code &amp; Sim Log]</a:t>
            </a:r>
          </a:p>
        </p:txBody>
      </p:sp>
      <p:sp>
        <p:nvSpPr>
          <p:cNvPr id="10" name="TextBox 9"/>
          <p:cNvSpPr txBox="1"/>
          <p:nvPr/>
        </p:nvSpPr>
        <p:spPr>
          <a:xfrm>
            <a:off x="868680" y="1600200"/>
            <a:ext cx="5074920" cy="4315968"/>
          </a:xfrm>
          <a:prstGeom prst="rect">
            <a:avLst/>
          </a:prstGeom>
          <a:noFill/>
        </p:spPr>
        <p:txBody>
          <a:bodyPr wrap="square" lIns="0" tIns="0" rIns="0" bIns="0">
            <a:spAutoFit/>
          </a:bodyPr>
          <a:lstStyle/>
          <a:p>
            <a:pPr>
              <a:lnSpc>
                <a:spcPct val="110000"/>
              </a:lnSpc>
              <a:spcAft>
                <a:spcPts val="0"/>
              </a:spcAft>
              <a:defRPr sz="720">
                <a:solidFill>
                  <a:srgbClr val="94A3B8"/>
                </a:solidFill>
                <a:latin typeface="Consolas"/>
              </a:defRPr>
            </a:pPr>
            <a:r>
              <a:t>// tb/tb_uart_ping.v - Kịch bản kiểm thử tích hợp Top SoC</a:t>
            </a:r>
          </a:p>
          <a:p>
            <a:pPr>
              <a:lnSpc>
                <a:spcPct val="110000"/>
              </a:lnSpc>
              <a:spcAft>
                <a:spcPts val="0"/>
              </a:spcAft>
              <a:defRPr sz="720">
                <a:solidFill>
                  <a:srgbClr val="FFFFFF"/>
                </a:solidFill>
                <a:latin typeface="Consolas"/>
              </a:defRPr>
            </a:pPr>
            <a:r>
              <a:t>initial begin</a:t>
            </a:r>
          </a:p>
          <a:p>
            <a:pPr>
              <a:lnSpc>
                <a:spcPct val="110000"/>
              </a:lnSpc>
              <a:spcAft>
                <a:spcPts val="0"/>
              </a:spcAft>
              <a:defRPr sz="720">
                <a:solidFill>
                  <a:srgbClr val="FFFFFF"/>
                </a:solidFill>
                <a:latin typeface="Consolas"/>
              </a:defRPr>
            </a:pPr>
            <a:r>
              <a:t>    clk = 0; rst_n = 0; rdm6300_rx_i = 1; uart_rx_i = 1;</a:t>
            </a:r>
          </a:p>
          <a:p>
            <a:pPr>
              <a:lnSpc>
                <a:spcPct val="110000"/>
              </a:lnSpc>
              <a:spcAft>
                <a:spcPts val="0"/>
              </a:spcAft>
              <a:defRPr sz="720">
                <a:solidFill>
                  <a:srgbClr val="94A3B8"/>
                </a:solidFill>
                <a:latin typeface="Consolas"/>
              </a:defRPr>
            </a:pPr>
            <a:r>
              <a:t>    #200; rst_n = 1; // Release Reset -&gt; Boot Flash 0x250000</a:t>
            </a:r>
          </a:p>
          <a:p>
            <a:pPr>
              <a:lnSpc>
                <a:spcPct val="110000"/>
              </a:lnSpc>
              <a:spcAft>
                <a:spcPts val="0"/>
              </a:spcAft>
              <a:defRPr sz="720">
                <a:solidFill>
                  <a:srgbClr val="FFFFFF"/>
                </a:solidFill>
                <a:latin typeface="Consolas"/>
              </a:defRPr>
            </a:pPr>
            <a:r>
              <a:t>    wait(ready_matched == 1'b1); // Đợi CPU phát xong Banner C</a:t>
            </a:r>
          </a:p>
          <a:p>
            <a:pPr>
              <a:lnSpc>
                <a:spcPct val="110000"/>
              </a:lnSpc>
              <a:spcAft>
                <a:spcPts val="0"/>
              </a:spcAft>
              <a:defRPr sz="720">
                <a:solidFill>
                  <a:srgbClr val="94A3B8"/>
                </a:solidFill>
                <a:latin typeface="Consolas"/>
              </a:defRPr>
            </a:pPr>
            <a:r>
              <a:t>    #100000; send_pc_byte("P");  // PC Host gửi lệnh Ping</a:t>
            </a:r>
          </a:p>
          <a:p>
            <a:pPr>
              <a:lnSpc>
                <a:spcPct val="110000"/>
              </a:lnSpc>
              <a:spcAft>
                <a:spcPts val="0"/>
              </a:spcAft>
              <a:defRPr sz="720">
                <a:solidFill>
                  <a:srgbClr val="FFFFFF"/>
                </a:solidFill>
                <a:latin typeface="Consolas"/>
              </a:defRPr>
            </a:pPr>
            <a:r>
              <a:t>    send_pc_byte(8'h0A);         // Gửi ký tự '\n'</a:t>
            </a:r>
          </a:p>
          <a:p>
            <a:pPr>
              <a:lnSpc>
                <a:spcPct val="110000"/>
              </a:lnSpc>
              <a:spcAft>
                <a:spcPts val="0"/>
              </a:spcAft>
              <a:defRPr sz="720">
                <a:solidFill>
                  <a:srgbClr val="FFFFFF"/>
                </a:solidFill>
                <a:latin typeface="Consolas"/>
              </a:defRPr>
            </a:pPr>
            <a:r>
              <a:t>    wait(pong_matched == 1'b1);  // Đợi CPU phản hồi chuỗi PONG</a:t>
            </a:r>
          </a:p>
          <a:p>
            <a:pPr>
              <a:lnSpc>
                <a:spcPct val="110000"/>
              </a:lnSpc>
              <a:spcAft>
                <a:spcPts val="0"/>
              </a:spcAft>
              <a:defRPr sz="720">
                <a:solidFill>
                  <a:srgbClr val="93C5FD"/>
                </a:solidFill>
                <a:latin typeface="Consolas"/>
              </a:defRPr>
            </a:pPr>
            <a:r>
              <a:t>    if (pong_matched &amp;&amp; !cpu_trap)</a:t>
            </a:r>
          </a:p>
          <a:p>
            <a:pPr>
              <a:lnSpc>
                <a:spcPct val="110000"/>
              </a:lnSpc>
              <a:spcAft>
                <a:spcPts val="0"/>
              </a:spcAft>
              <a:defRPr sz="720" b="1">
                <a:solidFill>
                  <a:srgbClr val="10B981"/>
                </a:solidFill>
                <a:latin typeface="Consolas"/>
              </a:defRPr>
            </a:pPr>
            <a:r>
              <a:t>        $display("  [SUCCESS] PING-PONG TEST PASSED!");</a:t>
            </a:r>
          </a:p>
          <a:p>
            <a:pPr>
              <a:lnSpc>
                <a:spcPct val="110000"/>
              </a:lnSpc>
              <a:spcAft>
                <a:spcPts val="0"/>
              </a:spcAft>
              <a:defRPr sz="720">
                <a:solidFill>
                  <a:srgbClr val="FFFFFF"/>
                </a:solidFill>
                <a:latin typeface="Consolas"/>
              </a:defRPr>
            </a:pPr>
            <a:r>
              <a:t>end</a:t>
            </a:r>
          </a:p>
          <a:p>
            <a:pPr>
              <a:lnSpc>
                <a:spcPct val="110000"/>
              </a:lnSpc>
              <a:spcAft>
                <a:spcPts val="0"/>
              </a:spcAft>
              <a:defRPr sz="720">
                <a:solidFill>
                  <a:srgbClr val="FFFFFF"/>
                </a:solidFill>
                <a:latin typeface="Consolas"/>
              </a:defRPr>
            </a:pPr>
          </a:p>
          <a:p>
            <a:pPr>
              <a:lnSpc>
                <a:spcPct val="110000"/>
              </a:lnSpc>
              <a:spcAft>
                <a:spcPts val="0"/>
              </a:spcAft>
              <a:defRPr sz="720">
                <a:solidFill>
                  <a:srgbClr val="94A3B8"/>
                </a:solidFill>
                <a:latin typeface="Consolas"/>
              </a:defRPr>
            </a:pPr>
            <a:r>
              <a:t>// === VIVADO SIMULATOR (XSIM) EXECUTION OUTPUT LOG ===</a:t>
            </a:r>
          </a:p>
          <a:p>
            <a:pPr>
              <a:lnSpc>
                <a:spcPct val="110000"/>
              </a:lnSpc>
              <a:spcAft>
                <a:spcPts val="0"/>
              </a:spcAft>
              <a:defRPr sz="720" b="1">
                <a:solidFill>
                  <a:srgbClr val="0EA5E9"/>
                </a:solidFill>
                <a:latin typeface="Consolas"/>
              </a:defRPr>
            </a:pPr>
            <a:r>
              <a:t>[FLASH MODEL] Loaded 2048 words (8192 bytes) from firmware.hex</a:t>
            </a:r>
          </a:p>
          <a:p>
            <a:pPr>
              <a:lnSpc>
                <a:spcPct val="110000"/>
              </a:lnSpc>
              <a:spcAft>
                <a:spcPts val="0"/>
              </a:spcAft>
              <a:defRPr sz="720" b="1">
                <a:solidFill>
                  <a:srgbClr val="0EA5E9"/>
                </a:solidFill>
                <a:latin typeface="Consolas"/>
              </a:defRPr>
            </a:pPr>
            <a:r>
              <a:t>[TB] System Reset released. PicoRV32 booting from 0x250000...</a:t>
            </a:r>
          </a:p>
          <a:p>
            <a:pPr>
              <a:lnSpc>
                <a:spcPct val="110000"/>
              </a:lnSpc>
              <a:spcAft>
                <a:spcPts val="0"/>
              </a:spcAft>
              <a:defRPr sz="720" b="1">
                <a:solidFill>
                  <a:srgbClr val="0EA5E9"/>
                </a:solidFill>
                <a:latin typeface="Consolas"/>
              </a:defRPr>
            </a:pPr>
            <a:r>
              <a:t>[UART TX] ================================================</a:t>
            </a:r>
          </a:p>
          <a:p>
            <a:pPr>
              <a:lnSpc>
                <a:spcPct val="110000"/>
              </a:lnSpc>
              <a:spcAft>
                <a:spcPts val="0"/>
              </a:spcAft>
              <a:defRPr sz="720" b="1">
                <a:solidFill>
                  <a:srgbClr val="0EA5E9"/>
                </a:solidFill>
                <a:latin typeface="Consolas"/>
              </a:defRPr>
            </a:pPr>
            <a:r>
              <a:t>[UART TX]   RDM6300 PICORV32 SOC ACCESS CONTROLLER READY  </a:t>
            </a:r>
          </a:p>
          <a:p>
            <a:pPr>
              <a:lnSpc>
                <a:spcPct val="110000"/>
              </a:lnSpc>
              <a:spcAft>
                <a:spcPts val="0"/>
              </a:spcAft>
              <a:defRPr sz="720" b="1">
                <a:solidFill>
                  <a:srgbClr val="0EA5E9"/>
                </a:solidFill>
                <a:latin typeface="Consolas"/>
              </a:defRPr>
            </a:pPr>
            <a:r>
              <a:t>[UART TX] ================================================</a:t>
            </a:r>
          </a:p>
          <a:p>
            <a:pPr>
              <a:lnSpc>
                <a:spcPct val="110000"/>
              </a:lnSpc>
              <a:spcAft>
                <a:spcPts val="0"/>
              </a:spcAft>
              <a:defRPr sz="720" b="1">
                <a:solidFill>
                  <a:srgbClr val="0EA5E9"/>
                </a:solidFill>
                <a:latin typeface="Consolas"/>
              </a:defRPr>
            </a:pPr>
            <a:r>
              <a:t>[TB] Boot banner detected! Sending 'P' (Ping) command...</a:t>
            </a:r>
          </a:p>
          <a:p>
            <a:pPr>
              <a:lnSpc>
                <a:spcPct val="110000"/>
              </a:lnSpc>
              <a:spcAft>
                <a:spcPts val="0"/>
              </a:spcAft>
              <a:defRPr sz="720" b="1">
                <a:solidFill>
                  <a:srgbClr val="0EA5E9"/>
                </a:solidFill>
                <a:latin typeface="Consolas"/>
              </a:defRPr>
            </a:pPr>
            <a:r>
              <a:t>[HOST -&gt; SOC] Sent Byte: 'P' (0x50), '\n' (0x0A)</a:t>
            </a:r>
          </a:p>
          <a:p>
            <a:pPr>
              <a:lnSpc>
                <a:spcPct val="110000"/>
              </a:lnSpc>
              <a:spcAft>
                <a:spcPts val="0"/>
              </a:spcAft>
              <a:defRPr sz="720" b="1">
                <a:solidFill>
                  <a:srgbClr val="0EA5E9"/>
                </a:solidFill>
                <a:latin typeface="Consolas"/>
              </a:defRPr>
            </a:pPr>
            <a:r>
              <a:t>[UART TX] PONG: PicoRV32 Active</a:t>
            </a:r>
          </a:p>
          <a:p>
            <a:pPr>
              <a:lnSpc>
                <a:spcPct val="110000"/>
              </a:lnSpc>
              <a:spcAft>
                <a:spcPts val="0"/>
              </a:spcAft>
              <a:defRPr sz="720" b="1">
                <a:solidFill>
                  <a:srgbClr val="10B981"/>
                </a:solidFill>
                <a:latin typeface="Consolas"/>
              </a:defRPr>
            </a:pPr>
            <a:r>
              <a:t>[SUCCESS] PING-PONG TEST PASSED! PicoRV32 responded with PONG.</a:t>
            </a:r>
          </a:p>
          <a:p>
            <a:pPr>
              <a:lnSpc>
                <a:spcPct val="110000"/>
              </a:lnSpc>
              <a:spcAft>
                <a:spcPts val="0"/>
              </a:spcAft>
              <a:defRPr sz="720">
                <a:solidFill>
                  <a:srgbClr val="FFFFFF"/>
                </a:solidFill>
                <a:latin typeface="Consolas"/>
              </a:defRPr>
            </a:pPr>
            <a:r>
              <a:t>cpu_trap = 0 (CPU healthy and executing normally)</a:t>
            </a:r>
          </a:p>
        </p:txBody>
      </p:sp>
      <p:sp>
        <p:nvSpPr>
          <p:cNvPr id="11" name="TextBox 10"/>
          <p:cNvSpPr txBox="1"/>
          <p:nvPr/>
        </p:nvSpPr>
        <p:spPr>
          <a:xfrm>
            <a:off x="868680" y="5879592"/>
            <a:ext cx="5074920" cy="274320"/>
          </a:xfrm>
          <a:prstGeom prst="rect">
            <a:avLst/>
          </a:prstGeom>
          <a:noFill/>
        </p:spPr>
        <p:txBody>
          <a:bodyPr wrap="none" lIns="0" tIns="0" rIns="0" bIns="0">
            <a:spAutoFit/>
          </a:bodyPr>
          <a:lstStyle/>
          <a:p>
            <a:pPr>
              <a:defRPr sz="819" b="1">
                <a:solidFill>
                  <a:srgbClr val="10B981"/>
                </a:solidFill>
                <a:latin typeface="Segoe UI"/>
              </a:defRPr>
            </a:pPr>
            <a:r>
              <a:t>=== BOOT FLASH XIP + UART PING-PONG: 100% PASS | RUNTIME: 2,086.555 µs ===</a:t>
            </a:r>
          </a:p>
        </p:txBody>
      </p:sp>
      <p:sp>
        <p:nvSpPr>
          <p:cNvPr id="12" name="Rounded Rectangle 11"/>
          <p:cNvSpPr/>
          <p:nvPr/>
        </p:nvSpPr>
        <p:spPr>
          <a:xfrm>
            <a:off x="6217920" y="1234440"/>
            <a:ext cx="5239512" cy="5029200"/>
          </a:xfrm>
          <a:prstGeom prst="roundRect">
            <a:avLst>
              <a:gd name="adj" fmla="val 2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53312"/>
            <a:ext cx="4873752" cy="3977639"/>
          </a:xfrm>
          <a:prstGeom prst="rect">
            <a:avLst/>
          </a:prstGeom>
          <a:noFill/>
        </p:spPr>
        <p:txBody>
          <a:bodyPr wrap="square" lIns="0" tIns="0" rIns="0" bIns="0">
            <a:spAutoFit/>
          </a:bodyPr>
          <a:lstStyle/>
          <a:p>
            <a:pPr>
              <a:spcAft>
                <a:spcPts val="800"/>
              </a:spcAft>
              <a:defRPr sz="1200" b="1">
                <a:solidFill>
                  <a:srgbClr val="10B981"/>
                </a:solidFill>
                <a:latin typeface="Segoe UI"/>
              </a:defRPr>
            </a:pPr>
            <a:r>
              <a:t>5 KỊCH BẢN KIỂM THỬ TÍCH HỢP TOP SOC (100% PASS)</a:t>
            </a:r>
          </a:p>
          <a:p>
            <a:pPr>
              <a:lnSpc>
                <a:spcPct val="115000"/>
              </a:lnSpc>
              <a:spcAft>
                <a:spcPts val="500"/>
              </a:spcAft>
              <a:defRPr sz="930">
                <a:solidFill>
                  <a:srgbClr val="0F172A"/>
                </a:solidFill>
                <a:latin typeface="Segoe UI"/>
              </a:defRPr>
            </a:pPr>
            <a:r>
              <a:t>• Mục tiêu: Xác minh hệ thống Top-level hoàn chỉnh gồm CPU PicoRV32, spimemio, 1KB SRAM, Interconnect và UART.</a:t>
            </a:r>
          </a:p>
          <a:p>
            <a:pPr>
              <a:lnSpc>
                <a:spcPct val="115000"/>
              </a:lnSpc>
              <a:spcAft>
                <a:spcPts val="500"/>
              </a:spcAft>
              <a:defRPr sz="930">
                <a:solidFill>
                  <a:srgbClr val="0F172A"/>
                </a:solidFill>
                <a:latin typeface="Segoe UI"/>
              </a:defRPr>
            </a:pPr>
            <a:r>
              <a:t>• 1. Power-On Reset &amp; Boot Flash: PicoRV32 thức dậy tại 0x0025_0000, spimemio kéo từng từ lệnh mã C từ firmware.hex qua XIP.</a:t>
            </a:r>
          </a:p>
          <a:p>
            <a:pPr>
              <a:lnSpc>
                <a:spcPct val="115000"/>
              </a:lnSpc>
              <a:spcAft>
                <a:spcPts val="500"/>
              </a:spcAft>
              <a:defRPr sz="930">
                <a:solidFill>
                  <a:srgbClr val="0F172A"/>
                </a:solidFill>
                <a:latin typeface="Segoe UI"/>
              </a:defRPr>
            </a:pPr>
            <a:r>
              <a:t>• 2. C Startup Banner Output: CPU thực thi mã C main.c, khởi tạo ngoại vi và in chuỗi chào mừng ra UART (ready_matched = 1).</a:t>
            </a:r>
          </a:p>
          <a:p>
            <a:pPr>
              <a:lnSpc>
                <a:spcPct val="115000"/>
              </a:lnSpc>
              <a:spcAft>
                <a:spcPts val="500"/>
              </a:spcAft>
              <a:defRPr sz="930">
                <a:solidFill>
                  <a:srgbClr val="0F172A"/>
                </a:solidFill>
                <a:latin typeface="Segoe UI"/>
              </a:defRPr>
            </a:pPr>
            <a:r>
              <a:t>• 3. Host Ping Processing: Testbench đóng vai trò PC Host gửi byte lệnh 'P' (0x50) và '\n' (0x0A) qua chân uart_rx.</a:t>
            </a:r>
          </a:p>
          <a:p>
            <a:pPr>
              <a:lnSpc>
                <a:spcPct val="115000"/>
              </a:lnSpc>
              <a:spcAft>
                <a:spcPts val="500"/>
              </a:spcAft>
              <a:defRPr sz="930">
                <a:solidFill>
                  <a:srgbClr val="0F172A"/>
                </a:solidFill>
                <a:latin typeface="Segoe UI"/>
              </a:defRPr>
            </a:pPr>
            <a:r>
              <a:t>• 4. Response Verification: CPU nhận dạng lệnh, phản hồi tức thì chuỗi 'PONG: PicoRV32 Active' (pong_matched = 1).</a:t>
            </a:r>
          </a:p>
          <a:p>
            <a:pPr>
              <a:lnSpc>
                <a:spcPct val="115000"/>
              </a:lnSpc>
              <a:spcAft>
                <a:spcPts val="500"/>
              </a:spcAft>
              <a:defRPr sz="930">
                <a:solidFill>
                  <a:srgbClr val="0F172A"/>
                </a:solidFill>
                <a:latin typeface="Segoe UI"/>
              </a:defRPr>
            </a:pPr>
            <a:r>
              <a:t>• 5. CPU Health &amp; Zero-Trap: Khẳng định tín hiệu trap == 0 xuyên suốt 2,086,555 ns, CPU không bị illegal instruction hay tràn RAM.</a:t>
            </a:r>
          </a:p>
        </p:txBody>
      </p:sp>
      <p:sp>
        <p:nvSpPr>
          <p:cNvPr id="14" name="Rounded Rectangle 13"/>
          <p:cNvSpPr/>
          <p:nvPr/>
        </p:nvSpPr>
        <p:spPr>
          <a:xfrm>
            <a:off x="6400800" y="5468112"/>
            <a:ext cx="4873752" cy="658368"/>
          </a:xfrm>
          <a:prstGeom prst="roundRect">
            <a:avLst>
              <a:gd name="adj" fmla="val 2000"/>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522976"/>
            <a:ext cx="4690872" cy="548640"/>
          </a:xfrm>
          <a:prstGeom prst="rect">
            <a:avLst/>
          </a:prstGeom>
          <a:noFill/>
        </p:spPr>
        <p:txBody>
          <a:bodyPr wrap="square" lIns="0" tIns="0" rIns="0" bIns="0">
            <a:spAutoFit/>
          </a:bodyPr>
          <a:lstStyle/>
          <a:p>
            <a:pPr>
              <a:spcAft>
                <a:spcPts val="100"/>
              </a:spcAft>
              <a:defRPr sz="819" b="1">
                <a:solidFill>
                  <a:srgbClr val="10B981"/>
                </a:solidFill>
                <a:latin typeface="Segoe UI"/>
              </a:defRPr>
            </a:pPr>
            <a:r>
              <a:t>XÁC NHẬN KẾT QUẢ MÔ PHỎNG VIVADO XSIM:</a:t>
            </a:r>
          </a:p>
          <a:p>
            <a:pPr>
              <a:defRPr sz="880" b="1">
                <a:solidFill>
                  <a:srgbClr val="065F46"/>
                </a:solidFill>
                <a:latin typeface="Segoe UI"/>
              </a:defRPr>
            </a:pPr>
            <a:r>
              <a:t>100% PASS (BOOT XIP + PING-PONG) | RUNTIME: 2,086.555 µs | TRAP: 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5: DEMO CHỨC NĂNG SẢN PHẨM</a:t>
            </a:r>
          </a:p>
          <a:p>
            <a:pPr>
              <a:defRPr sz="1700" b="1">
                <a:solidFill>
                  <a:srgbClr val="0F172A"/>
                </a:solidFill>
                <a:latin typeface="Segoe UI"/>
              </a:defRPr>
            </a:pPr>
            <a:r>
              <a:t>Danh Sách Thiết Bị &amp; Thiết Lập Kết Nối Phần Cứng FPGA Basys 3</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22 / 26</a:t>
            </a:r>
          </a:p>
        </p:txBody>
      </p:sp>
      <p:sp>
        <p:nvSpPr>
          <p:cNvPr id="8" name="Rounded Rectangle 7"/>
          <p:cNvSpPr/>
          <p:nvPr/>
        </p:nvSpPr>
        <p:spPr>
          <a:xfrm>
            <a:off x="731520" y="1234440"/>
            <a:ext cx="5257800"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4983480" cy="274320"/>
          </a:xfrm>
          <a:prstGeom prst="rect">
            <a:avLst/>
          </a:prstGeom>
          <a:noFill/>
        </p:spPr>
        <p:txBody>
          <a:bodyPr wrap="none" lIns="0" tIns="0" rIns="0" bIns="0">
            <a:spAutoFit/>
          </a:bodyPr>
          <a:lstStyle/>
          <a:p>
            <a:pPr algn="ctr">
              <a:defRPr sz="1100" b="1">
                <a:solidFill>
                  <a:srgbClr val="2563EB"/>
                </a:solidFill>
                <a:latin typeface="Segoe UI"/>
              </a:defRPr>
            </a:pPr>
            <a:r>
              <a:t>HỆ THỐNG THỰC NGHIỆM THỰC TẾ (DEVICE SETUP)</a:t>
            </a:r>
          </a:p>
        </p:txBody>
      </p:sp>
      <p:pic>
        <p:nvPicPr>
          <p:cNvPr id="10" name="Picture 9" descr="Device.jpg"/>
          <p:cNvPicPr>
            <a:picLocks noChangeAspect="1"/>
          </p:cNvPicPr>
          <p:nvPr/>
        </p:nvPicPr>
        <p:blipFill>
          <a:blip r:embed="rId2"/>
          <a:stretch>
            <a:fillRect/>
          </a:stretch>
        </p:blipFill>
        <p:spPr>
          <a:xfrm>
            <a:off x="960120" y="1682496"/>
            <a:ext cx="4800600" cy="3593592"/>
          </a:xfrm>
          <a:prstGeom prst="rect">
            <a:avLst/>
          </a:prstGeom>
        </p:spPr>
      </p:pic>
      <p:sp>
        <p:nvSpPr>
          <p:cNvPr id="11" name="Rounded Rectangle 10"/>
          <p:cNvSpPr/>
          <p:nvPr/>
        </p:nvSpPr>
        <p:spPr>
          <a:xfrm>
            <a:off x="960120" y="5376672"/>
            <a:ext cx="4800600" cy="749808"/>
          </a:xfrm>
          <a:prstGeom prst="roundRect">
            <a:avLst>
              <a:gd name="adj" fmla="val 2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5413248"/>
            <a:ext cx="4572000" cy="658368"/>
          </a:xfrm>
          <a:prstGeom prst="rect">
            <a:avLst/>
          </a:prstGeom>
          <a:noFill/>
        </p:spPr>
        <p:txBody>
          <a:bodyPr wrap="square" lIns="0" tIns="0" rIns="0" bIns="0">
            <a:spAutoFit/>
          </a:bodyPr>
          <a:lstStyle/>
          <a:p>
            <a:pPr>
              <a:spcAft>
                <a:spcPts val="200"/>
              </a:spcAft>
              <a:defRPr sz="819" b="1">
                <a:solidFill>
                  <a:srgbClr val="2563EB"/>
                </a:solidFill>
                <a:latin typeface="Segoe UI"/>
              </a:defRPr>
            </a:pPr>
            <a:r>
              <a:t>ĐIỂM NỔI BẬT TRONG THIẾT KẾ PHẦN CỨNG THỰC TẾ:</a:t>
            </a:r>
          </a:p>
          <a:p>
            <a:pPr>
              <a:lnSpc>
                <a:spcPct val="115000"/>
              </a:lnSpc>
              <a:defRPr sz="780">
                <a:solidFill>
                  <a:srgbClr val="0F172A"/>
                </a:solidFill>
                <a:latin typeface="Segoe UI"/>
              </a:defRPr>
            </a:pPr>
            <a:r>
              <a:t>• Mạch nguồn MB102 cấp riêng 5V DC cho RDM6300 (PMOD chỉ có 3.3V, chung mass GND).</a:t>
            </a:r>
            <a:br/>
            <a:r>
              <a:t>• Điện trở đệm 1kΩ mắc nối tiếp chân TX RDM6300 sang JA1 Basys 3 bảo vệ I/O 3.3V FPGA.</a:t>
            </a:r>
          </a:p>
        </p:txBody>
      </p:sp>
      <p:sp>
        <p:nvSpPr>
          <p:cNvPr id="13" name="Rounded Rectangle 12"/>
          <p:cNvSpPr/>
          <p:nvPr/>
        </p:nvSpPr>
        <p:spPr>
          <a:xfrm>
            <a:off x="6172200" y="123444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371600"/>
            <a:ext cx="4800600" cy="4754880"/>
          </a:xfrm>
          <a:prstGeom prst="rect">
            <a:avLst/>
          </a:prstGeom>
          <a:noFill/>
        </p:spPr>
        <p:txBody>
          <a:bodyPr wrap="square" lIns="0" tIns="0" rIns="0" bIns="0">
            <a:spAutoFit/>
          </a:bodyPr>
          <a:lstStyle/>
          <a:p>
            <a:pPr>
              <a:spcAft>
                <a:spcPts val="400"/>
              </a:spcAft>
              <a:defRPr b="1" sz="1150">
                <a:solidFill>
                  <a:srgbClr val="2563EB"/>
                </a:solidFill>
                <a:latin typeface="Segoe UI"/>
              </a:defRPr>
            </a:pPr>
            <a:r>
              <a:t>DANH SÁCH THIẾT BỊ &amp; NGUYÊN LÝ PHỐI HỢP MỨC ĐIỆN ÁP</a:t>
            </a:r>
          </a:p>
          <a:p>
            <a:pPr>
              <a:spcBef>
                <a:spcPts val="300"/>
              </a:spcBef>
              <a:spcAft>
                <a:spcPts val="100"/>
              </a:spcAft>
              <a:defRPr sz="880" b="1">
                <a:solidFill>
                  <a:srgbClr val="1C2541"/>
                </a:solidFill>
                <a:latin typeface="Segoe UI"/>
              </a:defRPr>
            </a:pPr>
            <a:r>
              <a:t>1. DANH SÁCH THIẾT BỊ THỰC NGHIỆM (BOM)</a:t>
            </a:r>
          </a:p>
          <a:p>
            <a:pPr>
              <a:lnSpc>
                <a:spcPct val="110000"/>
              </a:lnSpc>
              <a:spcAft>
                <a:spcPts val="150"/>
              </a:spcAft>
              <a:defRPr sz="780">
                <a:solidFill>
                  <a:srgbClr val="0F172A"/>
                </a:solidFill>
                <a:latin typeface="Segoe UI"/>
              </a:defRPr>
            </a:pPr>
            <a:r>
              <a:t>• Bo mạch FPGA Digilent Basys 3: Xilinx Artix-7 XC7A35T, 32Mbit SPI Flash S25FL032P, mạch nạp &amp; UART FTDI qua cổng Micro-USB.</a:t>
            </a:r>
          </a:p>
          <a:p>
            <a:pPr>
              <a:lnSpc>
                <a:spcPct val="110000"/>
              </a:lnSpc>
              <a:spcAft>
                <a:spcPts val="150"/>
              </a:spcAft>
              <a:defRPr sz="780">
                <a:solidFill>
                  <a:srgbClr val="0F172A"/>
                </a:solidFill>
                <a:latin typeface="Segoe UI"/>
              </a:defRPr>
            </a:pPr>
            <a:r>
              <a:t>• Module RFID RDM6300 (125 kHz): Giải mã thẻ EM4100, kèm cuộn cảm ăng-ten rời phát sóng điện từ 125 kHz.</a:t>
            </a:r>
          </a:p>
          <a:p>
            <a:pPr>
              <a:lnSpc>
                <a:spcPct val="110000"/>
              </a:lnSpc>
              <a:spcAft>
                <a:spcPts val="150"/>
              </a:spcAft>
              <a:defRPr sz="780">
                <a:solidFill>
                  <a:srgbClr val="0F172A"/>
                </a:solidFill>
                <a:latin typeface="Segoe UI"/>
              </a:defRPr>
            </a:pPr>
            <a:r>
              <a:t>• Mạch nguồn 5V DC độc lập: Module nguồn Breadboard MB102 + Adapter DC ngoài cung cấp nguồn 5V ổn định cho RDM6300.</a:t>
            </a:r>
          </a:p>
          <a:p>
            <a:pPr>
              <a:lnSpc>
                <a:spcPct val="110000"/>
              </a:lnSpc>
              <a:spcAft>
                <a:spcPts val="150"/>
              </a:spcAft>
              <a:defRPr sz="780">
                <a:solidFill>
                  <a:srgbClr val="0F172A"/>
                </a:solidFill>
                <a:latin typeface="Segoe UI"/>
              </a:defRPr>
            </a:pPr>
            <a:r>
              <a:t>• Điện trở bảo vệ 1kΩ &amp; Phụ kiện: Điện trở 1kΩ hạn dòng, Breadboard mini, tập dây nối cắm mạch và thẻ từ RFID 125 kHz mẫu.</a:t>
            </a:r>
          </a:p>
          <a:p>
            <a:pPr>
              <a:spcBef>
                <a:spcPts val="300"/>
              </a:spcBef>
              <a:spcAft>
                <a:spcPts val="100"/>
              </a:spcAft>
              <a:defRPr sz="880" b="1">
                <a:solidFill>
                  <a:srgbClr val="D97706"/>
                </a:solidFill>
                <a:latin typeface="Segoe UI"/>
              </a:defRPr>
            </a:pPr>
            <a:r>
              <a:t>2. TẠI SAO CẦN MẠCH NGUỒN 5V RIÊNG CHO RDM6300?</a:t>
            </a:r>
          </a:p>
          <a:p>
            <a:pPr>
              <a:lnSpc>
                <a:spcPct val="110000"/>
              </a:lnSpc>
              <a:spcAft>
                <a:spcPts val="150"/>
              </a:spcAft>
              <a:defRPr sz="780">
                <a:solidFill>
                  <a:srgbClr val="0F172A"/>
                </a:solidFill>
                <a:latin typeface="Segoe UI"/>
              </a:defRPr>
            </a:pPr>
            <a:r>
              <a:t>• PMOD Basys 3 chỉ cấp 3.3V: Không đủ điện áp để mạch dao động LC trên RDM6300 phát từ trường kích hoạt chip thẻ RFID (ở 3.3V module hoàn toàn không nhận diện được thẻ).</a:t>
            </a:r>
          </a:p>
          <a:p>
            <a:pPr>
              <a:lnSpc>
                <a:spcPct val="110000"/>
              </a:lnSpc>
              <a:spcAft>
                <a:spcPts val="150"/>
              </a:spcAft>
              <a:defRPr sz="780">
                <a:solidFill>
                  <a:srgbClr val="0F172A"/>
                </a:solidFill>
                <a:latin typeface="Segoe UI"/>
              </a:defRPr>
            </a:pPr>
            <a:r>
              <a:t>• Giải pháp cấp nguồn 5V ngoài: Dùng module MB102 cấp đủ 5V/GND cho RDM6300; Nối chung mass (Common GND) giữa nguồn 5V và Basys 3 để đồng bộ mức tham chiếu logic.</a:t>
            </a:r>
          </a:p>
          <a:p>
            <a:pPr>
              <a:spcBef>
                <a:spcPts val="300"/>
              </a:spcBef>
              <a:spcAft>
                <a:spcPts val="100"/>
              </a:spcAft>
              <a:defRPr sz="880" b="1">
                <a:solidFill>
                  <a:srgbClr val="E11D48"/>
                </a:solidFill>
                <a:latin typeface="Segoe UI"/>
              </a:defRPr>
            </a:pPr>
            <a:r>
              <a:t>3. TẠI SAO CẦN ĐIỆN TRỞ 1KΩ TRÊN CHÂN TX NỐI BASYS 3?</a:t>
            </a:r>
          </a:p>
          <a:p>
            <a:pPr>
              <a:lnSpc>
                <a:spcPct val="110000"/>
              </a:lnSpc>
              <a:spcAft>
                <a:spcPts val="150"/>
              </a:spcAft>
              <a:defRPr sz="780">
                <a:solidFill>
                  <a:srgbClr val="0F172A"/>
                </a:solidFill>
                <a:latin typeface="Segoe UI"/>
              </a:defRPr>
            </a:pPr>
            <a:r>
              <a:t>• Chênh lệch mức logic (5V TTL vs 3.3V LVCMOS): Chân TX của RDM6300 xuất tín hiệu UART ở mức 5V, trong khi chân I/O FPGA Artix-7 (PMOD JA1 - Pin J1) chỉ chấp nhận mức áp tối đa 3.3V.</a:t>
            </a:r>
          </a:p>
          <a:p>
            <a:pPr>
              <a:lnSpc>
                <a:spcPct val="110000"/>
              </a:lnSpc>
              <a:spcAft>
                <a:spcPts val="150"/>
              </a:spcAft>
              <a:defRPr sz="780">
                <a:solidFill>
                  <a:srgbClr val="0F172A"/>
                </a:solidFill>
                <a:latin typeface="Segoe UI"/>
              </a:defRPr>
            </a:pPr>
            <a:r>
              <a:t>• Bảo vệ chân I/O FPGA Artix-7: Điện trở 1kΩ mắc nối tiếp hạn chế dòng rò đưa vào diode kẹp (clamping diode) của FPGA &lt; 2mA, ngăn chặn quá áp/hỏng chip, giữ dạng sóng UART sắc nét.</a:t>
            </a:r>
          </a:p>
          <a:p>
            <a:pPr>
              <a:spcBef>
                <a:spcPts val="300"/>
              </a:spcBef>
              <a:spcAft>
                <a:spcPts val="100"/>
              </a:spcAft>
              <a:defRPr sz="880" b="1">
                <a:solidFill>
                  <a:srgbClr val="10B981"/>
                </a:solidFill>
                <a:latin typeface="Segoe UI"/>
              </a:defRPr>
            </a:pPr>
            <a:r>
              <a:t>4. GIAO TIẾP HOST PC &amp; HIỂN THỊ TRỰC QUAN</a:t>
            </a:r>
          </a:p>
          <a:p>
            <a:pPr>
              <a:lnSpc>
                <a:spcPct val="110000"/>
              </a:lnSpc>
              <a:spcAft>
                <a:spcPts val="150"/>
              </a:spcAft>
              <a:defRPr sz="780">
                <a:solidFill>
                  <a:srgbClr val="0F172A"/>
                </a:solidFill>
                <a:latin typeface="Segoe UI"/>
              </a:defRPr>
            </a:pPr>
            <a:r>
              <a:t>• Cáp Micro-USB tiêu chuẩn: Vừa cấp nguồn Basys 3 vừa truyền thông với Host Console C qua UART FTDI (9600 bps); LED 7 đoạn hiển thị kết quả PASS/FAIL thời gian thực.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5: DEMO CHỨC NĂNG SẢN PHẨM</a:t>
            </a:r>
          </a:p>
          <a:p>
            <a:pPr>
              <a:defRPr sz="1700" b="1">
                <a:solidFill>
                  <a:srgbClr val="0F172A"/>
                </a:solidFill>
                <a:latin typeface="Segoe UI"/>
              </a:defRPr>
            </a:pPr>
            <a:r>
              <a:t>Các Kịch Bản Thực Nghiệm &amp; Giao Diện Quản Trị Host Console</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23 / 26</a:t>
            </a:r>
          </a:p>
        </p:txBody>
      </p:sp>
      <p:sp>
        <p:nvSpPr>
          <p:cNvPr id="8" name="Rounded Rectangle 7"/>
          <p:cNvSpPr/>
          <p:nvPr/>
        </p:nvSpPr>
        <p:spPr>
          <a:xfrm>
            <a:off x="731520" y="1234440"/>
            <a:ext cx="5257800" cy="502920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07592"/>
            <a:ext cx="4983480" cy="292608"/>
          </a:xfrm>
          <a:prstGeom prst="rect">
            <a:avLst/>
          </a:prstGeom>
          <a:noFill/>
        </p:spPr>
        <p:txBody>
          <a:bodyPr wrap="none" lIns="0" tIns="0" rIns="0" bIns="0">
            <a:spAutoFit/>
          </a:bodyPr>
          <a:lstStyle/>
          <a:p>
            <a:pPr>
              <a:defRPr sz="950" b="1">
                <a:solidFill>
                  <a:srgbClr val="0EA5E9"/>
                </a:solidFill>
                <a:latin typeface="Consolas"/>
              </a:defRPr>
            </a:pPr>
            <a:r>
              <a:t>&gt;_  Host Console C CLI (rdm6300_manager.exe)</a:t>
            </a:r>
          </a:p>
        </p:txBody>
      </p:sp>
      <p:sp>
        <p:nvSpPr>
          <p:cNvPr id="10" name="TextBox 9"/>
          <p:cNvSpPr txBox="1"/>
          <p:nvPr/>
        </p:nvSpPr>
        <p:spPr>
          <a:xfrm>
            <a:off x="868680" y="1600200"/>
            <a:ext cx="4983480" cy="4315968"/>
          </a:xfrm>
          <a:prstGeom prst="rect">
            <a:avLst/>
          </a:prstGeom>
          <a:noFill/>
        </p:spPr>
        <p:txBody>
          <a:bodyPr wrap="square" lIns="0" tIns="0" rIns="0" bIns="0">
            <a:spAutoFit/>
          </a:bodyPr>
          <a:lstStyle/>
          <a:p>
            <a:pPr>
              <a:lnSpc>
                <a:spcPct val="118000"/>
              </a:lnSpc>
              <a:spcAft>
                <a:spcPts val="0"/>
              </a:spcAft>
              <a:defRPr sz="880">
                <a:solidFill>
                  <a:srgbClr val="FFFFFF"/>
                </a:solidFill>
                <a:latin typeface="Consolas"/>
              </a:defRPr>
            </a:pPr>
            <a:r>
              <a:t>===========================================================</a:t>
            </a:r>
          </a:p>
          <a:p>
            <a:pPr>
              <a:lnSpc>
                <a:spcPct val="118000"/>
              </a:lnSpc>
              <a:spcAft>
                <a:spcPts val="0"/>
              </a:spcAft>
              <a:defRPr sz="880">
                <a:solidFill>
                  <a:srgbClr val="FFFFFF"/>
                </a:solidFill>
                <a:latin typeface="Consolas"/>
              </a:defRPr>
            </a:pPr>
            <a:r>
              <a:t>    RDM6300 RFID - PICORV32 - BASYS 3 SPI FLASH MANAGER    </a:t>
            </a:r>
          </a:p>
          <a:p>
            <a:pPr>
              <a:lnSpc>
                <a:spcPct val="118000"/>
              </a:lnSpc>
              <a:spcAft>
                <a:spcPts val="0"/>
              </a:spcAft>
              <a:defRPr sz="880">
                <a:solidFill>
                  <a:srgbClr val="FFFFFF"/>
                </a:solidFill>
                <a:latin typeface="Consolas"/>
              </a:defRPr>
            </a:pPr>
            <a:r>
              <a:t>===========================================================</a:t>
            </a:r>
          </a:p>
          <a:p>
            <a:pPr>
              <a:lnSpc>
                <a:spcPct val="118000"/>
              </a:lnSpc>
              <a:spcAft>
                <a:spcPts val="0"/>
              </a:spcAft>
              <a:defRPr sz="880">
                <a:solidFill>
                  <a:srgbClr val="FFFFFF"/>
                </a:solidFill>
                <a:latin typeface="Consolas"/>
              </a:defRPr>
            </a:pPr>
            <a:r>
              <a:t>  [1]  Ping Hardware (Kiem tra ket noi PicoRV32)</a:t>
            </a:r>
          </a:p>
          <a:p>
            <a:pPr>
              <a:lnSpc>
                <a:spcPct val="118000"/>
              </a:lnSpc>
              <a:spcAft>
                <a:spcPts val="0"/>
              </a:spcAft>
              <a:defRPr sz="880">
                <a:solidFill>
                  <a:srgbClr val="FFFFFF"/>
                </a:solidFill>
                <a:latin typeface="Consolas"/>
              </a:defRPr>
            </a:pPr>
            <a:r>
              <a:t>  [2]  Input &amp; Save New RFID Tag (Nhap 10 so in tren the)</a:t>
            </a:r>
          </a:p>
          <a:p>
            <a:pPr>
              <a:lnSpc>
                <a:spcPct val="118000"/>
              </a:lnSpc>
              <a:spcAft>
                <a:spcPts val="0"/>
              </a:spcAft>
              <a:defRPr sz="880">
                <a:solidFill>
                  <a:srgbClr val="FFFFFF"/>
                </a:solidFill>
                <a:latin typeface="Consolas"/>
              </a:defRPr>
            </a:pPr>
            <a:r>
              <a:t>  [3]  Check RFID Tag in Flash (Kiem tra the da co chua)</a:t>
            </a:r>
          </a:p>
          <a:p>
            <a:pPr>
              <a:lnSpc>
                <a:spcPct val="118000"/>
              </a:lnSpc>
              <a:spcAft>
                <a:spcPts val="0"/>
              </a:spcAft>
              <a:defRPr sz="880">
                <a:solidFill>
                  <a:srgbClr val="FFFFFF"/>
                </a:solidFill>
                <a:latin typeface="Consolas"/>
              </a:defRPr>
            </a:pPr>
            <a:r>
              <a:t>  [4]  Delete RFID Tag from Flash (Xoa the khoi Flash)</a:t>
            </a:r>
          </a:p>
          <a:p>
            <a:pPr>
              <a:lnSpc>
                <a:spcPct val="118000"/>
              </a:lnSpc>
              <a:spcAft>
                <a:spcPts val="0"/>
              </a:spcAft>
              <a:defRPr sz="880">
                <a:solidFill>
                  <a:srgbClr val="FFFFFF"/>
                </a:solidFill>
                <a:latin typeface="Consolas"/>
              </a:defRPr>
            </a:pPr>
            <a:r>
              <a:t>  [5]  Virtual Scan (Quet the ao: Nhap 10 so tu ban phim)</a:t>
            </a:r>
          </a:p>
          <a:p>
            <a:pPr>
              <a:lnSpc>
                <a:spcPct val="118000"/>
              </a:lnSpc>
              <a:spcAft>
                <a:spcPts val="0"/>
              </a:spcAft>
              <a:defRPr sz="880">
                <a:solidFill>
                  <a:srgbClr val="FFFFFF"/>
                </a:solidFill>
                <a:latin typeface="Consolas"/>
              </a:defRPr>
            </a:pPr>
            <a:r>
              <a:t>  [6]  View Access Logs (Xem 512 nhat ky tu Flash 0x310000)</a:t>
            </a:r>
          </a:p>
          <a:p>
            <a:pPr>
              <a:lnSpc>
                <a:spcPct val="118000"/>
              </a:lnSpc>
              <a:spcAft>
                <a:spcPts val="0"/>
              </a:spcAft>
              <a:defRPr sz="880">
                <a:solidFill>
                  <a:srgbClr val="FFFFFF"/>
                </a:solidFill>
                <a:latin typeface="Consolas"/>
              </a:defRPr>
            </a:pPr>
            <a:r>
              <a:t>  [7]  Erase Access Logs (Backup CSV &amp; xoa nhat ky Flash)</a:t>
            </a:r>
          </a:p>
          <a:p>
            <a:pPr>
              <a:lnSpc>
                <a:spcPct val="118000"/>
              </a:lnSpc>
              <a:spcAft>
                <a:spcPts val="0"/>
              </a:spcAft>
              <a:defRPr sz="880">
                <a:solidFill>
                  <a:srgbClr val="FFFFFF"/>
                </a:solidFill>
                <a:latin typeface="Consolas"/>
              </a:defRPr>
            </a:pPr>
            <a:r>
              <a:t>  [8]  Export RFID Tags to CSV (Xuat danh sach ra file CSV)</a:t>
            </a:r>
          </a:p>
          <a:p>
            <a:pPr>
              <a:lnSpc>
                <a:spcPct val="118000"/>
              </a:lnSpc>
              <a:spcAft>
                <a:spcPts val="0"/>
              </a:spcAft>
              <a:defRPr sz="880">
                <a:solidFill>
                  <a:srgbClr val="FFFFFF"/>
                </a:solidFill>
                <a:latin typeface="Consolas"/>
              </a:defRPr>
            </a:pPr>
            <a:r>
              <a:t>  [9]  Import RFID Tags from CSV (Xoa &amp; nap the tu CSV)</a:t>
            </a:r>
          </a:p>
          <a:p>
            <a:pPr>
              <a:lnSpc>
                <a:spcPct val="118000"/>
              </a:lnSpc>
              <a:spcAft>
                <a:spcPts val="0"/>
              </a:spcAft>
              <a:defRPr sz="880">
                <a:solidFill>
                  <a:srgbClr val="FFFFFF"/>
                </a:solidFill>
                <a:latin typeface="Consolas"/>
              </a:defRPr>
            </a:pPr>
            <a:r>
              <a:t>  [0]  Exit (Ngat ket noi UART va thoat chuong trinh)</a:t>
            </a:r>
          </a:p>
          <a:p>
            <a:pPr>
              <a:lnSpc>
                <a:spcPct val="118000"/>
              </a:lnSpc>
              <a:spcAft>
                <a:spcPts val="0"/>
              </a:spcAft>
              <a:defRPr sz="880">
                <a:solidFill>
                  <a:srgbClr val="FFFFFF"/>
                </a:solidFill>
                <a:latin typeface="Consolas"/>
              </a:defRPr>
            </a:pPr>
            <a:r>
              <a:t>-----------------------------------------------------------</a:t>
            </a:r>
          </a:p>
          <a:p>
            <a:pPr>
              <a:lnSpc>
                <a:spcPct val="118000"/>
              </a:lnSpc>
              <a:spcAft>
                <a:spcPts val="0"/>
              </a:spcAft>
              <a:defRPr sz="880">
                <a:solidFill>
                  <a:srgbClr val="FFFFFF"/>
                </a:solidFill>
                <a:latin typeface="Consolas"/>
              </a:defRPr>
            </a:pPr>
            <a:r>
              <a:t>Lua chon cua ban [0-9]: _</a:t>
            </a:r>
          </a:p>
        </p:txBody>
      </p:sp>
      <p:sp>
        <p:nvSpPr>
          <p:cNvPr id="11" name="TextBox 10"/>
          <p:cNvSpPr txBox="1"/>
          <p:nvPr/>
        </p:nvSpPr>
        <p:spPr>
          <a:xfrm>
            <a:off x="868680" y="5879592"/>
            <a:ext cx="4983480" cy="274320"/>
          </a:xfrm>
          <a:prstGeom prst="rect">
            <a:avLst/>
          </a:prstGeom>
          <a:noFill/>
        </p:spPr>
        <p:txBody>
          <a:bodyPr wrap="none" lIns="0" tIns="0" rIns="0" bIns="0">
            <a:spAutoFit/>
          </a:bodyPr>
          <a:lstStyle/>
          <a:p>
            <a:pPr>
              <a:defRPr sz="819" b="1">
                <a:solidFill>
                  <a:srgbClr val="10B981"/>
                </a:solidFill>
                <a:latin typeface="Segoe UI"/>
              </a:defRPr>
            </a:pPr>
            <a:r>
              <a:t>=== UART COM3 @ 9600 bps | 10 CHỨC NĂNG QUẢN TRỊ TOÀN DIỆN ===</a:t>
            </a:r>
          </a:p>
        </p:txBody>
      </p:sp>
      <p:sp>
        <p:nvSpPr>
          <p:cNvPr id="12" name="Rounded Rectangle 11"/>
          <p:cNvSpPr/>
          <p:nvPr/>
        </p:nvSpPr>
        <p:spPr>
          <a:xfrm>
            <a:off x="6172200" y="1234440"/>
            <a:ext cx="5285232" cy="502920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71600"/>
            <a:ext cx="4800600" cy="4754880"/>
          </a:xfrm>
          <a:prstGeom prst="rect">
            <a:avLst/>
          </a:prstGeom>
          <a:noFill/>
        </p:spPr>
        <p:txBody>
          <a:bodyPr wrap="square" lIns="0" tIns="0" rIns="0" bIns="0">
            <a:spAutoFit/>
          </a:bodyPr>
          <a:lstStyle/>
          <a:p>
            <a:pPr>
              <a:spcAft>
                <a:spcPts val="400"/>
              </a:spcAft>
              <a:defRPr b="1" sz="1150">
                <a:solidFill>
                  <a:srgbClr val="2563EB"/>
                </a:solidFill>
                <a:latin typeface="Segoe UI"/>
              </a:defRPr>
            </a:pPr>
            <a:r>
              <a:t>ĐÁNH GIÁ &amp; NHẬN XÉT CÁC CHỨC NĂNG THỰC NGHIỆM</a:t>
            </a:r>
          </a:p>
          <a:p>
            <a:pPr>
              <a:spcBef>
                <a:spcPts val="300"/>
              </a:spcBef>
              <a:spcAft>
                <a:spcPts val="100"/>
              </a:spcAft>
              <a:defRPr sz="880" b="1">
                <a:solidFill>
                  <a:srgbClr val="2563EB"/>
                </a:solidFill>
                <a:latin typeface="Segoe UI"/>
              </a:defRPr>
            </a:pPr>
            <a:r>
              <a:t>1. NHÓM KIỂM THỬ KẾT NỐI &amp; GIÁM SÁT [MENU 1, 5]</a:t>
            </a:r>
          </a:p>
          <a:p>
            <a:pPr>
              <a:lnSpc>
                <a:spcPct val="110000"/>
              </a:lnSpc>
              <a:spcAft>
                <a:spcPts val="150"/>
              </a:spcAft>
              <a:defRPr sz="780">
                <a:solidFill>
                  <a:srgbClr val="0F172A"/>
                </a:solidFill>
                <a:latin typeface="Segoe UI"/>
              </a:defRPr>
            </a:pPr>
            <a:r>
              <a:t>• Menu [1] Ping Hardware: Kiểm tra độ trễ phản hồi tức thì qua UART, xác nhận CPU PicoRV32, cầu bus interconnect và UART FIFO 32B hoạt động thông suốt không nghẽn bus.</a:t>
            </a:r>
          </a:p>
          <a:p>
            <a:pPr>
              <a:lnSpc>
                <a:spcPct val="110000"/>
              </a:lnSpc>
              <a:spcAft>
                <a:spcPts val="150"/>
              </a:spcAft>
              <a:defRPr sz="780">
                <a:solidFill>
                  <a:srgbClr val="0F172A"/>
                </a:solidFill>
                <a:latin typeface="Segoe UI"/>
              </a:defRPr>
            </a:pPr>
            <a:r>
              <a:t>• Menu [5] Virtual Scan: Giả lập quẹt thẻ từ xa qua bàn phím mà không cần đưa thẻ vật lý vào đầu đọc, phục vụ kiểm thử đơn vị (Unit Test) logic phân quyền.</a:t>
            </a:r>
          </a:p>
          <a:p>
            <a:pPr>
              <a:spcBef>
                <a:spcPts val="300"/>
              </a:spcBef>
              <a:spcAft>
                <a:spcPts val="100"/>
              </a:spcAft>
              <a:defRPr sz="880" b="1">
                <a:solidFill>
                  <a:srgbClr val="D97706"/>
                </a:solidFill>
                <a:latin typeface="Segoe UI"/>
              </a:defRPr>
            </a:pPr>
            <a:r>
              <a:t>2. NHÓM QUẢN TRỊ WHITELIST THẺ [MENU 2, 3, 4]</a:t>
            </a:r>
          </a:p>
          <a:p>
            <a:pPr>
              <a:lnSpc>
                <a:spcPct val="110000"/>
              </a:lnSpc>
              <a:spcAft>
                <a:spcPts val="150"/>
              </a:spcAft>
              <a:defRPr sz="780">
                <a:solidFill>
                  <a:srgbClr val="0F172A"/>
                </a:solidFill>
                <a:latin typeface="Segoe UI"/>
              </a:defRPr>
            </a:pPr>
            <a:r>
              <a:t>• Menu [2] &amp; [4] Thêm/Xóa Thẻ: Thao tác an toàn trên Flash Sector 48 (0x300000) bằng cơ chế In-SRAM Execution (flashio_worker), bảo đảm không gây treo bus XIP.</a:t>
            </a:r>
          </a:p>
          <a:p>
            <a:pPr>
              <a:lnSpc>
                <a:spcPct val="110000"/>
              </a:lnSpc>
              <a:spcAft>
                <a:spcPts val="150"/>
              </a:spcAft>
              <a:defRPr sz="780">
                <a:solidFill>
                  <a:srgbClr val="0F172A"/>
                </a:solidFill>
                <a:latin typeface="Segoe UI"/>
              </a:defRPr>
            </a:pPr>
            <a:r>
              <a:t>• Menu [3] Tra Cứu Thẻ: Đọc trực tiếp từ Flash qua XIP với thuật toán dừng sớm (Early Termination), độ trễ xác thực siêu nhỏ (&lt; 10 µs).</a:t>
            </a:r>
          </a:p>
          <a:p>
            <a:pPr>
              <a:spcBef>
                <a:spcPts val="300"/>
              </a:spcBef>
              <a:spcAft>
                <a:spcPts val="100"/>
              </a:spcAft>
              <a:defRPr sz="880" b="1">
                <a:solidFill>
                  <a:srgbClr val="E11D48"/>
                </a:solidFill>
                <a:latin typeface="Segoe UI"/>
              </a:defRPr>
            </a:pPr>
            <a:r>
              <a:t>3. NHÓM KIỂM TOÁN AN NINH &amp; NHẬT KÝ [MENU 6, 7]</a:t>
            </a:r>
          </a:p>
          <a:p>
            <a:pPr>
              <a:lnSpc>
                <a:spcPct val="110000"/>
              </a:lnSpc>
              <a:spcAft>
                <a:spcPts val="150"/>
              </a:spcAft>
              <a:defRPr sz="780">
                <a:solidFill>
                  <a:srgbClr val="0F172A"/>
                </a:solidFill>
                <a:latin typeface="Segoe UI"/>
              </a:defRPr>
            </a:pPr>
            <a:r>
              <a:t>• Menu [6] Đọc Access Logs: Đọc và giải mã 512 bản ghi từ Sector 49 (0x310000), hiển thị rõ ràng kết quả PASS/FAIL, UID thẻ và số thứ tự sự kiện.</a:t>
            </a:r>
          </a:p>
          <a:p>
            <a:pPr>
              <a:lnSpc>
                <a:spcPct val="110000"/>
              </a:lnSpc>
              <a:spcAft>
                <a:spcPts val="150"/>
              </a:spcAft>
              <a:defRPr sz="780">
                <a:solidFill>
                  <a:srgbClr val="0F172A"/>
                </a:solidFill>
                <a:latin typeface="Segoe UI"/>
              </a:defRPr>
            </a:pPr>
            <a:r>
              <a:t>• Menu [7] Xóa Log An Toàn: Tự động sao lưu toàn bộ nhật ký ra file CSV trước khi xóa Sector, đảm bảo không mất mát dữ liệu kiểm toán.</a:t>
            </a:r>
          </a:p>
          <a:p>
            <a:pPr>
              <a:spcBef>
                <a:spcPts val="300"/>
              </a:spcBef>
              <a:spcAft>
                <a:spcPts val="100"/>
              </a:spcAft>
              <a:defRPr sz="880" b="1">
                <a:solidFill>
                  <a:srgbClr val="10B981"/>
                </a:solidFill>
                <a:latin typeface="Segoe UI"/>
              </a:defRPr>
            </a:pPr>
            <a:r>
              <a:t>4. NHÓM ĐỒNG BỘ DỮ LIỆU NGOẠI TUYẾN [MENU 8, 9]</a:t>
            </a:r>
          </a:p>
          <a:p>
            <a:pPr>
              <a:lnSpc>
                <a:spcPct val="110000"/>
              </a:lnSpc>
              <a:spcAft>
                <a:spcPts val="150"/>
              </a:spcAft>
              <a:defRPr sz="780">
                <a:solidFill>
                  <a:srgbClr val="0F172A"/>
                </a:solidFill>
                <a:latin typeface="Segoe UI"/>
              </a:defRPr>
            </a:pPr>
            <a:r>
              <a:t>• Menu [8] &amp; [9] Export/Import CSV: Sao lưu và phục hồi danh sách 4,096 thẻ nhanh chóng qua cổng UART, rất tiện lợi khi cấu hình hàng loạt cho nhiều trạm kiểm soát.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6: THIẾT KẾ VẬT LÝ ASIC</a:t>
            </a:r>
          </a:p>
          <a:p>
            <a:pPr>
              <a:defRPr sz="1700" b="1">
                <a:solidFill>
                  <a:srgbClr val="0F172A"/>
                </a:solidFill>
                <a:latin typeface="Segoe UI"/>
              </a:defRPr>
            </a:pPr>
            <a:r>
              <a:t>Quy Trình Thiết Kế Vật Lý Vi Mạch RTL-to-GDSII Trên OpenLane 2</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24 / 26</a:t>
            </a:r>
          </a:p>
        </p:txBody>
      </p:sp>
      <p:sp>
        <p:nvSpPr>
          <p:cNvPr id="8" name="Rounded Rectangle 7"/>
          <p:cNvSpPr/>
          <p:nvPr/>
        </p:nvSpPr>
        <p:spPr>
          <a:xfrm>
            <a:off x="731520" y="1234440"/>
            <a:ext cx="5212080" cy="4937760"/>
          </a:xfrm>
          <a:prstGeom prst="roundRect">
            <a:avLst>
              <a:gd name="adj" fmla="val 2000"/>
            </a:avLst>
          </a:prstGeom>
          <a:solidFill>
            <a:srgbClr val="0B132B"/>
          </a:solidFill>
          <a:ln w="19050">
            <a:solidFill>
              <a:srgbClr val="1C2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07592"/>
            <a:ext cx="4937760" cy="292608"/>
          </a:xfrm>
          <a:prstGeom prst="rect">
            <a:avLst/>
          </a:prstGeom>
          <a:noFill/>
        </p:spPr>
        <p:txBody>
          <a:bodyPr wrap="none" lIns="0" tIns="0" rIns="0" bIns="0">
            <a:spAutoFit/>
          </a:bodyPr>
          <a:lstStyle/>
          <a:p>
            <a:pPr>
              <a:defRPr sz="950" b="1">
                <a:solidFill>
                  <a:srgbClr val="0EA5E9"/>
                </a:solidFill>
                <a:latin typeface="Consolas"/>
              </a:defRPr>
            </a:pPr>
            <a:r>
              <a:t>&gt;_  Cấu hình config.json chính thức</a:t>
            </a:r>
          </a:p>
        </p:txBody>
      </p:sp>
      <p:sp>
        <p:nvSpPr>
          <p:cNvPr id="10" name="TextBox 9"/>
          <p:cNvSpPr txBox="1"/>
          <p:nvPr/>
        </p:nvSpPr>
        <p:spPr>
          <a:xfrm>
            <a:off x="868680" y="1600200"/>
            <a:ext cx="4937760" cy="4526280"/>
          </a:xfrm>
          <a:prstGeom prst="rect">
            <a:avLst/>
          </a:prstGeom>
          <a:noFill/>
        </p:spPr>
        <p:txBody>
          <a:bodyPr wrap="square" lIns="0" tIns="0" rIns="0" bIns="0">
            <a:spAutoFit/>
          </a:bodyPr>
          <a:lstStyle/>
          <a:p>
            <a:pPr>
              <a:lnSpc>
                <a:spcPct val="108000"/>
              </a:lnSpc>
              <a:spcAft>
                <a:spcPts val="0"/>
              </a:spcAft>
              <a:defRPr sz="800">
                <a:solidFill>
                  <a:srgbClr val="FFFFFF"/>
                </a:solidFill>
                <a:latin typeface="Consolas"/>
              </a:defRPr>
            </a:pPr>
            <a:r>
              <a:t>{</a:t>
            </a:r>
          </a:p>
          <a:p>
            <a:pPr>
              <a:lnSpc>
                <a:spcPct val="108000"/>
              </a:lnSpc>
              <a:spcAft>
                <a:spcPts val="0"/>
              </a:spcAft>
              <a:defRPr sz="800">
                <a:solidFill>
                  <a:srgbClr val="FFFFFF"/>
                </a:solidFill>
                <a:latin typeface="Consolas"/>
              </a:defRPr>
            </a:pPr>
            <a:r>
              <a:t>  "DESIGN_NAME": "rdm6300_picorv32_soc",</a:t>
            </a:r>
          </a:p>
          <a:p>
            <a:pPr>
              <a:lnSpc>
                <a:spcPct val="108000"/>
              </a:lnSpc>
              <a:spcAft>
                <a:spcPts val="0"/>
              </a:spcAft>
              <a:defRPr sz="800">
                <a:solidFill>
                  <a:srgbClr val="FFFFFF"/>
                </a:solidFill>
                <a:latin typeface="Consolas"/>
              </a:defRPr>
            </a:pPr>
            <a:r>
              <a:t>  "PDK": "sky130A",</a:t>
            </a:r>
          </a:p>
          <a:p>
            <a:pPr>
              <a:lnSpc>
                <a:spcPct val="108000"/>
              </a:lnSpc>
              <a:spcAft>
                <a:spcPts val="0"/>
              </a:spcAft>
              <a:defRPr sz="800">
                <a:solidFill>
                  <a:srgbClr val="FFFFFF"/>
                </a:solidFill>
                <a:latin typeface="Consolas"/>
              </a:defRPr>
            </a:pPr>
            <a:r>
              <a:t>  "STD_CELL_LIBRARY": "sky130_fd_sc_hd",</a:t>
            </a:r>
          </a:p>
          <a:p>
            <a:pPr>
              <a:lnSpc>
                <a:spcPct val="108000"/>
              </a:lnSpc>
              <a:spcAft>
                <a:spcPts val="0"/>
              </a:spcAft>
              <a:defRPr sz="800">
                <a:solidFill>
                  <a:srgbClr val="FFFFFF"/>
                </a:solidFill>
                <a:latin typeface="Consolas"/>
              </a:defRPr>
            </a:pPr>
            <a:r>
              <a:t>  "CLOCK_PORT": "clk",</a:t>
            </a:r>
          </a:p>
          <a:p>
            <a:pPr>
              <a:lnSpc>
                <a:spcPct val="108000"/>
              </a:lnSpc>
              <a:spcAft>
                <a:spcPts val="0"/>
              </a:spcAft>
              <a:defRPr sz="800">
                <a:solidFill>
                  <a:srgbClr val="FFFFFF"/>
                </a:solidFill>
                <a:latin typeface="Consolas"/>
              </a:defRPr>
            </a:pPr>
            <a:r>
              <a:t>  "CLOCK_PERIOD": 20.0, // 50 MHz</a:t>
            </a:r>
          </a:p>
          <a:p>
            <a:pPr>
              <a:lnSpc>
                <a:spcPct val="108000"/>
              </a:lnSpc>
              <a:spcAft>
                <a:spcPts val="0"/>
              </a:spcAft>
              <a:defRPr sz="800">
                <a:solidFill>
                  <a:srgbClr val="FFFFFF"/>
                </a:solidFill>
                <a:latin typeface="Consolas"/>
              </a:defRPr>
            </a:pPr>
            <a:r>
              <a:t>  "FP_CORE_UTIL": 26,   // 26% density</a:t>
            </a:r>
          </a:p>
          <a:p>
            <a:pPr>
              <a:lnSpc>
                <a:spcPct val="108000"/>
              </a:lnSpc>
              <a:spcAft>
                <a:spcPts val="0"/>
              </a:spcAft>
              <a:defRPr sz="800">
                <a:solidFill>
                  <a:srgbClr val="FFFFFF"/>
                </a:solidFill>
                <a:latin typeface="Consolas"/>
              </a:defRPr>
            </a:pPr>
            <a:r>
              <a:t>  "MAX_FANOUT_CONSTRAINT": 12,</a:t>
            </a:r>
          </a:p>
          <a:p>
            <a:pPr>
              <a:lnSpc>
                <a:spcPct val="108000"/>
              </a:lnSpc>
              <a:spcAft>
                <a:spcPts val="0"/>
              </a:spcAft>
              <a:defRPr sz="800">
                <a:solidFill>
                  <a:srgbClr val="FFFFFF"/>
                </a:solidFill>
                <a:latin typeface="Consolas"/>
              </a:defRPr>
            </a:pPr>
            <a:r>
              <a:t>  "PL_RESIZER_HOLD_SLACK_MARGIN": 0.6,</a:t>
            </a:r>
          </a:p>
          <a:p>
            <a:pPr>
              <a:lnSpc>
                <a:spcPct val="108000"/>
              </a:lnSpc>
              <a:spcAft>
                <a:spcPts val="0"/>
              </a:spcAft>
              <a:defRPr sz="800">
                <a:solidFill>
                  <a:srgbClr val="FFFFFF"/>
                </a:solidFill>
                <a:latin typeface="Consolas"/>
              </a:defRPr>
            </a:pPr>
            <a:r>
              <a:t>  "RUN_HEURISTIC_DIODE_INSERTION": true,</a:t>
            </a:r>
          </a:p>
          <a:p>
            <a:pPr>
              <a:lnSpc>
                <a:spcPct val="108000"/>
              </a:lnSpc>
              <a:spcAft>
                <a:spcPts val="0"/>
              </a:spcAft>
              <a:defRPr sz="800">
                <a:solidFill>
                  <a:srgbClr val="FFFFFF"/>
                </a:solidFill>
                <a:latin typeface="Consolas"/>
              </a:defRPr>
            </a:pPr>
            <a:r>
              <a:t>  "HEURISTIC_ANTENNA_THRESHOLD": 24,</a:t>
            </a:r>
          </a:p>
          <a:p>
            <a:pPr>
              <a:lnSpc>
                <a:spcPct val="108000"/>
              </a:lnSpc>
              <a:spcAft>
                <a:spcPts val="0"/>
              </a:spcAft>
              <a:defRPr sz="800">
                <a:solidFill>
                  <a:srgbClr val="FFFFFF"/>
                </a:solidFill>
                <a:latin typeface="Consolas"/>
              </a:defRPr>
            </a:pPr>
            <a:r>
              <a:t>  "GRT_ANTENNA_ITERS": 35,</a:t>
            </a:r>
          </a:p>
          <a:p>
            <a:pPr>
              <a:lnSpc>
                <a:spcPct val="108000"/>
              </a:lnSpc>
              <a:spcAft>
                <a:spcPts val="0"/>
              </a:spcAft>
              <a:defRPr sz="800">
                <a:solidFill>
                  <a:srgbClr val="FFFFFF"/>
                </a:solidFill>
                <a:latin typeface="Consolas"/>
              </a:defRPr>
            </a:pPr>
            <a:r>
              <a:t>  "RUN_ANTENNA_REPAIR": true,</a:t>
            </a:r>
          </a:p>
          <a:p>
            <a:pPr>
              <a:lnSpc>
                <a:spcPct val="108000"/>
              </a:lnSpc>
              <a:spcAft>
                <a:spcPts val="0"/>
              </a:spcAft>
              <a:defRPr sz="800">
                <a:solidFill>
                  <a:srgbClr val="FFFFFF"/>
                </a:solidFill>
                <a:latin typeface="Consolas"/>
              </a:defRPr>
            </a:pPr>
            <a:r>
              <a:t>  "SYNTH_STRATEGY": "AREA 0"</a:t>
            </a:r>
          </a:p>
          <a:p>
            <a:pPr>
              <a:lnSpc>
                <a:spcPct val="108000"/>
              </a:lnSpc>
              <a:spcAft>
                <a:spcPts val="0"/>
              </a:spcAft>
              <a:defRPr sz="800">
                <a:solidFill>
                  <a:srgbClr val="FFFFFF"/>
                </a:solidFill>
                <a:latin typeface="Consolas"/>
              </a:defRPr>
            </a:pPr>
            <a:r>
              <a:t>}</a:t>
            </a:r>
          </a:p>
        </p:txBody>
      </p:sp>
      <p:sp>
        <p:nvSpPr>
          <p:cNvPr id="11" name="Rounded Rectangle 10"/>
          <p:cNvSpPr/>
          <p:nvPr/>
        </p:nvSpPr>
        <p:spPr>
          <a:xfrm>
            <a:off x="6217920" y="1234440"/>
            <a:ext cx="5239512" cy="4937760"/>
          </a:xfrm>
          <a:prstGeom prst="roundRect">
            <a:avLst>
              <a:gd name="adj" fmla="val 2000"/>
            </a:avLst>
          </a:prstGeom>
          <a:solidFill>
            <a:srgbClr val="FFFFFF"/>
          </a:solidFill>
          <a:ln w="254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71600"/>
            <a:ext cx="4873752" cy="4663440"/>
          </a:xfrm>
          <a:prstGeom prst="rect">
            <a:avLst/>
          </a:prstGeom>
          <a:noFill/>
        </p:spPr>
        <p:txBody>
          <a:bodyPr wrap="square">
            <a:spAutoFit/>
          </a:bodyPr>
          <a:lstStyle/>
          <a:p>
            <a:pPr>
              <a:spcAft>
                <a:spcPts val="1000"/>
              </a:spcAft>
              <a:defRPr sz="1300" b="1">
                <a:solidFill>
                  <a:srgbClr val="E11D48"/>
                </a:solidFill>
                <a:latin typeface="Segoe UI"/>
              </a:defRPr>
            </a:pPr>
            <a:r>
              <a:t>CÁC CHIẾN LƯỢC VẬT LÝ THEN CHỐT</a:t>
            </a:r>
          </a:p>
          <a:p>
            <a:pPr>
              <a:lnSpc>
                <a:spcPct val="115000"/>
              </a:lnSpc>
              <a:spcAft>
                <a:spcPts val="800"/>
              </a:spcAft>
              <a:defRPr sz="1050">
                <a:solidFill>
                  <a:srgbClr val="0F172A"/>
                </a:solidFill>
                <a:latin typeface="Segoe UI"/>
              </a:defRPr>
            </a:pPr>
            <a:r>
              <a:t>• Mật độ diện tích lõi 26% (FP_CORE_UTIL): Khởi tạo mật độ cell 26%, để lại 74% diện tích cho các kênh định tuyến kim loại và chèn diode bảo vệ plasma.</a:t>
            </a:r>
          </a:p>
          <a:p>
            <a:pPr>
              <a:lnSpc>
                <a:spcPct val="115000"/>
              </a:lnSpc>
              <a:spcAft>
                <a:spcPts val="800"/>
              </a:spcAft>
              <a:defRPr sz="1050">
                <a:solidFill>
                  <a:srgbClr val="0F172A"/>
                </a:solidFill>
                <a:latin typeface="Segoe UI"/>
              </a:defRPr>
            </a:pPr>
            <a:r>
              <a:t>• Ràng buộc xung nhịp 50 MHz (CLOCK_PERIOD = 20.0 ns): Ràng buộc định thời thống nhất từ khâu tổng hợp logic Yosys, xây dựng cây clock CTS tới khâu phân tích định thời tĩnh STA.</a:t>
            </a:r>
          </a:p>
          <a:p>
            <a:pPr>
              <a:lnSpc>
                <a:spcPct val="115000"/>
              </a:lnSpc>
              <a:spcAft>
                <a:spcPts val="800"/>
              </a:spcAft>
              <a:defRPr sz="1050">
                <a:solidFill>
                  <a:srgbClr val="0F172A"/>
                </a:solidFill>
                <a:latin typeface="Segoe UI"/>
              </a:defRPr>
            </a:pPr>
            <a:r>
              <a:t>• Chèn Diode phỏng đoán (HEURISTIC_ANTENNA_THRESHOLD = 24): Thuật toán tối ưu tự động chèn diode tiêu tán điện tích plasma khi tỷ lệ dây/cực cổng vượt ngưỡng 24, triệt tiêu 100% lỗi Antenna.</a:t>
            </a:r>
          </a:p>
          <a:p>
            <a:pPr>
              <a:lnSpc>
                <a:spcPct val="115000"/>
              </a:lnSpc>
              <a:spcAft>
                <a:spcPts val="800"/>
              </a:spcAft>
              <a:defRPr sz="1050">
                <a:solidFill>
                  <a:srgbClr val="0F172A"/>
                </a:solidFill>
                <a:latin typeface="Segoe UI"/>
              </a:defRPr>
            </a:pPr>
            <a:r>
              <a:t>• Biên an toàn Hold Guard-band 0.60 ns: Đảm bảo bộ tối ưu hóa tế bào Resizer xử lý sạch sẽ các vi phạm chạy đua dữ liệu (Hold Violations) sau bước đi dây chi tiết.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728655" cy="868680"/>
          </a:xfrm>
          <a:prstGeom prst="rect">
            <a:avLst/>
          </a:prstGeom>
          <a:noFill/>
        </p:spPr>
        <p:txBody>
          <a:bodyPr wrap="square" lIns="0" tIns="0" rIns="0" bIns="0">
            <a:spAutoFit/>
          </a:bodyPr>
          <a:lstStyle/>
          <a:p>
            <a:pPr>
              <a:spcAft>
                <a:spcPts val="200"/>
              </a:spcAft>
              <a:defRPr sz="1050" b="1">
                <a:solidFill>
                  <a:srgbClr val="2563EB"/>
                </a:solidFill>
                <a:latin typeface="Segoe UI"/>
              </a:defRPr>
            </a:pPr>
            <a:r>
              <a:t>PHẦN 6: THIẾT KẾ VẬT LÝ ASIC</a:t>
            </a:r>
          </a:p>
          <a:p>
            <a:pPr>
              <a:defRPr sz="1700" b="1">
                <a:solidFill>
                  <a:srgbClr val="0F172A"/>
                </a:solidFill>
                <a:latin typeface="Segoe UI"/>
              </a:defRPr>
            </a:pPr>
            <a:r>
              <a:t>Bản Vẽ Layout OpenROAD &amp; Báo Cáo Ký Duyệt Sign-off Toàn Diện</a:t>
            </a:r>
          </a:p>
        </p:txBody>
      </p:sp>
      <p:sp>
        <p:nvSpPr>
          <p:cNvPr id="5" name="Rectangle 4"/>
          <p:cNvSpPr/>
          <p:nvPr/>
        </p:nvSpPr>
        <p:spPr>
          <a:xfrm>
            <a:off x="731520" y="64465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7315200" cy="274320"/>
          </a:xfrm>
          <a:prstGeom prst="rect">
            <a:avLst/>
          </a:prstGeom>
          <a:noFill/>
        </p:spPr>
        <p:txBody>
          <a:bodyPr wrap="none" lIns="0" tIns="0" rIns="0" bIns="0">
            <a:spAutoFit/>
          </a:bodyPr>
          <a:lstStyle/>
          <a:p>
            <a:pPr>
              <a:defRPr sz="950">
                <a:solidFill>
                  <a:srgbClr val="475569"/>
                </a:solidFill>
                <a:latin typeface="Segoe UI"/>
              </a:defRPr>
            </a:pPr>
            <a:r>
              <a:t>Đồ Án: SoC PicoRV32 RFID RDM6300 &amp; SPI Flash | FPT Jetking Chip Design - SEM3 | HV: Thái Tuấn Hiệp</a:t>
            </a:r>
          </a:p>
        </p:txBody>
      </p:sp>
      <p:sp>
        <p:nvSpPr>
          <p:cNvPr id="7" name="TextBox 6"/>
          <p:cNvSpPr txBox="1"/>
          <p:nvPr/>
        </p:nvSpPr>
        <p:spPr>
          <a:xfrm>
            <a:off x="10058400" y="6492240"/>
            <a:ext cx="1401775" cy="274320"/>
          </a:xfrm>
          <a:prstGeom prst="rect">
            <a:avLst/>
          </a:prstGeom>
          <a:noFill/>
        </p:spPr>
        <p:txBody>
          <a:bodyPr wrap="none" lIns="0" tIns="0" rIns="0" bIns="0">
            <a:spAutoFit/>
          </a:bodyPr>
          <a:lstStyle/>
          <a:p>
            <a:pPr algn="r">
              <a:defRPr sz="950" b="1">
                <a:solidFill>
                  <a:srgbClr val="2563EB"/>
                </a:solidFill>
                <a:latin typeface="Segoe UI"/>
              </a:defRPr>
            </a:pPr>
            <a:r>
              <a:t>25 / 26</a:t>
            </a:r>
          </a:p>
        </p:txBody>
      </p:sp>
      <p:sp>
        <p:nvSpPr>
          <p:cNvPr id="8" name="Rounded Rectangle 7"/>
          <p:cNvSpPr/>
          <p:nvPr/>
        </p:nvSpPr>
        <p:spPr>
          <a:xfrm>
            <a:off x="731520" y="1234440"/>
            <a:ext cx="5212080" cy="3931920"/>
          </a:xfrm>
          <a:prstGeom prst="roundRect">
            <a:avLst>
              <a:gd name="adj" fmla="val 2000"/>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penROAD.png"/>
          <p:cNvPicPr>
            <a:picLocks noChangeAspect="1"/>
          </p:cNvPicPr>
          <p:nvPr/>
        </p:nvPicPr>
        <p:blipFill>
          <a:blip r:embed="rId2"/>
          <a:stretch>
            <a:fillRect/>
          </a:stretch>
        </p:blipFill>
        <p:spPr>
          <a:xfrm>
            <a:off x="822960" y="1325880"/>
            <a:ext cx="5029200" cy="3749039"/>
          </a:xfrm>
          <a:prstGeom prst="rect">
            <a:avLst/>
          </a:prstGeom>
        </p:spPr>
      </p:pic>
      <p:sp>
        <p:nvSpPr>
          <p:cNvPr id="10" name="Rounded Rectangle 9"/>
          <p:cNvSpPr/>
          <p:nvPr/>
        </p:nvSpPr>
        <p:spPr>
          <a:xfrm>
            <a:off x="6217920" y="1234440"/>
            <a:ext cx="5239512" cy="3931920"/>
          </a:xfrm>
          <a:prstGeom prst="roundRect">
            <a:avLst>
              <a:gd name="adj" fmla="val 2000"/>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ntennaLvsDrc.png"/>
          <p:cNvPicPr>
            <a:picLocks noChangeAspect="1"/>
          </p:cNvPicPr>
          <p:nvPr/>
        </p:nvPicPr>
        <p:blipFill>
          <a:blip r:embed="rId3"/>
          <a:stretch>
            <a:fillRect/>
          </a:stretch>
        </p:blipFill>
        <p:spPr>
          <a:xfrm>
            <a:off x="6309360" y="1325880"/>
            <a:ext cx="5056632" cy="3749039"/>
          </a:xfrm>
          <a:prstGeom prst="rect">
            <a:avLst/>
          </a:prstGeom>
        </p:spPr>
      </p:pic>
      <p:sp>
        <p:nvSpPr>
          <p:cNvPr id="12" name="Rounded Rectangle 11"/>
          <p:cNvSpPr/>
          <p:nvPr/>
        </p:nvSpPr>
        <p:spPr>
          <a:xfrm>
            <a:off x="731520" y="5303520"/>
            <a:ext cx="10728655" cy="960120"/>
          </a:xfrm>
          <a:prstGeom prst="roundRect">
            <a:avLst>
              <a:gd name="adj" fmla="val 2000"/>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24160" cy="868680"/>
          </a:xfrm>
          <a:prstGeom prst="rect">
            <a:avLst/>
          </a:prstGeom>
          <a:noFill/>
        </p:spPr>
        <p:txBody>
          <a:bodyPr wrap="square">
            <a:spAutoFit/>
          </a:bodyPr>
          <a:lstStyle/>
          <a:p>
            <a:pPr>
              <a:spcAft>
                <a:spcPts val="200"/>
              </a:spcAft>
              <a:defRPr sz="1100" b="1">
                <a:solidFill>
                  <a:srgbClr val="10B981"/>
                </a:solidFill>
                <a:latin typeface="Segoe UI"/>
              </a:defRPr>
            </a:pPr>
            <a:r>
              <a:t>KẾT QUẢ KÝ DUYỆT TAPE-OUT READY: 0 ANTENNA | 0 LVS | 0 DRC | MET TIMING 50 MHZ</a:t>
            </a:r>
          </a:p>
          <a:p>
            <a:pPr>
              <a:defRPr sz="950">
                <a:solidFill>
                  <a:srgbClr val="0F172A"/>
                </a:solidFill>
                <a:latin typeface="Segoe UI"/>
              </a:defRPr>
            </a:pPr>
            <a:r>
              <a:t>• Bố cục vật lý: Lưới nguồn PDN met4/met5 dày đặc, phân bổ 31 chân pad đối xứng trên 4 cạnh die, độ sụt áp IR drop &lt; 1.5% an toàn.</a:t>
            </a:r>
            <a:br/>
            <a:r>
              <a:t>• Định thời &amp; Ký duyệt: WNS &gt;= 0.00 ns tại 50 MHz trên cả 9 góc đo công nghệ từ -40°C đến 100°C; Netgen xác nhận 100% khớp netlist RTL.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C2541"/>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4846320"/>
          </a:xfrm>
          <a:prstGeom prst="rect">
            <a:avLst/>
          </a:prstGeom>
          <a:noFill/>
        </p:spPr>
        <p:txBody>
          <a:bodyPr wrap="square">
            <a:spAutoFit/>
          </a:bodyPr>
          <a:lstStyle/>
          <a:p>
            <a:pPr>
              <a:spcAft>
                <a:spcPts val="1600"/>
              </a:spcAft>
              <a:defRPr sz="2200" b="1">
                <a:solidFill>
                  <a:srgbClr val="0EA5E9"/>
                </a:solidFill>
                <a:latin typeface="Segoe UI"/>
              </a:defRPr>
            </a:pPr>
            <a:r>
              <a:t>TỔNG KẾT ĐỒ ÁN VÀ CÁC ĐÓNG GÓP NỔI BẬT</a:t>
            </a:r>
          </a:p>
          <a:p>
            <a:pPr>
              <a:lnSpc>
                <a:spcPct val="115000"/>
              </a:lnSpc>
              <a:spcAft>
                <a:spcPts val="800"/>
              </a:spcAft>
              <a:defRPr sz="1100">
                <a:solidFill>
                  <a:srgbClr val="E2E8F0"/>
                </a:solidFill>
                <a:latin typeface="Segoe UI"/>
              </a:defRPr>
            </a:pPr>
            <a:r>
              <a:t>1. Tự chủ thiết kế kiến trúc SoC: Xây dựng hoàn chỉnh vi mạch tích hợp CPU RISC-V PicoRV32, cầu nối bus trung tâm soc_interconnect.v, 1KB SRAM, bộ điều khiển SPI Flash spimemio.v và ngoại vi UART FIFO.</a:t>
            </a:r>
          </a:p>
          <a:p>
            <a:pPr>
              <a:lnSpc>
                <a:spcPct val="115000"/>
              </a:lnSpc>
              <a:spcAft>
                <a:spcPts val="800"/>
              </a:spcAft>
              <a:defRPr sz="1100">
                <a:solidFill>
                  <a:srgbClr val="E2E8F0"/>
                </a:solidFill>
                <a:latin typeface="Segoe UI"/>
              </a:defRPr>
            </a:pPr>
            <a:r>
              <a:t>2. Tối ưu hóa kiến trúc thực thi nhúng: Hiện thực hóa cơ chế thực thi XIP từ SPI Flash kết hợp nạp động routine flashio_worker vào 1KB SRAM để ghi/xóa cơ sở dữ liệu Whitelist và nhật ký Access Log không xung đột bus.</a:t>
            </a:r>
          </a:p>
          <a:p>
            <a:pPr>
              <a:lnSpc>
                <a:spcPct val="115000"/>
              </a:lnSpc>
              <a:spcAft>
                <a:spcPts val="800"/>
              </a:spcAft>
              <a:defRPr sz="1100">
                <a:solidFill>
                  <a:srgbClr val="E2E8F0"/>
                </a:solidFill>
                <a:latin typeface="Segoe UI"/>
              </a:defRPr>
            </a:pPr>
            <a:r>
              <a:t>3. Kiểm chứng thực nghiệm 100%: Xây dựng 2 testbench mô phỏng tinh gọn (tb_uart_rtl.v, tb_uart_ping.v) và kiểm chứng thành công trên bo mạch FPGA Basys 3 với thẻ RFID thật và đầu đọc RDM6300 thật.</a:t>
            </a:r>
          </a:p>
          <a:p>
            <a:pPr>
              <a:lnSpc>
                <a:spcPct val="115000"/>
              </a:lnSpc>
              <a:spcAft>
                <a:spcPts val="800"/>
              </a:spcAft>
              <a:defRPr sz="1100">
                <a:solidFill>
                  <a:srgbClr val="E2E8F0"/>
                </a:solidFill>
                <a:latin typeface="Segoe UI"/>
              </a:defRPr>
            </a:pPr>
            <a:r>
              <a:t>4. Đạt chuẩn xuất xưởng ASIC (Tape-out Ready): Hoàn thành quy trình thiết kế vật lý trên OpenLane 2 với tiến trình SkyWater 130nm: 0 vi phạm Antenna, 0 lỗi LVS, 0 lỗi DRC, MET TIMING ở tần số 50 MHz trên cả 9 góc đo công nghệ.</a:t>
            </a:r>
          </a:p>
          <a:p>
            <a:pPr>
              <a:spcBef>
                <a:spcPts val="1600"/>
              </a:spcBef>
              <a:defRPr sz="1500" b="1">
                <a:solidFill>
                  <a:srgbClr val="FFFFFF"/>
                </a:solidFill>
                <a:latin typeface="Segoe UI"/>
              </a:defRPr>
            </a:pPr>
            <a:r>
              <a:t>XIN TRÂN TRỌNG CẢM ƠN THẦY CÔ VÀ HỘI ĐỒNG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