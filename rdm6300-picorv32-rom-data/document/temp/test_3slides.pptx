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"/>
            <a:ext cx="1072865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PHẦN 5: CẤU HÌNH PHẦN CỨNG &amp; KHỞI ĐỘNG FIRMWARE (SLIDE 1/3)</a:t>
            </a:r>
          </a:p>
          <a:p>
            <a:pPr>
              <a:defRPr sz="1750" b="1">
                <a:solidFill>
                  <a:srgbClr val="000000"/>
                </a:solidFill>
                <a:latin typeface="Segoe UI"/>
              </a:defRPr>
            </a:pPr>
            <a:r>
              <a:t>Co-Design Khởi Động: Cấu Hình CPU PicoRV32, Flash XIP &amp; Ngăn Xếp SRAM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 Tốt Nghiệp: SoC PicoRV32 RFID RDM6300 &amp; SPI Flash | SV: Thái Tuấn Hiệp | GVHD: ThS. Nguyễn Văn Đông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00000"/>
                </a:solidFill>
                <a:latin typeface="Segoe UI"/>
              </a:defRPr>
            </a:pPr>
            <a:r>
              <a:t>07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15568"/>
            <a:ext cx="50292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15568"/>
            <a:ext cx="5029200" cy="2926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850" b="1">
                <a:solidFill>
                  <a:srgbClr val="FFFFFF"/>
                </a:solidFill>
                <a:latin typeface="Consolas"/>
              </a:defRPr>
            </a:pPr>
            <a:r>
              <a:t>FILE: rtl/rdm6300_picorv32_soc.v [RTL Top Module]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1444752"/>
            <a:ext cx="4956048" cy="957925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53896"/>
            <a:ext cx="4882896" cy="9396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// rtl/rdm6300_picorv32_soc.v - Tham số Top SoC PicoRV32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parameter [31:0] PROGADDR_RESET = 32'h0025_0000; // Reset Vector XIP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parameter [31:0] STACKADDR      = 32'h0000_0400; // Đỉnh stack 1KB SRAM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parameter [0:0]  COMPRESSED_ISA = 1'b0;          // RV32I Base ISA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wire mem_valid, mem_ready; wire [31:0] mem_addr, mem_wdata, mem_rdata;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20965"/>
            <a:ext cx="5029200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66685"/>
            <a:ext cx="4846320" cy="861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760" b="1">
                <a:solidFill>
                  <a:srgbClr val="000000"/>
                </a:solidFill>
                <a:latin typeface="Segoe UI"/>
              </a:defRPr>
            </a:pPr>
            <a:r>
              <a:t>GIẢI THÍCH THIẾT KẾ &amp; CO-DESIGN: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PROGADDR_RESET = 0x0025_0000: </a:t>
            </a:r>
            <a:r>
              <a:rPr sz="740">
                <a:solidFill>
                  <a:srgbClr val="1E293B"/>
                </a:solidFill>
                <a:latin typeface="Segoe UI"/>
              </a:rPr>
              <a:t>CPU nhả reset nạp opcode trực tiếp từ Flash ngoài qua XIP.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STACKADDR = 0x0000_0400: </a:t>
            </a:r>
            <a:r>
              <a:rPr sz="740">
                <a:solidFill>
                  <a:srgbClr val="1E293B"/>
                </a:solidFill>
                <a:latin typeface="Segoe UI"/>
              </a:rPr>
              <a:t>Đặt đỉnh ngăn xếp tại 1KB SRAM nội bộ, phản hồi 1 chu kỳ clock.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Native Mem Bus: </a:t>
            </a:r>
            <a:r>
              <a:rPr sz="740">
                <a:solidFill>
                  <a:srgbClr val="1E293B"/>
                </a:solidFill>
                <a:latin typeface="Segoe UI"/>
              </a:rPr>
              <a:t>mem_valid &amp; mem_ready bắt tay đồng bộ không qua cầu chuyển đổi.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56432"/>
            <a:ext cx="50292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56432"/>
            <a:ext cx="5029200" cy="2926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850" b="1">
                <a:solidFill>
                  <a:srgbClr val="FFFFFF"/>
                </a:solidFill>
                <a:latin typeface="Consolas"/>
              </a:defRPr>
            </a:pPr>
            <a:r>
              <a:t>FILE: rtl/core/picorv32.v [RISC-V CPU Core]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" y="3785616"/>
            <a:ext cx="4956048" cy="957925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94760"/>
            <a:ext cx="4882896" cy="9396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// rtl/core/picorv32.v - Nhân CPU RISC-V PicoRV32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module picorv32 #(parameter [31:0] PROGADDR_RESET, STACKADDR, ...);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output reg        mem_valid; input mem_ready;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output reg [31:0] mem_addr, mem_wdata; input [31:0] mem_rdata;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output reg        cpu_trap; // Tích cực cao khi lỗi instruction/bus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61829"/>
            <a:ext cx="5029200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7549"/>
            <a:ext cx="4846320" cy="861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760" b="1">
                <a:solidFill>
                  <a:srgbClr val="000000"/>
                </a:solidFill>
                <a:latin typeface="Segoe UI"/>
              </a:defRPr>
            </a:pPr>
            <a:r>
              <a:t>GIẢI THÍCH THIẾT KẾ &amp; CO-DESIGN: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Cấu hình lõi Master: </a:t>
            </a:r>
            <a:r>
              <a:rPr sz="740">
                <a:solidFill>
                  <a:srgbClr val="1E293B"/>
                </a:solidFill>
                <a:latin typeface="Segoe UI"/>
              </a:rPr>
              <a:t>Nhận tham số PROGADDR_RESET và STACKADDR để nạp vào PC và SP.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Native Memory Interface: </a:t>
            </a:r>
            <a:r>
              <a:rPr sz="740">
                <a:solidFill>
                  <a:srgbClr val="1E293B"/>
                </a:solidFill>
                <a:latin typeface="Segoe UI"/>
              </a:rPr>
              <a:t>Phát mem_valid và mem_addr kéo opcode lệnh ngay chu kỳ đầu.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Bảo vệ hệ thống: </a:t>
            </a:r>
            <a:r>
              <a:rPr sz="740">
                <a:solidFill>
                  <a:srgbClr val="1E293B"/>
                </a:solidFill>
                <a:latin typeface="Segoe UI"/>
              </a:rPr>
              <a:t>Ngõ ra cpu_trap cảnh báo khi xảy ra truy xuất bất hợp pháp.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0975" y="1115568"/>
            <a:ext cx="50292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30975" y="1115568"/>
            <a:ext cx="5029200" cy="2926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850" b="1">
                <a:solidFill>
                  <a:srgbClr val="FFFFFF"/>
                </a:solidFill>
                <a:latin typeface="Consolas"/>
              </a:defRPr>
            </a:pPr>
            <a:r>
              <a:t>FILE: firmware/sections.lds [Linker Script]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7551" y="1444752"/>
            <a:ext cx="4956048" cy="1016355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4127" y="1453896"/>
            <a:ext cx="4882896" cy="998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/* firmware/sections.lds - Phân bổ bộ nhớ Linker Script */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MEMORY {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FLASH (rx) : ORIGIN = 0x00250000, LENGTH = 0x000B0000 /* 704KB */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RAM (rwx)  : ORIGIN = 0x00000000, LENGTH = 0x00000400 /* 1KB */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.text : { *(.text.start) *(.text*) } &gt; FLASH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_stack_top = 0x00000400; /* Khớp STACKADDR phần cứng */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0975" y="2479395"/>
            <a:ext cx="5029200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2415" y="2525115"/>
            <a:ext cx="4846320" cy="803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760" b="1">
                <a:solidFill>
                  <a:srgbClr val="000000"/>
                </a:solidFill>
                <a:latin typeface="Segoe UI"/>
              </a:defRPr>
            </a:pPr>
            <a:r>
              <a:t>GIẢI THÍCH THIẾT KẾ &amp; CO-DESIGN: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FLASH ORIGIN = 0x0025_0000: </a:t>
            </a:r>
            <a:r>
              <a:rPr sz="740">
                <a:solidFill>
                  <a:srgbClr val="1E293B"/>
                </a:solidFill>
                <a:latin typeface="Segoe UI"/>
              </a:rPr>
              <a:t>Định vị toàn bộ mã máy C (.text) vào Flash XIP khớp Vector Reset RTL.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RAM ORIGIN = 0x0000_0000: </a:t>
            </a:r>
            <a:r>
              <a:rPr sz="740">
                <a:solidFill>
                  <a:srgbClr val="1E293B"/>
                </a:solidFill>
                <a:latin typeface="Segoe UI"/>
              </a:rPr>
              <a:t>Dành 1KB SRAM cho biến toàn cục (.data, .bss) và Stack frame.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_stack_top = 0x0400: </a:t>
            </a:r>
            <a:r>
              <a:rPr sz="740">
                <a:solidFill>
                  <a:srgbClr val="1E293B"/>
                </a:solidFill>
                <a:latin typeface="Segoe UI"/>
              </a:rPr>
              <a:t>Xuất nhãn đỉnh ngăn xếp cho assembly start.s nạp vào thanh ghi sp.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0975" y="3456432"/>
            <a:ext cx="50292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30975" y="3456432"/>
            <a:ext cx="5029200" cy="2926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850" b="1">
                <a:solidFill>
                  <a:srgbClr val="FFFFFF"/>
                </a:solidFill>
                <a:latin typeface="Consolas"/>
              </a:defRPr>
            </a:pPr>
            <a:r>
              <a:t>FILE: firmware/start.s [Assembly Bootstrap]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7551" y="3785616"/>
            <a:ext cx="4956048" cy="1016355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4127" y="3794760"/>
            <a:ext cx="4882896" cy="998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# firmware/start.s - Assembly Bootstrap khởi tạo CPU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.global _start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_start: lui  sp, %hi(_stack_top)       # Nạp 20-bit cao (0x00000400)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      addi sp, sp, %lo(_stack_top)   # Nạp 12-bit thấp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      call main                      # Chuyển quyền điều khiển sang C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      ebreak; j _start               # Trap bảo vệ nếu main return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30975" y="4820259"/>
            <a:ext cx="5029200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2415" y="4865979"/>
            <a:ext cx="4846320" cy="803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760" b="1">
                <a:solidFill>
                  <a:srgbClr val="000000"/>
                </a:solidFill>
                <a:latin typeface="Segoe UI"/>
              </a:defRPr>
            </a:pPr>
            <a:r>
              <a:t>GIẢI THÍCH THIẾT KẾ &amp; CO-DESIGN: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lui &amp; addi sp, _stack_top: </a:t>
            </a:r>
            <a:r>
              <a:rPr sz="740">
                <a:solidFill>
                  <a:srgbClr val="1E293B"/>
                </a:solidFill>
                <a:latin typeface="Segoe UI"/>
              </a:rPr>
              <a:t>Nạp mốc _stack_top (0x0400) vào con trỏ ngăn xếp sp của CPU.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call main: </a:t>
            </a:r>
            <a:r>
              <a:rPr sz="740">
                <a:solidFill>
                  <a:srgbClr val="1E293B"/>
                </a:solidFill>
                <a:latin typeface="Segoe UI"/>
              </a:rPr>
              <a:t>Chuyển giao quyền điều khiển từ assembly sang hàm main() viết bằng C.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Vòng lặp an toàn: </a:t>
            </a:r>
            <a:r>
              <a:rPr sz="740">
                <a:solidFill>
                  <a:srgbClr val="1E293B"/>
                </a:solidFill>
                <a:latin typeface="Segoe UI"/>
              </a:rPr>
              <a:t>Bảo vệ CPU không bị treo bus nếu chương trình chính kết thúc.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33872" y="1645920"/>
            <a:ext cx="521207" cy="12801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88152" y="1444752"/>
            <a:ext cx="612647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 b="1">
                <a:solidFill>
                  <a:srgbClr val="000000"/>
                </a:solidFill>
                <a:latin typeface="Segoe UI"/>
              </a:defRPr>
            </a:pPr>
            <a:r>
              <a:t>Boot Vector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833872" y="3931920"/>
            <a:ext cx="521207" cy="12801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88152" y="3730752"/>
            <a:ext cx="612647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 b="1">
                <a:solidFill>
                  <a:srgbClr val="000000"/>
                </a:solidFill>
                <a:latin typeface="Segoe UI"/>
              </a:defRPr>
            </a:pPr>
            <a:r>
              <a:t>Stack Top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779008"/>
            <a:ext cx="10728655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/>
          <a:lstStyle/>
          <a:p>
            <a:pPr algn="ctr">
              <a:defRPr sz="830" b="1">
                <a:solidFill>
                  <a:srgbClr val="000000"/>
                </a:solidFill>
                <a:latin typeface="Segoe UI"/>
              </a:defRPr>
            </a:pPr>
            <a:r>
              <a:t>■  CƠ CHẾ CO-DESIGN ĐỒNG BỘ: VECTOR RESET FLASH XIP &amp; CON TRỎ NGĂN XẾP SRAM</a:t>
            </a:r>
          </a:p>
          <a:p>
            <a:pPr>
              <a:lnSpc>
                <a:spcPct val="108000"/>
              </a:lnSpc>
              <a:defRPr sz="760">
                <a:solidFill>
                  <a:srgbClr val="000000"/>
                </a:solidFill>
                <a:latin typeface="Segoe UI"/>
              </a:defRPr>
            </a:pPr>
            <a:r>
              <a:t>• Khớp Vector Khởi Động: PROGADDR_RESET (RTL) = ORIGIN FLASH (Linker) = 0x0025_0000 -&gt; CPU nhả reset là kéo lệnh opcode thực thi trực tiếp từ Flash mà không cần RAM.</a:t>
            </a:r>
            <a:br/>
            <a:r>
              <a:t>• Khớp Ngăn Xếp: STACKADDR (RTL) = _stack_top (Linker) = sp (start.s) = 0x0000_0400 -&gt; Biến cục bộ C truy xuất trên 1KB SRAM nội bộ cực nhanh trong 1 chu kỳ clock.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"/>
            <a:ext cx="1072865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PHẦN 5: CẤU HÌNH PHẦN CỨNG &amp; KHỞI ĐỘNG FIRMWARE (SLIDE 2/3)</a:t>
            </a:r>
          </a:p>
          <a:p>
            <a:pPr>
              <a:defRPr sz="1750" b="1">
                <a:solidFill>
                  <a:srgbClr val="000000"/>
                </a:solidFill>
                <a:latin typeface="Segoe UI"/>
              </a:defRPr>
            </a:pPr>
            <a:r>
              <a:t>Co-Design SPI Flash: Bộ Điều Khiển spimemio.v &amp; Cơ Chế Thực Thi Mã 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 Tốt Nghiệp: SoC PicoRV32 RFID RDM6300 &amp; SPI Flash | SV: Thái Tuấn Hiệp | GVHD: ThS. Nguyễn Văn Đông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00000"/>
                </a:solidFill>
                <a:latin typeface="Segoe UI"/>
              </a:defRPr>
            </a:pPr>
            <a:r>
              <a:t>08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15568"/>
            <a:ext cx="50292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15568"/>
            <a:ext cx="5029200" cy="2926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850" b="1">
                <a:solidFill>
                  <a:srgbClr val="FFFFFF"/>
                </a:solidFill>
                <a:latin typeface="Consolas"/>
              </a:defRPr>
            </a:pPr>
            <a:r>
              <a:t>FILE: rtl/core/spimemio.v [SPI Flash Controller]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1444752"/>
            <a:ext cx="4956048" cy="208483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53896"/>
            <a:ext cx="4882896" cy="2066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// rtl/core/spimemio.v - Bộ điều khiển Flash SPI QSPI / XIP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module spimemio (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input valid; output ready; input [23:0] addr; output reg [31:0] rdata;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output flash_csb, flash_clk; inout [3:0] flash_io;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input [3:0] cfgreg_we; input [31:0] cfgreg_di; output [31:0] cfgreg_do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);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ready = valid &amp;&amp; (addr == rd_addr) &amp;&amp; rd_valid; // XIP Ready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cfgreg_do[31]=config_en; assign cfgreg_do[5]=flash_csb; // Bit-bang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47872"/>
            <a:ext cx="5029200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93592"/>
            <a:ext cx="4846320" cy="2066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760" b="1">
                <a:solidFill>
                  <a:srgbClr val="000000"/>
                </a:solidFill>
                <a:latin typeface="Segoe UI"/>
              </a:defRPr>
            </a:pPr>
            <a:r>
              <a:t>GIẢI THÍCH THIẾT KẾ &amp; CO-DESIGN: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Giao tiếp bus XIP: </a:t>
            </a:r>
            <a:r>
              <a:rPr sz="740">
                <a:solidFill>
                  <a:srgbClr val="1E293B"/>
                </a:solidFill>
                <a:latin typeface="Segoe UI"/>
              </a:rPr>
              <a:t>Đọc trong suốt: CPU phát địa chỉ addr[23:0], khối tự sinh xung SPI trả opcode về rdata.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4 chân vật lý SPI: </a:t>
            </a:r>
            <a:r>
              <a:rPr sz="740">
                <a:solidFill>
                  <a:srgbClr val="1E293B"/>
                </a:solidFill>
                <a:latin typeface="Segoe UI"/>
              </a:rPr>
              <a:t>flash_csb, flash_clk, flash_io[3:0] kết nối trực tiếp chip Flash SPI ngoài bo mạch.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Kênh Bit-bang MMIO: </a:t>
            </a:r>
            <a:r>
              <a:rPr sz="740">
                <a:solidFill>
                  <a:srgbClr val="1E293B"/>
                </a:solidFill>
                <a:latin typeface="Segoe UI"/>
              </a:rPr>
              <a:t>cfgreg_we/di/do cho phép phần mềm C điều khiển trực tiếp từng chân SPI để ghi xóa sector.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30975" y="1115568"/>
            <a:ext cx="5029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0975" y="1115568"/>
            <a:ext cx="5029200" cy="2926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850" b="1">
                <a:solidFill>
                  <a:srgbClr val="FFFFFF"/>
                </a:solidFill>
                <a:latin typeface="Consolas"/>
              </a:defRPr>
            </a:pPr>
            <a:r>
              <a:t>FILE: rtl/core/soc_interconnect.v [Flash Decoding]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7551" y="1444752"/>
            <a:ext cx="4956048" cy="991209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4127" y="1453896"/>
            <a:ext cx="4882896" cy="9729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// rtl/core/soc_interconnect.v - Phân luồng Flash XIP &amp; Cfg MMIO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sel_spimem = cpu_mem_valid &amp;&amp; (cpu_mem_addr &gt;= 32'h0010_0000 &amp;&amp;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                                    cpu_mem_addr &lt;  32'h0100_0000);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sel_spicfg = cpu_mem_valid &amp;&amp; (cpu_mem_addr == 32'h0200_0000);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cpu_mem_rdata = sel_spimem ? spimem_rdata :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                     sel_spicfg ? spimem_cfg_do : 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30975" y="2454249"/>
            <a:ext cx="5029200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2415" y="2499969"/>
            <a:ext cx="4846320" cy="7827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760" b="1">
                <a:solidFill>
                  <a:srgbClr val="000000"/>
                </a:solidFill>
                <a:latin typeface="Segoe UI"/>
              </a:defRPr>
            </a:pPr>
            <a:r>
              <a:t>GIẢI THÍCH THIẾT KẾ &amp; CO-DESIGN: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sel_spimem (XIP): </a:t>
            </a:r>
            <a:r>
              <a:rPr sz="740">
                <a:solidFill>
                  <a:srgbClr val="1E293B"/>
                </a:solidFill>
                <a:latin typeface="Segoe UI"/>
              </a:rPr>
              <a:t>Kích hoạt spimemio chế độ đọc lệnh trong suốt từ Flash.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sel_spicfg (MMIO): </a:t>
            </a:r>
            <a:r>
              <a:rPr sz="740">
                <a:solidFill>
                  <a:srgbClr val="1E293B"/>
                </a:solidFill>
                <a:latin typeface="Segoe UI"/>
              </a:rPr>
              <a:t>Kích hoạt thanh ghi cấu hình bit-bang tại địa chỉ 0x0200_0000.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0975" y="3456432"/>
            <a:ext cx="50292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30975" y="3456432"/>
            <a:ext cx="5029200" cy="2926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850" b="1">
                <a:solidFill>
                  <a:srgbClr val="FFFFFF"/>
                </a:solidFill>
                <a:latin typeface="Consolas"/>
              </a:defRPr>
            </a:pPr>
            <a:r>
              <a:t>FILE: firmware/flash.c &amp; start.s [RAM Write Routine]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7551" y="3785616"/>
            <a:ext cx="4956048" cy="1016355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4127" y="3794760"/>
            <a:ext cx="4882896" cy="998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// firmware/flash.c - Routine nạp lên SRAM để xóa/ghi Flash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flashio_worker: li t0, 0x02000000; sh t1, 0(t0); # Ghi Bit-bang SPI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static void flashio(uint8_t *data, int len, uint8_t wrencmd) {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// Sao chép routine flashio_worker lên Stack SRAM (&lt; 0x0400)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// Nhảy sang SRAM thực thi lệnh bit-bang xóa sector &amp; ghi trang Flash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0975" y="4820259"/>
            <a:ext cx="5029200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2415" y="4865979"/>
            <a:ext cx="4846320" cy="803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760" b="1">
                <a:solidFill>
                  <a:srgbClr val="000000"/>
                </a:solidFill>
                <a:latin typeface="Segoe UI"/>
              </a:defRPr>
            </a:pPr>
            <a:r>
              <a:t>GIẢI THÍCH THIẾT KẾ &amp; CO-DESIGN: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Xung đột Flash XIP: </a:t>
            </a:r>
            <a:r>
              <a:rPr sz="740">
                <a:solidFill>
                  <a:srgbClr val="1E293B"/>
                </a:solidFill>
                <a:latin typeface="Segoe UI"/>
              </a:rPr>
              <a:t>Flash không thể vừa cấp lệnh đọc XIP vừa thực thi chu kỳ ghi/xóa sector.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Thực thi từ SRAM: </a:t>
            </a:r>
            <a:r>
              <a:rPr sz="740">
                <a:solidFill>
                  <a:srgbClr val="1E293B"/>
                </a:solidFill>
                <a:latin typeface="Segoe UI"/>
              </a:rPr>
              <a:t>CPU nhảy sang SRAM (&lt; 0x0400) phát lệnh bit-bang 0x0200_0000 mà không nghẽn bus.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5833872" y="1645920"/>
            <a:ext cx="521207" cy="128016"/>
          </a:xfrm>
          <a:prstGeom prst="lef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88152" y="1444752"/>
            <a:ext cx="612647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 b="1">
                <a:solidFill>
                  <a:srgbClr val="000000"/>
                </a:solidFill>
                <a:latin typeface="Segoe UI"/>
              </a:defRPr>
            </a:pPr>
            <a:r>
              <a:t>Opcode XIP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5833872" y="3931920"/>
            <a:ext cx="521207" cy="128016"/>
          </a:xfrm>
          <a:prstGeom prst="lef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88152" y="3730752"/>
            <a:ext cx="612647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 b="1">
                <a:solidFill>
                  <a:srgbClr val="000000"/>
                </a:solidFill>
                <a:latin typeface="Segoe UI"/>
              </a:defRPr>
            </a:pPr>
            <a:r>
              <a:t>Bit-bang MMIO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779008"/>
            <a:ext cx="10728655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/>
          <a:lstStyle/>
          <a:p>
            <a:pPr algn="ctr">
              <a:defRPr sz="830" b="1">
                <a:solidFill>
                  <a:srgbClr val="000000"/>
                </a:solidFill>
                <a:latin typeface="Segoe UI"/>
              </a:defRPr>
            </a:pPr>
            <a:r>
              <a:t>■  CƠ CHẾ CO-DESIGN ĐỒNG BỘ: GIẢI QUYẾT XUNG ĐỘT FLASH XIP: NẠP VÀO RAM ĐỂ GHI FLASH</a:t>
            </a:r>
          </a:p>
          <a:p>
            <a:pPr>
              <a:lnSpc>
                <a:spcPct val="108000"/>
              </a:lnSpc>
              <a:defRPr sz="760">
                <a:solidFill>
                  <a:srgbClr val="000000"/>
                </a:solidFill>
                <a:latin typeface="Segoe UI"/>
              </a:defRPr>
            </a:pPr>
            <a:r>
              <a:t>• Chế Độ Đọc XIP (0x0010_0000): soc_interconnect kích hoạt sel_spimem để CPU kéo opcode liên tục trực tiếp từ Flash.</a:t>
            </a:r>
            <a:br/>
            <a:r>
              <a:t>• Chế Độ Ghi Flash (0x0200_0000): flash.c nạp routine flashio_worker lên SRAM (&lt; 0x0400) rồi chuyển quyền CPU sang SRAM để bit-bang ghi Flash Whitelist (Sec 48) và Log (Sec 49) mà không gây stall CPU.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"/>
            <a:ext cx="10728655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PHẦN 5: CẤU HÌNH PHẦN CỨNG &amp; KHỞI ĐỘNG FIRMWARE (SLIDE 3/3)</a:t>
            </a:r>
          </a:p>
          <a:p>
            <a:pPr>
              <a:defRPr sz="1750" b="1">
                <a:solidFill>
                  <a:srgbClr val="000000"/>
                </a:solidFill>
                <a:latin typeface="Segoe UI"/>
              </a:defRPr>
            </a:pPr>
            <a:r>
              <a:t>Co-Design Ngoại Vi: Khối Interconnect Giải Mã MMIO Dual UART &amp; GPIO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 Tốt Nghiệp: SoC PicoRV32 RFID RDM6300 &amp; SPI Flash | SV: Thái Tuấn Hiệp | GVHD: ThS. Nguyễn Văn Đông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00000"/>
                </a:solidFill>
                <a:latin typeface="Segoe UI"/>
              </a:defRPr>
            </a:pPr>
            <a:r>
              <a:t>09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15568"/>
            <a:ext cx="50292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15568"/>
            <a:ext cx="5029200" cy="2926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850" b="1">
                <a:solidFill>
                  <a:srgbClr val="FFFFFF"/>
                </a:solidFill>
                <a:latin typeface="Consolas"/>
              </a:defRPr>
            </a:pPr>
            <a:r>
              <a:t>FILE: rtl/core/soc_interconnect.v [MMIO Decoder &amp; Mux]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1444752"/>
            <a:ext cx="4956048" cy="208483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53896"/>
            <a:ext cx="4882896" cy="2066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// rtl/core/soc_interconnect.v - Giải mã địa chỉ tổ hợp 0-delay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sel_sram = cpu_mem_valid &amp;&amp; (cpu_mem_addr &lt; 32'h0000_0400);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sel_rfid = cpu_mem_valid &amp;&amp; (cpu_mem_addr[31:28] == 4'h1); // 0x1000_0000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sel_uart = cpu_mem_valid &amp;&amp; (cpu_mem_addr[31:28] == 4'h3); // 0x3000_0000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sel_gpio = cpu_mem_valid &amp;&amp; (cpu_mem_addr[31:28] == 4'h4); // 0x4000_0000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cpu_mem_ready = sram_ready || spimem_ready || sel_spicfg ||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                       rfid_ready || uart_ready   || gpio_ready;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47872"/>
            <a:ext cx="5029200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93592"/>
            <a:ext cx="4846320" cy="2066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760" b="1">
                <a:solidFill>
                  <a:srgbClr val="000000"/>
                </a:solidFill>
                <a:latin typeface="Segoe UI"/>
              </a:defRPr>
            </a:pPr>
            <a:r>
              <a:t>GIẢI THÍCH THIẾT KẾ &amp; CO-DESIGN: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Giải mã tiền tố 4-bit cao: </a:t>
            </a:r>
            <a:r>
              <a:rPr sz="740">
                <a:solidFill>
                  <a:srgbClr val="1E293B"/>
                </a:solidFill>
                <a:latin typeface="Segoe UI"/>
              </a:rPr>
              <a:t>Phân luồng bus tức thời trong 0 chu kỳ clock theo cpu_mem_addr[31:28].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Tách bạch Bus: </a:t>
            </a:r>
            <a:r>
              <a:rPr sz="740">
                <a:solidFill>
                  <a:srgbClr val="1E293B"/>
                </a:solidFill>
                <a:latin typeface="Segoe UI"/>
              </a:rPr>
              <a:t>SRAM (Stack), Flash (XIP), RFID UART, PC UART và GPIO LED hoàn toàn độc lập.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Bắt tay 1 Chu Kỳ: </a:t>
            </a:r>
            <a:r>
              <a:rPr sz="740">
                <a:solidFill>
                  <a:srgbClr val="1E293B"/>
                </a:solidFill>
                <a:latin typeface="Segoe UI"/>
              </a:rPr>
              <a:t>Mọi ngoại vi MMIO phản hồi ready = 1 tức thì, không bao giờ làm stall CPU.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30975" y="1115568"/>
            <a:ext cx="5029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0975" y="1115568"/>
            <a:ext cx="5029200" cy="2926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850" b="1">
                <a:solidFill>
                  <a:srgbClr val="FFFFFF"/>
                </a:solidFill>
                <a:latin typeface="Consolas"/>
              </a:defRPr>
            </a:pPr>
            <a:r>
              <a:t>FILE: rtl/uart/uart_mmio.v [Dual UART FIFO 32B]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7551" y="1444752"/>
            <a:ext cx="4956048" cy="991209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4127" y="1453896"/>
            <a:ext cx="4882896" cy="9729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// rtl/uart/uart_mmio.v - Khối UART MMIO tích hợp FIFO 32B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wire reg_div_sel = valid &amp;&amp; (addr[2] == 1'b0); // 0x00: Baud Divider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wire reg_dat_sel = valid &amp;&amp; (addr[2] == 1'b1); // 0x04: Data FIFO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reg_dat_do = fifo_empty ? 32'hFFFFFFFF : {24'd0, fifo_dout};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assign ready = 1'b1; // Zero wait-state MMIO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30975" y="2454249"/>
            <a:ext cx="5029200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2415" y="2499969"/>
            <a:ext cx="4846320" cy="7827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760" b="1">
                <a:solidFill>
                  <a:srgbClr val="000000"/>
                </a:solidFill>
                <a:latin typeface="Segoe UI"/>
              </a:defRPr>
            </a:pPr>
            <a:r>
              <a:t>GIẢI THÍCH THIẾT KẾ &amp; CO-DESIGN: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Thanh ghi Baud (0x00): </a:t>
            </a:r>
            <a:r>
              <a:rPr sz="740">
                <a:solidFill>
                  <a:srgbClr val="1E293B"/>
                </a:solidFill>
                <a:latin typeface="Segoe UI"/>
              </a:rPr>
              <a:t>Cài đặt tốc độ truyền: 5208 = 50 MHz / 9600 bps.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FIFO RX 32 Byte: </a:t>
            </a:r>
            <a:r>
              <a:rPr sz="740">
                <a:solidFill>
                  <a:srgbClr val="1E293B"/>
                </a:solidFill>
                <a:latin typeface="Segoe UI"/>
              </a:rPr>
              <a:t>Đọc không khóa: có dữ liệu trả byte mã thẻ, rỗng trả về 0xFFFFFFFF.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0975" y="3456432"/>
            <a:ext cx="502920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30975" y="3456432"/>
            <a:ext cx="5029200" cy="2926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36576"/>
          <a:lstStyle/>
          <a:p>
            <a:pPr algn="ctr">
              <a:defRPr sz="850" b="1">
                <a:solidFill>
                  <a:srgbClr val="FFFFFF"/>
                </a:solidFill>
                <a:latin typeface="Consolas"/>
              </a:defRPr>
            </a:pPr>
            <a:r>
              <a:t>FILE: firmware/common/soc_regs.h [Firmware Driver]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7551" y="3785616"/>
            <a:ext cx="4956048" cy="1016355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4127" y="3794760"/>
            <a:ext cx="4882896" cy="998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// firmware/common/soc_regs.h &amp; access_control.c - Driver MMIO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#define REG_RFID_UART_DAT (*(volatile uint32_t*)0x10000004)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#define REG_PC_UART_DAT   (*(volatile uint32_t*)0x30000004)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#define REG_GPIO_LEDS     (*(volatile uint32_t*)0x40000000)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uint32_t d = REG_RFID_UART_DAT;</a:t>
            </a:r>
          </a:p>
          <a:p>
            <a:pPr>
              <a:lnSpc>
                <a:spcPct val="105000"/>
              </a:lnSpc>
              <a:spcAft>
                <a:spcPts val="0"/>
              </a:spcAft>
              <a:defRPr sz="740" b="1">
                <a:solidFill>
                  <a:srgbClr val="000000"/>
                </a:solidFill>
                <a:latin typeface="Consolas"/>
              </a:defRPr>
            </a:pPr>
            <a:r>
              <a:t>if (d != 0xFFFFFFFF) rdm6300_push((uint8_t)d); // Polling không stall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0975" y="4820259"/>
            <a:ext cx="5029200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2415" y="4865979"/>
            <a:ext cx="4846320" cy="803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760" b="1">
                <a:solidFill>
                  <a:srgbClr val="000000"/>
                </a:solidFill>
                <a:latin typeface="Segoe UI"/>
              </a:defRPr>
            </a:pPr>
            <a:r>
              <a:t>GIẢI THÍCH THIẾT KẾ &amp; CO-DESIGN: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Con trỏ volatile uint32_t*: </a:t>
            </a:r>
            <a:r>
              <a:rPr sz="740">
                <a:solidFill>
                  <a:srgbClr val="1E293B"/>
                </a:solidFill>
                <a:latin typeface="Segoe UI"/>
              </a:rPr>
              <a:t>Ép trình biên dịch GCC phát sinh lệnh lw/sw trực tiếp trên bus MMIO.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</a:pPr>
            <a:r>
              <a:rPr sz="740" b="1">
                <a:solidFill>
                  <a:srgbClr val="000000"/>
                </a:solidFill>
                <a:latin typeface="Segoe UI"/>
              </a:rPr>
              <a:t>• Vòng lặp Polling Non-blocking: </a:t>
            </a:r>
            <a:r>
              <a:rPr sz="740">
                <a:solidFill>
                  <a:srgbClr val="1E293B"/>
                </a:solidFill>
                <a:latin typeface="Segoe UI"/>
              </a:rPr>
              <a:t>CPU kiểm tra liên tục trạng thái thẻ và lệnh PC mà không bị treo hệ thống.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833872" y="1645920"/>
            <a:ext cx="521207" cy="12801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88152" y="1444752"/>
            <a:ext cx="612647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 b="1">
                <a:solidFill>
                  <a:srgbClr val="000000"/>
                </a:solidFill>
                <a:latin typeface="Segoe UI"/>
              </a:defRPr>
            </a:pPr>
            <a:r>
              <a:t>Ánh Xạ MMIO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833872" y="3931920"/>
            <a:ext cx="521207" cy="12801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88152" y="3730752"/>
            <a:ext cx="612647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50" b="1">
                <a:solidFill>
                  <a:srgbClr val="000000"/>
                </a:solidFill>
                <a:latin typeface="Segoe UI"/>
              </a:defRPr>
            </a:pPr>
            <a:r>
              <a:t>Thanh Ghi 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779008"/>
            <a:ext cx="10728655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/>
          <a:lstStyle/>
          <a:p>
            <a:pPr algn="ctr">
              <a:defRPr sz="830" b="1">
                <a:solidFill>
                  <a:srgbClr val="000000"/>
                </a:solidFill>
                <a:latin typeface="Segoe UI"/>
              </a:defRPr>
            </a:pPr>
            <a:r>
              <a:t>■  CƠ CHẾ CO-DESIGN ĐỒNG BỘ: BẮT TAY MMIO TRONG SUỐT VÀ GIAO TIẾP NGOẠI VI KHÔNG KHÓA</a:t>
            </a:r>
          </a:p>
          <a:p>
            <a:pPr>
              <a:lnSpc>
                <a:spcPct val="108000"/>
              </a:lnSpc>
              <a:defRPr sz="760">
                <a:solidFill>
                  <a:srgbClr val="000000"/>
                </a:solidFill>
                <a:latin typeface="Segoe UI"/>
              </a:defRPr>
            </a:pPr>
            <a:r>
              <a:t>• Bắt tay 1 Chu Kỳ (Zero-wait-state): Mọi thanh ghi MMIO trả ready = 1 tức thì, CPU PicoRV32 luôn vận hành ở hiệu năng cao nhất.</a:t>
            </a:r>
            <a:br/>
            <a:r>
              <a:t>• FIFO Đệm Phần Cứng 32 Byte: Đầu đọc RFID phát chuỗi 14 byte ASCII, phần cứng tự động nạp vào FIFO; firmware chỉ cần đọc thanh ghi 0x1000_0004 để xử lý mã thẻ.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