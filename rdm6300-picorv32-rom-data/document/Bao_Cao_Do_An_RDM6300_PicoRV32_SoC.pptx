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896112"/>
            <a:ext cx="10271455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EA5E9"/>
                </a:solidFill>
                <a:latin typeface="Segoe UI"/>
              </a:defRPr>
            </a:pPr>
            <a:r>
              <a:t>FPT JETKING — CHIP DESIGN</a:t>
            </a:r>
          </a:p>
          <a:p>
            <a:pPr>
              <a:lnSpc>
                <a:spcPct val="122000"/>
              </a:lnSpc>
              <a:defRPr sz="2500" b="1">
                <a:solidFill>
                  <a:srgbClr val="FFFFFF"/>
                </a:solidFill>
                <a:latin typeface="Segoe UI"/>
              </a:defRPr>
            </a:pPr>
            <a:r>
              <a:t>THIẾT KẾ HỆ THỐNG SOC XỬ LÝ DỮ LIỆU THẺ RA VÀO RFID</a:t>
            </a:r>
            <a:br/>
            <a:r>
              <a:t>TỐI ƯU RTL TO GDSII TRÊN CHIP ASIC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87168"/>
            <a:ext cx="676656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Giao tiếp RFID RDM6300 | Lưu trữ Whitelist SPI Flash NVM</a:t>
            </a:r>
            <a:br/>
            <a:r>
              <a:t>Tạo mẫu Basys 3 FPGA | Ký duyệt ASIC OpenLane 2 (SkyWater 130nm)</a:t>
            </a:r>
          </a:p>
          <a:p>
            <a:pPr>
              <a:spcAft>
                <a:spcPts val="600"/>
              </a:spcAft>
              <a:defRPr sz="1350" b="1">
                <a:solidFill>
                  <a:srgbClr val="FFFFFF"/>
                </a:solidFill>
                <a:latin typeface="Segoe UI"/>
              </a:defRPr>
            </a:pPr>
            <a:r>
              <a:t>Học viên thực hiện :  Thái Tuấn Hiệp</a:t>
            </a:r>
          </a:p>
          <a:p>
            <a:pPr>
              <a:spcAft>
                <a:spcPts val="6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Giảng viên hướng dẫn :  ThS. Nguyễn Văn Đông</a:t>
            </a:r>
          </a:p>
          <a:p>
            <a:pPr>
              <a:defRPr sz="1150" i="1">
                <a:solidFill>
                  <a:srgbClr val="94A3B8"/>
                </a:solidFill>
                <a:latin typeface="Segoe UI"/>
              </a:defRPr>
            </a:pPr>
            <a:r>
              <a:t>Học kỳ :  SEM3  |  Chuyên ngành: Thiết kế Vi mạch Bán dẫn (Chip Design)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423160"/>
            <a:ext cx="3273552" cy="233172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id_card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1" y="2487168"/>
            <a:ext cx="3127248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4480560"/>
            <a:ext cx="32735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 b="1">
                <a:solidFill>
                  <a:srgbClr val="93C5FD"/>
                </a:solidFill>
                <a:latin typeface="Segoe UI"/>
              </a:defRPr>
            </a:pPr>
            <a:r>
              <a:t>Đầu đọc RDM6300 &amp; Thẻ RFID 125kHz (EM4100)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64608"/>
            <a:ext cx="102714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EA5E9"/>
                </a:solidFill>
                <a:latin typeface="Segoe UI"/>
              </a:defRPr>
            </a:pPr>
            <a:r>
              <a:t>CÔNG CỤ EDA &amp; HỆ SINH THÁI CÔNG NGHỆ SỬ DỤNG TRONG ĐỒ ÁN:</a:t>
            </a:r>
          </a:p>
        </p:txBody>
      </p:sp>
      <p:pic>
        <p:nvPicPr>
          <p:cNvPr id="10" name="Picture 9" descr="badge_open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175504"/>
            <a:ext cx="1869159" cy="658368"/>
          </a:xfrm>
          <a:prstGeom prst="rect">
            <a:avLst/>
          </a:prstGeom>
        </p:spPr>
      </p:pic>
      <p:pic>
        <p:nvPicPr>
          <p:cNvPr id="11" name="Picture 10" descr="badge_viv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5834" y="5175504"/>
            <a:ext cx="1816187" cy="658368"/>
          </a:xfrm>
          <a:prstGeom prst="rect">
            <a:avLst/>
          </a:prstGeom>
        </p:spPr>
      </p:pic>
      <p:pic>
        <p:nvPicPr>
          <p:cNvPr id="12" name="Picture 11" descr="badge_fpg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76" y="5175504"/>
            <a:ext cx="1922131" cy="658368"/>
          </a:xfrm>
          <a:prstGeom prst="rect">
            <a:avLst/>
          </a:prstGeom>
        </p:spPr>
      </p:pic>
      <p:pic>
        <p:nvPicPr>
          <p:cNvPr id="13" name="Picture 12" descr="badge_risc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7262" y="5175504"/>
            <a:ext cx="2883197" cy="658368"/>
          </a:xfrm>
          <a:prstGeom prst="rect">
            <a:avLst/>
          </a:prstGeom>
        </p:spPr>
      </p:pic>
      <p:pic>
        <p:nvPicPr>
          <p:cNvPr id="14" name="Picture 13" descr="badge_sky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7015" y="5175504"/>
            <a:ext cx="219456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1: GIỚI THIỆU DỰ ÁN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Tính Cấp Thiết &amp; Vai Trò Cốt Tử Của Bộ Nhớ SPI Flash NVM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2563EB"/>
                </a:solidFill>
                <a:latin typeface="Segoe UI"/>
              </a:defRPr>
            </a:pPr>
            <a:r>
              <a:t>🌐  1. HỆ THỐNG OFFLINE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Loại bỏ phụ thuộc Internet &amp;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Triệt tiêu độ trễ mạng: </a:t>
            </a:r>
            <a:r>
              <a:rPr sz="1150">
                <a:solidFill>
                  <a:srgbClr val="475569"/>
                </a:solidFill>
                <a:latin typeface="Segoe UI"/>
              </a:rPr>
              <a:t>Khắc phục triệt để độ trễ lớn (hàng trăm ms đến vài giây), nguy cơ đứt cáp và nghẽn băng thông.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Phản hồi tức thì (&lt; 10 µs): </a:t>
            </a:r>
            <a:r>
              <a:rPr sz="1150">
                <a:solidFill>
                  <a:srgbClr val="475569"/>
                </a:solidFill>
                <a:latin typeface="Segoe UI"/>
              </a:rPr>
              <a:t>SoC tự giải mã chuỗi RFID và đối chiếu Whitelist tại chỗ trong thời gian thực.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Bảo mật dữ liệu tuyệt đối: </a:t>
            </a:r>
            <a:r>
              <a:rPr sz="1150">
                <a:solidFill>
                  <a:srgbClr val="475569"/>
                </a:solidFill>
                <a:latin typeface="Segoe UI"/>
              </a:rPr>
              <a:t>Dữ liệu định danh lưu trữ nội bộ khép kín, triệt tiêu 100% rủi ro rò rỉ qua Internet.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Vận hành liên tục 24/7: </a:t>
            </a:r>
            <a:r>
              <a:rPr sz="1150">
                <a:solidFill>
                  <a:srgbClr val="475569"/>
                </a:solidFill>
                <a:latin typeface="Segoe UI"/>
              </a:rPr>
              <a:t>Hoạt động bền bỉ, tin cậy tại địa bàn biệt lập, phòng sạch hoặc khi mất kết nối mạng.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988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10B981"/>
                </a:solidFill>
                <a:latin typeface="Segoe UI"/>
              </a:defRPr>
            </a:pPr>
            <a:r>
              <a:t>💾  2. BỘ NHỚ SPI FLASH NVM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Lưu trữ bất biến &amp; Thực thi tại chỗ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Lưu trữ bất biến không cần pin: </a:t>
            </a:r>
            <a:r>
              <a:rPr sz="1150">
                <a:solidFill>
                  <a:srgbClr val="475569"/>
                </a:solidFill>
                <a:latin typeface="Segoe UI"/>
              </a:rPr>
              <a:t>Bảo toàn 4,096 thẻ Whitelist (Sector 48) và 512 bản ghi Access Logs (Sector 49) trên 20 năm.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Thực thi tại chỗ XIP (eXecute-In-Place): </a:t>
            </a:r>
            <a:r>
              <a:rPr sz="1150">
                <a:solidFill>
                  <a:srgbClr val="475569"/>
                </a:solidFill>
                <a:latin typeface="Segoe UI"/>
              </a:rPr>
              <a:t>CPU kéo trực tiếp opcode từ Flash ngoài 4MB để chạy, chỉ cần 1KB SRAM, tiết kiệm &gt; 70% diện tích ASIC.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Tiết kiệm chân pad ngoại vi: </a:t>
            </a:r>
            <a:r>
              <a:rPr sz="1150">
                <a:solidFill>
                  <a:srgbClr val="475569"/>
                </a:solidFill>
                <a:latin typeface="Segoe UI"/>
              </a:rPr>
              <a:t>Chuẩn SPI chỉ dùng 4 chân (CS, SCK, MOSI, MISO), tối ưu hóa số chân pad (chỉ 31 chân) và chi phí đóng gói.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Cập nhật In-RAM linh hoạt: </a:t>
            </a:r>
            <a:r>
              <a:rPr sz="1150">
                <a:solidFill>
                  <a:srgbClr val="475569"/>
                </a:solidFill>
                <a:latin typeface="Segoe UI"/>
              </a:rPr>
              <a:t>Nạp worker vào SRAM để xóa/ghi Flash an toàn mà không làm nghẽn bus XIP của CPU.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7C3AED"/>
                </a:solidFill>
                <a:latin typeface="Segoe UI"/>
              </a:defRPr>
            </a:pPr>
            <a:r>
              <a:t>🛡️  3. TỰ CHỦ VI MẠCH ASIC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Làm chủ 100% RTL &amp; Ký duyệt Sign-off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Triệt tiêu Backdoor phần cứng: </a:t>
            </a:r>
            <a:r>
              <a:rPr sz="1150">
                <a:solidFill>
                  <a:srgbClr val="475569"/>
                </a:solidFill>
                <a:latin typeface="Segoe UI"/>
              </a:rPr>
              <a:t>Làm chủ hoàn toàn từ mã nguồn RTL Verilog (CPU RV32I, bus interconnect, FIFO) đến layout GDSII.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Khối UART chuyên biệt cho RFID: </a:t>
            </a:r>
            <a:r>
              <a:rPr sz="1150">
                <a:solidFill>
                  <a:srgbClr val="475569"/>
                </a:solidFill>
                <a:latin typeface="Segoe UI"/>
              </a:rPr>
              <a:t>Tích hợp bộ đệm FIFO 32B và khối oversampling 16x lấy mẫu đa số, chống rớt mã thẻ.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Ký duyệt Tape-out SkyWater 130nm: </a:t>
            </a:r>
            <a:r>
              <a:rPr sz="1150">
                <a:solidFill>
                  <a:srgbClr val="475569"/>
                </a:solidFill>
                <a:latin typeface="Segoe UI"/>
              </a:rPr>
              <a:t>Luồng OpenLane 2 đạt 100% tiêu chuẩn xuất xưởng: 0 Antenna, 0 LVS, 0 DRC violations.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Hiệu năng cao &amp; Tiết kiệm năng lượng: </a:t>
            </a:r>
            <a:r>
              <a:rPr sz="1150">
                <a:solidFill>
                  <a:srgbClr val="475569"/>
                </a:solidFill>
                <a:latin typeface="Segoe UI"/>
              </a:rPr>
              <a:t>Đạt tần số Fmax = 92.81 MHz (vượt 85% mục tiêu), công suất chỉ 76 mW, độ sụt áp &lt; 0.08% VDD.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VI HỆ THỐNG SOC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Sơ Đồ Khối Kiến Trúc Vi Hệ Thống SoC PicoRV32 (4MB Flash, 1KB SRAM, 32 Fifo)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0728655" cy="5193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531" y="1216152"/>
            <a:ext cx="8790633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VI HỆ THỐNG SOC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Bảng Tra Cứu Địa Chỉ (Memory Map) &amp; Khai Báo Biến Trong C / RTL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04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1298448"/>
          <a:ext cx="10454335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926080"/>
                <a:gridCol w="5470855"/>
              </a:tblGrid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ĐỊA CHỈ VÙNG NHỚ (MMIO / ADDRESS)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NƠI KHAI BÁO C &amp; GIAO DIỆN RTL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Ý NGHĨA SỬ DỤNG VỚI FIRMWARE C (CÁCH DÙNG ➔ TÁC DÙNG)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0x1000_0000</a:t>
                      </a:r>
                      <a:br/>
                      <a:r>
                        <a:t>0x1000_0004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REG_RFID_UART_DAT / DIV</a:t>
                      </a:r>
                      <a:br/>
                      <a:r>
                        <a:t>• RTL: uart_mmio.v (u_rfid_uart)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Polling non-blocking thanh ghi DAT.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Nhận 14 byte chuỗi RFID 125kHz không treo CPU.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0x3000_0000</a:t>
                      </a:r>
                      <a:br/>
                      <a:r>
                        <a:t>0x3000_0004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REG_PC_UART_DAT / DIV</a:t>
                      </a:r>
                      <a:br/>
                      <a:r>
                        <a:t>• RTL: uart_mmio.v (u_pc_uart)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Gọi hàm putchar_pc() / getchar_pc().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Giao tiếp Host CLI 9600 bps quản trị SoC.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0x4000_0000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REG_GPIO_LEDS (0x40000000)</a:t>
                      </a:r>
                      <a:br/>
                      <a:r>
                        <a:t>• RTL: soc_gpio_mmio.v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Ghi bitmask 16-bit điều khiển I/O.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Báo LED xác thực và đóng/ngắt Relay mở cửa.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0x0030_0000</a:t>
                      </a:r>
                      <a:br/>
                      <a:r>
                        <a:t>(Sector 48)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USER_FLASH_ADDR (0x00300000)</a:t>
                      </a:r>
                      <a:br/>
                      <a:r>
                        <a:t>• NVM: SPI Flash Sector 48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Nạp buffer thẻ ghi vào SPI Flash.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Lưu cố định danh sách Whitelist khi mất nguồn.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0x0031_0000</a:t>
                      </a:r>
                      <a:br/>
                      <a:r>
                        <a:t>(Sector 49)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LOG_FLASH_ADDR (0x00310000)</a:t>
                      </a:r>
                      <a:br/>
                      <a:r>
                        <a:t>• NVM: SPI Flash Sector 49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Ghi nối tiếp bản ghi AccessLog_t.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Lưu vết lịch sử quét thẻ an ninh chống ghi đè.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0x0200_0000</a:t>
                      </a:r>
                      <a:br/>
                      <a:r>
                        <a:t>(1KB SRAM)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LDS: sections.lds (ORIGIN 0x02000000)</a:t>
                      </a:r>
                      <a:br/>
                      <a:r>
                        <a:t>• RTL: data_sram.v (1KB SPRAM)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Chứa Stack, .data và nạp flashio_worker.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CPU chạy trong RAM khi Flash bận xóa/ghi.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5: DEMO CHỨC NĂNG SẢN PHẨM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Các Kịch Bản Thực Nghiệm &amp; Giao Diện Quản Trị Host Console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349240" cy="51206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5074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4D399"/>
                </a:solidFill>
                <a:latin typeface="Consolas"/>
              </a:defRPr>
            </a:pPr>
            <a:r>
              <a:t>&gt;_  Menu Host Console CLI (host/main.c)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5074920" cy="4407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===============================================================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   RDM6300 RFID - PICORV32 - BASYS 3 SPI FLASH MANAGER      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===============================================================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[1]  Ping Hardware (Kiem tra ket noi PicoRV32)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[2]  Input &amp; Save New RFID Tag (Nhap 10 so in tren the luu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[3]  Check RFID Tag in Flash (Kiem tra the da co trong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[4]  Delete RFID Tag from Flash (Nhap 10 so de xoa khoi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[5]  Virtual Scan (Quet the ao: Nhap 10 so in tren the)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[6]  View Access Logs from Flash (Xem nhat ky Flash 0x310000)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[7]  Erase Access Logs (Sao luu CSV roi xoa nhat ky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[8]  Export RFID Tags to CSV (Xuat danh sach the ra file CSV)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[9]  Import RFID Tags from Latest CSV (Xoa Flash &amp; Nap CSV)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[0]  Exit (Thoat)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---------------------------------------------------------------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Lua chon cua ban [0-9]: 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25312"/>
            <a:ext cx="50749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Segoe UI"/>
              </a:defRPr>
            </a:pPr>
            <a:r>
              <a:t>=== GIAO DIỆN QUẢN TRỊ TRÊN HOST PC GIAO TIẾP VỚI PICORV32 ===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523951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48737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ÁNH XẠ LỆNH HOST VÀO FIRMWARE C (MAIN.C)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[1] Ping Hardware ➔ case 'P': Phản hồi 'PONG: PicoRV32 Active', kiểm tra kết nối CPU &amp; UART.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[2] Save New Tag ➔ case 'N': Nạp 10 số in trên thẻ vào Flash Sector 48 (địa chỉ 0x0030_0000).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[3] Check Tag ➔ case 'C': Tra cứu xem mã thẻ đã tồn tại trong Whitelist SPI Flash hay chưa.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[4] Delete Tag ➔ case 'K': Xóa duy nhất 1 thẻ chỉ định trong Flash bằng cách ghi đè Magic word.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[5] Virtual Scan ➔ case 'V': Mô phỏng quẹt thẻ ảo từ terminal máy tính để kiểm tra xác thực.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[6] View Logs ➔ case 'L': Đọc toàn bộ lịch sử quét thẻ từ Flash Sector 49 (địa chỉ 0x0031_0000).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[7] Erase Logs ➔ case 'X': Firmware xóa trắng Sector 49 (Host tự gửi 'L' sao lưu CSV trên PC trước).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[8] &amp; [9] Quản lý CSV (Host PC): Host tự xử lý file CSV; gửi lệnh 'F' (đọc thẻ) hoặc 'E'+'N' (nạp thẻ) sang SoC.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KHỐI NGOẠI VI UART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Sơ Đồ Khối Kiến Trúc Vi Mạch UART RTL (Draw.io Đen Trắng &amp; Đặc Tả Thiết Kế)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57800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art_architecture_b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25880"/>
            <a:ext cx="4983480" cy="4846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1188720"/>
            <a:ext cx="528523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98448"/>
            <a:ext cx="491947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50">
                <a:solidFill>
                  <a:srgbClr val="2563EB"/>
                </a:solidFill>
                <a:latin typeface="Segoe UI"/>
              </a:defRPr>
            </a:pPr>
            <a:r>
              <a:t>ĐẶC TẢ THIẾT KẾ 5 TẦNG PHẦN CỨNG UART RTL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E11D48"/>
                </a:solidFill>
                <a:latin typeface="Segoe UI"/>
              </a:defRPr>
            </a:pPr>
            <a:r>
              <a:t>TẦNG 1: ĐỒNG BỘ 2-FF CDC (sync_2ff.v)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Khử siêu ổn định (Metastability) tín hiệu rx_i 125kHz; MTBF &gt; 1.000 năm trên SkyWater 130nm.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D97706"/>
                </a:solidFill>
                <a:latin typeface="Segoe UI"/>
              </a:defRPr>
            </a:pPr>
            <a:r>
              <a:t>TẦNG 2 &amp; 3: TẠO BAUD &amp; MÁY TRẠNG THÁI RX (simpleuart.v)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Chia tần số cfg_divider = 5208 (9600 bps); Lấy mẫu 16x bầu đa số 3 mẫu &amp; bắt khung 8-N-1.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2563EB"/>
                </a:solidFill>
                <a:latin typeface="Segoe UI"/>
              </a:defRPr>
            </a:pPr>
            <a:r>
              <a:t>TẦNG 4: HÀNG ĐỢI FIFO 32 BYTES ĐỘC LẬP (sync_fifo.v)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Đệm trọn vẹn 14 byte chuỗi thẻ RFID, chống tràn dữ liệu tuyệt đối khi CPU bận ghi Flash.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10B981"/>
                </a:solidFill>
                <a:latin typeface="Segoe UI"/>
              </a:defRPr>
            </a:pPr>
            <a:r>
              <a:t>TẦNG 5: GIẢI MÃ BUS MMIO NON-BLOCKING (uart_mmio.v)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Ánh xạ 0x1000_0000 / 0x1000_0004; Phản hồi trong 1 chu kỳ 20ns, không bao giờ treo CPU.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4: HỆ THỐNG TESTBENCH &amp; MÔ PHỎNG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Testbench 1: Kiểm Thử Phần Cứng RTL Thuần Cho UART MMIO &amp; FIFO (tb_uart_rtl.v)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382219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43584"/>
            <a:ext cx="10454335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2563EB"/>
                </a:solidFill>
                <a:latin typeface="Segoe UI"/>
              </a:defRPr>
            </a:pPr>
            <a:r>
              <a:t>DẠNG SÓNG MÔ PHỎNG TIMELINE VIVADO XSIM (15.275 µs)</a:t>
            </a:r>
          </a:p>
        </p:txBody>
      </p:sp>
      <p:pic>
        <p:nvPicPr>
          <p:cNvPr id="10" name="Picture 9" descr="waveform_tb_uart_r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1508760"/>
            <a:ext cx="8778240" cy="34015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102352"/>
            <a:ext cx="7589520" cy="12070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216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5 KỊCH BẢN KIỂM THỬ RTL THUẦN (XÁC MINH PHẦN CỨNG 100% PASS):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1. Divider Mặc Định: Prescaler nạp đúng TEST_DIV = 16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2. Tái Cấu Hình: Ghi giá trị chia tần mới qua MMIO tức thì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3. Phát Khung TX: Ký tự 0x4B ('K') xuất chuẩn UART 8-N-1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4. Nhận Khung RX: Bắt chuỗi xung rx_i, nạp sạch FIFO (read_val = 75)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5. Xả Tràn FIFO: Đệm liên tục nhiều byte, đọc cạn trả về 0xFFFFFFFF ➔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5102352"/>
            <a:ext cx="3047695" cy="1207008"/>
          </a:xfrm>
          <a:prstGeom prst="roundRect">
            <a:avLst>
              <a:gd name="adj" fmla="val 2000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5193792"/>
            <a:ext cx="2834640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XÁC NHẬN VIVADO XSIM:</a:t>
            </a:r>
          </a:p>
          <a:p>
            <a:pPr>
              <a:lnSpc>
                <a:spcPct val="115000"/>
              </a:lnSpc>
              <a:defRPr sz="1050" b="1">
                <a:solidFill>
                  <a:srgbClr val="065F46"/>
                </a:solidFill>
                <a:latin typeface="Segoe UI"/>
              </a:defRPr>
            </a:pPr>
            <a:r>
              <a:t>100% PASS (5/5 TEST SCENARIOS)</a:t>
            </a:r>
            <a:br/>
            <a:r>
              <a:t>RUNTIME: 15.275 µs | SỐ LỖI: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4: HỆ THỐNG TESTBENCH &amp; MÔ PHỎNG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Testbench 2: Kiểm Thử Tích Hợp Toàn Diện Top SoC Boot Flash &amp; Ping (tb_uart_ping.v)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08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51206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1045433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4D399"/>
                </a:solidFill>
                <a:latin typeface="Consolas"/>
              </a:defRPr>
            </a:pPr>
            <a:r>
              <a:t>&gt;_  tb/tb_uart_ping.v [Mã Nguồn Testbench &amp; Nhật Ký Mô Phỏng Vivado XSim]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10454335" cy="4407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// === tb/tb_uart_ping.v: KỊCH BẢN KIỂM THỬ TÍCH HỢP TOÀN DIỆN TOP SOC 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initial begin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clk = 0; rst_n = 0; rdm6300_rx_i = 1; uart_rx_i = 1;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    #200; rst_n = 1;                 // Giải phóng Reset ➔ CPU thức dậy &amp; Boot Flash 0x250000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wait(ready_matched == 1'b1);     // Đợi CPU PicoRV32 thực thi xong Banner C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    #100000; send_pc_byte("P");      // Host PC gửi byte lệnh Ping ('P' = 0x50)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send_pc_byte(8'h0A);             // Gửi ký tự kết thúc dòng '\n' (0x0A)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wait(pong_matched == 1'b1);      // Đợi CPU nhận diện và phản hồi chuỗi PONG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10B981"/>
                </a:solidFill>
                <a:latin typeface="Consolas"/>
              </a:defRPr>
            </a:pPr>
            <a:r>
              <a:t>    if (pong_matched &amp;&amp; !cpu_trap)   $display("  [SUCCESS] PING-PONG TEST PASSED!");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end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// === VIVADO SIMULATOR (XSIM) EXECUTION OUTPUT LOG 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[FLASH MODEL] Loaded 2048 words (8192 bytes) from firmware.hex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[TB] System Reset released. PicoRV32 booting from 0x250000...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========================================================================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           RDM6300 PICORV32 SOC ACCESS CONTROLLER READY                 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========================================================================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[TB] Boot banner detected! Sending 'P' (Ping) command to SoC...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[HOST -&gt; SOC] Sent Byte: 'P' (0x50), '\n' (0x0A)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PONG: PicoRV32 Active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10B981"/>
                </a:solidFill>
                <a:latin typeface="Consolas"/>
              </a:defRPr>
            </a:pPr>
            <a:r>
              <a:t>[SUCCESS] PING-PONG TEST PASSED! PicoRV32 responded with PONG.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cpu_trap = 0 (CPU healthy, no illegal instructions, no stack overflow)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25312"/>
            <a:ext cx="1045433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Segoe UI"/>
              </a:defRPr>
            </a:pPr>
            <a:r>
              <a:t>=== XÁC NHẬN: BOOT FLASH XIP + UART PING-PONG 100% PASS | RUNTIME: 2,086.555 µs | TRAP = 0 ===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5: DEMO CHỨC NĂNG SẢN PHẨM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Danh Sách Thiết Bị &amp; Thiết Lập Kết Nối Phần Cứng FPGA Basys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09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57800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98448"/>
            <a:ext cx="4983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Segoe UI"/>
              </a:defRPr>
            </a:pPr>
            <a:r>
              <a:t>HỆ THỐNG THỰC NGHIỆM THỰC TẾ</a:t>
            </a:r>
          </a:p>
        </p:txBody>
      </p:sp>
      <p:pic>
        <p:nvPicPr>
          <p:cNvPr id="10" name="Picture 9" descr="Dev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4983480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5532120"/>
            <a:ext cx="4983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defRPr sz="1100" i="1">
                <a:solidFill>
                  <a:srgbClr val="475569"/>
                </a:solidFill>
                <a:latin typeface="Segoe UI"/>
              </a:defRPr>
            </a:pPr>
            <a:r>
              <a:t>Nguồn 5V riêng cho RDM6300 (chung GND) • Trở 1kΩ nối tiếp TX ➔ JA1 bảo vệ I/O 3.3V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88720"/>
            <a:ext cx="528523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28032" cy="4892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2563EB"/>
                </a:solidFill>
                <a:latin typeface="Segoe UI"/>
              </a:defRPr>
            </a:pPr>
            <a:r>
              <a:t>DANH SÁCH THIẾT BỊ THỰC NGHIỆM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1. Bo mạch FPGA Digilent Basys 3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Artix-7 XC7A35T, SPI Flash 32Mbit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2. Module RFID RDM6300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125 kHz, kèm ăng-ten cuộn dây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3. Thẻ RFID EM4100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Thẻ từ 125 kHz mẫu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4. Module nguồn MB102 + Adapter DC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Cấp 5V cho RDM6300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5. Điện trở 1kΩ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Nối tiếp chân TX RDM6300 ➔ JA1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6. Breadboard &amp; dây cắm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Đấu nối mạch thử nghiệm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7. Cáp Micro-USB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Nạp FPGA &amp; UART 9600 bps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8. Máy tính Host PC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Chạy chương trình Host Console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Minh Chứng Ký Duyệt Sign-off, Bản Vẽ OpenROAD &amp; Cấu Hình OpenLane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10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120640" cy="32918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48463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0EA5E9"/>
                </a:solidFill>
                <a:latin typeface="Consolas"/>
              </a:defRPr>
            </a:pPr>
            <a:r>
              <a:t>&gt;_  Cấu hình OpenLane (config.json)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846320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"DESIGN_NAME": "rdm6300_picorv32_soc",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"PDK": "sky130A",  "STD_CELL_LIBRARY": "sky130_fd_sc_hd",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"CLOCK_PERIOD": 20.0, // 50 MHz Clock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"FP_CORE_UTIL": 26,   // 26% Core Density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"MAX_FANOUT_CONSTRAINT": 12,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"PL_RESIZER_HOLD_SLACK_MARGIN": 0.6,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"RUN_HEURISTIC_DIODE_INSERTION":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"HEURISTIC_ANTENNA_THRESHOLD": 24,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"GRT_ANTENNA_ITERS": 35,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"RUN_ANTENNA_REPAIR":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"SYNTH_STRATEGY": "AREA 0"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188720"/>
            <a:ext cx="5379415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501365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🖼️ Bản Vẽ Layout OpenROAD (Die 1.87 mm² - 1362 x 1373 µm)</a:t>
            </a:r>
          </a:p>
        </p:txBody>
      </p:sp>
      <p:pic>
        <p:nvPicPr>
          <p:cNvPr id="13" name="Picture 12" descr="OpenR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572768"/>
            <a:ext cx="3886200" cy="28163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4617720"/>
            <a:ext cx="10728655" cy="1691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ntennaLvsD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727448"/>
            <a:ext cx="630936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60920" y="4709160"/>
            <a:ext cx="3977639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✅ KÝ DUYỆT TAPE-OUT READY (100% PASS)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Antenna Sign-off: 0 vi phạm (3,471 diodes xả tĩnh điện bảo vệ oxit cổng)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LVS Sign-off (Netgen): 0 lỗi (Netlists match uniquely 100%, 0 unmatched)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DRC Sign-off (Magic/KLayout): 0 lỗi (Zero DRC violations trên toàn bộ 5 lớp kim loại)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PDN &amp; Timing: Worst IR Drop: 1.39 mV (&lt; 0.08% VDD) | WNS = 0.00 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Tổng Hợp Kết Quả Thiết Kế Vật Lý &amp; Chỉ Số PPA (OpenLane 2 / SkyWater 130nm)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11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18872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876495"/>
                <a:gridCol w="292608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Hạng Mục Đo Đạc Vật Lý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Thông Số Trích Xuất Thực Tế (OpenLane Runs)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Đánh Giá &amp; Tiêu Chuẩn Sign-off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Tiến trình &amp; Điện áp hoạt động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SkyWater 130nm (sky130_fd_sc_hd) | VDD = 1.80 V | Xung nhịp: 50.0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Thư viện High Density, VDD chuẩn 1.8V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Kích thước &amp; Diện tích khuôn (Die / Core)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Die Area: 1.87 mm² (1362.08 x 1372.80 µm) | Core: 1.82 mm² (52.84% Util)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Chuẩn đóng gói khung chân đế QFN/QFP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Quy mô linh kiện (Cell Breakdown)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Tổng 164,478 cells (10,779 D-FF | 23,442 Comb | 77,243 Diode bảo vệ)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24,247 timing buffer + 2,564 CTS buffer/inv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Tổng công suất tiêu thụ (Power Analysis)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Tổng: 76.02 mW (Internal: 41.12 mW, Switching: 34.90 mW) | Rò rỉ: 1.18 µW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Dòng rò tĩnh siêu thấp (Static Leakage ~0%)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Độ sụt áp nguồn (Worst-case IR Drop)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Worst IR Drop: 1.39 mV (0.00139 V, sụt áp &lt; 0.08% VDD | Avg: 0.085 mV)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Lưới nguồn PDN met4/met5 an toàn tuyệt đối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Định tuyến &amp; Dây nối (Interconnect)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60,225 Nets | 575,767 Vias | Tổng chiều dài dây dẫn kim loại: 3.215 mét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Định tuyến 5 lớp kim loại (met1 - met5)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Phân tích định thời tĩnh (STA Timing)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Chu kỳ 20.0 ns (50.0 MHz) | WNS = 0.00 ns | TNS = 0.00 ns (Setup &amp; Hold)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MET TIMING trên toàn bộ 9 góc đo (9 corners)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Ký duyệt xuất xưởng (Sign-off Status)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Antenna Violations | 0 LVS Errors (Netgen 100%) | 0 DRC Errors (Magic)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ĐẠT CHUẨN XUẤT XƯỞNG (TAPE-OUT READY!)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Phân Tích Định Thời Tĩnh STA &amp; Báo Cáo Multi-Corner Timing (summary.rpt)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12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18872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148840"/>
                <a:gridCol w="2148840"/>
                <a:gridCol w="1600200"/>
                <a:gridCol w="2407615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Góc Đo Công Nghệ (Corner)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Setup Slack (Worst / Reg)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Hold Slack (Worst / Reg)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 Phạm (Vio)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Đánh Giá Định Thời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nom_tt_025C_1v80 (Typical)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+4.4194 ns (+6.5934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+0.5418 ns (+0.5418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(Đạt chuẩn 50.0 MHz)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nom_ff_n40C_1v95 (Fast-Fast)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+5.5199 ns (+7.7276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+0.1680 ns (+0.1680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(Biên độ Setup cực lớn)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min_tt_025C_1v80 (Min 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+4.5720 ns (+6.6560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+0.6874 ns (+0.6874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(Hold Margin tối ưu)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min_ff_n40C_1v95 (Min Fast)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+5.6454 ns (+7.7576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+0.2879 ns (+0.2879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(Hoạt động ổn định)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max_tt_025C_1v80 (Max 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+4.2744 ns (+6.5546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+0.3169 ns (+0.3169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(Dư địa 4.27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297680"/>
            <a:ext cx="5257800" cy="2011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70832"/>
            <a:ext cx="498348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⏱️ ĐẶC TÍNH MẠNG XUNG NHỊP (CLOCK.RPT)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Tần số thiết kế mục tiêu: 50.0 MHz (Chu kỳ Tclk = 20.0 ns).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Tần số cực đại khả thi (Fmax): 92.81 MHz (Chu kỳ Tmin = 10.77 ns).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Dư địa định thời (Timing Headroom): +85.6% (Hệ thống có thể boost lên 90MHz an toàn).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Cây xung nhịp TritonCTS: 2,564 Buffers/Inverters | Latency: 2.35 - 3.72 ns | Skew: 1.36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2375" y="4297680"/>
            <a:ext cx="5257800" cy="2011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9535" y="4370832"/>
            <a:ext cx="498348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🛡️ CHIẾN LƯỢC TỐI ƯU HÓA ĐỊNH THỜI (TIMING CLOSURE)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Sửa lỗi Hold Time triệt để: Chèn 21,947 Hold Buffers (dlygate4sd3), triệt tiêu 100% lỗi Hold.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Kiểm soát Max Slew / Max Cap: Bố trí 2,300+ buffer resizer cân bằng tải dung và độ dốc sườn xung.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Đường truyền tới hạn (Critical Path): FF _52233_ -&gt; flash_io2_do: Arrival 13.33 ns &lt; Required 17.75 ns.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Kết luận Ký duyệt STA: Hội tụ định thời hoàn hảo (Timing Closed), đạt chuẩn sản xuất 130nm.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  <a:defRPr sz="2800" b="1">
                <a:solidFill>
                  <a:srgbClr val="0EA5E9"/>
                </a:solidFill>
                <a:latin typeface="Segoe UI"/>
              </a:defRPr>
            </a:pPr>
            <a:r>
              <a:t>TỔNG KẾT ĐỒ ÁN &amp; KẾT QUẢ ĐẠT ĐƯỢC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1. Tự chủ kiến trúc SoC:</a:t>
            </a:r>
            <a:r>
              <a:rPr sz="1650">
                <a:solidFill>
                  <a:srgbClr val="F1F5F9"/>
                </a:solidFill>
                <a:latin typeface="Segoe UI"/>
              </a:rPr>
              <a:t> Tích hợp CPU RISC-V PicoRV32, cầu bus 0-delay, 1KB SRAM &amp; 2 khối UART FIFO 32B.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2. Tối ưu thực thi nhúng:</a:t>
            </a:r>
            <a:r>
              <a:rPr sz="1650">
                <a:solidFill>
                  <a:srgbClr val="F1F5F9"/>
                </a:solidFill>
                <a:latin typeface="Segoe UI"/>
              </a:rPr>
              <a:t> Chạy lệnh XIP từ SPI Flash; Nạp worker vào SRAM ghi/xóa Flash không nghẽn bus.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3. Kiểm chứng thực tế 100%:</a:t>
            </a:r>
            <a:r>
              <a:rPr sz="1650">
                <a:solidFill>
                  <a:srgbClr val="F1F5F9"/>
                </a:solidFill>
                <a:latin typeface="Segoe UI"/>
              </a:rPr>
              <a:t> Testbench Vivado 100% Pass; Chạy ổn định trên bo mạch FPGA Basys 3 thật.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4. Đạt chuẩn ASIC Tape-out:</a:t>
            </a:r>
            <a:r>
              <a:rPr sz="1650">
                <a:solidFill>
                  <a:srgbClr val="F1F5F9"/>
                </a:solidFill>
                <a:latin typeface="Segoe UI"/>
              </a:rPr>
              <a:t> OpenLane 2 (SkyWater 130nm) đạt 0 Antenna, 0 LVS, 0 DRC | Fmax = 92.81 MHz.</a:t>
            </a:r>
          </a:p>
          <a:p>
            <a:pPr>
              <a:spcBef>
                <a:spcPts val="1400"/>
              </a:spcBef>
              <a:defRPr sz="1400">
                <a:solidFill>
                  <a:srgbClr val="93C5FD"/>
                </a:solidFill>
                <a:latin typeface="Segoe UI"/>
              </a:defRPr>
            </a:pPr>
            <a:r>
              <a:t>🔗 GitHub Repository: https://github.com/thaituanhiep/uart-fifo-rfid-asic/tree/rfid_flash_firmware_optimize</a:t>
            </a:r>
          </a:p>
          <a:p>
            <a:pPr>
              <a:spcBef>
                <a:spcPts val="1800"/>
              </a:spcBef>
              <a:defRPr sz="2200" b="1">
                <a:solidFill>
                  <a:srgbClr val="FFFFFF"/>
                </a:solidFill>
                <a:latin typeface="Segoe UI"/>
              </a:defRPr>
            </a:pPr>
            <a:r>
              <a:t>XIN TRÂN TRỌNG CẢM ƠN QUÝ THẦY CÔ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