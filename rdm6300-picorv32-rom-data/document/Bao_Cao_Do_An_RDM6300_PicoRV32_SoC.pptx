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C2541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932688"/>
            <a:ext cx="1027145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350" b="1">
                <a:solidFill>
                  <a:srgbClr val="0EA5E9"/>
                </a:solidFill>
                <a:latin typeface="Segoe UI"/>
              </a:defRPr>
            </a:pPr>
            <a:r>
              <a:t>FPT JETKING — CHIP DESIGN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2600" b="1">
                <a:solidFill>
                  <a:srgbClr val="FFFFFF"/>
                </a:solidFill>
                <a:latin typeface="Segoe UI"/>
              </a:defRPr>
            </a:pPr>
            <a:r>
              <a:t>THIẾT KẾ HỆ THỐNG SOC XỬ LÝ DỮ LIỆU THẺ RA VÀO RFID</a:t>
            </a:r>
            <a:br/>
            <a:r>
              <a:t>TỐI ƯU RTL TO GDSII TRÊN CHIP ASIC</a:t>
            </a:r>
          </a:p>
          <a:p>
            <a:pPr>
              <a:spcAft>
                <a:spcPts val="18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Giao tiếp RFID RDM6300 | Lưu trữ Whitelist SPI Flash NVM | Tạo mẫu Basys 3 FPGA | Ký duyệt ASIC OpenLane 2 (Sky130)</a:t>
            </a:r>
          </a:p>
          <a:p>
            <a:pPr>
              <a:spcAft>
                <a:spcPts val="500"/>
              </a:spcAft>
              <a:defRPr sz="1350" b="1">
                <a:solidFill>
                  <a:srgbClr val="FFFFFF"/>
                </a:solidFill>
                <a:latin typeface="Segoe UI"/>
              </a:defRPr>
            </a:pPr>
            <a:r>
              <a:t>Học viên thực hiện :  Thái Tuấn Hiệp</a:t>
            </a:r>
          </a:p>
          <a:p>
            <a:pPr>
              <a:spcAft>
                <a:spcPts val="500"/>
              </a:spcAft>
              <a:defRPr sz="1250">
                <a:solidFill>
                  <a:srgbClr val="E2E8F0"/>
                </a:solidFill>
                <a:latin typeface="Segoe UI"/>
              </a:defRPr>
            </a:pPr>
            <a:r>
              <a:t>Giảng viên hướng dẫn :  ThS. Nguyễn Văn Đông</a:t>
            </a:r>
          </a:p>
          <a:p>
            <a:pPr>
              <a:defRPr sz="1150" i="1">
                <a:solidFill>
                  <a:srgbClr val="94A3B8"/>
                </a:solidFill>
                <a:latin typeface="Segoe UI"/>
              </a:defRPr>
            </a:pPr>
            <a:r>
              <a:t>Học kỳ :  SEM3  |  Chuyên ngành: Thiết kế Vi mạch Bán dẫn (Chip Design)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4864608"/>
            <a:ext cx="102714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50" b="1">
                <a:solidFill>
                  <a:srgbClr val="0EA5E9"/>
                </a:solidFill>
                <a:latin typeface="Segoe UI"/>
              </a:defRPr>
            </a:pPr>
            <a:r>
              <a:t>CÔNG CỤ EDA &amp; HỆ SINH THÁI CÔNG NGHỆ SỬ DỤNG TRONG ĐỒ ÁN:</a:t>
            </a:r>
          </a:p>
        </p:txBody>
      </p:sp>
      <p:pic>
        <p:nvPicPr>
          <p:cNvPr id="6" name="Picture 5" descr="badge_open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5175504"/>
            <a:ext cx="1869159" cy="658368"/>
          </a:xfrm>
          <a:prstGeom prst="rect">
            <a:avLst/>
          </a:prstGeom>
        </p:spPr>
      </p:pic>
      <p:pic>
        <p:nvPicPr>
          <p:cNvPr id="7" name="Picture 6" descr="badge_viv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5834" y="5175504"/>
            <a:ext cx="1816187" cy="658368"/>
          </a:xfrm>
          <a:prstGeom prst="rect">
            <a:avLst/>
          </a:prstGeom>
        </p:spPr>
      </p:pic>
      <p:pic>
        <p:nvPicPr>
          <p:cNvPr id="8" name="Picture 7" descr="badge_fpg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8576" y="5175504"/>
            <a:ext cx="1922131" cy="658368"/>
          </a:xfrm>
          <a:prstGeom prst="rect">
            <a:avLst/>
          </a:prstGeom>
        </p:spPr>
      </p:pic>
      <p:pic>
        <p:nvPicPr>
          <p:cNvPr id="9" name="Picture 8" descr="badge_riscv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7262" y="5175504"/>
            <a:ext cx="2883197" cy="658368"/>
          </a:xfrm>
          <a:prstGeom prst="rect">
            <a:avLst/>
          </a:prstGeom>
        </p:spPr>
      </p:pic>
      <p:pic>
        <p:nvPicPr>
          <p:cNvPr id="10" name="Picture 9" descr="badge_skywat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7015" y="5175504"/>
            <a:ext cx="2194560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1: GIỚI THIỆU DỰ ÁN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Tính Cấp Thiết &amp; Vai Trò Cốt Tử Của Bộ Nhớ SPI Flash NVM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02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70432"/>
            <a:ext cx="3401568" cy="513892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280160"/>
            <a:ext cx="3182112" cy="932688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316736"/>
            <a:ext cx="310896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300"/>
              </a:spcAft>
              <a:defRPr sz="1350" b="1">
                <a:solidFill>
                  <a:srgbClr val="2563EB"/>
                </a:solidFill>
                <a:latin typeface="Segoe UI"/>
              </a:defRPr>
            </a:pPr>
            <a:r>
              <a:t>🌐  1. HỆ THỐNG OFFLINE</a:t>
            </a:r>
          </a:p>
          <a:p>
            <a:pPr algn="ctr">
              <a:defRPr sz="1100" i="1">
                <a:solidFill>
                  <a:srgbClr val="475569"/>
                </a:solidFill>
                <a:latin typeface="Segoe UI"/>
              </a:defRPr>
            </a:pPr>
            <a:r>
              <a:t>Loại bỏ phụ thuộc Internet &amp; Cloud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322576"/>
            <a:ext cx="3072384" cy="38770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Triệt tiêu độ trễ mạng: </a:t>
            </a:r>
            <a:r>
              <a:rPr sz="1150">
                <a:solidFill>
                  <a:srgbClr val="475569"/>
                </a:solidFill>
                <a:latin typeface="Segoe UI"/>
              </a:rPr>
              <a:t>Khắc phục triệt để độ trễ lớn (hàng trăm ms đến vài giây), nguy cơ đứt cáp và nghẽn băng thông.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Phản hồi tức thì (&lt; 10 µs): </a:t>
            </a:r>
            <a:r>
              <a:rPr sz="1150">
                <a:solidFill>
                  <a:srgbClr val="475569"/>
                </a:solidFill>
                <a:latin typeface="Segoe UI"/>
              </a:rPr>
              <a:t>SoC tự giải mã chuỗi RFID và đối chiếu Whitelist tại chỗ trong thời gian thực.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Bảo mật dữ liệu tuyệt đối: </a:t>
            </a:r>
            <a:r>
              <a:rPr sz="1150">
                <a:solidFill>
                  <a:srgbClr val="475569"/>
                </a:solidFill>
                <a:latin typeface="Segoe UI"/>
              </a:rPr>
              <a:t>Dữ liệu định danh lưu trữ nội bộ khép kín, triệt tiêu 100% rủi ro rò rỉ qua Internet.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Vận hành liên tục 24/7: </a:t>
            </a:r>
            <a:r>
              <a:rPr sz="1150">
                <a:solidFill>
                  <a:srgbClr val="475569"/>
                </a:solidFill>
                <a:latin typeface="Segoe UI"/>
              </a:rPr>
              <a:t>Hoạt động bền bỉ, tin cậy tại địa bàn biệt lập, phòng sạch hoặc khi mất kết nối mạng.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170432"/>
            <a:ext cx="3401568" cy="513892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98848" y="1280160"/>
            <a:ext cx="3182112" cy="932688"/>
          </a:xfrm>
          <a:prstGeom prst="roundRect">
            <a:avLst>
              <a:gd name="adj" fmla="val 5000"/>
            </a:avLst>
          </a:prstGeom>
          <a:solidFill>
            <a:srgbClr val="F0FDF4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1316736"/>
            <a:ext cx="310896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300"/>
              </a:spcAft>
              <a:defRPr sz="1350" b="1">
                <a:solidFill>
                  <a:srgbClr val="10B981"/>
                </a:solidFill>
                <a:latin typeface="Segoe UI"/>
              </a:defRPr>
            </a:pPr>
            <a:r>
              <a:t>💾  2. BỘ NHỚ SPI FLASH NVM</a:t>
            </a:r>
          </a:p>
          <a:p>
            <a:pPr algn="ctr">
              <a:defRPr sz="1100" i="1">
                <a:solidFill>
                  <a:srgbClr val="475569"/>
                </a:solidFill>
                <a:latin typeface="Segoe UI"/>
              </a:defRPr>
            </a:pPr>
            <a:r>
              <a:t>Lưu trữ bất biến &amp; Thực thi tại chỗ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322576"/>
            <a:ext cx="3072384" cy="38770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Lưu trữ bất biến không cần pin: </a:t>
            </a:r>
            <a:r>
              <a:rPr sz="1150">
                <a:solidFill>
                  <a:srgbClr val="475569"/>
                </a:solidFill>
                <a:latin typeface="Segoe UI"/>
              </a:rPr>
              <a:t>Bảo toàn 4,096 thẻ Whitelist (Sector 48) và 512 bản ghi Access Logs (Sector 49) trên 20 năm.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Thực thi tại chỗ XIP (eXecute-In-Place): </a:t>
            </a:r>
            <a:r>
              <a:rPr sz="1150">
                <a:solidFill>
                  <a:srgbClr val="475569"/>
                </a:solidFill>
                <a:latin typeface="Segoe UI"/>
              </a:rPr>
              <a:t>CPU kéo trực tiếp opcode từ Flash ngoài 4MB để chạy, chỉ cần 1KB SRAM, tiết kiệm &gt; 70% diện tích ASIC.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Tiết kiệm chân pad ngoại vi: </a:t>
            </a:r>
            <a:r>
              <a:rPr sz="1150">
                <a:solidFill>
                  <a:srgbClr val="475569"/>
                </a:solidFill>
                <a:latin typeface="Segoe UI"/>
              </a:rPr>
              <a:t>Chuẩn SPI chỉ dùng 4 chân (CS, SCK, MOSI, MISO), tối ưu hóa số chân pad (chỉ 31 chân) và chi phí đóng gói.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Cập nhật In-RAM linh hoạt: </a:t>
            </a:r>
            <a:r>
              <a:rPr sz="1150">
                <a:solidFill>
                  <a:srgbClr val="475569"/>
                </a:solidFill>
                <a:latin typeface="Segoe UI"/>
              </a:rPr>
              <a:t>Nạp worker vào SRAM để xóa/ghi Flash an toàn mà không làm nghẽn bus XIP của CPU.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170432"/>
            <a:ext cx="3401568" cy="513892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56448" y="1280160"/>
            <a:ext cx="3182112" cy="932688"/>
          </a:xfrm>
          <a:prstGeom prst="roundRect">
            <a:avLst>
              <a:gd name="adj" fmla="val 5000"/>
            </a:avLst>
          </a:prstGeom>
          <a:solidFill>
            <a:srgbClr val="FAF5FF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3024" y="1316736"/>
            <a:ext cx="310896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300"/>
              </a:spcAft>
              <a:defRPr sz="1350" b="1">
                <a:solidFill>
                  <a:srgbClr val="7C3AED"/>
                </a:solidFill>
                <a:latin typeface="Segoe UI"/>
              </a:defRPr>
            </a:pPr>
            <a:r>
              <a:t>🛡️  3. TỰ CHỦ VI MẠCH ASIC</a:t>
            </a:r>
          </a:p>
          <a:p>
            <a:pPr algn="ctr">
              <a:defRPr sz="1100" i="1">
                <a:solidFill>
                  <a:srgbClr val="475569"/>
                </a:solidFill>
                <a:latin typeface="Segoe UI"/>
              </a:defRPr>
            </a:pPr>
            <a:r>
              <a:t>Làm chủ 100% RTL &amp; Ký duyệt Sign-off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1312" y="2322576"/>
            <a:ext cx="3072384" cy="38770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Triệt tiêu Backdoor phần cứng: </a:t>
            </a:r>
            <a:r>
              <a:rPr sz="1150">
                <a:solidFill>
                  <a:srgbClr val="475569"/>
                </a:solidFill>
                <a:latin typeface="Segoe UI"/>
              </a:rPr>
              <a:t>Làm chủ hoàn toàn từ mã nguồn RTL Verilog (CPU RV32I, bus interconnect, FIFO) đến layout GDSII.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Khối UART chuyên biệt cho RFID: </a:t>
            </a:r>
            <a:r>
              <a:rPr sz="1150">
                <a:solidFill>
                  <a:srgbClr val="475569"/>
                </a:solidFill>
                <a:latin typeface="Segoe UI"/>
              </a:rPr>
              <a:t>Tích hợp bộ đệm FIFO 32B và khối oversampling 16x lấy mẫu đa số, chống rớt mã thẻ.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Ký duyệt Tape-out SkyWater 130nm: </a:t>
            </a:r>
            <a:r>
              <a:rPr sz="1150">
                <a:solidFill>
                  <a:srgbClr val="475569"/>
                </a:solidFill>
                <a:latin typeface="Segoe UI"/>
              </a:rPr>
              <a:t>Luồng OpenLane 2 đạt 100% tiêu chuẩn xuất xưởng: 0 Antenna, 0 LVS, 0 DRC violations.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1">
                <a:solidFill>
                  <a:srgbClr val="0F172A"/>
                </a:solidFill>
                <a:latin typeface="Segoe UI"/>
              </a:rPr>
              <a:t>• Hiệu năng cao &amp; Tiết kiệm năng lượng: </a:t>
            </a:r>
            <a:r>
              <a:rPr sz="1150">
                <a:solidFill>
                  <a:srgbClr val="475569"/>
                </a:solidFill>
                <a:latin typeface="Segoe UI"/>
              </a:rPr>
              <a:t>Đạt tần số Fmax = 92.81 MHz (vượt 85% mục tiêu), công suất chỉ 76 mW, độ sụt áp &lt; 0.08% VDD.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3: KIẾN TRÚC VI HỆ THỐNG SOC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Sơ Đồ Khối Kiến Trúc Vi Hệ Thống SoC PicoRV32 (4MB Flash, 1KB SRAM, 32 Fifo)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03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10728655" cy="519379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1_block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531" y="1216152"/>
            <a:ext cx="8790633" cy="50474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3: KIẾN TRÚC VI HỆ THỐNG SOC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Bảng Tra Cứu Địa Chỉ (Memory Map) &amp; Khai Báo Biến Trong C / RTL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04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88720"/>
            <a:ext cx="10728655" cy="51206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68680" y="1298448"/>
          <a:ext cx="10454335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926080"/>
                <a:gridCol w="5470855"/>
              </a:tblGrid>
              <a:tr h="69886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EA5E9"/>
                          </a:solidFill>
                          <a:latin typeface="Segoe UI"/>
                        </a:defRPr>
                      </a:pPr>
                      <a:r>
                        <a:t>ĐỊA CHỈ VÙNG NHỚ (MMIO / ADDRESS)</a:t>
                      </a:r>
                    </a:p>
                  </a:txBody>
                  <a:tcPr anchor="ctr" marL="73152" marR="73152" marT="45720" marB="45720">
                    <a:solidFill>
                      <a:srgbClr val="0B13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EA5E9"/>
                          </a:solidFill>
                          <a:latin typeface="Segoe UI"/>
                        </a:defRPr>
                      </a:pPr>
                      <a:r>
                        <a:t>NƠI KHAI BÁO C &amp; GIAO DIỆN RTL</a:t>
                      </a:r>
                    </a:p>
                  </a:txBody>
                  <a:tcPr anchor="ctr" marL="73152" marR="73152" marT="45720" marB="45720">
                    <a:solidFill>
                      <a:srgbClr val="0B13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EA5E9"/>
                          </a:solidFill>
                          <a:latin typeface="Segoe UI"/>
                        </a:defRPr>
                      </a:pPr>
                      <a:r>
                        <a:t>Ý NGHĨA SỬ DỤNG VỚI FIRMWARE C (CÁCH DÙNG ➔ TÁC DÙNG)</a:t>
                      </a:r>
                    </a:p>
                  </a:txBody>
                  <a:tcPr anchor="ctr" marL="73152" marR="73152" marT="45720" marB="45720">
                    <a:solidFill>
                      <a:srgbClr val="0B132B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0x1000_0000</a:t>
                      </a:r>
                      <a:br/>
                      <a:r>
                        <a:t>0x1000_0004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8000"/>
                        </a:lnSpc>
                        <a:defRPr sz="1080">
                          <a:solidFill>
                            <a:srgbClr val="0B132B"/>
                          </a:solidFill>
                          <a:latin typeface="Segoe UI"/>
                        </a:defRPr>
                      </a:pPr>
                      <a:r>
                        <a:t>• C: REG_RFID_UART_DAT / DIV</a:t>
                      </a:r>
                      <a:br/>
                      <a:r>
                        <a:t>• RTL: uart_mmio.v (u_rfid_uart)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  <a:spcAft>
                          <a:spcPts val="300"/>
                        </a:spcAft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👉 Cách dùng: Polling non-blocking thanh ghi DAT.</a:t>
                      </a:r>
                    </a:p>
                    <a:p>
                      <a:pPr>
                        <a:lnSpc>
                          <a:spcPct val="116000"/>
                        </a:lnSpc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🎯 Tác dụng: Nhận 14 byte chuỗi RFID 125kHz không treo CPU.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0x3000_0000</a:t>
                      </a:r>
                      <a:br/>
                      <a:r>
                        <a:t>0x3000_0004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8000"/>
                        </a:lnSpc>
                        <a:defRPr sz="1080">
                          <a:solidFill>
                            <a:srgbClr val="0B132B"/>
                          </a:solidFill>
                          <a:latin typeface="Segoe UI"/>
                        </a:defRPr>
                      </a:pPr>
                      <a:r>
                        <a:t>• C: REG_PC_UART_DAT / DIV</a:t>
                      </a:r>
                      <a:br/>
                      <a:r>
                        <a:t>• RTL: uart_mmio.v (u_pc_uart)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  <a:spcAft>
                          <a:spcPts val="300"/>
                        </a:spcAft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👉 Cách dùng: Gọi hàm putchar_pc() / getchar_pc().</a:t>
                      </a:r>
                    </a:p>
                    <a:p>
                      <a:pPr>
                        <a:lnSpc>
                          <a:spcPct val="116000"/>
                        </a:lnSpc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🎯 Tác dụng: Giao tiếp Host CLI 9600 bps quản trị SoC.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0x4000_0000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8000"/>
                        </a:lnSpc>
                        <a:defRPr sz="1080">
                          <a:solidFill>
                            <a:srgbClr val="0B132B"/>
                          </a:solidFill>
                          <a:latin typeface="Segoe UI"/>
                        </a:defRPr>
                      </a:pPr>
                      <a:r>
                        <a:t>• C: REG_GPIO_LEDS (0x40000000)</a:t>
                      </a:r>
                      <a:br/>
                      <a:r>
                        <a:t>• RTL: soc_gpio_mmio.v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  <a:spcAft>
                          <a:spcPts val="300"/>
                        </a:spcAft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👉 Cách dùng: Ghi bitmask 16-bit điều khiển I/O.</a:t>
                      </a:r>
                    </a:p>
                    <a:p>
                      <a:pPr>
                        <a:lnSpc>
                          <a:spcPct val="116000"/>
                        </a:lnSpc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🎯 Tác dụng: Báo LED xác thực và đóng/ngắt Relay mở cửa.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0x0030_0000</a:t>
                      </a:r>
                      <a:br/>
                      <a:r>
                        <a:t>(Sector 48)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8000"/>
                        </a:lnSpc>
                        <a:defRPr sz="1080">
                          <a:solidFill>
                            <a:srgbClr val="0B132B"/>
                          </a:solidFill>
                          <a:latin typeface="Segoe UI"/>
                        </a:defRPr>
                      </a:pPr>
                      <a:r>
                        <a:t>• C: USER_FLASH_ADDR (0x00300000)</a:t>
                      </a:r>
                      <a:br/>
                      <a:r>
                        <a:t>• NVM: SPI Flash Sector 48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  <a:spcAft>
                          <a:spcPts val="300"/>
                        </a:spcAft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👉 Cách dùng: Nạp buffer thẻ ghi vào SPI Flash.</a:t>
                      </a:r>
                    </a:p>
                    <a:p>
                      <a:pPr>
                        <a:lnSpc>
                          <a:spcPct val="116000"/>
                        </a:lnSpc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🎯 Tác dụng: Lưu cố định danh sách Whitelist khi mất nguồn.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0x0031_0000</a:t>
                      </a:r>
                      <a:br/>
                      <a:r>
                        <a:t>(Sector 49)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8000"/>
                        </a:lnSpc>
                        <a:defRPr sz="1080">
                          <a:solidFill>
                            <a:srgbClr val="0B132B"/>
                          </a:solidFill>
                          <a:latin typeface="Segoe UI"/>
                        </a:defRPr>
                      </a:pPr>
                      <a:r>
                        <a:t>• C: LOG_FLASH_ADDR (0x00310000)</a:t>
                      </a:r>
                      <a:br/>
                      <a:r>
                        <a:t>• NVM: SPI Flash Sector 49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  <a:spcAft>
                          <a:spcPts val="300"/>
                        </a:spcAft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👉 Cách dùng: Ghi nối tiếp bản ghi AccessLog_t.</a:t>
                      </a:r>
                    </a:p>
                    <a:p>
                      <a:pPr>
                        <a:lnSpc>
                          <a:spcPct val="116000"/>
                        </a:lnSpc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🎯 Tác dụng: Lưu vết lịch sử quét thẻ an ninh chống ghi đè.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9886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0x0200_0000</a:t>
                      </a:r>
                      <a:br/>
                      <a:r>
                        <a:t>(1KB SRAM)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8000"/>
                        </a:lnSpc>
                        <a:defRPr sz="1080">
                          <a:solidFill>
                            <a:srgbClr val="0B132B"/>
                          </a:solidFill>
                          <a:latin typeface="Segoe UI"/>
                        </a:defRPr>
                      </a:pPr>
                      <a:r>
                        <a:t>• LDS: sections.lds (ORIGIN 0x02000000)</a:t>
                      </a:r>
                      <a:br/>
                      <a:r>
                        <a:t>• RTL: data_sram.v (1KB SPRAM)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  <a:spcAft>
                          <a:spcPts val="300"/>
                        </a:spcAft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👉 Cách dùng: Chứa Stack, .data và nạp flashio_worker.</a:t>
                      </a:r>
                    </a:p>
                    <a:p>
                      <a:pPr>
                        <a:lnSpc>
                          <a:spcPct val="116000"/>
                        </a:lnSpc>
                        <a:defRPr sz="12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🎯 Tác dụng: CPU chạy trong RAM khi Flash bận xóa/ghi.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5: DEMO CHỨC NĂNG SẢN PHẨM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Các Kịch Bản Thực Nghiệm &amp; Giao Diện Quản Trị Host Console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05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88720"/>
            <a:ext cx="5349240" cy="5120640"/>
          </a:xfrm>
          <a:prstGeom prst="roundRect">
            <a:avLst>
              <a:gd name="adj" fmla="val 2000"/>
            </a:avLst>
          </a:prstGeom>
          <a:solidFill>
            <a:srgbClr val="0B132B"/>
          </a:solidFill>
          <a:ln w="19050">
            <a:solidFill>
              <a:srgbClr val="1C25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261872"/>
            <a:ext cx="507492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34D399"/>
                </a:solidFill>
                <a:latin typeface="Consolas"/>
              </a:defRPr>
            </a:pPr>
            <a:r>
              <a:t>&gt;_  Menu Host Console CLI (host/main.c)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554480"/>
            <a:ext cx="5074920" cy="44074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===============================================================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   RDM6300 RFID - PICORV32 - BASYS 3 SPI FLASH MANAGER      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===============================================================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[1]  Ping Hardware (Kiem tra ket noi PicoRV32)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[2]  Input &amp; Save New RFID Tag (Nhap 10 so in tren the luu Flash)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[3]  Check RFID Tag in Flash (Kiem tra the da co trong Flash)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[4]  Delete RFID Tag from Flash (Nhap 10 so de xoa khoi Flash)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[5]  Virtual Scan (Quet the ao: Nhap 10 so in tren the)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[6]  View Access Logs from Flash (Xem nhat ky Flash 0x310000)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[7]  Erase Access Logs (Sao luu CSV roi xoa nhat ky Flash)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[8]  Export RFID Tags to CSV (Xuat danh sach the ra file CSV)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[9]  Import RFID Tags from Latest CSV (Xoa Flash &amp; Nap CSV)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[0]  Exit (Thoat)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---------------------------------------------------------------</a:t>
            </a:r>
          </a:p>
          <a:p>
            <a:pPr>
              <a:lnSpc>
                <a:spcPct val="155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Lua chon cua ban [0-9]: 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925312"/>
            <a:ext cx="50749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 b="1">
                <a:solidFill>
                  <a:srgbClr val="10B981"/>
                </a:solidFill>
                <a:latin typeface="Segoe UI"/>
              </a:defRPr>
            </a:pPr>
            <a:r>
              <a:t>=== GIAO DIỆN QUẢN TRỊ TRÊN HOST PC GIAO TIẾP VỚI PICORV32 ===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188720"/>
            <a:ext cx="5239512" cy="51206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98448"/>
            <a:ext cx="48737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  <a:latin typeface="Segoe UI"/>
              </a:defRPr>
            </a:pPr>
            <a:r>
              <a:t>ÁNH XẠ LỆNH HOST VÀO FIRMWARE C (MAIN.C)</a:t>
            </a:r>
          </a:p>
          <a:p>
            <a:pPr>
              <a:lnSpc>
                <a:spcPct val="115000"/>
              </a:lnSpc>
              <a:spcAft>
                <a:spcPts val="65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[1] Ping Hardware ➔ case 'P': Phản hồi 'PONG: PicoRV32 Active', kiểm tra kết nối CPU &amp; UART.</a:t>
            </a:r>
          </a:p>
          <a:p>
            <a:pPr>
              <a:lnSpc>
                <a:spcPct val="115000"/>
              </a:lnSpc>
              <a:spcAft>
                <a:spcPts val="65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[2] Save New Tag ➔ case 'N': Nạp 10 số in trên thẻ vào Flash Sector 48 (địa chỉ 0x0030_0000).</a:t>
            </a:r>
          </a:p>
          <a:p>
            <a:pPr>
              <a:lnSpc>
                <a:spcPct val="115000"/>
              </a:lnSpc>
              <a:spcAft>
                <a:spcPts val="65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[3] Check Tag ➔ case 'C': Tra cứu xem mã thẻ đã tồn tại trong Whitelist SPI Flash hay chưa.</a:t>
            </a:r>
          </a:p>
          <a:p>
            <a:pPr>
              <a:lnSpc>
                <a:spcPct val="115000"/>
              </a:lnSpc>
              <a:spcAft>
                <a:spcPts val="65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[4] Delete Tag ➔ case 'K': Xóa thẻ chỉ định ra khỏi danh sách Whitelist lưu trong Flash.</a:t>
            </a:r>
          </a:p>
          <a:p>
            <a:pPr>
              <a:lnSpc>
                <a:spcPct val="115000"/>
              </a:lnSpc>
              <a:spcAft>
                <a:spcPts val="65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[5] Virtual Scan ➔ case 'V': Mô phỏng quẹt thẻ ảo từ terminal máy tính để kiểm tra xác thực.</a:t>
            </a:r>
          </a:p>
          <a:p>
            <a:pPr>
              <a:lnSpc>
                <a:spcPct val="115000"/>
              </a:lnSpc>
              <a:spcAft>
                <a:spcPts val="65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[6] View Logs ➔ case 'L': Đọc toàn bộ lịch sử quét thẻ từ Flash Sector 49 (địa chỉ 0x0031_0000).</a:t>
            </a:r>
          </a:p>
          <a:p>
            <a:pPr>
              <a:lnSpc>
                <a:spcPct val="115000"/>
              </a:lnSpc>
              <a:spcAft>
                <a:spcPts val="65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[7] Erase Logs ➔ case 'X': Tự động sao lưu CSV trên PC rồi xóa trắng nhật ký trong Flash.</a:t>
            </a:r>
          </a:p>
          <a:p>
            <a:pPr>
              <a:lnSpc>
                <a:spcPct val="115000"/>
              </a:lnSpc>
              <a:spcAft>
                <a:spcPts val="65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[8] &amp; [9] Export/Import CSV: Dùng lệnh 'F' (đọc tất cả thẻ) &amp; 'E' (xóa thẻ) để đồng bộ hóa CSV.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3: KIẾN TRÚC KHỐI NGOẠI VI UART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Sơ Đồ Khối Kiến Trúc Vi Mạch UART RTL (Draw.io Đen Trắng &amp; Đặc Tả Thiết Kế)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06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88720"/>
            <a:ext cx="5257800" cy="51206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art_architecture_bw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325880"/>
            <a:ext cx="4983480" cy="48463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1188720"/>
            <a:ext cx="5285232" cy="51206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298448"/>
            <a:ext cx="491947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450">
                <a:solidFill>
                  <a:srgbClr val="2563EB"/>
                </a:solidFill>
                <a:latin typeface="Segoe UI"/>
              </a:defRPr>
            </a:pPr>
            <a:r>
              <a:t>ĐẶC TẢ THIẾT KẾ 5 TẦNG PHẦN CỨNG UART RTL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250" b="1">
                <a:solidFill>
                  <a:srgbClr val="E11D48"/>
                </a:solidFill>
                <a:latin typeface="Segoe UI"/>
              </a:defRPr>
            </a:pPr>
            <a:r>
              <a:t>TẦNG 1: ĐỒNG BỘ 2-FF CDC (sync_2ff.v)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Khử siêu ổn định (Metastability) tín hiệu rx_i 125kHz; MTBF &gt; 1.000 năm trên SkyWater 130nm.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250" b="1">
                <a:solidFill>
                  <a:srgbClr val="D97706"/>
                </a:solidFill>
                <a:latin typeface="Segoe UI"/>
              </a:defRPr>
            </a:pPr>
            <a:r>
              <a:t>TẦNG 2 &amp; 3: TẠO BAUD &amp; MÁY TRẠNG THÁI RX (simpleuart.v)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Chia tần số cfg_divider = 5208 (9600 bps); Lấy mẫu 16x bầu đa số 3 mẫu &amp; bắt khung 8-N-1.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250" b="1">
                <a:solidFill>
                  <a:srgbClr val="2563EB"/>
                </a:solidFill>
                <a:latin typeface="Segoe UI"/>
              </a:defRPr>
            </a:pPr>
            <a:r>
              <a:t>TẦNG 4: HÀNG ĐỢI FIFO 32 BYTES ĐỘC LẬP (sync_fifo.v)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Đệm trọn vẹn 14 byte chuỗi thẻ RFID, chống tràn dữ liệu tuyệt đối khi CPU bận ghi Flash.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250" b="1">
                <a:solidFill>
                  <a:srgbClr val="10B981"/>
                </a:solidFill>
                <a:latin typeface="Segoe UI"/>
              </a:defRPr>
            </a:pPr>
            <a:r>
              <a:t>TẦNG 5: GIẢI MÃ BUS MMIO NON-BLOCKING (uart_mmio.v)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200">
                <a:solidFill>
                  <a:srgbClr val="0F172A"/>
                </a:solidFill>
                <a:latin typeface="Segoe UI"/>
              </a:defRPr>
            </a:pPr>
            <a:r>
              <a:t>• Ánh xạ 0x1000_0000 / 0x1000_0004; Phản hồi trong 1 chu kỳ 20ns, không bao giờ treo CPU.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4: HỆ THỐNG TESTBENCH &amp; MÔ PHỎNG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Testbench 1: Kiểm Thử Phần Cứng RTL Thuần Cho UART MMIO &amp; FIFO (tb_uart_rtl.v)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07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88720"/>
            <a:ext cx="10728655" cy="3822191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243584"/>
            <a:ext cx="10454335" cy="23774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2563EB"/>
                </a:solidFill>
                <a:latin typeface="Segoe UI"/>
              </a:defRPr>
            </a:pPr>
            <a:r>
              <a:t>DẠNG SÓNG MÔ PHỎNG TIMELINE VIVADO XSIM (15.275 µs)</a:t>
            </a:r>
          </a:p>
        </p:txBody>
      </p:sp>
      <p:pic>
        <p:nvPicPr>
          <p:cNvPr id="10" name="Picture 9" descr="waveform_tb_uart_rt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784" y="1508760"/>
            <a:ext cx="8778240" cy="340156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102352"/>
            <a:ext cx="7589520" cy="120700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57216"/>
            <a:ext cx="73152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563EB"/>
                </a:solidFill>
                <a:latin typeface="Segoe UI"/>
              </a:defRPr>
            </a:pPr>
            <a:r>
              <a:t>5 KỊCH BẢN KIỂM THỬ RTL THUẦN (XÁC MINH PHẦN CỨNG 100% PASS):</a:t>
            </a:r>
          </a:p>
          <a:p>
            <a:pPr>
              <a:lnSpc>
                <a:spcPct val="105000"/>
              </a:lnSpc>
              <a:spcAft>
                <a:spcPts val="12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1. Divider Mặc Định: Prescaler nạp đúng TEST_DIV = 16 ➔ PASS</a:t>
            </a:r>
          </a:p>
          <a:p>
            <a:pPr>
              <a:lnSpc>
                <a:spcPct val="105000"/>
              </a:lnSpc>
              <a:spcAft>
                <a:spcPts val="12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2. Tái Cấu Hình: Ghi giá trị chia tần mới qua MMIO tức thì ➔ PASS</a:t>
            </a:r>
          </a:p>
          <a:p>
            <a:pPr>
              <a:lnSpc>
                <a:spcPct val="105000"/>
              </a:lnSpc>
              <a:spcAft>
                <a:spcPts val="12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3. Phát Khung TX: Ký tự 0x4B ('K') xuất chuẩn UART 8-N-1 ➔ PASS</a:t>
            </a:r>
          </a:p>
          <a:p>
            <a:pPr>
              <a:lnSpc>
                <a:spcPct val="105000"/>
              </a:lnSpc>
              <a:spcAft>
                <a:spcPts val="12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4. Nhận Khung RX: Bắt chuỗi xung rx_i, nạp sạch FIFO (read_val = 75) ➔ PASS</a:t>
            </a:r>
          </a:p>
          <a:p>
            <a:pPr>
              <a:lnSpc>
                <a:spcPct val="105000"/>
              </a:lnSpc>
              <a:spcAft>
                <a:spcPts val="12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5. Xả Tràn FIFO: Đệm liên tục nhiều byte, đọc cạn trả về 0xFFFFFFFF ➔ PASS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5102352"/>
            <a:ext cx="3047695" cy="1207008"/>
          </a:xfrm>
          <a:prstGeom prst="roundRect">
            <a:avLst>
              <a:gd name="adj" fmla="val 2000"/>
            </a:avLst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22208" y="5193792"/>
            <a:ext cx="2834640" cy="10241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0B981"/>
                </a:solidFill>
                <a:latin typeface="Segoe UI"/>
              </a:defRPr>
            </a:pPr>
            <a:r>
              <a:t>XÁC NHẬN VIVADO XSIM:</a:t>
            </a:r>
          </a:p>
          <a:p>
            <a:pPr>
              <a:lnSpc>
                <a:spcPct val="115000"/>
              </a:lnSpc>
              <a:defRPr sz="1050" b="1">
                <a:solidFill>
                  <a:srgbClr val="065F46"/>
                </a:solidFill>
                <a:latin typeface="Segoe UI"/>
              </a:defRPr>
            </a:pPr>
            <a:r>
              <a:t>100% PASS (5/5 TEST SCENARIOS)</a:t>
            </a:r>
            <a:br/>
            <a:r>
              <a:t>RUNTIME: 15.275 µs | SỐ LỖI: 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4: HỆ THỐNG TESTBENCH &amp; MÔ PHỎNG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Testbench 2: Kiểm Thử Tích Hợp Toàn Diện Top SoC Boot Flash &amp; Ping (tb_uart_ping.v)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08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88720"/>
            <a:ext cx="10728655" cy="5120640"/>
          </a:xfrm>
          <a:prstGeom prst="roundRect">
            <a:avLst>
              <a:gd name="adj" fmla="val 2000"/>
            </a:avLst>
          </a:prstGeom>
          <a:solidFill>
            <a:srgbClr val="0B132B"/>
          </a:solidFill>
          <a:ln w="19050">
            <a:solidFill>
              <a:srgbClr val="1C25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261872"/>
            <a:ext cx="1045433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34D399"/>
                </a:solidFill>
                <a:latin typeface="Consolas"/>
              </a:defRPr>
            </a:pPr>
            <a:r>
              <a:t>&gt;_  tb/tb_uart_ping.v [Mã Nguồn Testbench &amp; Nhật Ký Mô Phỏng Vivado XSim]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554480"/>
            <a:ext cx="10454335" cy="44074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94A3B8"/>
                </a:solidFill>
                <a:latin typeface="Consolas"/>
              </a:defRPr>
            </a:pPr>
            <a:r>
              <a:t>// === tb/tb_uart_ping.v: KỊCH BẢN KIỂM THỬ TÍCH HỢP TOÀN DIỆN TOP SOC ===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FFFFFF"/>
                </a:solidFill>
                <a:latin typeface="Consolas"/>
              </a:defRPr>
            </a:pPr>
            <a:r>
              <a:t>initial begin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FFFFFF"/>
                </a:solidFill>
                <a:latin typeface="Consolas"/>
              </a:defRPr>
            </a:pPr>
            <a:r>
              <a:t>    clk = 0; rst_n = 0; rdm6300_rx_i = 1; uart_rx_i = 1;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94A3B8"/>
                </a:solidFill>
                <a:latin typeface="Consolas"/>
              </a:defRPr>
            </a:pPr>
            <a:r>
              <a:t>    #200; rst_n = 1;                 // Giải phóng Reset ➔ CPU thức dậy &amp; Boot Flash 0x250000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FFFFFF"/>
                </a:solidFill>
                <a:latin typeface="Consolas"/>
              </a:defRPr>
            </a:pPr>
            <a:r>
              <a:t>    wait(ready_matched == 1'b1);     // Đợi CPU PicoRV32 thực thi xong Banner C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94A3B8"/>
                </a:solidFill>
                <a:latin typeface="Consolas"/>
              </a:defRPr>
            </a:pPr>
            <a:r>
              <a:t>    #100000; send_pc_byte("P");      // Host PC gửi byte lệnh Ping ('P' = 0x50)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FFFFFF"/>
                </a:solidFill>
                <a:latin typeface="Consolas"/>
              </a:defRPr>
            </a:pPr>
            <a:r>
              <a:t>    send_pc_byte(8'h0A);             // Gửi ký tự kết thúc dòng '\n' (0x0A)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FFFFFF"/>
                </a:solidFill>
                <a:latin typeface="Consolas"/>
              </a:defRPr>
            </a:pPr>
            <a:r>
              <a:t>    wait(pong_matched == 1'b1);      // Đợi CPU nhận diện và phản hồi chuỗi PONG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 b="1">
                <a:solidFill>
                  <a:srgbClr val="10B981"/>
                </a:solidFill>
                <a:latin typeface="Consolas"/>
              </a:defRPr>
            </a:pPr>
            <a:r>
              <a:t>    if (pong_matched &amp;&amp; !cpu_trap)   $display("  [SUCCESS] PING-PONG TEST PASSED!");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FFFFFF"/>
                </a:solidFill>
                <a:latin typeface="Consolas"/>
              </a:defRPr>
            </a:pPr>
            <a:r>
              <a:t>end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FFFFFF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94A3B8"/>
                </a:solidFill>
                <a:latin typeface="Consolas"/>
              </a:defRPr>
            </a:pPr>
            <a:r>
              <a:t>// === VIVADO SIMULATOR (XSIM) EXECUTION OUTPUT LOG ===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 b="1">
                <a:solidFill>
                  <a:srgbClr val="0EA5E9"/>
                </a:solidFill>
                <a:latin typeface="Consolas"/>
              </a:defRPr>
            </a:pPr>
            <a:r>
              <a:t>[FLASH MODEL] Loaded 2048 words (8192 bytes) from firmware.hex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 b="1">
                <a:solidFill>
                  <a:srgbClr val="0EA5E9"/>
                </a:solidFill>
                <a:latin typeface="Consolas"/>
              </a:defRPr>
            </a:pPr>
            <a:r>
              <a:t>[TB] System Reset released. PicoRV32 booting from 0x250000...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 b="1">
                <a:solidFill>
                  <a:srgbClr val="0EA5E9"/>
                </a:solidFill>
                <a:latin typeface="Consolas"/>
              </a:defRPr>
            </a:pPr>
            <a:r>
              <a:t>[UART TX] ========================================================================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 b="1">
                <a:solidFill>
                  <a:srgbClr val="0EA5E9"/>
                </a:solidFill>
                <a:latin typeface="Consolas"/>
              </a:defRPr>
            </a:pPr>
            <a:r>
              <a:t>[UART TX]            RDM6300 PICORV32 SOC ACCESS CONTROLLER READY                 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 b="1">
                <a:solidFill>
                  <a:srgbClr val="0EA5E9"/>
                </a:solidFill>
                <a:latin typeface="Consolas"/>
              </a:defRPr>
            </a:pPr>
            <a:r>
              <a:t>[UART TX] ========================================================================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 b="1">
                <a:solidFill>
                  <a:srgbClr val="0EA5E9"/>
                </a:solidFill>
                <a:latin typeface="Consolas"/>
              </a:defRPr>
            </a:pPr>
            <a:r>
              <a:t>[TB] Boot banner detected! Sending 'P' (Ping) command to SoC...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 b="1">
                <a:solidFill>
                  <a:srgbClr val="0EA5E9"/>
                </a:solidFill>
                <a:latin typeface="Consolas"/>
              </a:defRPr>
            </a:pPr>
            <a:r>
              <a:t>[HOST -&gt; SOC] Sent Byte: 'P' (0x50), '\n' (0x0A)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 b="1">
                <a:solidFill>
                  <a:srgbClr val="0EA5E9"/>
                </a:solidFill>
                <a:latin typeface="Consolas"/>
              </a:defRPr>
            </a:pPr>
            <a:r>
              <a:t>[UART TX] PONG: PicoRV32 Active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 b="1">
                <a:solidFill>
                  <a:srgbClr val="10B981"/>
                </a:solidFill>
                <a:latin typeface="Consolas"/>
              </a:defRPr>
            </a:pPr>
            <a:r>
              <a:t>[SUCCESS] PING-PONG TEST PASSED! PicoRV32 responded with PONG.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1150">
                <a:solidFill>
                  <a:srgbClr val="FFFFFF"/>
                </a:solidFill>
                <a:latin typeface="Consolas"/>
              </a:defRPr>
            </a:pPr>
            <a:r>
              <a:t>cpu_trap = 0 (CPU healthy, no illegal instructions, no stack overflow)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925312"/>
            <a:ext cx="1045433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 b="1">
                <a:solidFill>
                  <a:srgbClr val="10B981"/>
                </a:solidFill>
                <a:latin typeface="Segoe UI"/>
              </a:defRPr>
            </a:pPr>
            <a:r>
              <a:t>=== XÁC NHẬN: BOOT FLASH XIP + UART PING-PONG 100% PASS | RUNTIME: 2,086.555 µs | TRAP = 0 ===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5: DEMO CHỨC NĂNG SẢN PHẨM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Danh Sách Thiết Bị &amp; Thiết Lập Kết Nối Phần Cứng FPGA Basys 3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09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88720"/>
            <a:ext cx="5257800" cy="51206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298448"/>
            <a:ext cx="49834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Segoe UI"/>
              </a:defRPr>
            </a:pPr>
            <a:r>
              <a:t>HỆ THỐNG THỰC NGHIỆM THỰC TẾ</a:t>
            </a:r>
          </a:p>
        </p:txBody>
      </p:sp>
      <p:pic>
        <p:nvPicPr>
          <p:cNvPr id="10" name="Picture 9" descr="Devi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91640"/>
            <a:ext cx="4983480" cy="3730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5532120"/>
            <a:ext cx="4983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defRPr sz="1100" i="1">
                <a:solidFill>
                  <a:srgbClr val="475569"/>
                </a:solidFill>
                <a:latin typeface="Segoe UI"/>
              </a:defRPr>
            </a:pPr>
            <a:r>
              <a:t>Nguồn 5V riêng cho RDM6300 (chung GND) • Trở 1kΩ nối tiếp TX ➔ JA1 bảo vệ I/O 3.3V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188720"/>
            <a:ext cx="5285232" cy="51206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325880"/>
            <a:ext cx="4828032" cy="4892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2563EB"/>
                </a:solidFill>
                <a:latin typeface="Segoe UI"/>
              </a:defRPr>
            </a:pPr>
            <a:r>
              <a:t>DANH SÁCH THIẾT BỊ THỰC NGHIỆM</a:t>
            </a:r>
          </a:p>
          <a:p>
            <a:pPr>
              <a:spcBef>
                <a:spcPts val="700"/>
              </a:spcBef>
              <a:defRPr sz="1500" b="1">
                <a:solidFill>
                  <a:srgbClr val="0F172A"/>
                </a:solidFill>
                <a:latin typeface="Segoe UI"/>
              </a:defRPr>
            </a:pPr>
            <a:r>
              <a:t>1. Bo mạch FPGA Digilent Basys 3</a:t>
            </a:r>
          </a:p>
          <a:p>
            <a:pPr>
              <a:defRPr sz="1250">
                <a:solidFill>
                  <a:srgbClr val="475569"/>
                </a:solidFill>
                <a:latin typeface="Segoe UI"/>
              </a:defRPr>
            </a:pPr>
            <a:r>
              <a:t>     Artix-7 XC7A35T, SPI Flash 32Mbit</a:t>
            </a:r>
          </a:p>
          <a:p>
            <a:pPr>
              <a:spcBef>
                <a:spcPts val="700"/>
              </a:spcBef>
              <a:defRPr sz="1500" b="1">
                <a:solidFill>
                  <a:srgbClr val="0F172A"/>
                </a:solidFill>
                <a:latin typeface="Segoe UI"/>
              </a:defRPr>
            </a:pPr>
            <a:r>
              <a:t>2. Module RFID RDM6300</a:t>
            </a:r>
          </a:p>
          <a:p>
            <a:pPr>
              <a:defRPr sz="1250">
                <a:solidFill>
                  <a:srgbClr val="475569"/>
                </a:solidFill>
                <a:latin typeface="Segoe UI"/>
              </a:defRPr>
            </a:pPr>
            <a:r>
              <a:t>     125 kHz, kèm ăng-ten cuộn dây</a:t>
            </a:r>
          </a:p>
          <a:p>
            <a:pPr>
              <a:spcBef>
                <a:spcPts val="700"/>
              </a:spcBef>
              <a:defRPr sz="1500" b="1">
                <a:solidFill>
                  <a:srgbClr val="0F172A"/>
                </a:solidFill>
                <a:latin typeface="Segoe UI"/>
              </a:defRPr>
            </a:pPr>
            <a:r>
              <a:t>3. Thẻ RFID EM4100</a:t>
            </a:r>
          </a:p>
          <a:p>
            <a:pPr>
              <a:defRPr sz="1250">
                <a:solidFill>
                  <a:srgbClr val="475569"/>
                </a:solidFill>
                <a:latin typeface="Segoe UI"/>
              </a:defRPr>
            </a:pPr>
            <a:r>
              <a:t>     Thẻ từ 125 kHz mẫu</a:t>
            </a:r>
          </a:p>
          <a:p>
            <a:pPr>
              <a:spcBef>
                <a:spcPts val="700"/>
              </a:spcBef>
              <a:defRPr sz="1500" b="1">
                <a:solidFill>
                  <a:srgbClr val="0F172A"/>
                </a:solidFill>
                <a:latin typeface="Segoe UI"/>
              </a:defRPr>
            </a:pPr>
            <a:r>
              <a:t>4. Module nguồn MB102 + Adapter DC</a:t>
            </a:r>
          </a:p>
          <a:p>
            <a:pPr>
              <a:defRPr sz="1250">
                <a:solidFill>
                  <a:srgbClr val="475569"/>
                </a:solidFill>
                <a:latin typeface="Segoe UI"/>
              </a:defRPr>
            </a:pPr>
            <a:r>
              <a:t>     Cấp 5V cho RDM6300</a:t>
            </a:r>
          </a:p>
          <a:p>
            <a:pPr>
              <a:spcBef>
                <a:spcPts val="700"/>
              </a:spcBef>
              <a:defRPr sz="1500" b="1">
                <a:solidFill>
                  <a:srgbClr val="0F172A"/>
                </a:solidFill>
                <a:latin typeface="Segoe UI"/>
              </a:defRPr>
            </a:pPr>
            <a:r>
              <a:t>5. Điện trở 1kΩ</a:t>
            </a:r>
          </a:p>
          <a:p>
            <a:pPr>
              <a:defRPr sz="1250">
                <a:solidFill>
                  <a:srgbClr val="475569"/>
                </a:solidFill>
                <a:latin typeface="Segoe UI"/>
              </a:defRPr>
            </a:pPr>
            <a:r>
              <a:t>     Nối tiếp chân TX RDM6300 ➔ JA1</a:t>
            </a:r>
          </a:p>
          <a:p>
            <a:pPr>
              <a:spcBef>
                <a:spcPts val="700"/>
              </a:spcBef>
              <a:defRPr sz="1500" b="1">
                <a:solidFill>
                  <a:srgbClr val="0F172A"/>
                </a:solidFill>
                <a:latin typeface="Segoe UI"/>
              </a:defRPr>
            </a:pPr>
            <a:r>
              <a:t>6. Breadboard &amp; dây cắm</a:t>
            </a:r>
          </a:p>
          <a:p>
            <a:pPr>
              <a:defRPr sz="1250">
                <a:solidFill>
                  <a:srgbClr val="475569"/>
                </a:solidFill>
                <a:latin typeface="Segoe UI"/>
              </a:defRPr>
            </a:pPr>
            <a:r>
              <a:t>     Đấu nối mạch thử nghiệm</a:t>
            </a:r>
          </a:p>
          <a:p>
            <a:pPr>
              <a:spcBef>
                <a:spcPts val="700"/>
              </a:spcBef>
              <a:defRPr sz="1500" b="1">
                <a:solidFill>
                  <a:srgbClr val="0F172A"/>
                </a:solidFill>
                <a:latin typeface="Segoe UI"/>
              </a:defRPr>
            </a:pPr>
            <a:r>
              <a:t>7. Cáp Micro-USB</a:t>
            </a:r>
          </a:p>
          <a:p>
            <a:pPr>
              <a:defRPr sz="1250">
                <a:solidFill>
                  <a:srgbClr val="475569"/>
                </a:solidFill>
                <a:latin typeface="Segoe UI"/>
              </a:defRPr>
            </a:pPr>
            <a:r>
              <a:t>     Nạp FPGA &amp; UART 9600 bps</a:t>
            </a:r>
          </a:p>
          <a:p>
            <a:pPr>
              <a:spcBef>
                <a:spcPts val="700"/>
              </a:spcBef>
              <a:defRPr sz="1500" b="1">
                <a:solidFill>
                  <a:srgbClr val="0F172A"/>
                </a:solidFill>
                <a:latin typeface="Segoe UI"/>
              </a:defRPr>
            </a:pPr>
            <a:r>
              <a:t>8. Máy tính Host PC</a:t>
            </a:r>
          </a:p>
          <a:p>
            <a:pPr>
              <a:defRPr sz="1250">
                <a:solidFill>
                  <a:srgbClr val="475569"/>
                </a:solidFill>
                <a:latin typeface="Segoe UI"/>
              </a:defRPr>
            </a:pPr>
            <a:r>
              <a:t>     Chạy chương trình Host Console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6: THIẾT KẾ VẬT LÝ ASIC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Minh Chứng Ký Duyệt Sign-off, Bản Vẽ OpenROAD &amp; Cấu Hình OpenLane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10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88720"/>
            <a:ext cx="5120640" cy="3291840"/>
          </a:xfrm>
          <a:prstGeom prst="roundRect">
            <a:avLst>
              <a:gd name="adj" fmla="val 2000"/>
            </a:avLst>
          </a:prstGeom>
          <a:solidFill>
            <a:srgbClr val="0B132B"/>
          </a:solidFill>
          <a:ln w="19050">
            <a:solidFill>
              <a:srgbClr val="1C25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261872"/>
            <a:ext cx="484632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0EA5E9"/>
                </a:solidFill>
                <a:latin typeface="Consolas"/>
              </a:defRPr>
            </a:pPr>
            <a:r>
              <a:t>&gt;_  Cấu hình OpenLane (config.json)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554480"/>
            <a:ext cx="4846320" cy="2880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{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"DESIGN_NAME": "rdm6300_picorv32_soc",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"PDK": "sky130A",  "STD_CELL_LIBRARY": "sky130_fd_sc_hd",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"CLOCK_PERIOD": 20.0, // 50 MHz Clock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"FP_CORE_UTIL": 26,   // 26% Core Density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"MAX_FANOUT_CONSTRAINT": 12,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"PL_RESIZER_HOLD_SLACK_MARGIN": 0.6,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"RUN_HEURISTIC_DIODE_INSERTION": true,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"HEURISTIC_ANTENNA_THRESHOLD": 24,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"GRT_ANTENNA_ITERS": 35,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"RUN_ANTENNA_REPAIR": true,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  "SYNTH_STRATEGY": "AREA 0"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5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1188720"/>
            <a:ext cx="5379415" cy="32918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261872"/>
            <a:ext cx="5013655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🖼️ Bản Vẽ Layout OpenROAD (Die 1.87 mm² - 1362 x 1373 µm)</a:t>
            </a:r>
          </a:p>
        </p:txBody>
      </p:sp>
      <p:pic>
        <p:nvPicPr>
          <p:cNvPr id="13" name="Picture 12" descr="OpenR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568" y="1572768"/>
            <a:ext cx="3886200" cy="281635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31520" y="4617720"/>
            <a:ext cx="10728655" cy="16916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ntennaLvsDr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727448"/>
            <a:ext cx="6309360" cy="1463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60920" y="4709160"/>
            <a:ext cx="3977639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0B981"/>
                </a:solidFill>
                <a:latin typeface="Segoe UI"/>
              </a:defRPr>
            </a:pPr>
            <a:r>
              <a:t>✅ KÝ DUYỆT TAPE-OUT READY (100% PASS)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980">
                <a:solidFill>
                  <a:srgbClr val="0F172A"/>
                </a:solidFill>
                <a:latin typeface="Segoe UI"/>
              </a:defRPr>
            </a:pPr>
            <a:r>
              <a:t>• Antenna Sign-off: 0 vi phạm (3,471 diodes xả tĩnh điện bảo vệ oxit cổng)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980">
                <a:solidFill>
                  <a:srgbClr val="0F172A"/>
                </a:solidFill>
                <a:latin typeface="Segoe UI"/>
              </a:defRPr>
            </a:pPr>
            <a:r>
              <a:t>• LVS Sign-off (Netgen): 0 lỗi (Netlists match uniquely 100%, 0 unmatched)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980">
                <a:solidFill>
                  <a:srgbClr val="0F172A"/>
                </a:solidFill>
                <a:latin typeface="Segoe UI"/>
              </a:defRPr>
            </a:pPr>
            <a:r>
              <a:t>• DRC Sign-off (Magic/KLayout): 0 lỗi (Zero DRC violations trên toàn bộ 5 lớp kim loại)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980">
                <a:solidFill>
                  <a:srgbClr val="0F172A"/>
                </a:solidFill>
                <a:latin typeface="Segoe UI"/>
              </a:defRPr>
            </a:pPr>
            <a:r>
              <a:t>• PDN &amp; Timing: Worst IR Drop: 1.39 mV (&lt; 0.08% VDD) | WNS = 0.00 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6: THIẾT KẾ VẬT LÝ ASIC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Tổng Hợp Kết Quả Thiết Kế Vật Lý &amp; Chỉ Số PPA (OpenLane 2 / SkyWater 130nm)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11 / 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188720"/>
          <a:ext cx="10728655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876495"/>
                <a:gridCol w="2926080"/>
              </a:tblGrid>
              <a:tr h="558800"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Hạng Mục Đo Đạc Vật Lý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Thông Số Trích Xuất Thực Tế (OpenLane Runs)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Đánh Giá &amp; Tiêu Chuẩn Sign-off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Tiến trình &amp; Điện áp hoạt động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SkyWater 130nm (sky130_fd_sc_hd) | VDD = 1.80 V | Xung nhịp: 50.0 MHz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Thư viện High Density, VDD chuẩn 1.8V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Kích thước &amp; Diện tích khuôn (Die / Core)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Die Area: 1.87 mm² (1362.08 x 1372.80 µm) | Core: 1.82 mm² (52.84% Util)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Chuẩn đóng gói khung chân đế QFN/QFP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Quy mô linh kiện (Cell Breakdown)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Tổng 164,478 cells (10,779 D-FF | 23,442 Comb | 77,243 Diode bảo vệ)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24,247 timing buffer + 2,564 CTS buffer/inv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Tổng công suất tiêu thụ (Power Analysis)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Tổng: 76.02 mW (Internal: 41.12 mW, Switching: 34.90 mW) | Rò rỉ: 1.18 µW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Dòng rò tĩnh siêu thấp (Static Leakage ~0%)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Độ sụt áp nguồn (Worst-case IR Drop)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Worst IR Drop: 1.39 mV (0.00139 V, sụt áp &lt; 0.08% VDD | Avg: 0.085 mV)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Lưới nguồn PDN met4/met5 an toàn tuyệt đối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Định tuyến &amp; Dây nối (Interconnect)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60,225 Nets | 575,767 Vias | Tổng chiều dài dây dẫn kim loại: 3.215 mét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Định tuyến 5 lớp kim loại (met1 - met5)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Phân tích định thời tĩnh (STA Timing)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Chu kỳ 20.0 ns (50.0 MHz) | WNS = 0.00 ns | TNS = 0.00 ns (Setup &amp; Hold)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MET TIMING trên toàn bộ 9 góc đo (9 corners)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Ký duyệt xuất xưởng (Sign-off Status)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0 Antenna Violations | 0 LVS Errors (Netgen 100%) | 0 DRC Errors (Magic)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ĐẠT CHUẨN XUẤT XƯỞNG (TAPE-OUT READY!)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2563EB"/>
                </a:solidFill>
                <a:latin typeface="Segoe UI"/>
              </a:defRPr>
            </a:pPr>
            <a:r>
              <a:t>PHẦN 6: THIẾT KẾ VẬT LÝ ASIC</a:t>
            </a:r>
          </a:p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Phân Tích Định Thời Tĩnh STA &amp; Báo Cáo Multi-Corner Timing (summary.rpt)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Đồ Án: SoC PicoRV32 RFID RDM6300 &amp; SPI Flash | FPT Jetking Chip Design - SEM3 | HV: Thái Tuấn Hiệp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92240"/>
            <a:ext cx="14017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12 / 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188720"/>
          <a:ext cx="1072865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2148840"/>
                <a:gridCol w="2148840"/>
                <a:gridCol w="1600200"/>
                <a:gridCol w="2407615"/>
              </a:tblGrid>
              <a:tr h="487680"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Góc Đo Công Nghệ (Corner)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Setup Slack (Worst / Reg)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Hold Slack (Worst / Reg)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Vi Phạm (Vio)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Đánh Giá Định Thời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nom_tt_025C_1v80 (Typical)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+4.4194 ns (+6.5934 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+0.5418 ns (+0.5418 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0 Vio (TNS = 0.00)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MET TIMING (Đạt chuẩn 50.0 MHz)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nom_ff_n40C_1v95 (Fast-Fast)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+5.5199 ns (+7.7276 ns)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+0.1680 ns (+0.1680 ns)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0 Vio (TNS = 0.00)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MET TIMING (Biên độ Setup cực lớn)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min_tt_025C_1v80 (Min Typical)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+4.5720 ns (+6.6560 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+0.6874 ns (+0.6874 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0 Vio (TNS = 0.00)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MET TIMING (Hold Margin tối ưu)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min_ff_n40C_1v95 (Min Fast)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+5.6454 ns (+7.7576 ns)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+0.2879 ns (+0.2879 ns)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0 Vio (TNS = 0.00)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MET TIMING (Hoạt động ổn định)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max_tt_025C_1v80 (Max Typical)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+4.2744 ns (+6.5546 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+0.3169 ns (+0.3169 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0 Vio (TNS = 0.00)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MET TIMING (Dư địa 4.27 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" y="4297680"/>
            <a:ext cx="5257800" cy="20116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70832"/>
            <a:ext cx="4983480" cy="1865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⏱️ ĐẶC TÍNH MẠNG XUNG NHỊP (CLOCK.RPT)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Tần số thiết kế mục tiêu: 50.0 MHz (Chu kỳ Tclk = 20.0 ns).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Tần số cực đại khả thi (Fmax): 92.81 MHz (Chu kỳ Tmin = 10.77 ns).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Dư địa định thời (Timing Headroom): +85.6% (Hệ thống có thể boost lên 90MHz an toàn).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Cây xung nhịp TritonCTS: 2,564 Buffers/Inverters | Latency: 2.35 - 3.72 ns | Skew: 1.36 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2375" y="4297680"/>
            <a:ext cx="5257800" cy="20116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9535" y="4370832"/>
            <a:ext cx="4983480" cy="1865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10B981"/>
                </a:solidFill>
                <a:latin typeface="Segoe UI"/>
              </a:defRPr>
            </a:pPr>
            <a:r>
              <a:t>🛡️ CHIẾN LƯỢC TỐI ƯU HÓA ĐỊNH THỜI (TIMING CLOSURE)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Sửa lỗi Hold Time triệt để: Chèn 21,947 Hold Buffers (dlygate4sd3), triệt tiêu 100% lỗi Hold.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Kiểm soát Max Slew / Max Cap: Bố trí 2,300+ buffer resizer cân bằng tải dung và độ dốc sườn xung.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Đường truyền tới hạn (Critical Path): FF _52233_ -&gt; flash_io2_do: Arrival 13.33 ns &lt; Required 17.75 ns.</a:t>
            </a:r>
          </a:p>
          <a:p>
            <a:pPr>
              <a:lnSpc>
                <a:spcPct val="110000"/>
              </a:lnSpc>
              <a:spcAft>
                <a:spcPts val="15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Kết luận Ký duyệt STA: Hội tụ định thời hoàn hảo (Timing Closed), đạt chuẩn sản xuất 130nm.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C2541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9966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00"/>
              </a:spcAft>
              <a:defRPr sz="2800" b="1">
                <a:solidFill>
                  <a:srgbClr val="0EA5E9"/>
                </a:solidFill>
                <a:latin typeface="Segoe UI"/>
              </a:defRPr>
            </a:pPr>
            <a:r>
              <a:t>TỔNG KẾT ĐỒ ÁN &amp; KẾT QUẢ ĐẠT ĐƯỢC</a:t>
            </a:r>
          </a:p>
          <a:p>
            <a:pPr>
              <a:lnSpc>
                <a:spcPct val="125000"/>
              </a:lnSpc>
              <a:spcAft>
                <a:spcPts val="2000"/>
              </a:spcAft>
            </a:pPr>
            <a:r>
              <a:rPr sz="1750" b="1">
                <a:solidFill>
                  <a:srgbClr val="38BDF8"/>
                </a:solidFill>
                <a:latin typeface="Segoe UI"/>
              </a:rPr>
              <a:t>1. Tự chủ kiến trúc SoC:</a:t>
            </a:r>
            <a:r>
              <a:rPr sz="1650">
                <a:solidFill>
                  <a:srgbClr val="F1F5F9"/>
                </a:solidFill>
                <a:latin typeface="Segoe UI"/>
              </a:rPr>
              <a:t> Tích hợp CPU RISC-V PicoRV32, cầu bus 0-delay, 1KB SRAM &amp; 2 khối UART FIFO 32B.</a:t>
            </a:r>
          </a:p>
          <a:p>
            <a:pPr>
              <a:lnSpc>
                <a:spcPct val="125000"/>
              </a:lnSpc>
              <a:spcAft>
                <a:spcPts val="2000"/>
              </a:spcAft>
            </a:pPr>
            <a:r>
              <a:rPr sz="1750" b="1">
                <a:solidFill>
                  <a:srgbClr val="38BDF8"/>
                </a:solidFill>
                <a:latin typeface="Segoe UI"/>
              </a:rPr>
              <a:t>2. Tối ưu thực thi nhúng:</a:t>
            </a:r>
            <a:r>
              <a:rPr sz="1650">
                <a:solidFill>
                  <a:srgbClr val="F1F5F9"/>
                </a:solidFill>
                <a:latin typeface="Segoe UI"/>
              </a:rPr>
              <a:t> Chạy lệnh XIP từ SPI Flash; Nạp worker vào SRAM ghi/xóa Flash không nghẽn bus.</a:t>
            </a:r>
          </a:p>
          <a:p>
            <a:pPr>
              <a:lnSpc>
                <a:spcPct val="125000"/>
              </a:lnSpc>
              <a:spcAft>
                <a:spcPts val="2000"/>
              </a:spcAft>
            </a:pPr>
            <a:r>
              <a:rPr sz="1750" b="1">
                <a:solidFill>
                  <a:srgbClr val="38BDF8"/>
                </a:solidFill>
                <a:latin typeface="Segoe UI"/>
              </a:rPr>
              <a:t>3. Kiểm chứng thực tế 100%:</a:t>
            </a:r>
            <a:r>
              <a:rPr sz="1650">
                <a:solidFill>
                  <a:srgbClr val="F1F5F9"/>
                </a:solidFill>
                <a:latin typeface="Segoe UI"/>
              </a:rPr>
              <a:t> Testbench Vivado 100% Pass; Chạy ổn định trên bo mạch FPGA Basys 3 thật.</a:t>
            </a:r>
          </a:p>
          <a:p>
            <a:pPr>
              <a:lnSpc>
                <a:spcPct val="125000"/>
              </a:lnSpc>
              <a:spcAft>
                <a:spcPts val="2000"/>
              </a:spcAft>
            </a:pPr>
            <a:r>
              <a:rPr sz="1750" b="1">
                <a:solidFill>
                  <a:srgbClr val="38BDF8"/>
                </a:solidFill>
                <a:latin typeface="Segoe UI"/>
              </a:rPr>
              <a:t>4. Đạt chuẩn ASIC Tape-out:</a:t>
            </a:r>
            <a:r>
              <a:rPr sz="1650">
                <a:solidFill>
                  <a:srgbClr val="F1F5F9"/>
                </a:solidFill>
                <a:latin typeface="Segoe UI"/>
              </a:rPr>
              <a:t> OpenLane 2 (SkyWater 130nm) đạt 0 Antenna, 0 LVS, 0 DRC | Fmax = 92.81 MHz.</a:t>
            </a:r>
          </a:p>
          <a:p>
            <a:pPr>
              <a:spcBef>
                <a:spcPts val="2800"/>
              </a:spcBef>
              <a:defRPr sz="2200" b="1">
                <a:solidFill>
                  <a:srgbClr val="FFFFFF"/>
                </a:solidFill>
                <a:latin typeface="Segoe UI"/>
              </a:defRPr>
            </a:pPr>
            <a:r>
              <a:t>XIN TRÂN TRỌNG CẢM ƠN THẦY CÔ VÀ HỘI ĐỒNG ĐÃ LẮNG NGHE!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