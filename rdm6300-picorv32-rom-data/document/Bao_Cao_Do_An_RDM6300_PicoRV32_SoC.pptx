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C2541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1046988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600"/>
              </a:spcAft>
              <a:defRPr sz="1350" b="1">
                <a:solidFill>
                  <a:srgbClr val="0EA5E9"/>
                </a:solidFill>
                <a:latin typeface="Segoe UI"/>
              </a:defRPr>
            </a:pPr>
            <a:r>
              <a:t>FPT JETKING — CHIP DESIGN</a:t>
            </a:r>
          </a:p>
          <a:p>
            <a:pPr>
              <a:lnSpc>
                <a:spcPct val="125000"/>
              </a:lnSpc>
              <a:spcAft>
                <a:spcPts val="1600"/>
              </a:spcAft>
              <a:defRPr sz="1750" b="1">
                <a:solidFill>
                  <a:srgbClr val="FFFFFF"/>
                </a:solidFill>
                <a:latin typeface="Segoe UI"/>
              </a:defRPr>
            </a:pPr>
            <a:r>
              <a:t>THIẾT KẾ HỆ THỐNG XỬ LÝ DỮ LIỆU CỦA THẺ RA VÀO RFID 125KHZ OFFLINE</a:t>
            </a:r>
            <a:br/>
            <a:r>
              <a:t>TÍCH HỢP CPU RISC-V PICORV32 &amp; XỬ LÝ NGHIỆP VỤ DỮ LIỆU THẺ BẰNG FIRMWARE C</a:t>
            </a:r>
          </a:p>
          <a:p>
            <a:pPr>
              <a:spcAft>
                <a:spcPts val="2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Giao tiếp RFID RDM6300 | Lưu trữ Whitelist SPI Flash NVM | Tạo mẫu Basys 3 FPGA | Ký duyệt ASIC OpenLane 2 (Sky130)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Học viên thực hiện :  Thái Tuấn Hiệp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Giảng viên hướng dẫn :  ThS. Nguyễn Văn Đông</a:t>
            </a:r>
          </a:p>
          <a:p>
            <a:pPr>
              <a:defRPr sz="1150" i="1">
                <a:solidFill>
                  <a:srgbClr val="94A3B8"/>
                </a:solidFill>
                <a:latin typeface="Segoe UI"/>
              </a:defRPr>
            </a:pPr>
            <a:r>
              <a:t>Học kỳ :  SEM3  |  Chuyên ngành: Thiết kế Vi mạch Bán dẫn (Chip Design)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1: GIỚI THIỆU DỰ ÁN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Tính Cấp Thiết &amp; Vai Trò Cốt Tử Của Bộ Nhớ SPI Flash NVM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70432"/>
            <a:ext cx="3401568" cy="51389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280160"/>
            <a:ext cx="3182112" cy="932688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316736"/>
            <a:ext cx="31089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300"/>
              </a:spcAft>
              <a:defRPr sz="1350" b="1">
                <a:solidFill>
                  <a:srgbClr val="2563EB"/>
                </a:solidFill>
                <a:latin typeface="Segoe UI"/>
              </a:defRPr>
            </a:pPr>
            <a:r>
              <a:t>🌐  1. HỆ THỐNG OFFLINE</a:t>
            </a:r>
          </a:p>
          <a:p>
            <a:pPr algn="ctr">
              <a:defRPr sz="1000" i="1">
                <a:solidFill>
                  <a:srgbClr val="475569"/>
                </a:solidFill>
                <a:latin typeface="Segoe UI"/>
              </a:defRPr>
            </a:pPr>
            <a:r>
              <a:t>Loại bỏ phụ thuộc Internet &amp;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22576"/>
            <a:ext cx="3072384" cy="3877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• Triệt tiêu độ trễ mạng: </a:t>
            </a:r>
            <a:r>
              <a:rPr sz="1050">
                <a:solidFill>
                  <a:srgbClr val="475569"/>
                </a:solidFill>
                <a:latin typeface="Segoe UI"/>
              </a:rPr>
              <a:t>Khắc phục triệt để độ trễ lớn (hàng trăm ms đến vài giây), nguy cơ đứt cáp và nghẽn băng thông.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• Phản hồi tức thì (&lt; 10 µs): </a:t>
            </a:r>
            <a:r>
              <a:rPr sz="1050">
                <a:solidFill>
                  <a:srgbClr val="475569"/>
                </a:solidFill>
                <a:latin typeface="Segoe UI"/>
              </a:rPr>
              <a:t>SoC tự giải mã chuỗi RFID và đối chiếu Whitelist tại chỗ trong thời gian thực.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• Bảo mật dữ liệu tuyệt đối: </a:t>
            </a:r>
            <a:r>
              <a:rPr sz="1050">
                <a:solidFill>
                  <a:srgbClr val="475569"/>
                </a:solidFill>
                <a:latin typeface="Segoe UI"/>
              </a:rPr>
              <a:t>Dữ liệu định danh lưu trữ nội bộ khép kín, triệt tiêu 100% rủi ro rò rỉ qua Internet.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• Vận hành liên tục 24/7: </a:t>
            </a:r>
            <a:r>
              <a:rPr sz="1050">
                <a:solidFill>
                  <a:srgbClr val="475569"/>
                </a:solidFill>
                <a:latin typeface="Segoe UI"/>
              </a:rPr>
              <a:t>Hoạt động bền bỉ, tin cậy tại địa bàn biệt lập, phòng sạch hoặc khi mất kết nối mạng.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70432"/>
            <a:ext cx="3401568" cy="51389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98848" y="1280160"/>
            <a:ext cx="3182112" cy="932688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316736"/>
            <a:ext cx="31089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300"/>
              </a:spcAft>
              <a:defRPr sz="1350" b="1">
                <a:solidFill>
                  <a:srgbClr val="10B981"/>
                </a:solidFill>
                <a:latin typeface="Segoe UI"/>
              </a:defRPr>
            </a:pPr>
            <a:r>
              <a:t>💾  2. BỘ NHỚ SPI FLASH NVM</a:t>
            </a:r>
          </a:p>
          <a:p>
            <a:pPr algn="ctr">
              <a:defRPr sz="1000" i="1">
                <a:solidFill>
                  <a:srgbClr val="475569"/>
                </a:solidFill>
                <a:latin typeface="Segoe UI"/>
              </a:defRPr>
            </a:pPr>
            <a:r>
              <a:t>Lưu trữ bất biến &amp; Thực thi tại chỗ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322576"/>
            <a:ext cx="3072384" cy="3877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• Lưu trữ bất biến không cần pin: </a:t>
            </a:r>
            <a:r>
              <a:rPr sz="1050">
                <a:solidFill>
                  <a:srgbClr val="475569"/>
                </a:solidFill>
                <a:latin typeface="Segoe UI"/>
              </a:rPr>
              <a:t>Bảo toàn 4,096 thẻ Whitelist (Sector 48) và 512 bản ghi Access Logs (Sector 49) trên 20 năm.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• Thực thi tại chỗ XIP (eXecute-In-Place): </a:t>
            </a:r>
            <a:r>
              <a:rPr sz="1050">
                <a:solidFill>
                  <a:srgbClr val="475569"/>
                </a:solidFill>
                <a:latin typeface="Segoe UI"/>
              </a:rPr>
              <a:t>CPU kéo trực tiếp opcode từ Flash ngoài 4MB để chạy, chỉ cần 1KB SRAM, tiết kiệm &gt; 70% diện tích ASIC.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• Tiết kiệm chân pad ngoại vi: </a:t>
            </a:r>
            <a:r>
              <a:rPr sz="1050">
                <a:solidFill>
                  <a:srgbClr val="475569"/>
                </a:solidFill>
                <a:latin typeface="Segoe UI"/>
              </a:rPr>
              <a:t>Chuẩn SPI chỉ dùng 4 chân (CS, SCK, MOSI, MISO), tối ưu hóa số chân pad (chỉ 31 chân) và chi phí đóng gói.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• Cập nhật In-RAM linh hoạt: </a:t>
            </a:r>
            <a:r>
              <a:rPr sz="1050">
                <a:solidFill>
                  <a:srgbClr val="475569"/>
                </a:solidFill>
                <a:latin typeface="Segoe UI"/>
              </a:rPr>
              <a:t>Nạp worker vào SRAM để xóa/ghi Flash an toàn mà không làm nghẽn bus XIP của CPU.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70432"/>
            <a:ext cx="3401568" cy="51389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280160"/>
            <a:ext cx="3182112" cy="932688"/>
          </a:xfrm>
          <a:prstGeom prst="roundRect">
            <a:avLst>
              <a:gd name="adj" fmla="val 5000"/>
            </a:avLst>
          </a:prstGeom>
          <a:solidFill>
            <a:srgbClr val="FAF5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316736"/>
            <a:ext cx="31089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300"/>
              </a:spcAft>
              <a:defRPr sz="1350" b="1">
                <a:solidFill>
                  <a:srgbClr val="7C3AED"/>
                </a:solidFill>
                <a:latin typeface="Segoe UI"/>
              </a:defRPr>
            </a:pPr>
            <a:r>
              <a:t>🛡️  3. TỰ CHỦ VI MẠCH ASIC</a:t>
            </a:r>
          </a:p>
          <a:p>
            <a:pPr algn="ctr">
              <a:defRPr sz="1000" i="1">
                <a:solidFill>
                  <a:srgbClr val="475569"/>
                </a:solidFill>
                <a:latin typeface="Segoe UI"/>
              </a:defRPr>
            </a:pPr>
            <a:r>
              <a:t>Làm chủ 100% RTL &amp; Ký duyệt Sign-off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322576"/>
            <a:ext cx="3072384" cy="3877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• Triệt tiêu Backdoor phần cứng: </a:t>
            </a:r>
            <a:r>
              <a:rPr sz="1050">
                <a:solidFill>
                  <a:srgbClr val="475569"/>
                </a:solidFill>
                <a:latin typeface="Segoe UI"/>
              </a:rPr>
              <a:t>Làm chủ hoàn toàn từ mã nguồn RTL Verilog (CPU RV32I, bus interconnect, FIFO) đến layout GDSII.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• Khối UART chuyên biệt cho RFID: </a:t>
            </a:r>
            <a:r>
              <a:rPr sz="1050">
                <a:solidFill>
                  <a:srgbClr val="475569"/>
                </a:solidFill>
                <a:latin typeface="Segoe UI"/>
              </a:rPr>
              <a:t>Tích hợp bộ đệm FIFO 32B và khối oversampling 16x lấy mẫu đa số, chống rớt mã thẻ.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• Ký duyệt Tape-out SkyWater 130nm: </a:t>
            </a:r>
            <a:r>
              <a:rPr sz="1050">
                <a:solidFill>
                  <a:srgbClr val="475569"/>
                </a:solidFill>
                <a:latin typeface="Segoe UI"/>
              </a:rPr>
              <a:t>Luồng OpenLane 2 đạt 100% tiêu chuẩn xuất xưởng: 0 Antenna, 0 LVS, 0 DRC violations.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• Hiệu năng cao &amp; Tiết kiệm năng lượng: </a:t>
            </a:r>
            <a:r>
              <a:rPr sz="1050">
                <a:solidFill>
                  <a:srgbClr val="475569"/>
                </a:solidFill>
                <a:latin typeface="Segoe UI"/>
              </a:rPr>
              <a:t>Đạt tần số Fmax = 92.81 MHz (vượt 85% mục tiêu), công suất chỉ 76 mW, độ sụt áp &lt; 0.08% VDD.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3: KIẾN TRÚC VI HỆ THỐNG SOC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Sơ Đồ Khối Kiến Trúc Vi Hệ Thống SoC PicoRV32 (4MB Flash, 1KB SRAM, 32 Fifo)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03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0728655" cy="51937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1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1" y="1216152"/>
            <a:ext cx="8790633" cy="50474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3: KIẾN TRÚC KHỐI NGOẠI VI UART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Sơ Đồ Khối Kiến Trúc Vi Mạch UART RTL (Draw.io Đen Trắng &amp; Đặc Tả Thiết Kế)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04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5257800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art_architecture_b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25880"/>
            <a:ext cx="4983480" cy="4754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1188720"/>
            <a:ext cx="5285232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25880"/>
            <a:ext cx="491947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50">
                <a:solidFill>
                  <a:srgbClr val="2563EB"/>
                </a:solidFill>
                <a:latin typeface="Segoe UI"/>
              </a:defRPr>
            </a:pPr>
            <a:r>
              <a:t>ĐẶC TẢ THIẾT KẾ 5 TẦNG VI MẠCH NGOẠI VI UART RTL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860" b="1">
                <a:solidFill>
                  <a:srgbClr val="E11D48"/>
                </a:solidFill>
                <a:latin typeface="Segoe UI"/>
              </a:defRPr>
            </a:pPr>
            <a:r>
              <a:t>TẦNG 1: ĐỒNG BỘ HÓA MIỀN XUNG 2-FF CDC (sync_2ff.v)</a:t>
            </a:r>
          </a:p>
          <a:p>
            <a:pPr>
              <a:lnSpc>
                <a:spcPct val="110000"/>
              </a:lnSpc>
              <a:spcAft>
                <a:spcPts val="120"/>
              </a:spcAft>
              <a:defRPr sz="760">
                <a:solidFill>
                  <a:srgbClr val="0F172A"/>
                </a:solidFill>
                <a:latin typeface="Segoe UI"/>
              </a:defRPr>
            </a:pPr>
            <a:r>
              <a:t>• Ngõ vào không đồng bộ rx_i: Tín hiệu nối tiếp từ đầu đọc RDM6300 125kHz hoặc chip USB FT2232 đi qua 2 tầng Flip-Flop.</a:t>
            </a:r>
          </a:p>
          <a:p>
            <a:pPr>
              <a:lnSpc>
                <a:spcPct val="110000"/>
              </a:lnSpc>
              <a:spcAft>
                <a:spcPts val="120"/>
              </a:spcAft>
              <a:defRPr sz="760">
                <a:solidFill>
                  <a:srgbClr val="0F172A"/>
                </a:solidFill>
                <a:latin typeface="Segoe UI"/>
              </a:defRPr>
            </a:pPr>
            <a:r>
              <a:t>• Chống hiện tượng siêu ổn định: Bảo đảm thời gian trung bình giữa 2 lỗi MTBF &gt; 1.000 năm trên tiến trình SkyWater 130nm.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860" b="1">
                <a:solidFill>
                  <a:srgbClr val="D97706"/>
                </a:solidFill>
                <a:latin typeface="Segoe UI"/>
              </a:defRPr>
            </a:pPr>
            <a:r>
              <a:t>TẦNG 2 &amp; 3: BỘ TẠO BAUD, LẤY MẪU 16X &amp; RX FSM (simpleuart.v)</a:t>
            </a:r>
          </a:p>
          <a:p>
            <a:pPr>
              <a:lnSpc>
                <a:spcPct val="110000"/>
              </a:lnSpc>
              <a:spcAft>
                <a:spcPts val="120"/>
              </a:spcAft>
              <a:defRPr sz="760">
                <a:solidFill>
                  <a:srgbClr val="0F172A"/>
                </a:solidFill>
                <a:latin typeface="Segoe UI"/>
              </a:defRPr>
            </a:pPr>
            <a:r>
              <a:t>• Chia tần số chuẩn xác: Thanh ghi cfg_divider = 5208 (50 MHz / 9600 bps) tạo chu kỳ định thời phần cứng chính xác 100%.</a:t>
            </a:r>
          </a:p>
          <a:p>
            <a:pPr>
              <a:lnSpc>
                <a:spcPct val="110000"/>
              </a:lnSpc>
              <a:spcAft>
                <a:spcPts val="120"/>
              </a:spcAft>
              <a:defRPr sz="760">
                <a:solidFill>
                  <a:srgbClr val="0F172A"/>
                </a:solidFill>
                <a:latin typeface="Segoe UI"/>
              </a:defRPr>
            </a:pPr>
            <a:r>
              <a:t>• Bộ lấy mẫu 16x &amp; Bầu đa số 3 mẫu: Lấy mẫu tại tick 7, 8, 9 ở giữa bit, triệt tiêu xung gai nhiễu glitch.</a:t>
            </a:r>
          </a:p>
          <a:p>
            <a:pPr>
              <a:lnSpc>
                <a:spcPct val="110000"/>
              </a:lnSpc>
              <a:spcAft>
                <a:spcPts val="120"/>
              </a:spcAft>
              <a:defRPr sz="760">
                <a:solidFill>
                  <a:srgbClr val="0F172A"/>
                </a:solidFill>
                <a:latin typeface="Segoe UI"/>
              </a:defRPr>
            </a:pPr>
            <a:r>
              <a:t>• Máy trạng thái RX FSM: Tự động phát hiện Start bit (0), dịch 8-bit dữ liệu LSB-first và kiểm tra Stop bit (1).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860" b="1">
                <a:solidFill>
                  <a:srgbClr val="2563EB"/>
                </a:solidFill>
                <a:latin typeface="Segoe UI"/>
              </a:defRPr>
            </a:pPr>
            <a:r>
              <a:t>TẦNG 4: HÀNG ĐỢI FIFO 32 BYTES ĐỘC LẬP (sync_fifo.v)</a:t>
            </a:r>
          </a:p>
          <a:p>
            <a:pPr>
              <a:lnSpc>
                <a:spcPct val="110000"/>
              </a:lnSpc>
              <a:spcAft>
                <a:spcPts val="120"/>
              </a:spcAft>
              <a:defRPr sz="760">
                <a:solidFill>
                  <a:srgbClr val="0F172A"/>
                </a:solidFill>
                <a:latin typeface="Segoe UI"/>
              </a:defRPr>
            </a:pPr>
            <a:r>
              <a:t>• Cơ chế đệm độc lập: Quản lý con trỏ ghi wr_ptr và đọc rd_ptr độc lập trên mảng nhớ 32x8-bit.</a:t>
            </a:r>
          </a:p>
          <a:p>
            <a:pPr>
              <a:lnSpc>
                <a:spcPct val="110000"/>
              </a:lnSpc>
              <a:spcAft>
                <a:spcPts val="120"/>
              </a:spcAft>
              <a:defRPr sz="760">
                <a:solidFill>
                  <a:srgbClr val="0F172A"/>
                </a:solidFill>
                <a:latin typeface="Segoe UI"/>
              </a:defRPr>
            </a:pPr>
            <a:r>
              <a:t>• Bảo vệ chống tràn khi Flash bận: Đệm trọn vẹn 14 byte chuỗi thẻ RFID ngay cả khi CPU bận chạy flashio_worker ghi Flash.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860" b="1">
                <a:solidFill>
                  <a:srgbClr val="10B981"/>
                </a:solidFill>
                <a:latin typeface="Segoe UI"/>
              </a:defRPr>
            </a:pPr>
            <a:r>
              <a:t>TẦNG 5: GIẢI MÃ BUS MMIO &amp; NON-BLOCKING (uart_mmio.v)</a:t>
            </a:r>
          </a:p>
          <a:p>
            <a:pPr>
              <a:lnSpc>
                <a:spcPct val="110000"/>
              </a:lnSpc>
              <a:spcAft>
                <a:spcPts val="120"/>
              </a:spcAft>
              <a:defRPr sz="760">
                <a:solidFill>
                  <a:srgbClr val="0F172A"/>
                </a:solidFill>
                <a:latin typeface="Segoe UI"/>
              </a:defRPr>
            </a:pPr>
            <a:r>
              <a:t>• Ánh xạ không gian địa chỉ: 0x1000_0000 (Divider Prescaler) và 0x1000_0004 (RX FIFO Data).</a:t>
            </a:r>
          </a:p>
          <a:p>
            <a:pPr>
              <a:lnSpc>
                <a:spcPct val="110000"/>
              </a:lnSpc>
              <a:spcAft>
                <a:spcPts val="120"/>
              </a:spcAft>
              <a:defRPr sz="760">
                <a:solidFill>
                  <a:srgbClr val="0F172A"/>
                </a:solidFill>
                <a:latin typeface="Segoe UI"/>
              </a:defRPr>
            </a:pPr>
            <a:r>
              <a:t>• Giao tiếp Non-blocking 1 chu kỳ: Nếu FIFO rỗng, trả về ngay 0xFFFFFFFF trong 20 ns, không bao giờ làm treo bus CPU.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4: HỆ THỐNG TESTBENCH &amp; MÔ PHỎNG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Testbench 1: Kiểm Thử Phần Cứng RTL Thuần Cho UART MMIO &amp; FIFO (tb_uart_rtl.v)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05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349240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53312"/>
            <a:ext cx="50749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DẠNG SÓNG MÔ PHỎNG VIVADO XSIM (15.275 µs)</a:t>
            </a:r>
          </a:p>
        </p:txBody>
      </p:sp>
      <p:pic>
        <p:nvPicPr>
          <p:cNvPr id="10" name="Picture 9" descr="waveform_tb_uart_r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27632"/>
            <a:ext cx="4983480" cy="29626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4681728"/>
            <a:ext cx="4983480" cy="1444752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736592"/>
            <a:ext cx="4754880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19" b="1">
                <a:solidFill>
                  <a:srgbClr val="2563EB"/>
                </a:solidFill>
                <a:latin typeface="Segoe UI"/>
              </a:defRPr>
            </a:pPr>
            <a:r>
              <a:t>ĐẶC TRƯNG TÍN HIỆU TRÊN DẠNG SÓNG (WAVEFORM ANALYSIS):</a:t>
            </a:r>
          </a:p>
          <a:p>
            <a:pPr>
              <a:lnSpc>
                <a:spcPct val="112000"/>
              </a:lnSpc>
              <a:defRPr sz="760">
                <a:solidFill>
                  <a:srgbClr val="0F172A"/>
                </a:solidFill>
                <a:latin typeface="Segoe UI"/>
              </a:defRPr>
            </a:pPr>
            <a:r>
              <a:t>• clk / rst_n: Chu kỳ xung nhịp 10ns (100MHz), reset giải phóng tại t = 100ns.</a:t>
            </a:r>
          </a:p>
          <a:p>
            <a:pPr>
              <a:lnSpc>
                <a:spcPct val="112000"/>
              </a:lnSpc>
              <a:defRPr sz="760">
                <a:solidFill>
                  <a:srgbClr val="0F172A"/>
                </a:solidFill>
                <a:latin typeface="Segoe UI"/>
              </a:defRPr>
            </a:pPr>
            <a:r>
              <a:t>• tx_o (Serial TX): Khung truyền 8-N-1 (Start bit 0 -&gt; 8 bit dữ liệu LSB -&gt; Stop bit 1).</a:t>
            </a:r>
          </a:p>
          <a:p>
            <a:pPr>
              <a:lnSpc>
                <a:spcPct val="112000"/>
              </a:lnSpc>
              <a:defRPr sz="760">
                <a:solidFill>
                  <a:srgbClr val="0F172A"/>
                </a:solidFill>
                <a:latin typeface="Segoe UI"/>
              </a:defRPr>
            </a:pPr>
            <a:r>
              <a:t>• rx_activity_o &amp; FIFO: Bắt chuỗi xung rx_i, nạp sạch vào FIFO và trả về read_val = 75.</a:t>
            </a:r>
          </a:p>
          <a:p>
            <a:pPr>
              <a:lnSpc>
                <a:spcPct val="112000"/>
              </a:lnSpc>
              <a:defRPr sz="760">
                <a:solidFill>
                  <a:srgbClr val="0F172A"/>
                </a:solidFill>
                <a:latin typeface="Segoe UI"/>
              </a:defRPr>
            </a:pPr>
            <a:r>
              <a:t>• err_count = 0: 5/5 kịch bản tự động Assert thành công, kết thúc an toàn tại 15.275 µs.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5239512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53312"/>
            <a:ext cx="4873752" cy="3977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5 KỊCH BẢN KIỂM THỬ UART RTL THUẦN (100% PASS)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30">
                <a:solidFill>
                  <a:srgbClr val="0F172A"/>
                </a:solidFill>
                <a:latin typeface="Segoe UI"/>
              </a:defRPr>
            </a:pPr>
            <a:r>
              <a:t>• Mục tiêu: Xác minh tính đúng đắn phần cứng của uart_mmio.v, sync_fifo.v và simpleuart.v mà không cần CPU.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30">
                <a:solidFill>
                  <a:srgbClr val="0F172A"/>
                </a:solidFill>
                <a:latin typeface="Segoe UI"/>
              </a:defRPr>
            </a:pPr>
            <a:r>
              <a:t>• 1. Default Divider: Kiểm tra thanh ghi Prescaler tại offset 0x00 nạp đúng giá trị mặc định TEST_DIV = 16 -&gt; PASS.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30">
                <a:solidFill>
                  <a:srgbClr val="0F172A"/>
                </a:solidFill>
                <a:latin typeface="Segoe UI"/>
              </a:defRPr>
            </a:pPr>
            <a:r>
              <a:t>• 2. Divider Reconfig: Ghi giá trị chia tần mới và đọc lại qua bus MMIO, xác nhận mạch thanh ghi hoạt động chuẩn xác -&gt; PASS.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30">
                <a:solidFill>
                  <a:srgbClr val="0F172A"/>
                </a:solidFill>
                <a:latin typeface="Segoe UI"/>
              </a:defRPr>
            </a:pPr>
            <a:r>
              <a:t>• 3. Serial TX Frame: Ghi ký tự 0x4B ('K' / 75) vào wdata, kiểm tra dạng sóng nối tiếp tx_o đúng chuẩn 8-N-1 -&gt; PASS.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30">
                <a:solidFill>
                  <a:srgbClr val="0F172A"/>
                </a:solidFill>
                <a:latin typeface="Segoe UI"/>
              </a:defRPr>
            </a:pPr>
            <a:r>
              <a:t>• 4. Serial RX &amp; FIFO: Bơm chuỗi bit vào rx_i, cờ rx_activity_o tích cực, dữ liệu nạp sạch vào FIFO và đọc ra read_val = 75 -&gt; PASS.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30">
                <a:solidFill>
                  <a:srgbClr val="0F172A"/>
                </a:solidFill>
                <a:latin typeface="Segoe UI"/>
              </a:defRPr>
            </a:pPr>
            <a:r>
              <a:t>• 5. Multi-Byte Burst: Bắn chuỗi byte kiểm tra cơ chế chống tràn của hàng đợi FIFO, đọc cạn trả về 0xFFFFFFFF (4294967295) -&gt; PASS.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5468112"/>
            <a:ext cx="4873752" cy="658368"/>
          </a:xfrm>
          <a:prstGeom prst="roundRect">
            <a:avLst>
              <a:gd name="adj" fmla="val 2000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5522976"/>
            <a:ext cx="469087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19" b="1">
                <a:solidFill>
                  <a:srgbClr val="10B981"/>
                </a:solidFill>
                <a:latin typeface="Segoe UI"/>
              </a:defRPr>
            </a:pPr>
            <a:r>
              <a:t>XÁC NHẬN KẾT QUẢ MÔ PHỎNG VIVADO XSIM:</a:t>
            </a:r>
          </a:p>
          <a:p>
            <a:pPr>
              <a:defRPr sz="880" b="1">
                <a:solidFill>
                  <a:srgbClr val="065F46"/>
                </a:solidFill>
                <a:latin typeface="Segoe UI"/>
              </a:defRPr>
            </a:pPr>
            <a:r>
              <a:t>100% PASS (5/5 TEST SCENARIOS) | RUNTIME: 15,275 ns | SỐ LỖI: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4: HỆ THỐNG TESTBENCH &amp; MÔ PHỎNG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Testbench 2: Kiểm Thử Tích Hợp Toàn Diện Top SoC Boot Flash &amp; Ping (tb_uart_ping.v)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06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349240" cy="5029200"/>
          </a:xfrm>
          <a:prstGeom prst="roundRect">
            <a:avLst>
              <a:gd name="adj" fmla="val 2000"/>
            </a:avLst>
          </a:prstGeom>
          <a:solidFill>
            <a:srgbClr val="0B132B"/>
          </a:solidFill>
          <a:ln w="1905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07592"/>
            <a:ext cx="50749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&gt;_  tb/tb_uart_ping.v [Testbench Code &amp; Sim Log]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5074920" cy="4315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720">
                <a:solidFill>
                  <a:srgbClr val="94A3B8"/>
                </a:solidFill>
                <a:latin typeface="Consolas"/>
              </a:defRPr>
            </a:pPr>
            <a:r>
              <a:t>// tb/tb_uart_ping.v - Kịch bản kiểm thử tích hợp Top SoC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>
                <a:solidFill>
                  <a:srgbClr val="FFFFFF"/>
                </a:solidFill>
                <a:latin typeface="Consolas"/>
              </a:defRPr>
            </a:pPr>
            <a:r>
              <a:t>initial begin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>
                <a:solidFill>
                  <a:srgbClr val="FFFFFF"/>
                </a:solidFill>
                <a:latin typeface="Consolas"/>
              </a:defRPr>
            </a:pPr>
            <a:r>
              <a:t>    clk = 0; rst_n = 0; rdm6300_rx_i = 1; uart_rx_i = 1;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>
                <a:solidFill>
                  <a:srgbClr val="94A3B8"/>
                </a:solidFill>
                <a:latin typeface="Consolas"/>
              </a:defRPr>
            </a:pPr>
            <a:r>
              <a:t>    #200; rst_n = 1; // Release Reset -&gt; Boot Flash 0x250000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>
                <a:solidFill>
                  <a:srgbClr val="FFFFFF"/>
                </a:solidFill>
                <a:latin typeface="Consolas"/>
              </a:defRPr>
            </a:pPr>
            <a:r>
              <a:t>    wait(ready_matched == 1'b1); // Đợi CPU phát xong Banner C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>
                <a:solidFill>
                  <a:srgbClr val="94A3B8"/>
                </a:solidFill>
                <a:latin typeface="Consolas"/>
              </a:defRPr>
            </a:pPr>
            <a:r>
              <a:t>    #100000; send_pc_byte("P");  // PC Host gửi lệnh Ping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>
                <a:solidFill>
                  <a:srgbClr val="FFFFFF"/>
                </a:solidFill>
                <a:latin typeface="Consolas"/>
              </a:defRPr>
            </a:pPr>
            <a:r>
              <a:t>    send_pc_byte(8'h0A);         // Gửi ký tự '\n'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>
                <a:solidFill>
                  <a:srgbClr val="FFFFFF"/>
                </a:solidFill>
                <a:latin typeface="Consolas"/>
              </a:defRPr>
            </a:pPr>
            <a:r>
              <a:t>    wait(pong_matched == 1'b1);  // Đợi CPU phản hồi chuỗi PONG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>
                <a:solidFill>
                  <a:srgbClr val="93C5FD"/>
                </a:solidFill>
                <a:latin typeface="Consolas"/>
              </a:defRPr>
            </a:pPr>
            <a:r>
              <a:t>    if (pong_matched &amp;&amp; !cpu_trap)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 b="1">
                <a:solidFill>
                  <a:srgbClr val="10B981"/>
                </a:solidFill>
                <a:latin typeface="Consolas"/>
              </a:defRPr>
            </a:pPr>
            <a:r>
              <a:t>        $display("  [SUCCESS] PING-PONG TEST PASSED!");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>
                <a:solidFill>
                  <a:srgbClr val="FFFFFF"/>
                </a:solidFill>
                <a:latin typeface="Consolas"/>
              </a:defRPr>
            </a:pPr>
            <a:r>
              <a:t>end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>
                <a:solidFill>
                  <a:srgbClr val="FFFFFF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Aft>
                <a:spcPts val="0"/>
              </a:spcAft>
              <a:defRPr sz="720">
                <a:solidFill>
                  <a:srgbClr val="94A3B8"/>
                </a:solidFill>
                <a:latin typeface="Consolas"/>
              </a:defRPr>
            </a:pPr>
            <a:r>
              <a:t>// === VIVADO SIMULATOR (XSIM) EXECUTION OUTPUT LOG ===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 b="1">
                <a:solidFill>
                  <a:srgbClr val="0EA5E9"/>
                </a:solidFill>
                <a:latin typeface="Consolas"/>
              </a:defRPr>
            </a:pPr>
            <a:r>
              <a:t>[FLASH MODEL] Loaded 2048 words (8192 bytes) from firmware.hex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 b="1">
                <a:solidFill>
                  <a:srgbClr val="0EA5E9"/>
                </a:solidFill>
                <a:latin typeface="Consolas"/>
              </a:defRPr>
            </a:pPr>
            <a:r>
              <a:t>[TB] System Reset released. PicoRV32 booting from 0x250000...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 b="1">
                <a:solidFill>
                  <a:srgbClr val="0EA5E9"/>
                </a:solidFill>
                <a:latin typeface="Consolas"/>
              </a:defRPr>
            </a:pPr>
            <a:r>
              <a:t>[UART TX] ================================================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 b="1">
                <a:solidFill>
                  <a:srgbClr val="0EA5E9"/>
                </a:solidFill>
                <a:latin typeface="Consolas"/>
              </a:defRPr>
            </a:pPr>
            <a:r>
              <a:t>[UART TX]   RDM6300 PICORV32 SOC ACCESS CONTROLLER READY  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 b="1">
                <a:solidFill>
                  <a:srgbClr val="0EA5E9"/>
                </a:solidFill>
                <a:latin typeface="Consolas"/>
              </a:defRPr>
            </a:pPr>
            <a:r>
              <a:t>[UART TX] ================================================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 b="1">
                <a:solidFill>
                  <a:srgbClr val="0EA5E9"/>
                </a:solidFill>
                <a:latin typeface="Consolas"/>
              </a:defRPr>
            </a:pPr>
            <a:r>
              <a:t>[TB] Boot banner detected! Sending 'P' (Ping) command...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 b="1">
                <a:solidFill>
                  <a:srgbClr val="0EA5E9"/>
                </a:solidFill>
                <a:latin typeface="Consolas"/>
              </a:defRPr>
            </a:pPr>
            <a:r>
              <a:t>[HOST -&gt; SOC] Sent Byte: 'P' (0x50), '\n' (0x0A)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 b="1">
                <a:solidFill>
                  <a:srgbClr val="0EA5E9"/>
                </a:solidFill>
                <a:latin typeface="Consolas"/>
              </a:defRPr>
            </a:pPr>
            <a:r>
              <a:t>[UART TX] PONG: PicoRV32 Active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 b="1">
                <a:solidFill>
                  <a:srgbClr val="10B981"/>
                </a:solidFill>
                <a:latin typeface="Consolas"/>
              </a:defRPr>
            </a:pPr>
            <a:r>
              <a:t>[SUCCESS] PING-PONG TEST PASSED! PicoRV32 responded with PONG.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720">
                <a:solidFill>
                  <a:srgbClr val="FFFFFF"/>
                </a:solidFill>
                <a:latin typeface="Consolas"/>
              </a:defRPr>
            </a:pPr>
            <a:r>
              <a:t>cpu_trap = 0 (CPU healthy and executing normally)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79592"/>
            <a:ext cx="5074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19" b="1">
                <a:solidFill>
                  <a:srgbClr val="10B981"/>
                </a:solidFill>
                <a:latin typeface="Segoe UI"/>
              </a:defRPr>
            </a:pPr>
            <a:r>
              <a:t>=== BOOT FLASH XIP + UART PING-PONG: 100% PASS | RUNTIME: 2,086.555 µs ===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239512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53312"/>
            <a:ext cx="4873752" cy="3977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5 KỊCH BẢN KIỂM THỬ TÍCH HỢP TOP SOC (100% PASS)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30">
                <a:solidFill>
                  <a:srgbClr val="0F172A"/>
                </a:solidFill>
                <a:latin typeface="Segoe UI"/>
              </a:defRPr>
            </a:pPr>
            <a:r>
              <a:t>• Mục tiêu: Xác minh hệ thống Top-level hoàn chỉnh gồm CPU PicoRV32, spimemio, 1KB SRAM, Interconnect và UART.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30">
                <a:solidFill>
                  <a:srgbClr val="0F172A"/>
                </a:solidFill>
                <a:latin typeface="Segoe UI"/>
              </a:defRPr>
            </a:pPr>
            <a:r>
              <a:t>• 1. Power-On Reset &amp; Boot Flash: PicoRV32 thức dậy tại 0x0025_0000, spimemio kéo từng từ lệnh mã C từ firmware.hex qua XIP.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30">
                <a:solidFill>
                  <a:srgbClr val="0F172A"/>
                </a:solidFill>
                <a:latin typeface="Segoe UI"/>
              </a:defRPr>
            </a:pPr>
            <a:r>
              <a:t>• 2. C Startup Banner Output: CPU thực thi mã C main.c, khởi tạo ngoại vi và in chuỗi chào mừng ra UART (ready_matched = 1).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30">
                <a:solidFill>
                  <a:srgbClr val="0F172A"/>
                </a:solidFill>
                <a:latin typeface="Segoe UI"/>
              </a:defRPr>
            </a:pPr>
            <a:r>
              <a:t>• 3. Host Ping Processing: Testbench đóng vai trò PC Host gửi byte lệnh 'P' (0x50) và '\n' (0x0A) qua chân uart_rx.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30">
                <a:solidFill>
                  <a:srgbClr val="0F172A"/>
                </a:solidFill>
                <a:latin typeface="Segoe UI"/>
              </a:defRPr>
            </a:pPr>
            <a:r>
              <a:t>• 4. Response Verification: CPU nhận dạng lệnh, phản hồi tức thì chuỗi 'PONG: PicoRV32 Active' (pong_matched = 1).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930">
                <a:solidFill>
                  <a:srgbClr val="0F172A"/>
                </a:solidFill>
                <a:latin typeface="Segoe UI"/>
              </a:defRPr>
            </a:pPr>
            <a:r>
              <a:t>• 5. CPU Health &amp; Zero-Trap: Khẳng định tín hiệu trap == 0 xuyên suốt 2,086,555 ns, CPU không bị illegal instruction hay tràn RAM.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468112"/>
            <a:ext cx="4873752" cy="658368"/>
          </a:xfrm>
          <a:prstGeom prst="roundRect">
            <a:avLst>
              <a:gd name="adj" fmla="val 2000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5522976"/>
            <a:ext cx="469087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19" b="1">
                <a:solidFill>
                  <a:srgbClr val="10B981"/>
                </a:solidFill>
                <a:latin typeface="Segoe UI"/>
              </a:defRPr>
            </a:pPr>
            <a:r>
              <a:t>XÁC NHẬN KẾT QUẢ MÔ PHỎNG VIVADO XSIM:</a:t>
            </a:r>
          </a:p>
          <a:p>
            <a:pPr>
              <a:defRPr sz="880" b="1">
                <a:solidFill>
                  <a:srgbClr val="065F46"/>
                </a:solidFill>
                <a:latin typeface="Segoe UI"/>
              </a:defRPr>
            </a:pPr>
            <a:r>
              <a:t>100% PASS (BOOT XIP + PING-PONG) | RUNTIME: 2,086.555 µs | TRAP: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5: DEMO CHỨC NĂNG SẢN PHẨM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Danh Sách Thiết Bị &amp; Thiết Lập Kết Nối Phần Cứng FPGA Basys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07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257800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71600"/>
            <a:ext cx="4983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HỆ THỐNG THỰC NGHIỆM THỰC TẾ (DEVICE SETUP)</a:t>
            </a:r>
          </a:p>
        </p:txBody>
      </p:sp>
      <p:pic>
        <p:nvPicPr>
          <p:cNvPr id="10" name="Picture 9" descr="Dev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82496"/>
            <a:ext cx="4800600" cy="35935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60120" y="5376672"/>
            <a:ext cx="4800600" cy="749808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5413248"/>
            <a:ext cx="45720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19" b="1">
                <a:solidFill>
                  <a:srgbClr val="2563EB"/>
                </a:solidFill>
                <a:latin typeface="Segoe UI"/>
              </a:defRPr>
            </a:pPr>
            <a:r>
              <a:t>ĐIỂM NỔI BẬT TRONG THIẾT KẾ PHẦN CỨNG THỰC TẾ:</a:t>
            </a:r>
          </a:p>
          <a:p>
            <a:pPr>
              <a:lnSpc>
                <a:spcPct val="115000"/>
              </a:lnSpc>
              <a:defRPr sz="780">
                <a:solidFill>
                  <a:srgbClr val="0F172A"/>
                </a:solidFill>
                <a:latin typeface="Segoe UI"/>
              </a:defRPr>
            </a:pPr>
            <a:r>
              <a:t>• Mạch nguồn MB102 cấp riêng 5V DC cho RDM6300 (PMOD chỉ có 3.3V, chung mass GND).</a:t>
            </a:r>
            <a:br/>
            <a:r>
              <a:t>• Điện trở đệm 1kΩ mắc nối tiếp chân TX RDM6300 sang JA1 Basys 3 bảo vệ I/O 3.3V FPGA.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34440"/>
            <a:ext cx="5285232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371600"/>
            <a:ext cx="48006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50">
                <a:solidFill>
                  <a:srgbClr val="2563EB"/>
                </a:solidFill>
                <a:latin typeface="Segoe UI"/>
              </a:defRPr>
            </a:pPr>
            <a:r>
              <a:t>DANH SÁCH THIẾT BỊ &amp; NGUYÊN LÝ PHỐI HỢP MỨC ĐIỆN ÁP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880" b="1">
                <a:solidFill>
                  <a:srgbClr val="1C2541"/>
                </a:solidFill>
                <a:latin typeface="Segoe UI"/>
              </a:defRPr>
            </a:pPr>
            <a:r>
              <a:t>1. DANH SÁCH THIẾT BỊ THỰC NGHIỆM (BOM)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Bo mạch FPGA Digilent Basys 3: Xilinx Artix-7 XC7A35T, 32Mbit SPI Flash S25FL032P, mạch nạp &amp; UART FTDI qua cổng Micro-USB.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Module RFID RDM6300 (125 kHz): Giải mã thẻ EM4100, kèm cuộn cảm ăng-ten rời phát sóng điện từ 125 kHz.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Mạch nguồn 5V DC độc lập: Module nguồn Breadboard MB102 + Adapter DC ngoài cung cấp nguồn 5V ổn định cho RDM6300.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Điện trở bảo vệ 1kΩ &amp; Phụ kiện: Điện trở 1kΩ hạn dòng, Breadboard mini, tập dây nối cắm mạch và thẻ từ RFID 125 kHz mẫu.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880" b="1">
                <a:solidFill>
                  <a:srgbClr val="D97706"/>
                </a:solidFill>
                <a:latin typeface="Segoe UI"/>
              </a:defRPr>
            </a:pPr>
            <a:r>
              <a:t>2. TẠI SAO CẦN MẠCH NGUỒN 5V RIÊNG CHO RDM6300?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PMOD Basys 3 chỉ cấp 3.3V: Không đủ điện áp để mạch dao động LC trên RDM6300 phát từ trường kích hoạt chip thẻ RFID (ở 3.3V module hoàn toàn không nhận diện được thẻ).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Giải pháp cấp nguồn 5V ngoài: Dùng module MB102 cấp đủ 5V/GND cho RDM6300; Nối chung mass (Common GND) giữa nguồn 5V và Basys 3 để đồng bộ mức tham chiếu logic.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880" b="1">
                <a:solidFill>
                  <a:srgbClr val="E11D48"/>
                </a:solidFill>
                <a:latin typeface="Segoe UI"/>
              </a:defRPr>
            </a:pPr>
            <a:r>
              <a:t>3. TẠI SAO CẦN ĐIỆN TRỞ 1KΩ TRÊN CHÂN TX NỐI BASYS 3?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Chênh lệch mức logic (5V TTL vs 3.3V LVCMOS): Chân TX của RDM6300 xuất tín hiệu UART ở mức 5V, trong khi chân I/O FPGA Artix-7 (PMOD JA1 - Pin J1) chỉ chấp nhận mức áp tối đa 3.3V.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Bảo vệ chân I/O FPGA Artix-7: Điện trở 1kΩ mắc nối tiếp hạn chế dòng rò đưa vào diode kẹp (clamping diode) của FPGA &lt; 2mA, ngăn chặn quá áp/hỏng chip, giữ dạng sóng UART sắc nét.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880" b="1">
                <a:solidFill>
                  <a:srgbClr val="10B981"/>
                </a:solidFill>
                <a:latin typeface="Segoe UI"/>
              </a:defRPr>
            </a:pPr>
            <a:r>
              <a:t>4. GIAO TIẾP HOST PC &amp; HIỂN THỊ TRỰC QUAN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Cáp Micro-USB tiêu chuẩn: Vừa cấp nguồn Basys 3 vừa truyền thông với Host Console C qua UART FTDI (9600 bps); LED 7 đoạn hiển thị kết quả PASS/FAIL thời gian thực.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5: DEMO CHỨC NĂNG SẢN PHẨM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Các Kịch Bản Thực Nghiệm &amp; Giao Diện Quản Trị Host Console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08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257800" cy="5029200"/>
          </a:xfrm>
          <a:prstGeom prst="roundRect">
            <a:avLst>
              <a:gd name="adj" fmla="val 2000"/>
            </a:avLst>
          </a:prstGeom>
          <a:solidFill>
            <a:srgbClr val="0B132B"/>
          </a:solidFill>
          <a:ln w="1905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07592"/>
            <a:ext cx="4983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Consolas"/>
              </a:defRPr>
            </a:pPr>
            <a:r>
              <a:t>&gt;_  Host Console C CLI (rdm6300_manager.exe)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4983480" cy="4315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880">
                <a:solidFill>
                  <a:srgbClr val="FFFFFF"/>
                </a:solidFill>
                <a:latin typeface="Consolas"/>
              </a:defRPr>
            </a:pPr>
            <a:r>
              <a:t>===========================================================</a:t>
            </a:r>
          </a:p>
          <a:p>
            <a:pPr>
              <a:lnSpc>
                <a:spcPct val="118000"/>
              </a:lnSpc>
              <a:spcAft>
                <a:spcPts val="0"/>
              </a:spcAft>
              <a:defRPr sz="880">
                <a:solidFill>
                  <a:srgbClr val="FFFFFF"/>
                </a:solidFill>
                <a:latin typeface="Consolas"/>
              </a:defRPr>
            </a:pPr>
            <a:r>
              <a:t>    RDM6300 RFID - PICORV32 - BASYS 3 SPI FLASH MANAGER    </a:t>
            </a:r>
          </a:p>
          <a:p>
            <a:pPr>
              <a:lnSpc>
                <a:spcPct val="118000"/>
              </a:lnSpc>
              <a:spcAft>
                <a:spcPts val="0"/>
              </a:spcAft>
              <a:defRPr sz="880">
                <a:solidFill>
                  <a:srgbClr val="FFFFFF"/>
                </a:solidFill>
                <a:latin typeface="Consolas"/>
              </a:defRPr>
            </a:pPr>
            <a:r>
              <a:t>===========================================================</a:t>
            </a:r>
          </a:p>
          <a:p>
            <a:pPr>
              <a:lnSpc>
                <a:spcPct val="118000"/>
              </a:lnSpc>
              <a:spcAft>
                <a:spcPts val="0"/>
              </a:spcAft>
              <a:defRPr sz="880">
                <a:solidFill>
                  <a:srgbClr val="FFFFFF"/>
                </a:solidFill>
                <a:latin typeface="Consolas"/>
              </a:defRPr>
            </a:pPr>
            <a:r>
              <a:t>  [1]  Ping Hardware (Kiem tra ket noi PicoRV32)</a:t>
            </a:r>
          </a:p>
          <a:p>
            <a:pPr>
              <a:lnSpc>
                <a:spcPct val="118000"/>
              </a:lnSpc>
              <a:spcAft>
                <a:spcPts val="0"/>
              </a:spcAft>
              <a:defRPr sz="880">
                <a:solidFill>
                  <a:srgbClr val="FFFFFF"/>
                </a:solidFill>
                <a:latin typeface="Consolas"/>
              </a:defRPr>
            </a:pPr>
            <a:r>
              <a:t>  [2]  Input &amp; Save New RFID Tag (Nhap 10 so in tren the)</a:t>
            </a:r>
          </a:p>
          <a:p>
            <a:pPr>
              <a:lnSpc>
                <a:spcPct val="118000"/>
              </a:lnSpc>
              <a:spcAft>
                <a:spcPts val="0"/>
              </a:spcAft>
              <a:defRPr sz="880">
                <a:solidFill>
                  <a:srgbClr val="FFFFFF"/>
                </a:solidFill>
                <a:latin typeface="Consolas"/>
              </a:defRPr>
            </a:pPr>
            <a:r>
              <a:t>  [3]  Check RFID Tag in Flash (Kiem tra the da co chua)</a:t>
            </a:r>
          </a:p>
          <a:p>
            <a:pPr>
              <a:lnSpc>
                <a:spcPct val="118000"/>
              </a:lnSpc>
              <a:spcAft>
                <a:spcPts val="0"/>
              </a:spcAft>
              <a:defRPr sz="880">
                <a:solidFill>
                  <a:srgbClr val="FFFFFF"/>
                </a:solidFill>
                <a:latin typeface="Consolas"/>
              </a:defRPr>
            </a:pPr>
            <a:r>
              <a:t>  [4]  Delete RFID Tag from Flash (Xoa the khoi Flash)</a:t>
            </a:r>
          </a:p>
          <a:p>
            <a:pPr>
              <a:lnSpc>
                <a:spcPct val="118000"/>
              </a:lnSpc>
              <a:spcAft>
                <a:spcPts val="0"/>
              </a:spcAft>
              <a:defRPr sz="880">
                <a:solidFill>
                  <a:srgbClr val="FFFFFF"/>
                </a:solidFill>
                <a:latin typeface="Consolas"/>
              </a:defRPr>
            </a:pPr>
            <a:r>
              <a:t>  [5]  Virtual Scan (Quet the ao: Nhap 10 so tu ban phim)</a:t>
            </a:r>
          </a:p>
          <a:p>
            <a:pPr>
              <a:lnSpc>
                <a:spcPct val="118000"/>
              </a:lnSpc>
              <a:spcAft>
                <a:spcPts val="0"/>
              </a:spcAft>
              <a:defRPr sz="880">
                <a:solidFill>
                  <a:srgbClr val="FFFFFF"/>
                </a:solidFill>
                <a:latin typeface="Consolas"/>
              </a:defRPr>
            </a:pPr>
            <a:r>
              <a:t>  [6]  View Access Logs (Xem 512 nhat ky tu Flash 0x310000)</a:t>
            </a:r>
          </a:p>
          <a:p>
            <a:pPr>
              <a:lnSpc>
                <a:spcPct val="118000"/>
              </a:lnSpc>
              <a:spcAft>
                <a:spcPts val="0"/>
              </a:spcAft>
              <a:defRPr sz="880">
                <a:solidFill>
                  <a:srgbClr val="FFFFFF"/>
                </a:solidFill>
                <a:latin typeface="Consolas"/>
              </a:defRPr>
            </a:pPr>
            <a:r>
              <a:t>  [7]  Erase Access Logs (Backup CSV &amp; xoa nhat ky Flash)</a:t>
            </a:r>
          </a:p>
          <a:p>
            <a:pPr>
              <a:lnSpc>
                <a:spcPct val="118000"/>
              </a:lnSpc>
              <a:spcAft>
                <a:spcPts val="0"/>
              </a:spcAft>
              <a:defRPr sz="880">
                <a:solidFill>
                  <a:srgbClr val="FFFFFF"/>
                </a:solidFill>
                <a:latin typeface="Consolas"/>
              </a:defRPr>
            </a:pPr>
            <a:r>
              <a:t>  [8]  Export RFID Tags to CSV (Xuat danh sach ra file CSV)</a:t>
            </a:r>
          </a:p>
          <a:p>
            <a:pPr>
              <a:lnSpc>
                <a:spcPct val="118000"/>
              </a:lnSpc>
              <a:spcAft>
                <a:spcPts val="0"/>
              </a:spcAft>
              <a:defRPr sz="880">
                <a:solidFill>
                  <a:srgbClr val="FFFFFF"/>
                </a:solidFill>
                <a:latin typeface="Consolas"/>
              </a:defRPr>
            </a:pPr>
            <a:r>
              <a:t>  [9]  Import RFID Tags from CSV (Xoa &amp; nap the tu CSV)</a:t>
            </a:r>
          </a:p>
          <a:p>
            <a:pPr>
              <a:lnSpc>
                <a:spcPct val="118000"/>
              </a:lnSpc>
              <a:spcAft>
                <a:spcPts val="0"/>
              </a:spcAft>
              <a:defRPr sz="880">
                <a:solidFill>
                  <a:srgbClr val="FFFFFF"/>
                </a:solidFill>
                <a:latin typeface="Consolas"/>
              </a:defRPr>
            </a:pPr>
            <a:r>
              <a:t>  [0]  Exit (Ngat ket noi UART va thoat chuong trinh)</a:t>
            </a:r>
          </a:p>
          <a:p>
            <a:pPr>
              <a:lnSpc>
                <a:spcPct val="118000"/>
              </a:lnSpc>
              <a:spcAft>
                <a:spcPts val="0"/>
              </a:spcAft>
              <a:defRPr sz="880">
                <a:solidFill>
                  <a:srgbClr val="FFFFFF"/>
                </a:solidFill>
                <a:latin typeface="Consolas"/>
              </a:defRPr>
            </a:pPr>
            <a:r>
              <a:t>-----------------------------------------------------------</a:t>
            </a:r>
          </a:p>
          <a:p>
            <a:pPr>
              <a:lnSpc>
                <a:spcPct val="118000"/>
              </a:lnSpc>
              <a:spcAft>
                <a:spcPts val="0"/>
              </a:spcAft>
              <a:defRPr sz="880">
                <a:solidFill>
                  <a:srgbClr val="FFFFFF"/>
                </a:solidFill>
                <a:latin typeface="Consolas"/>
              </a:defRPr>
            </a:pPr>
            <a:r>
              <a:t>Lua chon cua ban [0-9]: 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79592"/>
            <a:ext cx="4983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19" b="1">
                <a:solidFill>
                  <a:srgbClr val="10B981"/>
                </a:solidFill>
                <a:latin typeface="Segoe UI"/>
              </a:defRPr>
            </a:pPr>
            <a:r>
              <a:t>=== UART COM3 @ 9600 bps | 10 CHỨC NĂNG QUẢN TRỊ TOÀN DIỆN ===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285232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48006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1150">
                <a:solidFill>
                  <a:srgbClr val="2563EB"/>
                </a:solidFill>
                <a:latin typeface="Segoe UI"/>
              </a:defRPr>
            </a:pPr>
            <a:r>
              <a:t>ĐÁNH GIÁ &amp; NHẬN XÉT CÁC CHỨC NĂNG THỰC NGHIỆM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880" b="1">
                <a:solidFill>
                  <a:srgbClr val="2563EB"/>
                </a:solidFill>
                <a:latin typeface="Segoe UI"/>
              </a:defRPr>
            </a:pPr>
            <a:r>
              <a:t>1. NHÓM KIỂM THỬ KẾT NỐI &amp; GIÁM SÁT [MENU 1, 5]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Menu [1] Ping Hardware: Kiểm tra độ trễ phản hồi tức thì qua UART, xác nhận CPU PicoRV32, cầu bus interconnect và UART FIFO 32B hoạt động thông suốt không nghẽn bus.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Menu [5] Virtual Scan: Giả lập quẹt thẻ từ xa qua bàn phím mà không cần đưa thẻ vật lý vào đầu đọc, phục vụ kiểm thử đơn vị (Unit Test) logic phân quyền.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880" b="1">
                <a:solidFill>
                  <a:srgbClr val="D97706"/>
                </a:solidFill>
                <a:latin typeface="Segoe UI"/>
              </a:defRPr>
            </a:pPr>
            <a:r>
              <a:t>2. NHÓM QUẢN TRỊ WHITELIST THẺ [MENU 2, 3, 4]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Menu [2] &amp; [4] Thêm/Xóa Thẻ: Thao tác an toàn trên Flash Sector 48 (0x300000) bằng cơ chế In-SRAM Execution (flashio_worker), bảo đảm không gây treo bus XIP.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Menu [3] Tra Cứu Thẻ: Đọc trực tiếp từ Flash qua XIP với thuật toán dừng sớm (Early Termination), độ trễ xác thực siêu nhỏ (&lt; 10 µs).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880" b="1">
                <a:solidFill>
                  <a:srgbClr val="E11D48"/>
                </a:solidFill>
                <a:latin typeface="Segoe UI"/>
              </a:defRPr>
            </a:pPr>
            <a:r>
              <a:t>3. NHÓM KIỂM TOÁN AN NINH &amp; NHẬT KÝ [MENU 6, 7]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Menu [6] Đọc Access Logs: Đọc và giải mã 512 bản ghi từ Sector 49 (0x310000), hiển thị rõ ràng kết quả PASS/FAIL, UID thẻ và số thứ tự sự kiện.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Menu [7] Xóa Log An Toàn: Tự động sao lưu toàn bộ nhật ký ra file CSV trước khi xóa Sector, đảm bảo không mất mát dữ liệu kiểm toán.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880" b="1">
                <a:solidFill>
                  <a:srgbClr val="10B981"/>
                </a:solidFill>
                <a:latin typeface="Segoe UI"/>
              </a:defRPr>
            </a:pPr>
            <a:r>
              <a:t>4. NHÓM ĐỒNG BỘ DỮ LIỆU NGOẠI TUYẾN [MENU 8, 9]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780">
                <a:solidFill>
                  <a:srgbClr val="0F172A"/>
                </a:solidFill>
                <a:latin typeface="Segoe UI"/>
              </a:defRPr>
            </a:pPr>
            <a:r>
              <a:t>• Menu [8] &amp; [9] Export/Import CSV: Sao lưu và phục hồi danh sách 4,096 thẻ nhanh chóng qua cổng UART, rất tiện lợi khi cấu hình hàng loạt cho nhiều trạm kiểm soát.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6: THIẾT KẾ VẬT LÝ ASIC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Minh Chứng Ký Duyệt Sign-off, Bản Vẽ OpenROAD &amp; Cấu Hình OpenLane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09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5120640" cy="3291840"/>
          </a:xfrm>
          <a:prstGeom prst="roundRect">
            <a:avLst>
              <a:gd name="adj" fmla="val 2000"/>
            </a:avLst>
          </a:prstGeom>
          <a:solidFill>
            <a:srgbClr val="0B132B"/>
          </a:solidFill>
          <a:ln w="1905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61872"/>
            <a:ext cx="48463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Consolas"/>
              </a:defRPr>
            </a:pPr>
            <a:r>
              <a:t>&gt;_  Cấu hình OpenLane (config.json)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4846320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9">
                <a:solidFill>
                  <a:srgbClr val="FFFFFF"/>
                </a:solidFill>
                <a:latin typeface="Consolas"/>
              </a:defRPr>
            </a:pPr>
            <a:r>
              <a:t>{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819">
                <a:solidFill>
                  <a:srgbClr val="FFFFFF"/>
                </a:solidFill>
                <a:latin typeface="Consolas"/>
              </a:defRPr>
            </a:pPr>
            <a:r>
              <a:t>  "DESIGN_NAME": "rdm6300_picorv32_soc",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819">
                <a:solidFill>
                  <a:srgbClr val="FFFFFF"/>
                </a:solidFill>
                <a:latin typeface="Consolas"/>
              </a:defRPr>
            </a:pPr>
            <a:r>
              <a:t>  "PDK": "sky130A",  "STD_CELL_LIBRARY": "sky130_fd_sc_hd",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819">
                <a:solidFill>
                  <a:srgbClr val="FFFFFF"/>
                </a:solidFill>
                <a:latin typeface="Consolas"/>
              </a:defRPr>
            </a:pPr>
            <a:r>
              <a:t>  "CLOCK_PERIOD": 20.0, // 50 MHz Clock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819">
                <a:solidFill>
                  <a:srgbClr val="FFFFFF"/>
                </a:solidFill>
                <a:latin typeface="Consolas"/>
              </a:defRPr>
            </a:pPr>
            <a:r>
              <a:t>  "FP_CORE_UTIL": 26,   // 26% Core Density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819">
                <a:solidFill>
                  <a:srgbClr val="FFFFFF"/>
                </a:solidFill>
                <a:latin typeface="Consolas"/>
              </a:defRPr>
            </a:pPr>
            <a:r>
              <a:t>  "MAX_FANOUT_CONSTRAINT": 12,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819">
                <a:solidFill>
                  <a:srgbClr val="FFFFFF"/>
                </a:solidFill>
                <a:latin typeface="Consolas"/>
              </a:defRPr>
            </a:pPr>
            <a:r>
              <a:t>  "PL_RESIZER_HOLD_SLACK_MARGIN": 0.6,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819">
                <a:solidFill>
                  <a:srgbClr val="FFFFFF"/>
                </a:solidFill>
                <a:latin typeface="Consolas"/>
              </a:defRPr>
            </a:pPr>
            <a:r>
              <a:t>  "RUN_HEURISTIC_DIODE_INSERTION": true,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819">
                <a:solidFill>
                  <a:srgbClr val="FFFFFF"/>
                </a:solidFill>
                <a:latin typeface="Consolas"/>
              </a:defRPr>
            </a:pPr>
            <a:r>
              <a:t>  "HEURISTIC_ANTENNA_THRESHOLD": 24,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819">
                <a:solidFill>
                  <a:srgbClr val="FFFFFF"/>
                </a:solidFill>
                <a:latin typeface="Consolas"/>
              </a:defRPr>
            </a:pPr>
            <a:r>
              <a:t>  "GRT_ANTENNA_ITERS": 35,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819">
                <a:solidFill>
                  <a:srgbClr val="FFFFFF"/>
                </a:solidFill>
                <a:latin typeface="Consolas"/>
              </a:defRPr>
            </a:pPr>
            <a:r>
              <a:t>  "RUN_ANTENNA_REPAIR": true,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819">
                <a:solidFill>
                  <a:srgbClr val="FFFFFF"/>
                </a:solidFill>
                <a:latin typeface="Consolas"/>
              </a:defRPr>
            </a:pPr>
            <a:r>
              <a:t>  "SYNTH_STRATEGY": "AREA 0"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819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188720"/>
            <a:ext cx="5379415" cy="3291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61872"/>
            <a:ext cx="501365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🖼️ Bản Vẽ Layout OpenROAD (Die 1.87 mm² - 1362 x 1373 µm)</a:t>
            </a:r>
          </a:p>
        </p:txBody>
      </p:sp>
      <p:pic>
        <p:nvPicPr>
          <p:cNvPr id="13" name="Picture 12" descr="OpenR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1572768"/>
            <a:ext cx="3886200" cy="281635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4617720"/>
            <a:ext cx="10728655" cy="1691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ntennaLvsD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727448"/>
            <a:ext cx="6309360" cy="1463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60920" y="4709160"/>
            <a:ext cx="397763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10B981"/>
                </a:solidFill>
                <a:latin typeface="Segoe UI"/>
              </a:defRPr>
            </a:pPr>
            <a:r>
              <a:t>✅ KÝ DUYỆT TAPE-OUT READY (100% PASS)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Antenna Sign-off: 0 vi phạm (3,471 diodes xả tĩnh điện bảo vệ oxit cổng)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LVS Sign-off (Netgen): 0 lỗi (Netlists match uniquely 100%, 0 unmatched)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DRC Sign-off (Magic/KLayout): 0 lỗi (Zero DRC violations trên toàn bộ 5 lớp kim loại)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PDN &amp; Timing: Worst IR Drop: 1.39 mV (&lt; 0.08% VDD) | WNS = 0.00 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6: THIẾT KẾ VẬT LÝ ASIC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Tổng Hợp Kết Quả Thiết Kế Vật Lý &amp; Chỉ Số PPA (OpenLane 2 / SkyWater 130nm)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10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18872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876495"/>
                <a:gridCol w="292608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Hạng Mục Đo Đạc Vật Lý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Thông Số Trích Xuất Thực Tế (OpenLane Runs)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Đánh Giá &amp; Tiêu Chuẩn Sign-off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Tiến trình &amp; Điện áp hoạt động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SkyWater 130nm (sky130_fd_sc_hd) | VDD = 1.80 V | Xung nhịp: 50.0 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Thư viện High Density, VDD chuẩn 1.8V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Kích thước &amp; Diện tích khuôn (Die / Core)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Die Area: 1.87 mm² (1362.08 x 1372.80 µm) | Core: 1.82 mm² (52.84% Util)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Chuẩn đóng gói khung chân đế QFN/QFP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Quy mô linh kiện (Cell Breakdown)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Tổng 164,478 cells (10,779 D-FF | 23,442 Comb | 77,243 Diode bảo vệ)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24,247 timing buffer + 2,564 CTS buffer/inv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Tổng công suất tiêu thụ (Power Analysis)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Tổng: 76.02 mW (Internal: 41.12 mW, Switching: 34.90 mW) | Rò rỉ: 1.18 µW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Dòng rò tĩnh siêu thấp (Static Leakage ~0%)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Độ sụt áp nguồn (Worst-case IR Drop)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Worst IR Drop: 1.39 mV (0.00139 V, sụt áp &lt; 0.08% VDD | Avg: 0.085 mV)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Lưới nguồn PDN met4/met5 an toàn tuyệt đối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Định tuyến &amp; Dây nối (Interconnect)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60,225 Nets | 575,767 Vias | Tổng chiều dài dây dẫn kim loại: 3.215 mét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Định tuyến 5 lớp kim loại (met1 - met5)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Phân tích định thời tĩnh (STA Timing)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Chu kỳ 20.0 ns (50.0 MHz) | WNS = 0.00 ns | TNS = 0.00 ns (Setup &amp; Hold)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MET TIMING trên toàn bộ 9 góc đo (9 corners)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Ký duyệt xuất xưởng (Sign-off Status)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 Antenna Violations | 0 LVS Errors (Netgen 100%) | 0 DRC Errors (Magic)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ĐẠT CHUẨN XUẤT XƯỞNG (TAPE-OUT READY!)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6: THIẾT KẾ VẬT LÝ ASIC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Phân Tích Định Thời Tĩnh STA &amp; Báo Cáo Multi-Corner Timing (summary.rpt)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11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18872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148840"/>
                <a:gridCol w="2148840"/>
                <a:gridCol w="1600200"/>
                <a:gridCol w="2407615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Góc Đo Công Nghệ (Corner)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Setup Slack (Worst / Reg)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Hold Slack (Worst / Reg)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Vi Phạm (Vio)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Đánh Giá Định Thời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nom_tt_025C_1v80 (Typical)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+4.4194 ns (+6.5934 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+0.5418 ns (+0.5418 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 Vio (TNS = 0.00)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MET TIMING (Đạt chuẩn 50.0 MHz)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nom_ff_n40C_1v95 (Fast-Fast)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+5.5199 ns (+7.7276 ns)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+0.1680 ns (+0.1680 ns)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 Vio (TNS = 0.00)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MET TIMING (Biên độ Setup cực lớn)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min_tt_025C_1v80 (Min Typical)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+4.5720 ns (+6.6560 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+0.6874 ns (+0.6874 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 Vio (TNS = 0.00)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MET TIMING (Hold Margin tối ưu)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min_ff_n40C_1v95 (Min Fast)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+5.6454 ns (+7.7576 ns)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+0.2879 ns (+0.2879 ns)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 Vio (TNS = 0.00)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MET TIMING (Hoạt động ổn định)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max_tt_025C_1v80 (Max Typical)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+4.2744 ns (+6.5546 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+0.3169 ns (+0.3169 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 Vio (TNS = 0.00)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MET TIMING (Dư địa 4.27 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297680"/>
            <a:ext cx="5257800" cy="2011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70832"/>
            <a:ext cx="498348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⏱️ ĐẶC TÍNH MẠNG XUNG NHỊP (CLOCK.RPT)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Tần số thiết kế mục tiêu: 50.0 MHz (Chu kỳ Tclk = 20.0 ns).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Tần số cực đại khả thi (Fmax): 92.81 MHz (Chu kỳ Tmin = 10.77 ns).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Dư địa định thời (Timing Headroom): +85.6% (Hệ thống có thể boost lên 90MHz an toàn).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Cây xung nhịp TritonCTS: 2,564 Buffers/Inverters | Latency: 2.35 - 3.72 ns | Skew: 1.36 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2375" y="4297680"/>
            <a:ext cx="5257800" cy="2011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9535" y="4370832"/>
            <a:ext cx="498348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🛡️ CHIẾN LƯỢC TỐI ƯU HÓA ĐỊNH THỜI (TIMING CLOSURE)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Sửa lỗi Hold Time triệt để: Chèn 21,947 Hold Buffers (dlygate4sd3), triệt tiêu 100% lỗi Hold.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Kiểm soát Max Slew / Max Cap: Bố trí 2,300+ buffer resizer cân bằng tải dung và độ dốc sườn xung.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Đường truyền tới hạn (Critical Path): FF _52233_ -&gt; flash_io2_do: Arrival 13.33 ns &lt; Required 17.75 ns.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Kết luận Ký duyệt STA: Hội tụ định thời hoàn hảo (Timing Closed), đạt chuẩn sản xuất 130nm.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C2541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00"/>
              </a:spcAft>
              <a:defRPr sz="2800" b="1">
                <a:solidFill>
                  <a:srgbClr val="0EA5E9"/>
                </a:solidFill>
                <a:latin typeface="Segoe UI"/>
              </a:defRPr>
            </a:pPr>
            <a:r>
              <a:t>TỔNG KẾT ĐỒ ÁN &amp; KẾT QUẢ ĐẠT ĐƯỢC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750" b="1">
                <a:solidFill>
                  <a:srgbClr val="38BDF8"/>
                </a:solidFill>
                <a:latin typeface="Segoe UI"/>
              </a:rPr>
              <a:t>1. Tự chủ kiến trúc SoC:</a:t>
            </a:r>
            <a:r>
              <a:rPr sz="1650">
                <a:solidFill>
                  <a:srgbClr val="F1F5F9"/>
                </a:solidFill>
                <a:latin typeface="Segoe UI"/>
              </a:rPr>
              <a:t> Tích hợp CPU RISC-V PicoRV32, cầu bus 0-delay, 1KB SRAM &amp; 2 khối UART FIFO 32B.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750" b="1">
                <a:solidFill>
                  <a:srgbClr val="38BDF8"/>
                </a:solidFill>
                <a:latin typeface="Segoe UI"/>
              </a:rPr>
              <a:t>2. Tối ưu thực thi nhúng:</a:t>
            </a:r>
            <a:r>
              <a:rPr sz="1650">
                <a:solidFill>
                  <a:srgbClr val="F1F5F9"/>
                </a:solidFill>
                <a:latin typeface="Segoe UI"/>
              </a:rPr>
              <a:t> Chạy lệnh XIP từ SPI Flash; Nạp worker vào SRAM ghi/xóa Flash không nghẽn bus.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750" b="1">
                <a:solidFill>
                  <a:srgbClr val="38BDF8"/>
                </a:solidFill>
                <a:latin typeface="Segoe UI"/>
              </a:rPr>
              <a:t>3. Kiểm chứng thực tế 100%:</a:t>
            </a:r>
            <a:r>
              <a:rPr sz="1650">
                <a:solidFill>
                  <a:srgbClr val="F1F5F9"/>
                </a:solidFill>
                <a:latin typeface="Segoe UI"/>
              </a:rPr>
              <a:t> Testbench Vivado 100% Pass; Chạy ổn định trên bo mạch FPGA Basys 3 thật.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750" b="1">
                <a:solidFill>
                  <a:srgbClr val="38BDF8"/>
                </a:solidFill>
                <a:latin typeface="Segoe UI"/>
              </a:rPr>
              <a:t>4. Đạt chuẩn ASIC Tape-out:</a:t>
            </a:r>
            <a:r>
              <a:rPr sz="1650">
                <a:solidFill>
                  <a:srgbClr val="F1F5F9"/>
                </a:solidFill>
                <a:latin typeface="Segoe UI"/>
              </a:rPr>
              <a:t> OpenLane 2 (SkyWater 130nm) đạt 0 Antenna, 0 LVS, 0 DRC | Fmax = 92.81 MHz.</a:t>
            </a:r>
          </a:p>
          <a:p>
            <a:pPr>
              <a:spcBef>
                <a:spcPts val="2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XIN TRÂN TRỌNG CẢM ƠN THẦY CÔ VÀ HỘI ĐỒNG ĐÃ LẮNG NGHE!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